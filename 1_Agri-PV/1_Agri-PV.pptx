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notesSlides/notesSlide13.xml" ContentType="application/vnd.openxmlformats-officedocument.presentationml.notesSlide+xml"/>
  <Override PartName="/ppt/tags/tag2.xml" ContentType="application/vnd.openxmlformats-officedocument.presentationml.tags+xml"/>
  <Override PartName="/ppt/notesSlides/notesSlide14.xml" ContentType="application/vnd.openxmlformats-officedocument.presentationml.notesSlide+xml"/>
  <Override PartName="/ppt/tags/tag3.xml" ContentType="application/vnd.openxmlformats-officedocument.presentationml.tags+xml"/>
  <Override PartName="/ppt/notesSlides/notesSlide15.xml" ContentType="application/vnd.openxmlformats-officedocument.presentationml.notesSlide+xml"/>
  <Override PartName="/ppt/tags/tag4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5.xml" ContentType="application/vnd.openxmlformats-officedocument.presentationml.tags+xml"/>
  <Override PartName="/ppt/notesSlides/notesSlide22.xml" ContentType="application/vnd.openxmlformats-officedocument.presentationml.notesSlide+xml"/>
  <Override PartName="/ppt/tags/tag6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7.xml" ContentType="application/vnd.openxmlformats-officedocument.presentationml.tags+xml"/>
  <Override PartName="/ppt/notesSlides/notesSlide27.xml" ContentType="application/vnd.openxmlformats-officedocument.presentationml.notesSlide+xml"/>
  <Override PartName="/ppt/tags/tag8.xml" ContentType="application/vnd.openxmlformats-officedocument.presentationml.tags+xml"/>
  <Override PartName="/ppt/notesSlides/notesSlide28.xml" ContentType="application/vnd.openxmlformats-officedocument.presentationml.notesSlide+xml"/>
  <Override PartName="/ppt/tags/tag9.xml" ContentType="application/vnd.openxmlformats-officedocument.presentationml.tags+xml"/>
  <Override PartName="/ppt/notesSlides/notesSlide29.xml" ContentType="application/vnd.openxmlformats-officedocument.presentationml.notesSlide+xml"/>
  <Override PartName="/ppt/tags/tag10.xml" ContentType="application/vnd.openxmlformats-officedocument.presentationml.tags+xml"/>
  <Override PartName="/ppt/notesSlides/notesSlide3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1.xml" ContentType="application/vnd.openxmlformats-officedocument.presentationml.tags+xml"/>
  <Override PartName="/ppt/notesSlides/notesSlide3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2.xml" ContentType="application/vnd.openxmlformats-officedocument.presentationml.tags+xml"/>
  <Override PartName="/ppt/notesSlides/notesSlide32.xml" ContentType="application/vnd.openxmlformats-officedocument.presentationml.notesSlide+xml"/>
  <Override PartName="/ppt/tags/tag13.xml" ContentType="application/vnd.openxmlformats-officedocument.presentationml.tags+xml"/>
  <Override PartName="/ppt/notesSlides/notesSlide33.xml" ContentType="application/vnd.openxmlformats-officedocument.presentationml.notesSlide+xml"/>
  <Override PartName="/ppt/tags/tag14.xml" ContentType="application/vnd.openxmlformats-officedocument.presentationml.tags+xml"/>
  <Override PartName="/ppt/notesSlides/notesSlide34.xml" ContentType="application/vnd.openxmlformats-officedocument.presentationml.notesSlide+xml"/>
  <Override PartName="/ppt/tags/tag15.xml" ContentType="application/vnd.openxmlformats-officedocument.presentationml.tags+xml"/>
  <Override PartName="/ppt/notesSlides/notesSlide35.xml" ContentType="application/vnd.openxmlformats-officedocument.presentationml.notesSlide+xml"/>
  <Override PartName="/ppt/tags/tag16.xml" ContentType="application/vnd.openxmlformats-officedocument.presentationml.tags+xml"/>
  <Override PartName="/ppt/notesSlides/notesSlide36.xml" ContentType="application/vnd.openxmlformats-officedocument.presentationml.notesSlide+xml"/>
  <Override PartName="/ppt/tags/tag17.xml" ContentType="application/vnd.openxmlformats-officedocument.presentationml.tags+xml"/>
  <Override PartName="/ppt/notesSlides/notesSlide37.xml" ContentType="application/vnd.openxmlformats-officedocument.presentationml.notesSlide+xml"/>
  <Override PartName="/ppt/tags/tag18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678" r:id="rId6"/>
    <p:sldMasterId id="2147483688" r:id="rId7"/>
    <p:sldMasterId id="2147483693" r:id="rId8"/>
  </p:sldMasterIdLst>
  <p:notesMasterIdLst>
    <p:notesMasterId r:id="rId67"/>
  </p:notesMasterIdLst>
  <p:sldIdLst>
    <p:sldId id="547" r:id="rId9"/>
    <p:sldId id="465" r:id="rId10"/>
    <p:sldId id="461" r:id="rId11"/>
    <p:sldId id="508" r:id="rId12"/>
    <p:sldId id="462" r:id="rId13"/>
    <p:sldId id="510" r:id="rId14"/>
    <p:sldId id="463" r:id="rId15"/>
    <p:sldId id="511" r:id="rId16"/>
    <p:sldId id="513" r:id="rId17"/>
    <p:sldId id="466" r:id="rId18"/>
    <p:sldId id="514" r:id="rId19"/>
    <p:sldId id="470" r:id="rId20"/>
    <p:sldId id="515" r:id="rId21"/>
    <p:sldId id="516" r:id="rId22"/>
    <p:sldId id="520" r:id="rId23"/>
    <p:sldId id="521" r:id="rId24"/>
    <p:sldId id="518" r:id="rId25"/>
    <p:sldId id="517" r:id="rId26"/>
    <p:sldId id="474" r:id="rId27"/>
    <p:sldId id="522" r:id="rId28"/>
    <p:sldId id="546" r:id="rId29"/>
    <p:sldId id="477" r:id="rId30"/>
    <p:sldId id="478" r:id="rId31"/>
    <p:sldId id="479" r:id="rId32"/>
    <p:sldId id="480" r:id="rId33"/>
    <p:sldId id="481" r:id="rId34"/>
    <p:sldId id="482" r:id="rId35"/>
    <p:sldId id="523" r:id="rId36"/>
    <p:sldId id="524" r:id="rId37"/>
    <p:sldId id="484" r:id="rId38"/>
    <p:sldId id="526" r:id="rId39"/>
    <p:sldId id="550" r:id="rId40"/>
    <p:sldId id="551" r:id="rId41"/>
    <p:sldId id="488" r:id="rId42"/>
    <p:sldId id="489" r:id="rId43"/>
    <p:sldId id="530" r:id="rId44"/>
    <p:sldId id="531" r:id="rId45"/>
    <p:sldId id="532" r:id="rId46"/>
    <p:sldId id="494" r:id="rId47"/>
    <p:sldId id="542" r:id="rId48"/>
    <p:sldId id="533" r:id="rId49"/>
    <p:sldId id="534" r:id="rId50"/>
    <p:sldId id="535" r:id="rId51"/>
    <p:sldId id="537" r:id="rId52"/>
    <p:sldId id="538" r:id="rId53"/>
    <p:sldId id="539" r:id="rId54"/>
    <p:sldId id="540" r:id="rId55"/>
    <p:sldId id="541" r:id="rId56"/>
    <p:sldId id="503" r:id="rId57"/>
    <p:sldId id="504" r:id="rId58"/>
    <p:sldId id="543" r:id="rId59"/>
    <p:sldId id="505" r:id="rId60"/>
    <p:sldId id="545" r:id="rId61"/>
    <p:sldId id="544" r:id="rId62"/>
    <p:sldId id="506" r:id="rId63"/>
    <p:sldId id="549" r:id="rId64"/>
    <p:sldId id="548" r:id="rId65"/>
    <p:sldId id="499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00B050"/>
    <a:srgbClr val="FFC000"/>
    <a:srgbClr val="FABB00"/>
    <a:srgbClr val="D78400"/>
    <a:srgbClr val="622F63"/>
    <a:srgbClr val="007423"/>
    <a:srgbClr val="CE1F5E"/>
    <a:srgbClr val="85033C"/>
    <a:srgbClr val="FE8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0" autoAdjust="0"/>
    <p:restoredTop sz="80930" autoAdjust="0"/>
  </p:normalViewPr>
  <p:slideViewPr>
    <p:cSldViewPr snapToGrid="0" showGuides="1">
      <p:cViewPr varScale="1">
        <p:scale>
          <a:sx n="93" d="100"/>
          <a:sy n="93" d="100"/>
        </p:scale>
        <p:origin x="1266" y="84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66" Type="http://schemas.openxmlformats.org/officeDocument/2006/relationships/slide" Target="slides/slide58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3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ssica%20Stebe\Downloads\01_PEVQ12_202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ssica%20Stebe\Downloads\01_PEVQ12_202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09C-4E52-A881-06617040954A}"/>
              </c:ext>
            </c:extLst>
          </c:dPt>
          <c:dPt>
            <c:idx val="1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9C-4E52-A881-06617040954A}"/>
              </c:ext>
            </c:extLst>
          </c:dPt>
          <c:dPt>
            <c:idx val="2"/>
            <c:bubble3D val="0"/>
            <c:explosion val="8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09C-4E52-A881-06617040954A}"/>
              </c:ext>
            </c:extLst>
          </c:dPt>
          <c:dLbls>
            <c:delete val="1"/>
          </c:dLbls>
          <c:cat>
            <c:strRef>
              <c:f>Tabelle1!$E$2:$E$4</c:f>
              <c:strCache>
                <c:ptCount val="3"/>
                <c:pt idx="0">
                  <c:v>Waldfläche</c:v>
                </c:pt>
                <c:pt idx="1">
                  <c:v>Siedlungs-, Verkehrs-, Wasserfläche, Sonstiges</c:v>
                </c:pt>
                <c:pt idx="2">
                  <c:v>Landwirtschaftliche genutzte Fläche</c:v>
                </c:pt>
              </c:strCache>
            </c:strRef>
          </c:cat>
          <c:val>
            <c:numRef>
              <c:f>Tabelle1!$F$2:$F$4</c:f>
              <c:numCache>
                <c:formatCode>General</c:formatCode>
                <c:ptCount val="3"/>
                <c:pt idx="0">
                  <c:v>11.4</c:v>
                </c:pt>
                <c:pt idx="1">
                  <c:v>7.8</c:v>
                </c:pt>
                <c:pt idx="2">
                  <c:v>16.23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9C-4E52-A881-06617040954A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167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88C-4D5C-B3EB-FD44F109568D}"/>
              </c:ext>
            </c:extLst>
          </c:dPt>
          <c:dPt>
            <c:idx val="1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88C-4D5C-B3EB-FD44F109568D}"/>
              </c:ext>
            </c:extLst>
          </c:dPt>
          <c:dPt>
            <c:idx val="2"/>
            <c:bubble3D val="0"/>
            <c:explosion val="8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88C-4D5C-B3EB-FD44F109568D}"/>
              </c:ext>
            </c:extLst>
          </c:dPt>
          <c:dLbls>
            <c:delete val="1"/>
          </c:dLbls>
          <c:cat>
            <c:strRef>
              <c:f>Tabelle1!$E$2:$E$4</c:f>
              <c:strCache>
                <c:ptCount val="3"/>
                <c:pt idx="0">
                  <c:v>Waldfläche</c:v>
                </c:pt>
                <c:pt idx="1">
                  <c:v>Siedlungs-, Verkehrs-, Wasserfläche, Sonstiges</c:v>
                </c:pt>
                <c:pt idx="2">
                  <c:v>Landwirtschaftliche genutzte Fläche</c:v>
                </c:pt>
              </c:strCache>
            </c:strRef>
          </c:cat>
          <c:val>
            <c:numRef>
              <c:f>Tabelle1!$F$2:$F$4</c:f>
              <c:numCache>
                <c:formatCode>General</c:formatCode>
                <c:ptCount val="3"/>
                <c:pt idx="0">
                  <c:v>11.4</c:v>
                </c:pt>
                <c:pt idx="1">
                  <c:v>7.8</c:v>
                </c:pt>
                <c:pt idx="2">
                  <c:v>16.23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88C-4D5C-B3EB-FD44F109568D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167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30.04.2026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2393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140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5024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1234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Klimastreifen</a:t>
            </a:r>
            <a:r>
              <a:rPr lang="de-DE" baseline="0" smtClean="0"/>
              <a:t> auch auf Sachsenbrücke zu sehen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6763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Klimastreifen</a:t>
            </a:r>
            <a:r>
              <a:rPr lang="de-DE" baseline="0" smtClean="0"/>
              <a:t> auch auf Sachsenbrücke zu sehen</a:t>
            </a:r>
            <a:endParaRPr lang="de-DE" smtClean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5539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586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053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9650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Stand 2022, deswegen Schätzung für 2023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5449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Stand 2022, deswegen Schätzung für 2023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5171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943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>
                <a:sym typeface="Wingdings" panose="05000000000000000000" pitchFamily="2" charset="2"/>
              </a:rPr>
              <a:t>Stand 2025,</a:t>
            </a:r>
            <a:r>
              <a:rPr lang="de-DE" baseline="0" smtClean="0">
                <a:sym typeface="Wingdings" panose="05000000000000000000" pitchFamily="2" charset="2"/>
              </a:rPr>
              <a:t> in Klammern stehen Vorjahreswerte</a:t>
            </a:r>
          </a:p>
          <a:p>
            <a:r>
              <a:rPr lang="de-DE" baseline="0" smtClean="0">
                <a:sym typeface="Wingdings" panose="05000000000000000000" pitchFamily="2" charset="2"/>
              </a:rPr>
              <a:t>Stromaustauschsaldo = exportierter Strom – importierter Strom </a:t>
            </a:r>
          </a:p>
          <a:p>
            <a:r>
              <a:rPr lang="de-DE" baseline="0" smtClean="0">
                <a:sym typeface="Wingdings" panose="05000000000000000000" pitchFamily="2" charset="2"/>
              </a:rPr>
              <a:t>Bsp. Sonstiges: heizwerte Industrieabfälle</a:t>
            </a:r>
            <a:endParaRPr lang="de-DE" smtClean="0">
              <a:sym typeface="Wingdings" panose="05000000000000000000" pitchFamily="2" charset="2"/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6729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>
                <a:sym typeface="Wingdings" panose="05000000000000000000" pitchFamily="2" charset="2"/>
              </a:rPr>
              <a:t>Stand 2025,</a:t>
            </a:r>
            <a:r>
              <a:rPr lang="de-DE" baseline="0" smtClean="0">
                <a:sym typeface="Wingdings" panose="05000000000000000000" pitchFamily="2" charset="2"/>
              </a:rPr>
              <a:t> in Klammern stehen Vorjahreswerte</a:t>
            </a:r>
          </a:p>
          <a:p>
            <a:r>
              <a:rPr lang="de-DE" baseline="0" smtClean="0">
                <a:sym typeface="Wingdings" panose="05000000000000000000" pitchFamily="2" charset="2"/>
              </a:rPr>
              <a:t>Stromaustauschsaldo = exportierter Strom – importierter Strom </a:t>
            </a:r>
          </a:p>
          <a:p>
            <a:r>
              <a:rPr lang="de-DE" baseline="0" smtClean="0">
                <a:sym typeface="Wingdings" panose="05000000000000000000" pitchFamily="2" charset="2"/>
              </a:rPr>
              <a:t>Bsp. Sonstiges: heizwerte Industrieabfälle</a:t>
            </a:r>
            <a:endParaRPr lang="de-DE" smtClean="0">
              <a:sym typeface="Wingdings" panose="05000000000000000000" pitchFamily="2" charset="2"/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7248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>
                <a:sym typeface="Wingdings" panose="05000000000000000000" pitchFamily="2" charset="2"/>
              </a:rPr>
              <a:t>Stand 2025,</a:t>
            </a:r>
            <a:r>
              <a:rPr lang="de-DE" baseline="0" smtClean="0">
                <a:sym typeface="Wingdings" panose="05000000000000000000" pitchFamily="2" charset="2"/>
              </a:rPr>
              <a:t> in Klammern stehen Vorjahreswerte</a:t>
            </a:r>
          </a:p>
          <a:p>
            <a:r>
              <a:rPr lang="de-DE" baseline="0" smtClean="0">
                <a:sym typeface="Wingdings" panose="05000000000000000000" pitchFamily="2" charset="2"/>
              </a:rPr>
              <a:t>Stromaustauschsaldo = exportierter Strom – importierter Strom </a:t>
            </a:r>
          </a:p>
          <a:p>
            <a:r>
              <a:rPr lang="de-DE" baseline="0" smtClean="0">
                <a:sym typeface="Wingdings" panose="05000000000000000000" pitchFamily="2" charset="2"/>
              </a:rPr>
              <a:t>Bsp. Sonstiges: heizwerte Industrieabfälle</a:t>
            </a:r>
            <a:endParaRPr lang="de-DE" smtClean="0">
              <a:sym typeface="Wingdings" panose="05000000000000000000" pitchFamily="2" charset="2"/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72737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>
                <a:sym typeface="Wingdings" panose="05000000000000000000" pitchFamily="2" charset="2"/>
              </a:rPr>
              <a:t>Stand 2025,</a:t>
            </a:r>
            <a:r>
              <a:rPr lang="de-DE" baseline="0" smtClean="0">
                <a:sym typeface="Wingdings" panose="05000000000000000000" pitchFamily="2" charset="2"/>
              </a:rPr>
              <a:t> in Klammern stehen Vorjahreswerte</a:t>
            </a:r>
          </a:p>
          <a:p>
            <a:r>
              <a:rPr lang="de-DE" baseline="0" smtClean="0">
                <a:sym typeface="Wingdings" panose="05000000000000000000" pitchFamily="2" charset="2"/>
              </a:rPr>
              <a:t>Stromaustauschsaldo = exportierter Strom – importierter Strom </a:t>
            </a:r>
          </a:p>
          <a:p>
            <a:r>
              <a:rPr lang="de-DE" baseline="0" smtClean="0">
                <a:sym typeface="Wingdings" panose="05000000000000000000" pitchFamily="2" charset="2"/>
              </a:rPr>
              <a:t>Bsp. Sonstiges: heizwerte Industrieabfälle</a:t>
            </a:r>
            <a:endParaRPr lang="de-DE" smtClean="0">
              <a:sym typeface="Wingdings" panose="05000000000000000000" pitchFamily="2" charset="2"/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1026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0114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In</a:t>
            </a:r>
            <a:r>
              <a:rPr lang="de-DE" baseline="0" smtClean="0"/>
              <a:t> DE etwa 7300 Wasserkraftanlagen </a:t>
            </a:r>
            <a:r>
              <a:rPr lang="de-DE" baseline="0" smtClean="0">
                <a:sym typeface="Wingdings" panose="05000000000000000000" pitchFamily="2" charset="2"/>
              </a:rPr>
              <a:t> Deckung von 2,9 % – 3,8 % des jährlichen Bruttostromverbrauchs, je nach Wasserführung</a:t>
            </a:r>
          </a:p>
          <a:p>
            <a:endParaRPr lang="de-DE" baseline="0" smtClean="0">
              <a:sym typeface="Wingdings" panose="05000000000000000000" pitchFamily="2" charset="2"/>
            </a:endParaRPr>
          </a:p>
          <a:p>
            <a:r>
              <a:rPr lang="de-DE" baseline="0" smtClean="0">
                <a:sym typeface="Wingdings" panose="05000000000000000000" pitchFamily="2" charset="2"/>
              </a:rPr>
              <a:t>Warum werden Windräder größer?</a:t>
            </a:r>
          </a:p>
          <a:p>
            <a:pPr marL="228600" indent="-228600">
              <a:buAutoNum type="arabicPeriod"/>
            </a:pPr>
            <a:r>
              <a:rPr lang="de-DE" baseline="0" smtClean="0">
                <a:sym typeface="Wingdings" panose="05000000000000000000" pitchFamily="2" charset="2"/>
              </a:rPr>
              <a:t>Fläche hat positiven Einfluss auf Leistung  Fläche steigt qudratisch mit Rotorblattlänge</a:t>
            </a:r>
          </a:p>
          <a:p>
            <a:pPr marL="228600" indent="-228600">
              <a:buAutoNum type="arabicPeriod"/>
            </a:pPr>
            <a:r>
              <a:rPr lang="de-DE" baseline="0" smtClean="0">
                <a:sym typeface="Wingdings" panose="05000000000000000000" pitchFamily="2" charset="2"/>
              </a:rPr>
              <a:t>Wind weiter oben stärker</a:t>
            </a:r>
          </a:p>
          <a:p>
            <a:pPr marL="228600" indent="-228600">
              <a:buAutoNum type="arabicPeriod"/>
            </a:pPr>
            <a:endParaRPr lang="de-DE" baseline="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baseline="0" smtClean="0">
                <a:sym typeface="Wingdings" panose="05000000000000000000" pitchFamily="2" charset="2"/>
              </a:rPr>
              <a:t>(Atomkraft ist keine erneuerbare Energieform  Kernbrennstoffe (z.B. Uran) sind begrenzt und erschöpflich)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34607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05074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30223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29860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7187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47813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F3F8-FB24-BDEE-A3A6-B2B81B1AD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BCC959F-BED9-AC51-5EF1-877B9E1F7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2306685-21E3-A203-9D1B-D99329C8F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7F8CF0-6D54-ACA3-AFD3-B15A02DD1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43664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3EF6F-1525-2243-D62D-3EE061196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CF5C473-A125-8A74-935E-32B53CDC0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3C4B01C-D5A9-F449-EC5A-5BDF5AFAC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BDB2DD-A036-F747-B13E-C78D893AF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90454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4FB93-BAE8-01BF-78EA-EA7FE131E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346F7E3-A39C-6DB4-BFE4-C2BD0601F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500EEB4-7C90-B235-179A-EAFB4965A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DE4EF1-481D-60BC-9808-7B7EB9928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82243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574C6-7234-52BB-4433-F70115977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A43FFC6-84A2-603C-66AA-8DF41E547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7564CDF-4DFB-4573-D3A8-25215ADD8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DB6DA9-D573-BCD9-7395-3AAD67C26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03324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574C6-7234-52BB-4433-F70115977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A43FFC6-84A2-603C-66AA-8DF41E547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7564CDF-4DFB-4573-D3A8-25215ADD8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DB6DA9-D573-BCD9-7395-3AAD67C26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71809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574C6-7234-52BB-4433-F70115977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A43FFC6-84A2-603C-66AA-8DF41E547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7564CDF-4DFB-4573-D3A8-25215ADD8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DB6DA9-D573-BCD9-7395-3AAD67C26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64795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i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96991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i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2689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i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39189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i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20605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476CE-A0F4-E401-5D34-96937C0E9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5C27FCF-B038-6184-4409-C3ABEFE48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FF15A48-A0A5-86A9-F25E-5AE6C7542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aseline="0" dirty="0" smtClean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8E979C-090B-AD88-D9F4-1AA4CE26D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76824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476CE-A0F4-E401-5D34-96937C0E9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5C27FCF-B038-6184-4409-C3ABEFE48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FF15A48-A0A5-86A9-F25E-5AE6C7542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aseline="0" dirty="0" smtClean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8E979C-090B-AD88-D9F4-1AA4CE26D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99874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476CE-A0F4-E401-5D34-96937C0E9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5C27FCF-B038-6184-4409-C3ABEFE48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FF15A48-A0A5-86A9-F25E-5AE6C7542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aseline="0" dirty="0" smtClean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8E979C-090B-AD88-D9F4-1AA4CE26D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42010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476CE-A0F4-E401-5D34-96937C0E9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5C27FCF-B038-6184-4409-C3ABEFE48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FF15A48-A0A5-86A9-F25E-5AE6C7542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aseline="0" dirty="0" smtClean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8E979C-090B-AD88-D9F4-1AA4CE26D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5889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476CE-A0F4-E401-5D34-96937C0E9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5C27FCF-B038-6184-4409-C3ABEFE48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FF15A48-A0A5-86A9-F25E-5AE6C7542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aseline="0" dirty="0" smtClean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8E979C-090B-AD88-D9F4-1AA4CE26D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8428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0" smtClean="0">
                <a:sym typeface="Wingdings" panose="05000000000000000000" pitchFamily="2" charset="2"/>
              </a:rPr>
              <a:t>Versuchsanlage umfasst 3 Bereiche:</a:t>
            </a:r>
          </a:p>
          <a:p>
            <a:r>
              <a:rPr lang="de-DE" b="0" smtClean="0">
                <a:sym typeface="Wingdings" panose="05000000000000000000" pitchFamily="2" charset="2"/>
              </a:rPr>
              <a:t>Erster Bereich</a:t>
            </a:r>
            <a:r>
              <a:rPr lang="de-DE" b="0" baseline="0" smtClean="0">
                <a:sym typeface="Wingdings" panose="05000000000000000000" pitchFamily="2" charset="2"/>
              </a:rPr>
              <a:t> </a:t>
            </a:r>
            <a:r>
              <a:rPr lang="de-DE" b="0" smtClean="0">
                <a:sym typeface="Wingdings" panose="05000000000000000000" pitchFamily="2" charset="2"/>
              </a:rPr>
              <a:t> nur</a:t>
            </a:r>
            <a:r>
              <a:rPr lang="de-DE" b="0" baseline="0" smtClean="0">
                <a:sym typeface="Wingdings" panose="05000000000000000000" pitchFamily="2" charset="2"/>
              </a:rPr>
              <a:t> Agri</a:t>
            </a:r>
          </a:p>
          <a:p>
            <a:r>
              <a:rPr lang="de-DE" b="0" baseline="0" smtClean="0">
                <a:sym typeface="Wingdings" panose="05000000000000000000" pitchFamily="2" charset="2"/>
              </a:rPr>
              <a:t>Zweiter Bereich  Agri-PV</a:t>
            </a:r>
          </a:p>
          <a:p>
            <a:r>
              <a:rPr lang="de-DE" b="0" baseline="0" smtClean="0">
                <a:sym typeface="Wingdings" panose="05000000000000000000" pitchFamily="2" charset="2"/>
              </a:rPr>
              <a:t>Dritter Bereich  nur PV </a:t>
            </a:r>
          </a:p>
          <a:p>
            <a:endParaRPr lang="de-DE" b="0" baseline="0" smtClean="0">
              <a:sym typeface="Wingdings" panose="05000000000000000000" pitchFamily="2" charset="2"/>
            </a:endParaRPr>
          </a:p>
          <a:p>
            <a:r>
              <a:rPr lang="de-DE" b="0" baseline="0" smtClean="0">
                <a:sym typeface="Wingdings" panose="05000000000000000000" pitchFamily="2" charset="2"/>
              </a:rPr>
              <a:t>Durch Messtechnik und Vergleich der Flächen wird unterucht welchen Einfluss Agri auf PV hat und umgedreht </a:t>
            </a:r>
          </a:p>
          <a:p>
            <a:endParaRPr lang="de-DE" b="0" baseline="0" smtClean="0">
              <a:sym typeface="Wingdings" panose="05000000000000000000" pitchFamily="2" charset="2"/>
            </a:endParaRPr>
          </a:p>
          <a:p>
            <a:r>
              <a:rPr lang="de-DE" b="0" baseline="0" smtClean="0">
                <a:sym typeface="Wingdings" panose="05000000000000000000" pitchFamily="2" charset="2"/>
              </a:rPr>
              <a:t>Verwendete Sensoren:</a:t>
            </a:r>
          </a:p>
          <a:p>
            <a:r>
              <a:rPr lang="de-DE" b="0" baseline="0" smtClean="0">
                <a:sym typeface="Wingdings" panose="05000000000000000000" pitchFamily="2" charset="2"/>
              </a:rPr>
              <a:t>Bodenfeuchtesensoren</a:t>
            </a:r>
          </a:p>
          <a:p>
            <a:r>
              <a:rPr lang="de-DE" b="0" baseline="0" smtClean="0">
                <a:sym typeface="Wingdings" panose="05000000000000000000" pitchFamily="2" charset="2"/>
              </a:rPr>
              <a:t>Luftfeuchtesensoren</a:t>
            </a:r>
          </a:p>
          <a:p>
            <a:r>
              <a:rPr lang="de-DE" b="0" baseline="0" smtClean="0">
                <a:sym typeface="Wingdings" panose="05000000000000000000" pitchFamily="2" charset="2"/>
              </a:rPr>
              <a:t>Temperatursensoren</a:t>
            </a:r>
          </a:p>
          <a:p>
            <a:r>
              <a:rPr lang="de-DE" b="0" baseline="0" smtClean="0">
                <a:sym typeface="Wingdings" panose="05000000000000000000" pitchFamily="2" charset="2"/>
              </a:rPr>
              <a:t>Lichtsensoren</a:t>
            </a:r>
          </a:p>
          <a:p>
            <a:endParaRPr lang="de-DE" b="0" baseline="0" smtClean="0">
              <a:sym typeface="Wingdings" panose="05000000000000000000" pitchFamily="2" charset="2"/>
            </a:endParaRPr>
          </a:p>
          <a:p>
            <a:r>
              <a:rPr lang="de-DE" b="0" baseline="0" smtClean="0">
                <a:sym typeface="Wingdings" panose="05000000000000000000" pitchFamily="2" charset="2"/>
              </a:rPr>
              <a:t>Aufgenommene Messwerte werden gespeichert und ausgewertet</a:t>
            </a:r>
            <a:endParaRPr lang="de-DE" b="0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98713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92890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5714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21647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2246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13869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30071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52427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570472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98450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6795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970542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51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19231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Weiß bündelt alle</a:t>
            </a:r>
            <a:r>
              <a:rPr lang="de-DE" baseline="0" smtClean="0"/>
              <a:t> Farben </a:t>
            </a:r>
          </a:p>
          <a:p>
            <a:endParaRPr lang="de-DE" baseline="0" smtClean="0"/>
          </a:p>
          <a:p>
            <a:r>
              <a:rPr lang="de-DE" baseline="0" smtClean="0"/>
              <a:t>Blau und grün wird in erster Schicht absorbiert, weil Wellenlänge kurz</a:t>
            </a:r>
          </a:p>
          <a:p>
            <a:endParaRPr lang="de-DE" baseline="0" smtClean="0"/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027867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56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208019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71299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4102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auf Platzhalter ziehen oder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575106C-3CD7-FE4D-97C8-190DE4ECDE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470EED4F-3BF2-0241-A831-A9A96AFFE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705" y="1498600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AA6AD5-C75F-0846-B79B-823B288EFF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295" y="1510821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406942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7943244-8079-C343-9249-D13695A8447F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004A059-65DF-B340-AD61-079AA36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88F6906-E0DF-3A4F-A375-7B9D3F4EA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79D9D2-52F2-0247-AF3C-3AA30091C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25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82399" y="6078099"/>
            <a:ext cx="6356134" cy="361296"/>
          </a:xfrm>
        </p:spPr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232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82398" y="5976501"/>
            <a:ext cx="6618601" cy="466629"/>
          </a:xfrm>
        </p:spPr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auf Platzhalter ziehen oder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837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w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.w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22EEA21B-970F-3640-8788-C21A9CC415C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4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ipcc.ch/report/ar6/wg3/downloads/report/IPCC_AR6_WGIII_SPM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ipcc.ch/report/ar6/wg3/downloads/report/IPCC_AR6_WGIII_SPM.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bu.de/umwelt-und-ressourcen/klima-und-luft/klimawandel/32705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bu.de/umwelt-und-ressourcen/klima-und-luft/klimawandel/32705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globalwaterstorage.info/medien/bild-des-monats/mai-2024" TargetMode="External"/><Relationship Id="rId5" Type="http://schemas.openxmlformats.org/officeDocument/2006/relationships/image" Target="../media/image8.png"/><Relationship Id="rId4" Type="http://schemas.openxmlformats.org/officeDocument/2006/relationships/hyperlink" Target="https://www.ipcc.ch/site/assets/uploads/sites/2/2022/06/SR15_Chapter_1_HR.pd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umweltbundesamt.de/dokument/emissionsuebersichten-ksg-sektoren-1990-2023" TargetMode="External"/><Relationship Id="rId5" Type="http://schemas.openxmlformats.org/officeDocument/2006/relationships/hyperlink" Target="https://www.gesetze-im-internet.de/ksg/anlage_1.html" TargetMode="Externa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gesetze-im-internet.de/ksg/anlage_1.html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www.umweltbundesamt.de/dokument/emissionsuebersichten-ksg-sektoren-1990-2023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5" Type="http://schemas.openxmlformats.org/officeDocument/2006/relationships/hyperlink" Target="https://ag-energiebilanzen.de/energieverbrauch-wird-2025-stagnieren/" TargetMode="Externa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5" Type="http://schemas.openxmlformats.org/officeDocument/2006/relationships/image" Target="../media/image13.png"/><Relationship Id="rId4" Type="http://schemas.openxmlformats.org/officeDocument/2006/relationships/hyperlink" Target="https://ag-energiebilanzen.de/energieverbrauch-wird-2025-stagnieren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5" Type="http://schemas.openxmlformats.org/officeDocument/2006/relationships/image" Target="../media/image13.png"/><Relationship Id="rId4" Type="http://schemas.openxmlformats.org/officeDocument/2006/relationships/hyperlink" Target="https://ag-energiebilanzen.de/energieverbrauch-wird-2025-stagnieren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5" Type="http://schemas.openxmlformats.org/officeDocument/2006/relationships/image" Target="../media/image13.png"/><Relationship Id="rId4" Type="http://schemas.openxmlformats.org/officeDocument/2006/relationships/hyperlink" Target="https://ag-energiebilanzen.de/energieverbrauch-wird-2025-stagniere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group.vattenfall.com/de/newsroom/pressemitteilungen/2020/28-mw-solarpark-in-mecklenburg-vorpommern" TargetMode="External"/><Relationship Id="rId3" Type="http://schemas.openxmlformats.org/officeDocument/2006/relationships/image" Target="../media/image15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umweltbundesamt.de/themen/klima-energie/erneuerbare-energien/nutzung-der-wasserkraft#Stromproduktion" TargetMode="External"/><Relationship Id="rId5" Type="http://schemas.openxmlformats.org/officeDocument/2006/relationships/image" Target="../media/image16.jpeg"/><Relationship Id="rId4" Type="http://schemas.openxmlformats.org/officeDocument/2006/relationships/hyperlink" Target="https://energiewende.eu/warum-werden-windraeder-immer-groesser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se.fraunhofer.de/en/research-projects/net-zero-energy-building-freiburgs-new-city-hall.html" TargetMode="External"/><Relationship Id="rId3" Type="http://schemas.openxmlformats.org/officeDocument/2006/relationships/image" Target="../media/image20.jpeg"/><Relationship Id="rId7" Type="http://schemas.openxmlformats.org/officeDocument/2006/relationships/image" Target="../media/image22.jpeg"/><Relationship Id="rId12" Type="http://schemas.openxmlformats.org/officeDocument/2006/relationships/hyperlink" Target="https://www.photovoltaik-bw.de/themen/photovoltaik-gruendach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ise.fraunhofer.de/de/geschaeftsfelder/solarkraftwerke-und-integrierte-photovoltaik/integrierte-photovoltaik/schwimmende-photovoltaik-fpv.html" TargetMode="External"/><Relationship Id="rId11" Type="http://schemas.openxmlformats.org/officeDocument/2006/relationships/image" Target="../media/image24.jpeg"/><Relationship Id="rId5" Type="http://schemas.openxmlformats.org/officeDocument/2006/relationships/image" Target="../media/image21.jpeg"/><Relationship Id="rId10" Type="http://schemas.openxmlformats.org/officeDocument/2006/relationships/hyperlink" Target="https://www.ise.fraunhofer.de/de/geschaeftsfelder/solarkraftwerke-und-integrierte-photovoltaik/integrierte-photovoltaik/fahrzeugintegrierte-photovoltaik-vipv.html" TargetMode="External"/><Relationship Id="rId4" Type="http://schemas.openxmlformats.org/officeDocument/2006/relationships/hyperlink" Target="https://www.ise.fraunhofer.de/de/forschungsprojekte/agri-pv-bawue.html" TargetMode="External"/><Relationship Id="rId9" Type="http://schemas.openxmlformats.org/officeDocument/2006/relationships/image" Target="../media/image23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3.svg"/><Relationship Id="rId3" Type="http://schemas.openxmlformats.org/officeDocument/2006/relationships/image" Target="../media/image25.png"/><Relationship Id="rId7" Type="http://schemas.openxmlformats.org/officeDocument/2006/relationships/image" Target="../media/image7.sv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28.png"/><Relationship Id="rId9" Type="http://schemas.openxmlformats.org/officeDocument/2006/relationships/image" Target="../media/image9.svg"/><Relationship Id="rId1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6" Type="http://schemas.openxmlformats.org/officeDocument/2006/relationships/image" Target="../media/image30.png"/><Relationship Id="rId5" Type="http://schemas.openxmlformats.org/officeDocument/2006/relationships/image" Target="../media/image5.sv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6" Type="http://schemas.openxmlformats.org/officeDocument/2006/relationships/image" Target="../media/image30.png"/><Relationship Id="rId5" Type="http://schemas.openxmlformats.org/officeDocument/2006/relationships/image" Target="../media/image5.svg"/><Relationship Id="rId4" Type="http://schemas.openxmlformats.org/officeDocument/2006/relationships/image" Target="../media/image25.png"/><Relationship Id="rId9" Type="http://schemas.openxmlformats.org/officeDocument/2006/relationships/image" Target="../media/image19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svg"/><Relationship Id="rId11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23.svg"/><Relationship Id="rId4" Type="http://schemas.openxmlformats.org/officeDocument/2006/relationships/image" Target="../media/image5.svg"/><Relationship Id="rId9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33.png"/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svg"/><Relationship Id="rId11" Type="http://schemas.openxmlformats.org/officeDocument/2006/relationships/image" Target="../media/image31.png"/><Relationship Id="rId5" Type="http://schemas.openxmlformats.org/officeDocument/2006/relationships/image" Target="../media/image30.png"/><Relationship Id="rId15" Type="http://schemas.openxmlformats.org/officeDocument/2006/relationships/image" Target="../media/image35.png"/><Relationship Id="rId10" Type="http://schemas.openxmlformats.org/officeDocument/2006/relationships/image" Target="../media/image25.svg"/><Relationship Id="rId4" Type="http://schemas.openxmlformats.org/officeDocument/2006/relationships/image" Target="../media/image5.svg"/><Relationship Id="rId9" Type="http://schemas.openxmlformats.org/officeDocument/2006/relationships/image" Target="../media/image34.png"/><Relationship Id="rId14" Type="http://schemas.openxmlformats.org/officeDocument/2006/relationships/image" Target="../media/image23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3.png"/><Relationship Id="rId18" Type="http://schemas.openxmlformats.org/officeDocument/2006/relationships/image" Target="../media/image17.svg"/><Relationship Id="rId3" Type="http://schemas.openxmlformats.org/officeDocument/2006/relationships/image" Target="../media/image25.png"/><Relationship Id="rId7" Type="http://schemas.openxmlformats.org/officeDocument/2006/relationships/image" Target="../media/image36.png"/><Relationship Id="rId12" Type="http://schemas.openxmlformats.org/officeDocument/2006/relationships/image" Target="../media/image19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svg"/><Relationship Id="rId11" Type="http://schemas.openxmlformats.org/officeDocument/2006/relationships/image" Target="../media/image31.png"/><Relationship Id="rId5" Type="http://schemas.openxmlformats.org/officeDocument/2006/relationships/image" Target="../media/image30.png"/><Relationship Id="rId15" Type="http://schemas.openxmlformats.org/officeDocument/2006/relationships/image" Target="../media/image34.png"/><Relationship Id="rId10" Type="http://schemas.openxmlformats.org/officeDocument/2006/relationships/image" Target="../media/image31.svg"/><Relationship Id="rId4" Type="http://schemas.openxmlformats.org/officeDocument/2006/relationships/image" Target="../media/image5.svg"/><Relationship Id="rId9" Type="http://schemas.openxmlformats.org/officeDocument/2006/relationships/image" Target="../media/image37.png"/><Relationship Id="rId14" Type="http://schemas.openxmlformats.org/officeDocument/2006/relationships/image" Target="../media/image23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23.svg"/><Relationship Id="rId18" Type="http://schemas.openxmlformats.org/officeDocument/2006/relationships/image" Target="../media/image39.png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15.svg"/><Relationship Id="rId12" Type="http://schemas.openxmlformats.org/officeDocument/2006/relationships/image" Target="../media/image33.png"/><Relationship Id="rId17" Type="http://schemas.openxmlformats.org/officeDocument/2006/relationships/image" Target="../media/image17.svg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38.png"/><Relationship Id="rId1" Type="http://schemas.openxmlformats.org/officeDocument/2006/relationships/tags" Target="../tags/tag7.xml"/><Relationship Id="rId6" Type="http://schemas.openxmlformats.org/officeDocument/2006/relationships/image" Target="../media/image30.png"/><Relationship Id="rId11" Type="http://schemas.openxmlformats.org/officeDocument/2006/relationships/image" Target="../media/image19.svg"/><Relationship Id="rId5" Type="http://schemas.openxmlformats.org/officeDocument/2006/relationships/image" Target="../media/image5.svg"/><Relationship Id="rId15" Type="http://schemas.openxmlformats.org/officeDocument/2006/relationships/image" Target="../media/image25.svg"/><Relationship Id="rId10" Type="http://schemas.openxmlformats.org/officeDocument/2006/relationships/image" Target="../media/image31.png"/><Relationship Id="rId19" Type="http://schemas.openxmlformats.org/officeDocument/2006/relationships/image" Target="../media/image35.svg"/><Relationship Id="rId4" Type="http://schemas.openxmlformats.org/officeDocument/2006/relationships/image" Target="../media/image25.png"/><Relationship Id="rId9" Type="http://schemas.openxmlformats.org/officeDocument/2006/relationships/image" Target="../media/image33.svg"/><Relationship Id="rId1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23.svg"/><Relationship Id="rId18" Type="http://schemas.openxmlformats.org/officeDocument/2006/relationships/image" Target="../media/image39.png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15.svg"/><Relationship Id="rId12" Type="http://schemas.openxmlformats.org/officeDocument/2006/relationships/image" Target="../media/image33.png"/><Relationship Id="rId17" Type="http://schemas.openxmlformats.org/officeDocument/2006/relationships/image" Target="../media/image17.svg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38.png"/><Relationship Id="rId20" Type="http://schemas.openxmlformats.org/officeDocument/2006/relationships/image" Target="../media/image40.png"/><Relationship Id="rId1" Type="http://schemas.openxmlformats.org/officeDocument/2006/relationships/tags" Target="../tags/tag8.xml"/><Relationship Id="rId6" Type="http://schemas.openxmlformats.org/officeDocument/2006/relationships/image" Target="../media/image30.png"/><Relationship Id="rId11" Type="http://schemas.openxmlformats.org/officeDocument/2006/relationships/image" Target="../media/image19.svg"/><Relationship Id="rId5" Type="http://schemas.openxmlformats.org/officeDocument/2006/relationships/image" Target="../media/image5.svg"/><Relationship Id="rId15" Type="http://schemas.openxmlformats.org/officeDocument/2006/relationships/image" Target="../media/image25.svg"/><Relationship Id="rId23" Type="http://schemas.openxmlformats.org/officeDocument/2006/relationships/image" Target="../media/image39.svg"/><Relationship Id="rId10" Type="http://schemas.openxmlformats.org/officeDocument/2006/relationships/image" Target="../media/image31.png"/><Relationship Id="rId19" Type="http://schemas.openxmlformats.org/officeDocument/2006/relationships/image" Target="../media/image35.svg"/><Relationship Id="rId4" Type="http://schemas.openxmlformats.org/officeDocument/2006/relationships/image" Target="../media/image25.png"/><Relationship Id="rId9" Type="http://schemas.openxmlformats.org/officeDocument/2006/relationships/image" Target="../media/image33.svg"/><Relationship Id="rId1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23.svg"/><Relationship Id="rId26" Type="http://schemas.openxmlformats.org/officeDocument/2006/relationships/image" Target="../media/image38.png"/><Relationship Id="rId3" Type="http://schemas.openxmlformats.org/officeDocument/2006/relationships/notesSlide" Target="../notesSlides/notesSlide29.xml"/><Relationship Id="rId21" Type="http://schemas.openxmlformats.org/officeDocument/2006/relationships/image" Target="../media/image37.svg"/><Relationship Id="rId7" Type="http://schemas.openxmlformats.org/officeDocument/2006/relationships/image" Target="../media/image15.svg"/><Relationship Id="rId25" Type="http://schemas.openxmlformats.org/officeDocument/2006/relationships/image" Target="../media/image34.png"/><Relationship Id="rId17" Type="http://schemas.openxmlformats.org/officeDocument/2006/relationships/image" Target="../media/image17.svg"/><Relationship Id="rId2" Type="http://schemas.openxmlformats.org/officeDocument/2006/relationships/slideLayout" Target="../slideLayouts/slideLayout3.xml"/><Relationship Id="rId29" Type="http://schemas.openxmlformats.org/officeDocument/2006/relationships/image" Target="../media/image39.svg"/><Relationship Id="rId1" Type="http://schemas.openxmlformats.org/officeDocument/2006/relationships/tags" Target="../tags/tag9.xml"/><Relationship Id="rId6" Type="http://schemas.openxmlformats.org/officeDocument/2006/relationships/image" Target="../media/image41.png"/><Relationship Id="rId11" Type="http://schemas.openxmlformats.org/officeDocument/2006/relationships/image" Target="../media/image19.svg"/><Relationship Id="rId24" Type="http://schemas.openxmlformats.org/officeDocument/2006/relationships/image" Target="../media/image33.png"/><Relationship Id="rId5" Type="http://schemas.openxmlformats.org/officeDocument/2006/relationships/image" Target="../media/image5.svg"/><Relationship Id="rId23" Type="http://schemas.openxmlformats.org/officeDocument/2006/relationships/image" Target="../media/image31.png"/><Relationship Id="rId15" Type="http://schemas.openxmlformats.org/officeDocument/2006/relationships/image" Target="../media/image25.svg"/><Relationship Id="rId28" Type="http://schemas.openxmlformats.org/officeDocument/2006/relationships/image" Target="../media/image40.png"/><Relationship Id="rId19" Type="http://schemas.openxmlformats.org/officeDocument/2006/relationships/image" Target="../media/image35.svg"/><Relationship Id="rId4" Type="http://schemas.openxmlformats.org/officeDocument/2006/relationships/image" Target="../media/image25.png"/><Relationship Id="rId22" Type="http://schemas.openxmlformats.org/officeDocument/2006/relationships/image" Target="../media/image30.png"/><Relationship Id="rId9" Type="http://schemas.openxmlformats.org/officeDocument/2006/relationships/image" Target="../media/image33.svg"/><Relationship Id="rId27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6" Type="http://schemas.openxmlformats.org/officeDocument/2006/relationships/hyperlink" Target="https://mediathek.fnr.de/flachennutzung-in-deutschland.html" TargetMode="External"/><Relationship Id="rId5" Type="http://schemas.openxmlformats.org/officeDocument/2006/relationships/chart" Target="../charts/chart1.xml"/><Relationship Id="rId4" Type="http://schemas.openxmlformats.org/officeDocument/2006/relationships/image" Target="../media/image42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6" Type="http://schemas.openxmlformats.org/officeDocument/2006/relationships/hyperlink" Target="https://mediathek.fnr.de/flachennutzung-in-deutschland.html" TargetMode="External"/><Relationship Id="rId5" Type="http://schemas.openxmlformats.org/officeDocument/2006/relationships/chart" Target="../charts/chart2.xml"/><Relationship Id="rId4" Type="http://schemas.openxmlformats.org/officeDocument/2006/relationships/image" Target="../media/image4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4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6" Type="http://schemas.openxmlformats.org/officeDocument/2006/relationships/image" Target="../media/image430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6" Type="http://schemas.openxmlformats.org/officeDocument/2006/relationships/image" Target="../media/image30.png"/><Relationship Id="rId5" Type="http://schemas.openxmlformats.org/officeDocument/2006/relationships/image" Target="../media/image5.svg"/><Relationship Id="rId4" Type="http://schemas.openxmlformats.org/officeDocument/2006/relationships/image" Target="../media/image25.png"/><Relationship Id="rId9" Type="http://schemas.openxmlformats.org/officeDocument/2006/relationships/image" Target="../media/image33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6" Type="http://schemas.openxmlformats.org/officeDocument/2006/relationships/image" Target="../media/image30.png"/><Relationship Id="rId5" Type="http://schemas.openxmlformats.org/officeDocument/2006/relationships/image" Target="../media/image5.svg"/><Relationship Id="rId10" Type="http://schemas.openxmlformats.org/officeDocument/2006/relationships/image" Target="../media/image46.png"/><Relationship Id="rId4" Type="http://schemas.openxmlformats.org/officeDocument/2006/relationships/image" Target="../media/image25.png"/><Relationship Id="rId9" Type="http://schemas.openxmlformats.org/officeDocument/2006/relationships/image" Target="../media/image33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6" Type="http://schemas.openxmlformats.org/officeDocument/2006/relationships/image" Target="../media/image30.png"/><Relationship Id="rId11" Type="http://schemas.openxmlformats.org/officeDocument/2006/relationships/image" Target="../media/image47.png"/><Relationship Id="rId5" Type="http://schemas.openxmlformats.org/officeDocument/2006/relationships/image" Target="../media/image5.svg"/><Relationship Id="rId10" Type="http://schemas.openxmlformats.org/officeDocument/2006/relationships/image" Target="../media/image46.png"/><Relationship Id="rId4" Type="http://schemas.openxmlformats.org/officeDocument/2006/relationships/image" Target="../media/image25.png"/><Relationship Id="rId9" Type="http://schemas.openxmlformats.org/officeDocument/2006/relationships/image" Target="../media/image33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15.svg"/><Relationship Id="rId12" Type="http://schemas.openxmlformats.org/officeDocument/2006/relationships/image" Target="../media/image4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6" Type="http://schemas.openxmlformats.org/officeDocument/2006/relationships/image" Target="../media/image30.png"/><Relationship Id="rId11" Type="http://schemas.openxmlformats.org/officeDocument/2006/relationships/image" Target="../media/image46.png"/><Relationship Id="rId5" Type="http://schemas.openxmlformats.org/officeDocument/2006/relationships/image" Target="../media/image5.svg"/><Relationship Id="rId10" Type="http://schemas.openxmlformats.org/officeDocument/2006/relationships/image" Target="../media/image48.png"/><Relationship Id="rId4" Type="http://schemas.openxmlformats.org/officeDocument/2006/relationships/image" Target="../media/image25.png"/><Relationship Id="rId9" Type="http://schemas.openxmlformats.org/officeDocument/2006/relationships/image" Target="../media/image33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15.svg"/><Relationship Id="rId12" Type="http://schemas.openxmlformats.org/officeDocument/2006/relationships/image" Target="../media/image4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Relationship Id="rId6" Type="http://schemas.openxmlformats.org/officeDocument/2006/relationships/image" Target="../media/image30.png"/><Relationship Id="rId11" Type="http://schemas.openxmlformats.org/officeDocument/2006/relationships/image" Target="../media/image46.png"/><Relationship Id="rId5" Type="http://schemas.openxmlformats.org/officeDocument/2006/relationships/image" Target="../media/image5.svg"/><Relationship Id="rId10" Type="http://schemas.openxmlformats.org/officeDocument/2006/relationships/image" Target="../media/image48.png"/><Relationship Id="rId4" Type="http://schemas.openxmlformats.org/officeDocument/2006/relationships/image" Target="../media/image25.png"/><Relationship Id="rId9" Type="http://schemas.openxmlformats.org/officeDocument/2006/relationships/image" Target="../media/image33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startpage.com/av/proxy-image?piurl=https%3A%2F%2Fwww.pv-wissen.de%2Fwp-content%2Fuploads%2F3008-strom-spannungs-kennlinie-solarzelle-1536x934.png&amp;sp=1767626952T3f6440993d32b3ebcf08fba7f40da8596bc954be9bc7b3d97561a346ac6d8232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startpage.com/av/proxy-image?piurl=https%3A%2F%2Fwww.pv-wissen.de%2Fwp-content%2Fuploads%2F3107-strom-spannungs-leistungs-kennlinie-solarmodul-1536x934.png&amp;sp=1767626952T6fa0011b11a23632f2ea36ce012bcd8d95623e1eae8d069bef960d2a06cf903d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rtpage.com/av/proxy-image?piurl=https%3A%2F%2Fwavelabs.de%2Fwp-content%2Fuploads%2FWAVELABS_SINUS-360_PRO-1-600x900.jpg&amp;sp=1767627471T66fd5313de854b7ef3c119aaa6f8c9eca5b1508958001a9b7d63fe943badef34" TargetMode="External"/><Relationship Id="rId7" Type="http://schemas.openxmlformats.org/officeDocument/2006/relationships/image" Target="../media/image59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0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0.emf"/><Relationship Id="rId4" Type="http://schemas.openxmlformats.org/officeDocument/2006/relationships/oleObject" Target="../embeddings/oleObject1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 anchor="ctr"/>
          <a:lstStyle/>
          <a:p>
            <a:pPr algn="ctr"/>
            <a:r>
              <a:rPr lang="en-US" sz="16600" b="1" smtClean="0"/>
              <a:t>Agri-PV</a:t>
            </a:r>
            <a:endParaRPr lang="en-US" sz="9600" b="1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0E8C82-2AF8-4F05-F328-ECE8C526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de-DE" smtClean="0"/>
              <a:t>Prof. Dr-Ing. Mathias Rudolph, M. Eng. Ludwig Ostertag, M. Sc. Elena Richter, Fakultät ING, Professur Industrielle Messtechnik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357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044" y="226498"/>
            <a:ext cx="4583914" cy="458391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88420"/>
            <a:ext cx="12192000" cy="3241497"/>
          </a:xfrm>
        </p:spPr>
        <p:txBody>
          <a:bodyPr anchor="ctr">
            <a:normAutofit/>
          </a:bodyPr>
          <a:lstStyle/>
          <a:p>
            <a:pPr algn="ctr"/>
            <a:r>
              <a:rPr lang="de-DE" sz="4800" b="1" smtClean="0"/>
              <a:t>Treibhausgasemissionen                       und deren Folgen</a:t>
            </a:r>
            <a:endParaRPr lang="de-DE" sz="4800" b="1" dirty="0"/>
          </a:p>
        </p:txBody>
      </p:sp>
    </p:spTree>
    <p:extLst>
      <p:ext uri="{BB962C8B-B14F-4D97-AF65-F5344CB8AC3E}">
        <p14:creationId xmlns:p14="http://schemas.microsoft.com/office/powerpoint/2010/main" val="243702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0C76830-8336-4F85-8E85-1BEEC88C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720A4D6-9E70-FC38-F38D-E81780F16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</a:t>
            </a:fld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C0680AFD-BA96-472B-A7EA-7FD29B3216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" b="1060"/>
          <a:stretch/>
        </p:blipFill>
        <p:spPr>
          <a:xfrm>
            <a:off x="970803" y="2015250"/>
            <a:ext cx="10250393" cy="3490816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70803" y="5506066"/>
            <a:ext cx="46810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</a:t>
            </a:r>
            <a:r>
              <a:rPr lang="de-DE" sz="800" dirty="0">
                <a:hlinkClick r:id="rId4"/>
              </a:rPr>
              <a:t>https://www.ipcc.ch/report/ar6/wg3/downloads/report/IPCC_AR6_WGIII_SPM.pdf</a:t>
            </a:r>
            <a:r>
              <a:rPr lang="de-DE" sz="800" dirty="0"/>
              <a:t>, Seite 11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zeigt diese Grafik?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1716321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0C76830-8336-4F85-8E85-1BEEC88C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720A4D6-9E70-FC38-F38D-E81780F16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</a:t>
            </a:fld>
            <a:endParaRPr lang="de-DE" dirty="0"/>
          </a:p>
        </p:txBody>
      </p:sp>
      <p:sp>
        <p:nvSpPr>
          <p:cNvPr id="4" name="Textfeld 3"/>
          <p:cNvSpPr txBox="1"/>
          <p:nvPr/>
        </p:nvSpPr>
        <p:spPr>
          <a:xfrm>
            <a:off x="257175" y="1139769"/>
            <a:ext cx="986167" cy="338554"/>
          </a:xfrm>
          <a:prstGeom prst="rect">
            <a:avLst/>
          </a:prstGeom>
          <a:noFill/>
          <a:ln>
            <a:solidFill>
              <a:srgbClr val="004699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b="1" smtClean="0"/>
              <a:t>weltweit</a:t>
            </a:r>
            <a:endParaRPr lang="de-DE" sz="1600" b="1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0680AFD-BA96-472B-A7EA-7FD29B3216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" b="1060"/>
          <a:stretch/>
        </p:blipFill>
        <p:spPr>
          <a:xfrm>
            <a:off x="970803" y="2015250"/>
            <a:ext cx="10250393" cy="3490816"/>
          </a:xfrm>
          <a:prstGeom prst="rect">
            <a:avLst/>
          </a:prstGeom>
        </p:spPr>
      </p:pic>
      <p:sp>
        <p:nvSpPr>
          <p:cNvPr id="12" name="Rechteck 11"/>
          <p:cNvSpPr/>
          <p:nvPr/>
        </p:nvSpPr>
        <p:spPr>
          <a:xfrm>
            <a:off x="1724025" y="1941795"/>
            <a:ext cx="466725" cy="303113"/>
          </a:xfrm>
          <a:prstGeom prst="rect">
            <a:avLst/>
          </a:prstGeom>
          <a:noFill/>
          <a:ln w="12700">
            <a:solidFill>
              <a:srgbClr val="0046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2228851" y="1941795"/>
            <a:ext cx="252000" cy="303113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00533" y="1133004"/>
            <a:ext cx="4902176" cy="58477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de-DE" sz="1600" b="1" smtClean="0"/>
              <a:t>Netto</a:t>
            </a:r>
          </a:p>
          <a:p>
            <a:pPr algn="ctr"/>
            <a:r>
              <a:rPr lang="de-DE" sz="1600" b="1" smtClean="0"/>
              <a:t>= Emissionen minus Senken (Wälder, Böden, …)</a:t>
            </a:r>
            <a:endParaRPr lang="de-DE" sz="1600" b="1"/>
          </a:p>
        </p:txBody>
      </p:sp>
      <p:sp>
        <p:nvSpPr>
          <p:cNvPr id="15" name="Textfeld 14"/>
          <p:cNvSpPr txBox="1"/>
          <p:nvPr/>
        </p:nvSpPr>
        <p:spPr>
          <a:xfrm>
            <a:off x="1332006" y="1132485"/>
            <a:ext cx="2885726" cy="33855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b="1"/>
              <a:t>v</a:t>
            </a:r>
            <a:r>
              <a:rPr lang="de-DE" sz="1600" b="1" smtClean="0"/>
              <a:t>om Menschen verursachte</a:t>
            </a:r>
            <a:endParaRPr lang="de-DE" sz="1600" b="1"/>
          </a:p>
        </p:txBody>
      </p:sp>
      <p:sp>
        <p:nvSpPr>
          <p:cNvPr id="16" name="Rechteck 15"/>
          <p:cNvSpPr/>
          <p:nvPr/>
        </p:nvSpPr>
        <p:spPr>
          <a:xfrm>
            <a:off x="2528476" y="1941795"/>
            <a:ext cx="1029399" cy="30311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9281848" y="1122960"/>
            <a:ext cx="2633926" cy="338554"/>
          </a:xfrm>
          <a:prstGeom prst="rect">
            <a:avLst/>
          </a:prstGeom>
          <a:noFill/>
          <a:ln>
            <a:solidFill>
              <a:srgbClr val="FE8002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b="1" smtClean="0"/>
              <a:t>Treibhausgasemissionen</a:t>
            </a:r>
            <a:endParaRPr lang="de-DE" sz="1600" b="1"/>
          </a:p>
        </p:txBody>
      </p:sp>
      <p:sp>
        <p:nvSpPr>
          <p:cNvPr id="18" name="Rechteck 17"/>
          <p:cNvSpPr/>
          <p:nvPr/>
        </p:nvSpPr>
        <p:spPr>
          <a:xfrm>
            <a:off x="3605500" y="1941794"/>
            <a:ext cx="1080800" cy="303113"/>
          </a:xfrm>
          <a:prstGeom prst="rect">
            <a:avLst/>
          </a:prstGeom>
          <a:noFill/>
          <a:ln w="12700">
            <a:solidFill>
              <a:srgbClr val="FE80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0" y="58370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smtClean="0"/>
              <a:t>sind über alle wichtigen Gruppen gestiegen</a:t>
            </a:r>
            <a:endParaRPr lang="de-DE" b="1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70803" y="5506066"/>
            <a:ext cx="46810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</a:t>
            </a:r>
            <a:r>
              <a:rPr lang="de-DE" sz="800" dirty="0">
                <a:hlinkClick r:id="rId4"/>
              </a:rPr>
              <a:t>https://www.ipcc.ch/report/ar6/wg3/downloads/report/IPCC_AR6_WGIII_SPM.pdf</a:t>
            </a:r>
            <a:r>
              <a:rPr lang="de-DE" sz="800" dirty="0"/>
              <a:t>, Seite 11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zeigt diese Grafik?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164979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7B3FB9-9775-4D41-83AD-9751683C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2187DF0-E6E2-4A8D-9212-B031A14BD54C}"/>
              </a:ext>
            </a:extLst>
          </p:cNvPr>
          <p:cNvSpPr txBox="1"/>
          <p:nvPr/>
        </p:nvSpPr>
        <p:spPr>
          <a:xfrm>
            <a:off x="0" y="5572950"/>
            <a:ext cx="43620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</a:t>
            </a:r>
            <a:r>
              <a:rPr lang="de-DE" sz="800" dirty="0">
                <a:hlinkClick r:id="rId3"/>
              </a:rPr>
              <a:t>https://www.nabu.de/umwelt-und-ressourcen/klima-und-luft/klimawandel/32705.html</a:t>
            </a:r>
            <a:r>
              <a:rPr lang="de-DE" sz="800" dirty="0"/>
              <a:t> 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63E7FD7F-EA78-4650-9502-770857DFD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248"/>
          <a:stretch/>
        </p:blipFill>
        <p:spPr>
          <a:xfrm>
            <a:off x="0" y="1288448"/>
            <a:ext cx="12192000" cy="4284503"/>
          </a:xfr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9A24EA1-F9B3-B13D-7778-5E4B3D18E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5</a:t>
            </a:fld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Wozu führen die steigenden Treibhausgasemissionen                                        und was zeigt dieses Bild? 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1435592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Wozu führen die steigenden Treibhausgasemissionen                                        und was zeigt dieses Bild?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7B3FB9-9775-4D41-83AD-9751683C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2187DF0-E6E2-4A8D-9212-B031A14BD54C}"/>
              </a:ext>
            </a:extLst>
          </p:cNvPr>
          <p:cNvSpPr txBox="1"/>
          <p:nvPr/>
        </p:nvSpPr>
        <p:spPr>
          <a:xfrm>
            <a:off x="0" y="5572950"/>
            <a:ext cx="43620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</a:t>
            </a:r>
            <a:r>
              <a:rPr lang="de-DE" sz="800" dirty="0">
                <a:hlinkClick r:id="rId3"/>
              </a:rPr>
              <a:t>https://www.nabu.de/umwelt-und-ressourcen/klima-und-luft/klimawandel/32705.html</a:t>
            </a:r>
            <a:r>
              <a:rPr lang="de-DE" sz="800" dirty="0"/>
              <a:t> 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63E7FD7F-EA78-4650-9502-770857DFD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248"/>
          <a:stretch/>
        </p:blipFill>
        <p:spPr>
          <a:xfrm>
            <a:off x="0" y="1288448"/>
            <a:ext cx="12192000" cy="4284503"/>
          </a:xfr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9A24EA1-F9B3-B13D-7778-5E4B3D18E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6</a:t>
            </a:fld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0" y="5823405"/>
            <a:ext cx="12192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b="1" smtClean="0"/>
              <a:t>Klimawandel</a:t>
            </a:r>
            <a:r>
              <a:rPr lang="de-DE" b="1"/>
              <a:t> </a:t>
            </a:r>
            <a:r>
              <a:rPr lang="de-DE" b="1" smtClean="0"/>
              <a:t>visualisiert durch den Klimastreifen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288886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Wozu führt der Klimawandel?</a:t>
            </a:r>
            <a:endParaRPr lang="de-DE" b="1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7B3FB9-9775-4D41-83AD-9751683C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6B38383-6E8A-20BF-379B-76BAD257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7</a:t>
            </a:fld>
            <a:endParaRPr lang="de-DE" dirty="0"/>
          </a:p>
        </p:txBody>
      </p:sp>
      <p:sp>
        <p:nvSpPr>
          <p:cNvPr id="18" name="Rechteck 17"/>
          <p:cNvSpPr/>
          <p:nvPr/>
        </p:nvSpPr>
        <p:spPr>
          <a:xfrm>
            <a:off x="9115423" y="468777"/>
            <a:ext cx="2428876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9906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088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7B3FB9-9775-4D41-83AD-9751683C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68F63CE2-F1FE-4386-83B0-5A45EAAAD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1" t="8919" r="2112"/>
          <a:stretch/>
        </p:blipFill>
        <p:spPr>
          <a:xfrm>
            <a:off x="344056" y="1274749"/>
            <a:ext cx="6934200" cy="408622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2187DF0-E6E2-4A8D-9212-B031A14BD54C}"/>
              </a:ext>
            </a:extLst>
          </p:cNvPr>
          <p:cNvSpPr txBox="1"/>
          <p:nvPr/>
        </p:nvSpPr>
        <p:spPr>
          <a:xfrm>
            <a:off x="344056" y="5360974"/>
            <a:ext cx="47035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</a:t>
            </a:r>
            <a:r>
              <a:rPr lang="de-DE" sz="800" dirty="0">
                <a:hlinkClick r:id="rId4"/>
              </a:rPr>
              <a:t>https://www.ipcc.ch/site/assets/uploads/sites/2/2022/06/SR15_Chapter_1_HR.pdf</a:t>
            </a:r>
            <a:r>
              <a:rPr lang="de-DE" sz="800" dirty="0"/>
              <a:t>, Seite 57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6B38383-6E8A-20BF-379B-76BAD257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8</a:t>
            </a:fld>
            <a:endParaRPr lang="de-DE" dirty="0"/>
          </a:p>
        </p:txBody>
      </p:sp>
      <p:pic>
        <p:nvPicPr>
          <p:cNvPr id="9" name="Inhaltsplatzhalter 5">
            <a:extLst>
              <a:ext uri="{FF2B5EF4-FFF2-40B4-BE49-F238E27FC236}">
                <a16:creationId xmlns:a16="http://schemas.microsoft.com/office/drawing/2014/main" id="{6C90E269-1B52-4EC0-80C9-A954F01D30D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5" r="3498"/>
          <a:stretch/>
        </p:blipFill>
        <p:spPr>
          <a:xfrm>
            <a:off x="7772399" y="396000"/>
            <a:ext cx="3562351" cy="491790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4FFFBA2-9A2A-4998-BA66-4815E96F57B6}"/>
              </a:ext>
            </a:extLst>
          </p:cNvPr>
          <p:cNvSpPr txBox="1"/>
          <p:nvPr/>
        </p:nvSpPr>
        <p:spPr>
          <a:xfrm>
            <a:off x="7738533" y="5313901"/>
            <a:ext cx="37561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</a:t>
            </a:r>
            <a:r>
              <a:rPr lang="de-DE" sz="800" dirty="0">
                <a:hlinkClick r:id="rId6"/>
              </a:rPr>
              <a:t>https</a:t>
            </a:r>
            <a:r>
              <a:rPr lang="de-DE" sz="800">
                <a:hlinkClick r:id="rId6"/>
              </a:rPr>
              <a:t>://</a:t>
            </a:r>
            <a:r>
              <a:rPr lang="de-DE" sz="800" smtClean="0">
                <a:hlinkClick r:id="rId6"/>
              </a:rPr>
              <a:t>www.globalwaterstorage.info/medien/bild-des-monats/mai-2024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11" name="Textfeld 10"/>
          <p:cNvSpPr txBox="1"/>
          <p:nvPr/>
        </p:nvSpPr>
        <p:spPr>
          <a:xfrm>
            <a:off x="0" y="5714099"/>
            <a:ext cx="12192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b="1" smtClean="0"/>
              <a:t>u.a. steigende globale mittlere Oberflächentemperatur und sinkender mittlerer Gesamtwasserspeicher</a:t>
            </a:r>
            <a:endParaRPr lang="de-DE" b="1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Wozu führt der Klimawandel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65821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93906"/>
            <a:ext cx="12191999" cy="2964094"/>
          </a:xfrm>
        </p:spPr>
        <p:txBody>
          <a:bodyPr anchor="ctr">
            <a:normAutofit/>
          </a:bodyPr>
          <a:lstStyle/>
          <a:p>
            <a:pPr algn="ctr"/>
            <a:r>
              <a:rPr lang="de-DE" sz="4800" b="1" smtClean="0"/>
              <a:t>Rolle der Energieerzeugung bezüglich der Treibhausgasemissionen</a:t>
            </a:r>
            <a:endParaRPr lang="de-DE" sz="4800" b="1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9</a:t>
            </a:fld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986" y="261135"/>
            <a:ext cx="4541178" cy="454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06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81" y="3531936"/>
            <a:ext cx="5365340" cy="24445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3F08743-1B65-4376-9A19-9ED9D4B9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Welcher Sektor (nach KSG) emittiert wie viel Treibhausgase?</a:t>
            </a:r>
            <a:endParaRPr lang="de-DE" b="1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5BFA74E-6EC8-47CF-80E3-F9AFCF75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E426CF1-A60F-B6D7-C668-4F0E0C16A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10</a:t>
            </a:fld>
            <a:endParaRPr lang="de-DE" dirty="0"/>
          </a:p>
        </p:txBody>
      </p:sp>
      <p:sp>
        <p:nvSpPr>
          <p:cNvPr id="16" name="Rechteck 15"/>
          <p:cNvSpPr/>
          <p:nvPr/>
        </p:nvSpPr>
        <p:spPr>
          <a:xfrm>
            <a:off x="8886825" y="1452286"/>
            <a:ext cx="695325" cy="34911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/>
        </p:nvPicPr>
        <p:blipFill rotWithShape="1">
          <a:blip r:embed="rId4"/>
          <a:srcRect r="7282" b="13663"/>
          <a:stretch/>
        </p:blipFill>
        <p:spPr>
          <a:xfrm>
            <a:off x="5309680" y="1096394"/>
            <a:ext cx="6164769" cy="4104256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47AEA70D-5A3D-4649-B6BD-E02FB91FD8F4}"/>
              </a:ext>
            </a:extLst>
          </p:cNvPr>
          <p:cNvSpPr txBox="1"/>
          <p:nvPr/>
        </p:nvSpPr>
        <p:spPr>
          <a:xfrm>
            <a:off x="351081" y="5983727"/>
            <a:ext cx="2994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5"/>
              </a:rPr>
              <a:t>https://</a:t>
            </a:r>
            <a:r>
              <a:rPr lang="de-DE" sz="800" smtClean="0">
                <a:hlinkClick r:id="rId5"/>
              </a:rPr>
              <a:t>www.gesetze-im-internet.de/ksg/anlage_1.html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21" name="Textfeld 20"/>
          <p:cNvSpPr txBox="1"/>
          <p:nvPr/>
        </p:nvSpPr>
        <p:spPr>
          <a:xfrm>
            <a:off x="351080" y="1108800"/>
            <a:ext cx="495859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smtClean="0"/>
              <a:t>Abfallwirtschaft und sonst.</a:t>
            </a:r>
          </a:p>
          <a:p>
            <a:pPr algn="ctr"/>
            <a:endParaRPr lang="de-DE" sz="800" smtClean="0"/>
          </a:p>
          <a:p>
            <a:pPr algn="ctr"/>
            <a:r>
              <a:rPr lang="de-DE" sz="1600" smtClean="0"/>
              <a:t>Verkehr</a:t>
            </a:r>
          </a:p>
          <a:p>
            <a:pPr algn="ctr"/>
            <a:endParaRPr lang="de-DE" sz="800" smtClean="0"/>
          </a:p>
          <a:p>
            <a:pPr algn="ctr"/>
            <a:r>
              <a:rPr lang="de-DE" sz="1600" smtClean="0"/>
              <a:t>Landwirtschaft</a:t>
            </a:r>
          </a:p>
          <a:p>
            <a:pPr algn="ctr"/>
            <a:endParaRPr lang="de-DE" sz="800" smtClean="0"/>
          </a:p>
          <a:p>
            <a:pPr algn="ctr"/>
            <a:r>
              <a:rPr lang="de-DE" sz="1600" smtClean="0"/>
              <a:t>Gebäude</a:t>
            </a:r>
          </a:p>
          <a:p>
            <a:pPr algn="ctr"/>
            <a:endParaRPr lang="de-DE" sz="800" smtClean="0"/>
          </a:p>
          <a:p>
            <a:pPr algn="ctr"/>
            <a:r>
              <a:rPr lang="de-DE" sz="1600" smtClean="0"/>
              <a:t>Energiewirtschaft</a:t>
            </a:r>
          </a:p>
          <a:p>
            <a:pPr algn="ctr"/>
            <a:endParaRPr lang="de-DE" sz="800" smtClean="0"/>
          </a:p>
          <a:p>
            <a:pPr algn="ctr"/>
            <a:r>
              <a:rPr lang="de-DE" sz="1600" smtClean="0"/>
              <a:t>Industrie</a:t>
            </a:r>
            <a:endParaRPr lang="de-DE" sz="1600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7AEA70D-5A3D-4649-B6BD-E02FB91FD8F4}"/>
              </a:ext>
            </a:extLst>
          </p:cNvPr>
          <p:cNvSpPr txBox="1"/>
          <p:nvPr/>
        </p:nvSpPr>
        <p:spPr>
          <a:xfrm>
            <a:off x="5716421" y="5181983"/>
            <a:ext cx="47949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6"/>
              </a:rPr>
              <a:t>https://</a:t>
            </a:r>
            <a:r>
              <a:rPr lang="de-DE" sz="800" smtClean="0">
                <a:hlinkClick r:id="rId6"/>
              </a:rPr>
              <a:t>www.umweltbundesamt.de/dokument/emissionsuebersichten-ksg-sektoren-1990-2023</a:t>
            </a:r>
            <a:r>
              <a:rPr lang="de-DE" sz="800" smtClean="0"/>
              <a:t> 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55659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0">
        <p:fade/>
      </p:transition>
    </mc:Choice>
    <mc:Fallback xmlns="">
      <p:transition spd="med" advTm="2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81" y="3531936"/>
            <a:ext cx="5365340" cy="24445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3F08743-1B65-4376-9A19-9ED9D4B9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Welcher Sektor (nach KSG) emittiert wie viel Treibhausgase?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5BFA74E-6EC8-47CF-80E3-F9AFCF75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7AEA70D-5A3D-4649-B6BD-E02FB91FD8F4}"/>
              </a:ext>
            </a:extLst>
          </p:cNvPr>
          <p:cNvSpPr txBox="1"/>
          <p:nvPr/>
        </p:nvSpPr>
        <p:spPr>
          <a:xfrm>
            <a:off x="5716421" y="5181983"/>
            <a:ext cx="47949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www.umweltbundesamt.de/dokument/emissionsuebersichten-ksg-sektoren-1990-2023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E426CF1-A60F-B6D7-C668-4F0E0C16A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11</a:t>
            </a:fld>
            <a:endParaRPr lang="de-DE" dirty="0"/>
          </a:p>
        </p:txBody>
      </p:sp>
      <p:sp>
        <p:nvSpPr>
          <p:cNvPr id="13" name="Textfeld 12"/>
          <p:cNvSpPr txBox="1"/>
          <p:nvPr/>
        </p:nvSpPr>
        <p:spPr>
          <a:xfrm>
            <a:off x="351080" y="1108800"/>
            <a:ext cx="495859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smtClean="0">
                <a:solidFill>
                  <a:srgbClr val="85033C"/>
                </a:solidFill>
              </a:rPr>
              <a:t>Abfallwirtschaft und sonst.</a:t>
            </a:r>
          </a:p>
          <a:p>
            <a:pPr algn="ctr"/>
            <a:endParaRPr lang="de-DE" sz="800" smtClean="0"/>
          </a:p>
          <a:p>
            <a:pPr algn="ctr"/>
            <a:r>
              <a:rPr lang="de-DE" sz="1600" smtClean="0">
                <a:solidFill>
                  <a:srgbClr val="CE1F5E"/>
                </a:solidFill>
              </a:rPr>
              <a:t>Verkehr</a:t>
            </a:r>
          </a:p>
          <a:p>
            <a:pPr algn="ctr"/>
            <a:endParaRPr lang="de-DE" sz="800" smtClean="0"/>
          </a:p>
          <a:p>
            <a:pPr algn="ctr"/>
            <a:r>
              <a:rPr lang="de-DE" sz="1600" smtClean="0">
                <a:solidFill>
                  <a:srgbClr val="007423"/>
                </a:solidFill>
              </a:rPr>
              <a:t>Landwirtschaft</a:t>
            </a:r>
          </a:p>
          <a:p>
            <a:pPr algn="ctr"/>
            <a:endParaRPr lang="de-DE" sz="800" smtClean="0"/>
          </a:p>
          <a:p>
            <a:pPr algn="ctr"/>
            <a:r>
              <a:rPr lang="de-DE" sz="1600" smtClean="0">
                <a:solidFill>
                  <a:srgbClr val="622F63"/>
                </a:solidFill>
              </a:rPr>
              <a:t>Gebäude</a:t>
            </a:r>
          </a:p>
          <a:p>
            <a:pPr algn="ctr"/>
            <a:endParaRPr lang="de-DE" sz="800" smtClean="0"/>
          </a:p>
          <a:p>
            <a:pPr algn="ctr"/>
            <a:r>
              <a:rPr lang="de-DE" sz="1600" smtClean="0">
                <a:solidFill>
                  <a:srgbClr val="D78400"/>
                </a:solidFill>
              </a:rPr>
              <a:t>Energiewirtschaft</a:t>
            </a:r>
          </a:p>
          <a:p>
            <a:pPr algn="ctr"/>
            <a:endParaRPr lang="de-DE" sz="800" smtClean="0"/>
          </a:p>
          <a:p>
            <a:pPr algn="ctr"/>
            <a:r>
              <a:rPr lang="de-DE" sz="1600" smtClean="0">
                <a:solidFill>
                  <a:srgbClr val="FABB00"/>
                </a:solidFill>
              </a:rPr>
              <a:t>Industrie</a:t>
            </a:r>
            <a:endParaRPr lang="de-DE" sz="1600" dirty="0">
              <a:solidFill>
                <a:srgbClr val="FABB00"/>
              </a:solidFill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8886825" y="1452286"/>
            <a:ext cx="695325" cy="34911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/>
        </p:nvPicPr>
        <p:blipFill rotWithShape="1">
          <a:blip r:embed="rId5"/>
          <a:srcRect r="7282" b="13663"/>
          <a:stretch/>
        </p:blipFill>
        <p:spPr>
          <a:xfrm>
            <a:off x="5309680" y="1096394"/>
            <a:ext cx="6164769" cy="4104256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47AEA70D-5A3D-4649-B6BD-E02FB91FD8F4}"/>
              </a:ext>
            </a:extLst>
          </p:cNvPr>
          <p:cNvSpPr txBox="1"/>
          <p:nvPr/>
        </p:nvSpPr>
        <p:spPr>
          <a:xfrm>
            <a:off x="351081" y="5983727"/>
            <a:ext cx="2994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6"/>
              </a:rPr>
              <a:t>https://</a:t>
            </a:r>
            <a:r>
              <a:rPr lang="de-DE" sz="800" smtClean="0">
                <a:hlinkClick r:id="rId6"/>
              </a:rPr>
              <a:t>www.gesetze-im-internet.de/ksg/anlage_1.html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5" name="Textfeld 4"/>
          <p:cNvSpPr txBox="1"/>
          <p:nvPr/>
        </p:nvSpPr>
        <p:spPr>
          <a:xfrm>
            <a:off x="5716421" y="5491799"/>
            <a:ext cx="5758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/>
              <a:t>i</a:t>
            </a:r>
            <a:r>
              <a:rPr lang="de-DE" b="1" smtClean="0"/>
              <a:t>m Energiesekotr werden die meistenTreibhausgase emittiert</a:t>
            </a:r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249496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0">
        <p:fade/>
      </p:transition>
    </mc:Choice>
    <mc:Fallback xmlns="">
      <p:transition spd="med" advTm="2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7B1E2C4-F7F5-4893-A6B4-7DDD02CF7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EE2298-899D-CB1B-27E3-7CE1B793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12</a:t>
            </a:fld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3678148"/>
          </a:xfrm>
        </p:spPr>
        <p:txBody>
          <a:bodyPr anchor="ctr">
            <a:normAutofit/>
          </a:bodyPr>
          <a:lstStyle/>
          <a:p>
            <a:pPr algn="ctr"/>
            <a:r>
              <a:rPr lang="de-DE" sz="4800" b="1" smtClean="0"/>
              <a:t>Möglichkeiten der nachhaltigen und möglichst emissionfreien Energieproduktion</a:t>
            </a:r>
            <a:endParaRPr lang="de-DE" sz="4800" b="1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971" y="3102344"/>
            <a:ext cx="3104056" cy="31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26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feld 27"/>
          <p:cNvSpPr txBox="1"/>
          <p:nvPr/>
        </p:nvSpPr>
        <p:spPr>
          <a:xfrm>
            <a:off x="-359720" y="3281296"/>
            <a:ext cx="35299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smtClean="0"/>
              <a:t>Braunkohle</a:t>
            </a:r>
          </a:p>
          <a:p>
            <a:pPr algn="ctr"/>
            <a:endParaRPr lang="de-DE" sz="800" smtClean="0"/>
          </a:p>
          <a:p>
            <a:pPr algn="ctr"/>
            <a:r>
              <a:rPr lang="de-DE" sz="1600" smtClean="0"/>
              <a:t>Steinkohle </a:t>
            </a:r>
          </a:p>
          <a:p>
            <a:pPr algn="ctr"/>
            <a:endParaRPr lang="de-DE" sz="800" smtClean="0"/>
          </a:p>
          <a:p>
            <a:pPr algn="ctr"/>
            <a:r>
              <a:rPr lang="de-DE" sz="1600" smtClean="0"/>
              <a:t>Ergas</a:t>
            </a:r>
          </a:p>
        </p:txBody>
      </p:sp>
      <p:pic>
        <p:nvPicPr>
          <p:cNvPr id="38" name="Picture 2" descr="https://ag-energiebilanzen.de/wp-content/uploads/AGEB_Pressedienst_08_2025-Grafik-2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18"/>
          <a:stretch/>
        </p:blipFill>
        <p:spPr bwMode="auto">
          <a:xfrm>
            <a:off x="2572416" y="1360157"/>
            <a:ext cx="6534507" cy="423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Welche Primärenergien werden wie stark verbraucht? 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F313FEC-496F-6A61-0358-0ADFF8DD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>
                <a:solidFill>
                  <a:prstClr val="black"/>
                </a:solidFill>
              </a:rPr>
              <a:pPr/>
              <a:t>13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1799400" y="1108800"/>
            <a:ext cx="1914735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1016457" y="2095474"/>
            <a:ext cx="1914735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143852" y="5376298"/>
            <a:ext cx="762987" cy="229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/>
        </p:nvSpPr>
        <p:spPr>
          <a:xfrm>
            <a:off x="2348938" y="976734"/>
            <a:ext cx="1929095" cy="853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/>
          <p:cNvSpPr/>
          <p:nvPr/>
        </p:nvSpPr>
        <p:spPr>
          <a:xfrm>
            <a:off x="1666224" y="2074863"/>
            <a:ext cx="1866900" cy="853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/>
          <p:cNvSpPr/>
          <p:nvPr/>
        </p:nvSpPr>
        <p:spPr>
          <a:xfrm>
            <a:off x="2390775" y="3240702"/>
            <a:ext cx="1073936" cy="681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2133599" y="4238787"/>
            <a:ext cx="1260145" cy="353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/>
          <p:cNvSpPr/>
          <p:nvPr/>
        </p:nvSpPr>
        <p:spPr>
          <a:xfrm>
            <a:off x="7427923" y="5223701"/>
            <a:ext cx="573076" cy="229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/>
          <p:cNvSpPr/>
          <p:nvPr/>
        </p:nvSpPr>
        <p:spPr>
          <a:xfrm>
            <a:off x="7067774" y="1589523"/>
            <a:ext cx="859614" cy="3613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/>
          <p:cNvSpPr txBox="1"/>
          <p:nvPr/>
        </p:nvSpPr>
        <p:spPr>
          <a:xfrm>
            <a:off x="8287211" y="3046052"/>
            <a:ext cx="35299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smtClean="0"/>
              <a:t>Mineralöl</a:t>
            </a:r>
          </a:p>
          <a:p>
            <a:pPr algn="ctr"/>
            <a:endParaRPr lang="de-DE" sz="800" smtClean="0"/>
          </a:p>
          <a:p>
            <a:pPr algn="ctr"/>
            <a:r>
              <a:rPr lang="de-DE" sz="1600" smtClean="0"/>
              <a:t>Sonstiges einschließlich Stromaustauschsaldo</a:t>
            </a:r>
          </a:p>
          <a:p>
            <a:pPr algn="ctr"/>
            <a:endParaRPr lang="de-DE" sz="800" smtClean="0"/>
          </a:p>
          <a:p>
            <a:pPr algn="ctr"/>
            <a:r>
              <a:rPr lang="de-DE" sz="1600" smtClean="0"/>
              <a:t>Erneurbare</a:t>
            </a:r>
            <a:endParaRPr lang="de-DE" sz="1600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A726E6A2-38E4-4D1B-848B-9823411742BF}"/>
              </a:ext>
            </a:extLst>
          </p:cNvPr>
          <p:cNvSpPr txBox="1"/>
          <p:nvPr/>
        </p:nvSpPr>
        <p:spPr>
          <a:xfrm>
            <a:off x="2572416" y="5603060"/>
            <a:ext cx="37369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5"/>
              </a:rPr>
              <a:t>https://ag-energiebilanzen.de/energieverbrauch-wird-2025-stagnieren</a:t>
            </a:r>
            <a:r>
              <a:rPr lang="de-DE" sz="800" smtClean="0">
                <a:hlinkClick r:id="rId5"/>
              </a:rPr>
              <a:t>/</a:t>
            </a:r>
            <a:endParaRPr lang="de-DE" sz="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082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0">
        <p:fade/>
      </p:transition>
    </mc:Choice>
    <mc:Fallback xmlns="">
      <p:transition spd="med" advTm="2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Welche Primärenergien werden wie stark verbraucht? </a:t>
            </a:r>
            <a:r>
              <a:rPr lang="de-DE" b="1" smtClean="0">
                <a:sym typeface="Wingdings" panose="05000000000000000000" pitchFamily="2" charset="2"/>
              </a:rPr>
              <a:t> Lösung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F313FEC-496F-6A61-0358-0ADFF8DD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>
                <a:solidFill>
                  <a:prstClr val="black"/>
                </a:solidFill>
              </a:rPr>
              <a:pPr/>
              <a:t>14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2332800" y="1129331"/>
            <a:ext cx="1914735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1864182" y="1985117"/>
            <a:ext cx="1914735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/>
          <p:cNvSpPr/>
          <p:nvPr/>
        </p:nvSpPr>
        <p:spPr>
          <a:xfrm>
            <a:off x="1842328" y="3064845"/>
            <a:ext cx="1914735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1741799" y="3746228"/>
            <a:ext cx="1914735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5404556" y="1237348"/>
            <a:ext cx="1302382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991577" y="5265941"/>
            <a:ext cx="762987" cy="229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726E6A2-38E4-4D1B-848B-9823411742BF}"/>
              </a:ext>
            </a:extLst>
          </p:cNvPr>
          <p:cNvSpPr txBox="1"/>
          <p:nvPr/>
        </p:nvSpPr>
        <p:spPr>
          <a:xfrm>
            <a:off x="2572416" y="5603060"/>
            <a:ext cx="37369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https://ag-energiebilanzen.de/energieverbrauch-wird-2025-stagnieren</a:t>
            </a:r>
            <a:r>
              <a:rPr lang="de-DE" sz="800" smtClean="0">
                <a:hlinkClick r:id="rId4"/>
              </a:rPr>
              <a:t>/</a:t>
            </a:r>
            <a:endParaRPr lang="de-DE" sz="800" dirty="0"/>
          </a:p>
        </p:txBody>
      </p:sp>
      <p:pic>
        <p:nvPicPr>
          <p:cNvPr id="33" name="Picture 2" descr="https://ag-energiebilanzen.de/wp-content/uploads/AGEB_Pressedienst_08_2025-Grafik-2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18"/>
          <a:stretch/>
        </p:blipFill>
        <p:spPr bwMode="auto">
          <a:xfrm>
            <a:off x="2572416" y="1360157"/>
            <a:ext cx="6534507" cy="423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297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0">
        <p:fade/>
      </p:transition>
    </mc:Choice>
    <mc:Fallback xmlns="">
      <p:transition spd="med" advTm="2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Welche Primärenergieform muss ausgebaut werden, um nachhaltig und möglichst emissionsfrei Energie zu produzieren?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F313FEC-496F-6A61-0358-0ADFF8DD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>
                <a:solidFill>
                  <a:prstClr val="black"/>
                </a:solidFill>
              </a:rPr>
              <a:pPr/>
              <a:t>15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2332800" y="1129331"/>
            <a:ext cx="1914735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1864182" y="1985117"/>
            <a:ext cx="1914735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/>
          <p:cNvSpPr/>
          <p:nvPr/>
        </p:nvSpPr>
        <p:spPr>
          <a:xfrm>
            <a:off x="1842328" y="3064845"/>
            <a:ext cx="1914735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1741799" y="3746228"/>
            <a:ext cx="1914735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5404556" y="1237348"/>
            <a:ext cx="1302382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991577" y="5265941"/>
            <a:ext cx="762987" cy="229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726E6A2-38E4-4D1B-848B-9823411742BF}"/>
              </a:ext>
            </a:extLst>
          </p:cNvPr>
          <p:cNvSpPr txBox="1"/>
          <p:nvPr/>
        </p:nvSpPr>
        <p:spPr>
          <a:xfrm>
            <a:off x="2572416" y="5603060"/>
            <a:ext cx="37369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https://ag-energiebilanzen.de/energieverbrauch-wird-2025-stagnieren</a:t>
            </a:r>
            <a:r>
              <a:rPr lang="de-DE" sz="800" smtClean="0">
                <a:hlinkClick r:id="rId4"/>
              </a:rPr>
              <a:t>/</a:t>
            </a:r>
            <a:endParaRPr lang="de-DE" sz="800" dirty="0"/>
          </a:p>
        </p:txBody>
      </p:sp>
      <p:pic>
        <p:nvPicPr>
          <p:cNvPr id="33" name="Picture 2" descr="https://ag-energiebilanzen.de/wp-content/uploads/AGEB_Pressedienst_08_2025-Grafik-2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18"/>
          <a:stretch/>
        </p:blipFill>
        <p:spPr bwMode="auto">
          <a:xfrm>
            <a:off x="2572416" y="1360157"/>
            <a:ext cx="6534507" cy="423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4124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0">
        <p:fade/>
      </p:transition>
    </mc:Choice>
    <mc:Fallback xmlns="">
      <p:transition spd="med" advTm="2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Welche Primärenergieform muss ausgebaut werden, um nachhaltig und möglichst emissionsfrei Energie zu produzieren?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F313FEC-496F-6A61-0358-0ADFF8DD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>
                <a:solidFill>
                  <a:prstClr val="black"/>
                </a:solidFill>
              </a:rPr>
              <a:pPr/>
              <a:t>16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2332800" y="1129331"/>
            <a:ext cx="1914735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1864182" y="1985117"/>
            <a:ext cx="1914735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/>
          <p:cNvSpPr/>
          <p:nvPr/>
        </p:nvSpPr>
        <p:spPr>
          <a:xfrm>
            <a:off x="1842328" y="3064845"/>
            <a:ext cx="1914735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1741799" y="3746228"/>
            <a:ext cx="1914735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5404556" y="1237348"/>
            <a:ext cx="1302382" cy="5604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991577" y="5265941"/>
            <a:ext cx="762987" cy="229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726E6A2-38E4-4D1B-848B-9823411742BF}"/>
              </a:ext>
            </a:extLst>
          </p:cNvPr>
          <p:cNvSpPr txBox="1"/>
          <p:nvPr/>
        </p:nvSpPr>
        <p:spPr>
          <a:xfrm>
            <a:off x="2572416" y="5603060"/>
            <a:ext cx="37369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https://ag-energiebilanzen.de/energieverbrauch-wird-2025-stagnieren</a:t>
            </a:r>
            <a:r>
              <a:rPr lang="de-DE" sz="800" smtClean="0">
                <a:hlinkClick r:id="rId4"/>
              </a:rPr>
              <a:t>/</a:t>
            </a:r>
            <a:endParaRPr lang="de-DE" sz="800" dirty="0"/>
          </a:p>
        </p:txBody>
      </p:sp>
      <p:pic>
        <p:nvPicPr>
          <p:cNvPr id="33" name="Picture 2" descr="https://ag-energiebilanzen.de/wp-content/uploads/AGEB_Pressedienst_08_2025-Grafik-2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18"/>
          <a:stretch/>
        </p:blipFill>
        <p:spPr bwMode="auto">
          <a:xfrm>
            <a:off x="2572416" y="1360157"/>
            <a:ext cx="6534507" cy="423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/>
          <p:cNvSpPr/>
          <p:nvPr/>
        </p:nvSpPr>
        <p:spPr>
          <a:xfrm>
            <a:off x="2466975" y="2566087"/>
            <a:ext cx="2343150" cy="567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246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0">
        <p:fade/>
      </p:transition>
    </mc:Choice>
    <mc:Fallback xmlns="">
      <p:transition spd="med" advTm="2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6D98C96-64D5-4FBE-A089-F77C0A83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9C07BBF-4C8F-B1C2-518E-6B1091463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17</a:t>
            </a:fld>
            <a:endParaRPr lang="de-DE" dirty="0"/>
          </a:p>
        </p:txBody>
      </p:sp>
      <p:sp>
        <p:nvSpPr>
          <p:cNvPr id="9" name="Rechteck 8"/>
          <p:cNvSpPr/>
          <p:nvPr/>
        </p:nvSpPr>
        <p:spPr>
          <a:xfrm>
            <a:off x="11830050" y="295275"/>
            <a:ext cx="361950" cy="884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erneuerbare Energieformen gibt es?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9" y="11088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05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 descr="28-MW-Solarpark in Mecklenburg-Vorpommern - Vattenfal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5" b="12419"/>
          <a:stretch/>
        </p:blipFill>
        <p:spPr bwMode="auto">
          <a:xfrm>
            <a:off x="0" y="3402418"/>
            <a:ext cx="7738533" cy="2667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6D98C96-64D5-4FBE-A089-F77C0A83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9C07BBF-4C8F-B1C2-518E-6B1091463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18</a:t>
            </a:fld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7AEA70D-5A3D-4649-B6BD-E02FB91FD8F4}"/>
              </a:ext>
            </a:extLst>
          </p:cNvPr>
          <p:cNvSpPr txBox="1"/>
          <p:nvPr/>
        </p:nvSpPr>
        <p:spPr>
          <a:xfrm>
            <a:off x="7739131" y="5694997"/>
            <a:ext cx="37353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https://energiewende.eu/warum-werden-windraeder-immer-groesser</a:t>
            </a:r>
            <a:r>
              <a:rPr lang="de-DE" sz="800" smtClean="0">
                <a:hlinkClick r:id="rId4"/>
              </a:rPr>
              <a:t>/</a:t>
            </a:r>
            <a:r>
              <a:rPr lang="de-DE" sz="800" smtClean="0"/>
              <a:t>  </a:t>
            </a:r>
            <a:endParaRPr lang="de-DE" sz="800" dirty="0"/>
          </a:p>
        </p:txBody>
      </p:sp>
      <p:pic>
        <p:nvPicPr>
          <p:cNvPr id="4098" name="Picture 2" descr="Kraftwerk Eddersheim: Wasserkraftanlage Eddersheim im Main von unterstrom aus betrachtet 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50" b="22250"/>
          <a:stretch/>
        </p:blipFill>
        <p:spPr bwMode="auto">
          <a:xfrm>
            <a:off x="0" y="1160234"/>
            <a:ext cx="7620000" cy="240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A726E6A2-38E4-4D1B-848B-9823411742BF}"/>
              </a:ext>
            </a:extLst>
          </p:cNvPr>
          <p:cNvSpPr txBox="1"/>
          <p:nvPr/>
        </p:nvSpPr>
        <p:spPr>
          <a:xfrm>
            <a:off x="0" y="3554371"/>
            <a:ext cx="6083717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6"/>
              </a:rPr>
              <a:t>https://</a:t>
            </a:r>
            <a:r>
              <a:rPr lang="de-DE" sz="800" smtClean="0">
                <a:hlinkClick r:id="rId6"/>
              </a:rPr>
              <a:t>www.umweltbundesamt.de/themen/klima-energie/erneuerbare-energien/nutzung-der-wasserkraft#Stromproduktion</a:t>
            </a:r>
            <a:r>
              <a:rPr lang="de-DE" sz="800" smtClean="0"/>
              <a:t> </a:t>
            </a:r>
            <a:endParaRPr lang="de-DE" sz="800" dirty="0"/>
          </a:p>
        </p:txBody>
      </p:sp>
      <p:pic>
        <p:nvPicPr>
          <p:cNvPr id="4100" name="Picture 4" descr="Der Umriss einiger Windkraftanlagenmodelle der Firma Enercon aufgetragen gegen den Zeitpunkt ihrer Einführu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349" y="1517209"/>
            <a:ext cx="6191250" cy="4177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47AEA70D-5A3D-4649-B6BD-E02FB91FD8F4}"/>
              </a:ext>
            </a:extLst>
          </p:cNvPr>
          <p:cNvSpPr txBox="1"/>
          <p:nvPr/>
        </p:nvSpPr>
        <p:spPr>
          <a:xfrm>
            <a:off x="0" y="6072367"/>
            <a:ext cx="57246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8"/>
              </a:rPr>
              <a:t>https://</a:t>
            </a:r>
            <a:r>
              <a:rPr lang="de-DE" sz="800" smtClean="0">
                <a:hlinkClick r:id="rId8"/>
              </a:rPr>
              <a:t>group.vattenfall.com/de/newsroom/pressemitteilungen/2020/28-mw-solarpark-in-mecklenburg-vorpommern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9" name="Rechteck 8"/>
          <p:cNvSpPr/>
          <p:nvPr/>
        </p:nvSpPr>
        <p:spPr>
          <a:xfrm>
            <a:off x="11830050" y="295275"/>
            <a:ext cx="361950" cy="884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/>
          <p:cNvSpPr txBox="1"/>
          <p:nvPr/>
        </p:nvSpPr>
        <p:spPr>
          <a:xfrm>
            <a:off x="2465923" y="2994009"/>
            <a:ext cx="202273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b="1" smtClean="0"/>
              <a:t>u.a. Wasserkraft,</a:t>
            </a:r>
            <a:endParaRPr lang="de-DE" b="1"/>
          </a:p>
        </p:txBody>
      </p:sp>
      <p:sp>
        <p:nvSpPr>
          <p:cNvPr id="13" name="Textfeld 12"/>
          <p:cNvSpPr txBox="1"/>
          <p:nvPr/>
        </p:nvSpPr>
        <p:spPr>
          <a:xfrm>
            <a:off x="2442390" y="3959186"/>
            <a:ext cx="206979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b="1"/>
              <a:t>u</a:t>
            </a:r>
            <a:r>
              <a:rPr lang="de-DE" b="1" smtClean="0"/>
              <a:t>nd Solarenergie</a:t>
            </a:r>
            <a:endParaRPr lang="de-DE" b="1"/>
          </a:p>
        </p:txBody>
      </p:sp>
      <p:sp>
        <p:nvSpPr>
          <p:cNvPr id="15" name="Textfeld 14"/>
          <p:cNvSpPr txBox="1"/>
          <p:nvPr/>
        </p:nvSpPr>
        <p:spPr>
          <a:xfrm>
            <a:off x="8281109" y="1624474"/>
            <a:ext cx="163172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b="1" smtClean="0"/>
              <a:t>Windenergie,</a:t>
            </a:r>
            <a:endParaRPr lang="de-DE" b="1"/>
          </a:p>
        </p:txBody>
      </p:sp>
      <p:sp>
        <p:nvSpPr>
          <p:cNvPr id="16" name="Titel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erneuerbare Energieformen gibt es?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439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BFF5E3-676B-4F96-BA32-1194500C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E4E7BF-E0EF-BFB2-75E7-9BEAB3C5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19</a:t>
            </a:fld>
            <a:endParaRPr lang="de-DE" dirty="0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Wo können Solarmodule neben Freiflächen noch installiert </a:t>
            </a:r>
            <a:r>
              <a:rPr lang="de-DE" b="1" smtClean="0"/>
              <a:t>werden?        </a:t>
            </a:r>
            <a:endParaRPr lang="de-DE" b="1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290" y="752400"/>
            <a:ext cx="3497685" cy="3497685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2795572"/>
            <a:ext cx="3137625" cy="313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433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BFF5E3-676B-4F96-BA32-1194500C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E4E7BF-E0EF-BFB2-75E7-9BEAB3C5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20</a:t>
            </a:fld>
            <a:endParaRPr lang="de-DE" dirty="0"/>
          </a:p>
        </p:txBody>
      </p:sp>
      <p:pic>
        <p:nvPicPr>
          <p:cNvPr id="7172" name="Picture 4" descr="Semi-transparente PV-Module ermöglichen eine ausreichende Lichtmenge für die Bäum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450" y="2897258"/>
            <a:ext cx="4825999" cy="321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Wo können Solarmodule neben Freiflächen noch installiert </a:t>
            </a:r>
            <a:r>
              <a:rPr lang="de-DE" b="1" smtClean="0"/>
              <a:t>werden?       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7AEA70D-5A3D-4649-B6BD-E02FB91FD8F4}"/>
              </a:ext>
            </a:extLst>
          </p:cNvPr>
          <p:cNvSpPr txBox="1"/>
          <p:nvPr/>
        </p:nvSpPr>
        <p:spPr>
          <a:xfrm>
            <a:off x="6648450" y="6116199"/>
            <a:ext cx="38266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www.ise.fraunhofer.de/de/forschungsprojekte/agri-pv-bawue.html</a:t>
            </a:r>
            <a:r>
              <a:rPr lang="de-DE" sz="800" smtClean="0"/>
              <a:t> </a:t>
            </a:r>
            <a:endParaRPr lang="de-DE" sz="800" dirty="0"/>
          </a:p>
        </p:txBody>
      </p:sp>
      <p:pic>
        <p:nvPicPr>
          <p:cNvPr id="7174" name="Picture 6" descr="https://www.ise.fraunhofer.de/de/geschaeftsfelder/solarkraftwerke-und-integrierte-photovoltaik/integrierte-photovoltaik/schwimmende-photovoltaik-fpv/jcr:content/stage/stageParsys/stage_slide_219257354/image.img.jpg/1712067139231/Schwimmende-Photovoltaik-FPV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1186088"/>
            <a:ext cx="6616700" cy="2054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47AEA70D-5A3D-4649-B6BD-E02FB91FD8F4}"/>
              </a:ext>
            </a:extLst>
          </p:cNvPr>
          <p:cNvSpPr txBox="1"/>
          <p:nvPr/>
        </p:nvSpPr>
        <p:spPr>
          <a:xfrm>
            <a:off x="717551" y="3240884"/>
            <a:ext cx="5571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6"/>
              </a:rPr>
              <a:t>https://</a:t>
            </a:r>
            <a:r>
              <a:rPr lang="de-DE" sz="800" smtClean="0">
                <a:hlinkClick r:id="rId6"/>
              </a:rPr>
              <a:t>www.ise.fraunhofer.de/de/geschaeftsfelder/solarkraftwerke-und-integrierte-photovoltaik/integrierte-photovoltaik/schwimmende-photovoltaik-fpv.html</a:t>
            </a:r>
            <a:r>
              <a:rPr lang="de-DE" sz="800" smtClean="0"/>
              <a:t> </a:t>
            </a:r>
            <a:endParaRPr lang="de-DE" sz="800" dirty="0"/>
          </a:p>
        </p:txBody>
      </p:sp>
      <p:pic>
        <p:nvPicPr>
          <p:cNvPr id="7176" name="Picture 8" descr="Net-Zero Energy Building, Freiburg’s New City Hall - Fraunhofer ISE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7"/>
          <a:stretch/>
        </p:blipFill>
        <p:spPr bwMode="auto">
          <a:xfrm>
            <a:off x="717550" y="3726672"/>
            <a:ext cx="3178175" cy="188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47AEA70D-5A3D-4649-B6BD-E02FB91FD8F4}"/>
              </a:ext>
            </a:extLst>
          </p:cNvPr>
          <p:cNvSpPr txBox="1"/>
          <p:nvPr/>
        </p:nvSpPr>
        <p:spPr>
          <a:xfrm>
            <a:off x="717551" y="5613547"/>
            <a:ext cx="2764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8"/>
              </a:rPr>
              <a:t>https://</a:t>
            </a:r>
            <a:r>
              <a:rPr lang="de-DE" sz="800" smtClean="0">
                <a:hlinkClick r:id="rId8"/>
              </a:rPr>
              <a:t>www.ise.fraunhofer.de/en/research-projects/net-zero-energy-building-freiburgs-new-city-hall.html</a:t>
            </a:r>
            <a:r>
              <a:rPr lang="de-DE" sz="800" smtClean="0"/>
              <a:t> </a:t>
            </a:r>
            <a:endParaRPr lang="de-DE" sz="800" dirty="0"/>
          </a:p>
        </p:txBody>
      </p:sp>
      <p:pic>
        <p:nvPicPr>
          <p:cNvPr id="7180" name="Picture 12" descr="Integrierte PV in einen E-LKW und Mini-E-LKW"/>
          <p:cNvPicPr>
            <a:picLocks noChangeAspect="1" noChangeArrowheads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81"/>
          <a:stretch/>
        </p:blipFill>
        <p:spPr bwMode="auto">
          <a:xfrm>
            <a:off x="7515234" y="1186088"/>
            <a:ext cx="2818163" cy="2531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7AEA70D-5A3D-4649-B6BD-E02FB91FD8F4}"/>
              </a:ext>
            </a:extLst>
          </p:cNvPr>
          <p:cNvSpPr txBox="1"/>
          <p:nvPr/>
        </p:nvSpPr>
        <p:spPr>
          <a:xfrm rot="16200000">
            <a:off x="9888454" y="1587531"/>
            <a:ext cx="1796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smtClean="0"/>
              <a:t>Quelle:</a:t>
            </a:r>
            <a:r>
              <a:rPr lang="de-DE" sz="800" smtClean="0">
                <a:hlinkClick r:id="rId10"/>
              </a:rPr>
              <a:t>https://www.ise.fraunhofer.de/de/geschaeftsfelder/solarkraftwerke-und-integrierte-photovoltaik/integrierte-photovoltaik/fahrzeugintegrierte-photovoltaik-vipv.html</a:t>
            </a:r>
            <a:r>
              <a:rPr lang="de-DE" sz="800" smtClean="0"/>
              <a:t> </a:t>
            </a:r>
            <a:endParaRPr lang="de-DE" sz="800" dirty="0"/>
          </a:p>
        </p:txBody>
      </p:sp>
      <p:pic>
        <p:nvPicPr>
          <p:cNvPr id="7182" name="Picture 14" descr="Ein Hausdach mit Photovoltaik und Dachbegrünung in Kombination"/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447" y="3442585"/>
            <a:ext cx="3579282" cy="238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47AEA70D-5A3D-4649-B6BD-E02FB91FD8F4}"/>
              </a:ext>
            </a:extLst>
          </p:cNvPr>
          <p:cNvSpPr txBox="1"/>
          <p:nvPr/>
        </p:nvSpPr>
        <p:spPr>
          <a:xfrm>
            <a:off x="3889639" y="5828773"/>
            <a:ext cx="27648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2"/>
              </a:rPr>
              <a:t>https://</a:t>
            </a:r>
            <a:r>
              <a:rPr lang="de-DE" sz="800" smtClean="0">
                <a:hlinkClick r:id="rId12"/>
              </a:rPr>
              <a:t>www.photovoltaik-bw.de/themen/photovoltaik-gruendach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15" name="Textfeld 14"/>
          <p:cNvSpPr txBox="1"/>
          <p:nvPr/>
        </p:nvSpPr>
        <p:spPr>
          <a:xfrm>
            <a:off x="794680" y="1281132"/>
            <a:ext cx="20612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b="1"/>
              <a:t>a</a:t>
            </a:r>
            <a:r>
              <a:rPr lang="de-DE" b="1" smtClean="0"/>
              <a:t>uf dem Wasser, </a:t>
            </a:r>
            <a:endParaRPr lang="de-DE" b="1"/>
          </a:p>
        </p:txBody>
      </p:sp>
      <p:sp>
        <p:nvSpPr>
          <p:cNvPr id="16" name="Textfeld 15"/>
          <p:cNvSpPr txBox="1"/>
          <p:nvPr/>
        </p:nvSpPr>
        <p:spPr>
          <a:xfrm>
            <a:off x="8299338" y="1281132"/>
            <a:ext cx="136870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b="1"/>
              <a:t>a</a:t>
            </a:r>
            <a:r>
              <a:rPr lang="de-DE" b="1" smtClean="0"/>
              <a:t>uf Autos, </a:t>
            </a:r>
            <a:endParaRPr lang="de-DE" b="1"/>
          </a:p>
        </p:txBody>
      </p:sp>
      <p:sp>
        <p:nvSpPr>
          <p:cNvPr id="18" name="Textfeld 17"/>
          <p:cNvSpPr txBox="1"/>
          <p:nvPr/>
        </p:nvSpPr>
        <p:spPr>
          <a:xfrm>
            <a:off x="1432038" y="3838461"/>
            <a:ext cx="171072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b="1"/>
              <a:t>a</a:t>
            </a:r>
            <a:r>
              <a:rPr lang="de-DE" b="1" smtClean="0"/>
              <a:t>n Fassaden, </a:t>
            </a:r>
            <a:endParaRPr lang="de-DE" b="1"/>
          </a:p>
        </p:txBody>
      </p:sp>
      <p:sp>
        <p:nvSpPr>
          <p:cNvPr id="20" name="Textfeld 19"/>
          <p:cNvSpPr txBox="1"/>
          <p:nvPr/>
        </p:nvSpPr>
        <p:spPr>
          <a:xfrm>
            <a:off x="4445748" y="3532675"/>
            <a:ext cx="164660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b="1"/>
              <a:t>a</a:t>
            </a:r>
            <a:r>
              <a:rPr lang="de-DE" b="1" smtClean="0"/>
              <a:t>uf Dächern, </a:t>
            </a:r>
            <a:endParaRPr lang="de-DE" b="1"/>
          </a:p>
        </p:txBody>
      </p:sp>
      <p:sp>
        <p:nvSpPr>
          <p:cNvPr id="21" name="Textfeld 20"/>
          <p:cNvSpPr txBox="1"/>
          <p:nvPr/>
        </p:nvSpPr>
        <p:spPr>
          <a:xfrm>
            <a:off x="6951165" y="5677989"/>
            <a:ext cx="422665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de-DE" b="1"/>
              <a:t>u</a:t>
            </a:r>
            <a:r>
              <a:rPr lang="de-DE" b="1" smtClean="0"/>
              <a:t>nd auf landwirtschaftlichen Flächen </a:t>
            </a:r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30560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7B1E2C4-F7F5-4893-A6B4-7DDD02CF7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EE2298-899D-CB1B-27E3-7CE1B793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21</a:t>
            </a:fld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858000"/>
          </a:xfrm>
        </p:spPr>
        <p:txBody>
          <a:bodyPr anchor="t">
            <a:normAutofit/>
          </a:bodyPr>
          <a:lstStyle/>
          <a:p>
            <a:pPr algn="ctr"/>
            <a:r>
              <a:rPr lang="de-DE" sz="4800" b="1" smtClean="0"/>
              <a:t/>
            </a:r>
            <a:br>
              <a:rPr lang="de-DE" sz="4800" b="1" smtClean="0"/>
            </a:br>
            <a:r>
              <a:rPr lang="de-DE" sz="4800" b="1" smtClean="0"/>
              <a:t>Agri-PV</a:t>
            </a:r>
            <a:br>
              <a:rPr lang="de-DE" sz="4800" b="1" smtClean="0"/>
            </a:br>
            <a:r>
              <a:rPr lang="de-DE" sz="4800" b="1" smtClean="0"/>
              <a:t>Agriculture + Photovoltaik</a:t>
            </a:r>
            <a:endParaRPr lang="de-DE" sz="4800" b="1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C6EC99D8-7712-783D-BA44-3EB6900E971D}"/>
              </a:ext>
            </a:extLst>
          </p:cNvPr>
          <p:cNvGrpSpPr/>
          <p:nvPr/>
        </p:nvGrpSpPr>
        <p:grpSpPr>
          <a:xfrm>
            <a:off x="1031826" y="3060260"/>
            <a:ext cx="10823026" cy="2516863"/>
            <a:chOff x="1019126" y="2387238"/>
            <a:chExt cx="10823026" cy="2516863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E3C4839-9309-54C2-5AD1-285B6C1D4A3D}"/>
                </a:ext>
              </a:extLst>
            </p:cNvPr>
            <p:cNvSpPr/>
            <p:nvPr/>
          </p:nvSpPr>
          <p:spPr>
            <a:xfrm>
              <a:off x="9488360" y="2446349"/>
              <a:ext cx="72000" cy="245775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3C1A2629-2318-D3B8-44CE-0FABEDA16F72}"/>
                </a:ext>
              </a:extLst>
            </p:cNvPr>
            <p:cNvSpPr/>
            <p:nvPr/>
          </p:nvSpPr>
          <p:spPr>
            <a:xfrm>
              <a:off x="3560389" y="3978519"/>
              <a:ext cx="72000" cy="91733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23945B5E-2A3C-92B1-CFFD-F0A026A5B944}"/>
                </a:ext>
              </a:extLst>
            </p:cNvPr>
            <p:cNvSpPr/>
            <p:nvPr/>
          </p:nvSpPr>
          <p:spPr>
            <a:xfrm>
              <a:off x="7030828" y="3394951"/>
              <a:ext cx="72000" cy="150915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FA1331B6-4F71-F30A-0B94-BC51A4FAA3B4}"/>
                </a:ext>
              </a:extLst>
            </p:cNvPr>
            <p:cNvSpPr/>
            <p:nvPr/>
          </p:nvSpPr>
          <p:spPr>
            <a:xfrm rot="4615169">
              <a:off x="9611056" y="229684"/>
              <a:ext cx="73542" cy="4388650"/>
            </a:xfrm>
            <a:prstGeom prst="rect">
              <a:avLst/>
            </a:prstGeom>
            <a:pattFill prst="narHorz">
              <a:fgClr>
                <a:schemeClr val="accent6"/>
              </a:fgClr>
              <a:bgClr>
                <a:schemeClr val="bg1"/>
              </a:bgClr>
            </a:patt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70DC4366-B716-3F95-9766-15ADEC552786}"/>
                </a:ext>
              </a:extLst>
            </p:cNvPr>
            <p:cNvSpPr/>
            <p:nvPr/>
          </p:nvSpPr>
          <p:spPr>
            <a:xfrm rot="4809774">
              <a:off x="5347595" y="1500732"/>
              <a:ext cx="73542" cy="4388650"/>
            </a:xfrm>
            <a:prstGeom prst="rect">
              <a:avLst/>
            </a:prstGeom>
            <a:pattFill prst="narHorz">
              <a:fgClr>
                <a:schemeClr val="accent6"/>
              </a:fgClr>
              <a:bgClr>
                <a:schemeClr val="bg1"/>
              </a:bgClr>
            </a:patt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34390394-6541-3FAE-6789-1B1583804E07}"/>
                </a:ext>
              </a:extLst>
            </p:cNvPr>
            <p:cNvSpPr/>
            <p:nvPr/>
          </p:nvSpPr>
          <p:spPr>
            <a:xfrm>
              <a:off x="1019126" y="3053761"/>
              <a:ext cx="72000" cy="183866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0DC79DFA-D46F-21F4-F907-44602384B0B8}"/>
              </a:ext>
            </a:extLst>
          </p:cNvPr>
          <p:cNvGrpSpPr/>
          <p:nvPr/>
        </p:nvGrpSpPr>
        <p:grpSpPr>
          <a:xfrm>
            <a:off x="336700" y="3877644"/>
            <a:ext cx="11151549" cy="1908855"/>
            <a:chOff x="324000" y="3204622"/>
            <a:chExt cx="11151549" cy="1908855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D36F6F47-203F-6FF3-E1A1-CC0BAF23671B}"/>
                </a:ext>
              </a:extLst>
            </p:cNvPr>
            <p:cNvGrpSpPr/>
            <p:nvPr/>
          </p:nvGrpSpPr>
          <p:grpSpPr>
            <a:xfrm>
              <a:off x="324000" y="3204622"/>
              <a:ext cx="11151549" cy="1908855"/>
              <a:chOff x="89988" y="3276556"/>
              <a:chExt cx="11151549" cy="1908855"/>
            </a:xfrm>
          </p:grpSpPr>
          <p:pic>
            <p:nvPicPr>
              <p:cNvPr id="16" name="Grafik 15" descr="Pflanze Silhouette">
                <a:extLst>
                  <a:ext uri="{FF2B5EF4-FFF2-40B4-BE49-F238E27FC236}">
                    <a16:creationId xmlns:a16="http://schemas.microsoft.com/office/drawing/2014/main" id="{D636342D-EB03-7CF8-DB2C-B146478CD1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044588" y="4249220"/>
                <a:ext cx="830483" cy="830483"/>
              </a:xfrm>
              <a:prstGeom prst="rect">
                <a:avLst/>
              </a:prstGeom>
            </p:spPr>
          </p:pic>
          <p:pic>
            <p:nvPicPr>
              <p:cNvPr id="17" name="Grafik 16" descr="Laubbaum Silhouette">
                <a:extLst>
                  <a:ext uri="{FF2B5EF4-FFF2-40B4-BE49-F238E27FC236}">
                    <a16:creationId xmlns:a16="http://schemas.microsoft.com/office/drawing/2014/main" id="{D8A494B6-DA3B-3A4C-9F3D-9AE11E408E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439012" y="3297315"/>
                <a:ext cx="1799901" cy="1799901"/>
              </a:xfrm>
              <a:prstGeom prst="rect">
                <a:avLst/>
              </a:prstGeom>
            </p:spPr>
          </p:pic>
          <p:pic>
            <p:nvPicPr>
              <p:cNvPr id="18" name="Grafik 17" descr="Küken Silhouette">
                <a:extLst>
                  <a:ext uri="{FF2B5EF4-FFF2-40B4-BE49-F238E27FC236}">
                    <a16:creationId xmlns:a16="http://schemas.microsoft.com/office/drawing/2014/main" id="{DA758D5D-1E17-C28A-A041-7550E40790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896922" y="4891085"/>
                <a:ext cx="108000" cy="108000"/>
              </a:xfrm>
              <a:prstGeom prst="rect">
                <a:avLst/>
              </a:prstGeom>
            </p:spPr>
          </p:pic>
          <p:pic>
            <p:nvPicPr>
              <p:cNvPr id="19" name="Grafik 18" descr="Huhn Silhouette">
                <a:extLst>
                  <a:ext uri="{FF2B5EF4-FFF2-40B4-BE49-F238E27FC236}">
                    <a16:creationId xmlns:a16="http://schemas.microsoft.com/office/drawing/2014/main" id="{9A60212D-3C3F-52B2-9782-811E33494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flipH="1">
                <a:off x="1982626" y="4699977"/>
                <a:ext cx="317644" cy="317644"/>
              </a:xfrm>
              <a:prstGeom prst="rect">
                <a:avLst/>
              </a:prstGeom>
            </p:spPr>
          </p:pic>
          <p:pic>
            <p:nvPicPr>
              <p:cNvPr id="20" name="Grafik 19" descr="Kuh Silhouette">
                <a:extLst>
                  <a:ext uri="{FF2B5EF4-FFF2-40B4-BE49-F238E27FC236}">
                    <a16:creationId xmlns:a16="http://schemas.microsoft.com/office/drawing/2014/main" id="{EE159ABE-A9F7-3495-E447-7C29832A56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flipH="1">
                <a:off x="2084421" y="4062511"/>
                <a:ext cx="1122899" cy="1122899"/>
              </a:xfrm>
              <a:prstGeom prst="rect">
                <a:avLst/>
              </a:prstGeom>
            </p:spPr>
          </p:pic>
          <p:pic>
            <p:nvPicPr>
              <p:cNvPr id="21" name="Grafik 20" descr="Sonnenblumen Silhouette">
                <a:extLst>
                  <a:ext uri="{FF2B5EF4-FFF2-40B4-BE49-F238E27FC236}">
                    <a16:creationId xmlns:a16="http://schemas.microsoft.com/office/drawing/2014/main" id="{4CBFC6F6-55F0-34D3-D74E-E4646793D6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=""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3947457" y="4136852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2" name="Grafik 21" descr="Pflanze Silhouette">
                <a:extLst>
                  <a:ext uri="{FF2B5EF4-FFF2-40B4-BE49-F238E27FC236}">
                    <a16:creationId xmlns:a16="http://schemas.microsoft.com/office/drawing/2014/main" id="{446DDD7A-66AB-1146-BD2D-5CB47F1D02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366959" y="4229246"/>
                <a:ext cx="830483" cy="830483"/>
              </a:xfrm>
              <a:prstGeom prst="rect">
                <a:avLst/>
              </a:prstGeom>
            </p:spPr>
          </p:pic>
          <p:pic>
            <p:nvPicPr>
              <p:cNvPr id="23" name="Grafik 22" descr="Pflanze Silhouette">
                <a:extLst>
                  <a:ext uri="{FF2B5EF4-FFF2-40B4-BE49-F238E27FC236}">
                    <a16:creationId xmlns:a16="http://schemas.microsoft.com/office/drawing/2014/main" id="{71F9C99C-47C0-76D3-7255-4984F37FF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89330" y="4249220"/>
                <a:ext cx="830483" cy="830483"/>
              </a:xfrm>
              <a:prstGeom prst="rect">
                <a:avLst/>
              </a:prstGeom>
            </p:spPr>
          </p:pic>
          <p:pic>
            <p:nvPicPr>
              <p:cNvPr id="24" name="Grafik 23" descr="Laubbaum Silhouette">
                <a:extLst>
                  <a:ext uri="{FF2B5EF4-FFF2-40B4-BE49-F238E27FC236}">
                    <a16:creationId xmlns:a16="http://schemas.microsoft.com/office/drawing/2014/main" id="{D9BC3837-A6D6-7EB7-8B4E-10ED6FF6F6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375439" y="3276556"/>
                <a:ext cx="1799901" cy="1799901"/>
              </a:xfrm>
              <a:prstGeom prst="rect">
                <a:avLst/>
              </a:prstGeom>
            </p:spPr>
          </p:pic>
          <p:pic>
            <p:nvPicPr>
              <p:cNvPr id="25" name="Grafik 24" descr="Sonnenblumen Silhouette">
                <a:extLst>
                  <a:ext uri="{FF2B5EF4-FFF2-40B4-BE49-F238E27FC236}">
                    <a16:creationId xmlns:a16="http://schemas.microsoft.com/office/drawing/2014/main" id="{785C639E-3081-34DB-E9D5-721744F54B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=""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3330720" y="4136852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6" name="Grafik 25" descr="Kuh Silhouette">
                <a:extLst>
                  <a:ext uri="{FF2B5EF4-FFF2-40B4-BE49-F238E27FC236}">
                    <a16:creationId xmlns:a16="http://schemas.microsoft.com/office/drawing/2014/main" id="{66D9A90D-A486-4582-2CF1-2AF96A6B6E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928305" y="4062512"/>
                <a:ext cx="1122899" cy="1122899"/>
              </a:xfrm>
              <a:prstGeom prst="rect">
                <a:avLst/>
              </a:prstGeom>
            </p:spPr>
          </p:pic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04D47C1E-EF87-7EF9-BF3C-5841EC1459A2}"/>
                  </a:ext>
                </a:extLst>
              </p:cNvPr>
              <p:cNvSpPr/>
              <p:nvPr/>
            </p:nvSpPr>
            <p:spPr>
              <a:xfrm>
                <a:off x="89988" y="4984297"/>
                <a:ext cx="11151549" cy="1548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15" name="Grafik 14" descr="Küken Silhouette">
              <a:extLst>
                <a:ext uri="{FF2B5EF4-FFF2-40B4-BE49-F238E27FC236}">
                  <a16:creationId xmlns:a16="http://schemas.microsoft.com/office/drawing/2014/main" id="{03045FC0-593E-68C1-2EF9-1C42AC2B2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H="1">
              <a:off x="2476917" y="4819151"/>
              <a:ext cx="107985" cy="107985"/>
            </a:xfrm>
            <a:prstGeom prst="rect">
              <a:avLst/>
            </a:prstGeom>
          </p:spPr>
        </p:pic>
      </p:grpSp>
      <p:sp>
        <p:nvSpPr>
          <p:cNvPr id="28" name="Bogen 27">
            <a:extLst>
              <a:ext uri="{FF2B5EF4-FFF2-40B4-BE49-F238E27FC236}">
                <a16:creationId xmlns:a16="http://schemas.microsoft.com/office/drawing/2014/main" id="{89ECE734-DE8C-8326-99B4-357E9D50F0A6}"/>
              </a:ext>
            </a:extLst>
          </p:cNvPr>
          <p:cNvSpPr/>
          <p:nvPr/>
        </p:nvSpPr>
        <p:spPr>
          <a:xfrm rot="18420000">
            <a:off x="631928" y="3108444"/>
            <a:ext cx="864000" cy="864000"/>
          </a:xfrm>
          <a:prstGeom prst="arc">
            <a:avLst>
              <a:gd name="adj1" fmla="val 10776454"/>
              <a:gd name="adj2" fmla="val 17880"/>
            </a:avLst>
          </a:prstGeom>
          <a:ln w="34925">
            <a:solidFill>
              <a:srgbClr val="00469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8823CA8-0DDC-CEDE-8FC5-948B637527BD}"/>
              </a:ext>
            </a:extLst>
          </p:cNvPr>
          <p:cNvSpPr/>
          <p:nvPr/>
        </p:nvSpPr>
        <p:spPr>
          <a:xfrm rot="2220000">
            <a:off x="1030534" y="2311676"/>
            <a:ext cx="74583" cy="2784549"/>
          </a:xfrm>
          <a:prstGeom prst="rect">
            <a:avLst/>
          </a:prstGeom>
          <a:pattFill prst="narHorz">
            <a:fgClr>
              <a:schemeClr val="accent6"/>
            </a:fgClr>
            <a:bgClr>
              <a:schemeClr val="bg1"/>
            </a:bgClr>
          </a:patt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67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705494-7499-38A5-2FE8-A6C50B9C0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Welche Vorteile bietet Agri-PV?</a:t>
            </a:r>
            <a:endParaRPr lang="de-DE" b="1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0180F6-87A7-53DC-9CB2-5FF38D81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AB75D3D-9E52-10FF-8A0A-D5F2E717CD17}"/>
              </a:ext>
            </a:extLst>
          </p:cNvPr>
          <p:cNvSpPr/>
          <p:nvPr/>
        </p:nvSpPr>
        <p:spPr>
          <a:xfrm>
            <a:off x="3560389" y="3978519"/>
            <a:ext cx="72000" cy="917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E743297-3028-DE56-B2B1-8CBB68113656}"/>
              </a:ext>
            </a:extLst>
          </p:cNvPr>
          <p:cNvSpPr/>
          <p:nvPr/>
        </p:nvSpPr>
        <p:spPr>
          <a:xfrm>
            <a:off x="7030828" y="3394951"/>
            <a:ext cx="93690" cy="15091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Pflanze Silhouette">
            <a:extLst>
              <a:ext uri="{FF2B5EF4-FFF2-40B4-BE49-F238E27FC236}">
                <a16:creationId xmlns:a16="http://schemas.microsoft.com/office/drawing/2014/main" id="{C0DB38DF-DF1B-6D62-B800-E18D92FD99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600" y="4177286"/>
            <a:ext cx="830483" cy="830483"/>
          </a:xfrm>
          <a:prstGeom prst="rect">
            <a:avLst/>
          </a:prstGeom>
        </p:spPr>
      </p:pic>
      <p:pic>
        <p:nvPicPr>
          <p:cNvPr id="9" name="Grafik 8" descr="Sonnenblumen Silhouette">
            <a:extLst>
              <a:ext uri="{FF2B5EF4-FFF2-40B4-BE49-F238E27FC236}">
                <a16:creationId xmlns:a16="http://schemas.microsoft.com/office/drawing/2014/main" id="{77DC6CB4-DAC6-5FC3-B6B7-BB2B3490E1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1469" y="4064918"/>
            <a:ext cx="914400" cy="914400"/>
          </a:xfrm>
          <a:prstGeom prst="rect">
            <a:avLst/>
          </a:prstGeom>
        </p:spPr>
      </p:pic>
      <p:pic>
        <p:nvPicPr>
          <p:cNvPr id="10" name="Grafik 9" descr="Pflanze Silhouette">
            <a:extLst>
              <a:ext uri="{FF2B5EF4-FFF2-40B4-BE49-F238E27FC236}">
                <a16:creationId xmlns:a16="http://schemas.microsoft.com/office/drawing/2014/main" id="{4E164917-BA5E-FF7A-FF89-6066AA5881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971" y="4157312"/>
            <a:ext cx="830483" cy="830483"/>
          </a:xfrm>
          <a:prstGeom prst="rect">
            <a:avLst/>
          </a:prstGeom>
        </p:spPr>
      </p:pic>
      <p:pic>
        <p:nvPicPr>
          <p:cNvPr id="11" name="Grafik 10" descr="Pflanze Silhouette">
            <a:extLst>
              <a:ext uri="{FF2B5EF4-FFF2-40B4-BE49-F238E27FC236}">
                <a16:creationId xmlns:a16="http://schemas.microsoft.com/office/drawing/2014/main" id="{23C4C159-8FB8-67BB-FF69-49818B46C5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3342" y="4177286"/>
            <a:ext cx="830483" cy="830483"/>
          </a:xfrm>
          <a:prstGeom prst="rect">
            <a:avLst/>
          </a:prstGeom>
        </p:spPr>
      </p:pic>
      <p:pic>
        <p:nvPicPr>
          <p:cNvPr id="12" name="Grafik 11" descr="Sonnenblumen Silhouette">
            <a:extLst>
              <a:ext uri="{FF2B5EF4-FFF2-40B4-BE49-F238E27FC236}">
                <a16:creationId xmlns:a16="http://schemas.microsoft.com/office/drawing/2014/main" id="{716C808E-0700-52D6-F2AC-181B0637D8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4732" y="4064918"/>
            <a:ext cx="914400" cy="9144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8393DDF2-8ABE-5B92-B093-98E22587B75C}"/>
              </a:ext>
            </a:extLst>
          </p:cNvPr>
          <p:cNvSpPr/>
          <p:nvPr/>
        </p:nvSpPr>
        <p:spPr>
          <a:xfrm>
            <a:off x="2988000" y="4912363"/>
            <a:ext cx="4680000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7F44E65B-E82E-C873-4FF6-4DA199C6C5DA}"/>
              </a:ext>
            </a:extLst>
          </p:cNvPr>
          <p:cNvSpPr/>
          <p:nvPr/>
        </p:nvSpPr>
        <p:spPr>
          <a:xfrm>
            <a:off x="323850" y="4912363"/>
            <a:ext cx="3772146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0" name="Grafik 49" descr="Sonnenblumen Silhouette">
            <a:extLst>
              <a:ext uri="{FF2B5EF4-FFF2-40B4-BE49-F238E27FC236}">
                <a16:creationId xmlns:a16="http://schemas.microsoft.com/office/drawing/2014/main" id="{24CD6F02-69BD-CE82-199E-B797E47346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1611" y="4057783"/>
            <a:ext cx="914400" cy="914400"/>
          </a:xfrm>
          <a:prstGeom prst="rect">
            <a:avLst/>
          </a:prstGeom>
        </p:spPr>
      </p:pic>
      <p:pic>
        <p:nvPicPr>
          <p:cNvPr id="51" name="Grafik 50" descr="Pflanze Silhouette">
            <a:extLst>
              <a:ext uri="{FF2B5EF4-FFF2-40B4-BE49-F238E27FC236}">
                <a16:creationId xmlns:a16="http://schemas.microsoft.com/office/drawing/2014/main" id="{50624FF3-3731-FF9E-B62B-F91850F99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31113" y="4150177"/>
            <a:ext cx="830483" cy="830483"/>
          </a:xfrm>
          <a:prstGeom prst="rect">
            <a:avLst/>
          </a:prstGeom>
        </p:spPr>
      </p:pic>
      <p:pic>
        <p:nvPicPr>
          <p:cNvPr id="52" name="Grafik 51" descr="Pflanze Silhouette">
            <a:extLst>
              <a:ext uri="{FF2B5EF4-FFF2-40B4-BE49-F238E27FC236}">
                <a16:creationId xmlns:a16="http://schemas.microsoft.com/office/drawing/2014/main" id="{CA22823F-1717-75FF-843F-2E85A7AE8E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3484" y="4170151"/>
            <a:ext cx="830483" cy="830483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DDFD929A-A867-12D1-6D12-B1EC9B0DE417}"/>
              </a:ext>
            </a:extLst>
          </p:cNvPr>
          <p:cNvSpPr/>
          <p:nvPr/>
        </p:nvSpPr>
        <p:spPr>
          <a:xfrm rot="4809774">
            <a:off x="5347595" y="1500732"/>
            <a:ext cx="73542" cy="4388650"/>
          </a:xfrm>
          <a:prstGeom prst="rect">
            <a:avLst/>
          </a:prstGeom>
          <a:pattFill prst="narHorz">
            <a:fgClr>
              <a:schemeClr val="accent6"/>
            </a:fgClr>
            <a:bgClr>
              <a:schemeClr val="bg1"/>
            </a:bgClr>
          </a:patt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86DCD0C-6D1F-51C6-D947-7AC1FC835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22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612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0180F6-87A7-53DC-9CB2-5FF38D81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AB75D3D-9E52-10FF-8A0A-D5F2E717CD17}"/>
              </a:ext>
            </a:extLst>
          </p:cNvPr>
          <p:cNvSpPr/>
          <p:nvPr/>
        </p:nvSpPr>
        <p:spPr>
          <a:xfrm>
            <a:off x="3560389" y="3978519"/>
            <a:ext cx="72000" cy="917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E743297-3028-DE56-B2B1-8CBB68113656}"/>
              </a:ext>
            </a:extLst>
          </p:cNvPr>
          <p:cNvSpPr/>
          <p:nvPr/>
        </p:nvSpPr>
        <p:spPr>
          <a:xfrm>
            <a:off x="7030828" y="3394951"/>
            <a:ext cx="93690" cy="15091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Pflanze Silhouette">
            <a:extLst>
              <a:ext uri="{FF2B5EF4-FFF2-40B4-BE49-F238E27FC236}">
                <a16:creationId xmlns:a16="http://schemas.microsoft.com/office/drawing/2014/main" id="{C0DB38DF-DF1B-6D62-B800-E18D92FD99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600" y="4177286"/>
            <a:ext cx="830483" cy="830483"/>
          </a:xfrm>
          <a:prstGeom prst="rect">
            <a:avLst/>
          </a:prstGeom>
        </p:spPr>
      </p:pic>
      <p:pic>
        <p:nvPicPr>
          <p:cNvPr id="9" name="Grafik 8" descr="Sonnenblumen Silhouette">
            <a:extLst>
              <a:ext uri="{FF2B5EF4-FFF2-40B4-BE49-F238E27FC236}">
                <a16:creationId xmlns:a16="http://schemas.microsoft.com/office/drawing/2014/main" id="{77DC6CB4-DAC6-5FC3-B6B7-BB2B3490E1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1469" y="4064918"/>
            <a:ext cx="914400" cy="914400"/>
          </a:xfrm>
          <a:prstGeom prst="rect">
            <a:avLst/>
          </a:prstGeom>
        </p:spPr>
      </p:pic>
      <p:pic>
        <p:nvPicPr>
          <p:cNvPr id="10" name="Grafik 9" descr="Pflanze Silhouette">
            <a:extLst>
              <a:ext uri="{FF2B5EF4-FFF2-40B4-BE49-F238E27FC236}">
                <a16:creationId xmlns:a16="http://schemas.microsoft.com/office/drawing/2014/main" id="{4E164917-BA5E-FF7A-FF89-6066AA5881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971" y="4157312"/>
            <a:ext cx="830483" cy="830483"/>
          </a:xfrm>
          <a:prstGeom prst="rect">
            <a:avLst/>
          </a:prstGeom>
        </p:spPr>
      </p:pic>
      <p:pic>
        <p:nvPicPr>
          <p:cNvPr id="11" name="Grafik 10" descr="Pflanze Silhouette">
            <a:extLst>
              <a:ext uri="{FF2B5EF4-FFF2-40B4-BE49-F238E27FC236}">
                <a16:creationId xmlns:a16="http://schemas.microsoft.com/office/drawing/2014/main" id="{23C4C159-8FB8-67BB-FF69-49818B46C5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3342" y="4177286"/>
            <a:ext cx="830483" cy="830483"/>
          </a:xfrm>
          <a:prstGeom prst="rect">
            <a:avLst/>
          </a:prstGeom>
        </p:spPr>
      </p:pic>
      <p:pic>
        <p:nvPicPr>
          <p:cNvPr id="12" name="Grafik 11" descr="Sonnenblumen Silhouette">
            <a:extLst>
              <a:ext uri="{FF2B5EF4-FFF2-40B4-BE49-F238E27FC236}">
                <a16:creationId xmlns:a16="http://schemas.microsoft.com/office/drawing/2014/main" id="{716C808E-0700-52D6-F2AC-181B0637D8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4732" y="4064918"/>
            <a:ext cx="914400" cy="9144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8393DDF2-8ABE-5B92-B093-98E22587B75C}"/>
              </a:ext>
            </a:extLst>
          </p:cNvPr>
          <p:cNvSpPr/>
          <p:nvPr/>
        </p:nvSpPr>
        <p:spPr>
          <a:xfrm>
            <a:off x="2988000" y="4912363"/>
            <a:ext cx="4680000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6362A3C9-581B-0D14-3D03-80EDD1A3D001}"/>
              </a:ext>
            </a:extLst>
          </p:cNvPr>
          <p:cNvGrpSpPr/>
          <p:nvPr/>
        </p:nvGrpSpPr>
        <p:grpSpPr>
          <a:xfrm>
            <a:off x="214671" y="2648208"/>
            <a:ext cx="8438319" cy="2359561"/>
            <a:chOff x="214671" y="2648208"/>
            <a:chExt cx="8438319" cy="2359561"/>
          </a:xfrm>
        </p:grpSpPr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986EE5DC-DEC1-D742-4DAC-D51D914A338A}"/>
                </a:ext>
              </a:extLst>
            </p:cNvPr>
            <p:cNvGrpSpPr/>
            <p:nvPr/>
          </p:nvGrpSpPr>
          <p:grpSpPr>
            <a:xfrm>
              <a:off x="2255164" y="2648208"/>
              <a:ext cx="6397826" cy="1569099"/>
              <a:chOff x="2255164" y="2648208"/>
              <a:chExt cx="6397826" cy="1569099"/>
            </a:xfrm>
          </p:grpSpPr>
          <p:pic>
            <p:nvPicPr>
              <p:cNvPr id="20" name="Grafik 19" descr="Windig Silhouette">
                <a:extLst>
                  <a:ext uri="{FF2B5EF4-FFF2-40B4-BE49-F238E27FC236}">
                    <a16:creationId xmlns:a16="http://schemas.microsoft.com/office/drawing/2014/main" id="{26982AD4-C4B8-C4DA-6CCD-093993E294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rot="2837053">
                <a:off x="7738590" y="2903185"/>
                <a:ext cx="914400" cy="914400"/>
              </a:xfrm>
              <a:prstGeom prst="rect">
                <a:avLst/>
              </a:prstGeom>
            </p:spPr>
          </p:pic>
          <p:grpSp>
            <p:nvGrpSpPr>
              <p:cNvPr id="24" name="Gruppieren 23">
                <a:extLst>
                  <a:ext uri="{FF2B5EF4-FFF2-40B4-BE49-F238E27FC236}">
                    <a16:creationId xmlns:a16="http://schemas.microsoft.com/office/drawing/2014/main" id="{F80F7310-BAED-E7D1-4335-A1E26244050F}"/>
                  </a:ext>
                </a:extLst>
              </p:cNvPr>
              <p:cNvGrpSpPr/>
              <p:nvPr/>
            </p:nvGrpSpPr>
            <p:grpSpPr>
              <a:xfrm>
                <a:off x="2255164" y="2648208"/>
                <a:ext cx="4838722" cy="1569099"/>
                <a:chOff x="2255164" y="2648208"/>
                <a:chExt cx="4838722" cy="1569099"/>
              </a:xfrm>
            </p:grpSpPr>
            <p:pic>
              <p:nvPicPr>
                <p:cNvPr id="16" name="Grafik 15" descr="Windig Silhouette">
                  <a:extLst>
                    <a:ext uri="{FF2B5EF4-FFF2-40B4-BE49-F238E27FC236}">
                      <a16:creationId xmlns:a16="http://schemas.microsoft.com/office/drawing/2014/main" id="{8EAA9255-21BE-9DAB-F4E9-0F13783C52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=""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 rot="2837053">
                  <a:off x="2255164" y="3302907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1" name="Grafik 20" descr="Windig Silhouette">
                  <a:extLst>
                    <a:ext uri="{FF2B5EF4-FFF2-40B4-BE49-F238E27FC236}">
                      <a16:creationId xmlns:a16="http://schemas.microsoft.com/office/drawing/2014/main" id="{4B2FF969-8687-DAA5-C40B-11F698B805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=""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 rot="20895367">
                  <a:off x="4927166" y="2902093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2" name="Grafik 21" descr="Windig Silhouette">
                  <a:extLst>
                    <a:ext uri="{FF2B5EF4-FFF2-40B4-BE49-F238E27FC236}">
                      <a16:creationId xmlns:a16="http://schemas.microsoft.com/office/drawing/2014/main" id="{B8B29739-BAE2-A971-93D1-85163FBABF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=""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 rot="2837053">
                  <a:off x="3599091" y="3058099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3" name="Grafik 22" descr="Windig Silhouette">
                  <a:extLst>
                    <a:ext uri="{FF2B5EF4-FFF2-40B4-BE49-F238E27FC236}">
                      <a16:creationId xmlns:a16="http://schemas.microsoft.com/office/drawing/2014/main" id="{89E3FC2B-608F-A531-8EF3-8298A03254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=""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 rot="20895367">
                  <a:off x="6179486" y="2648208"/>
                  <a:ext cx="914400" cy="914400"/>
                </a:xfrm>
                <a:prstGeom prst="rect">
                  <a:avLst/>
                </a:prstGeom>
              </p:spPr>
            </p:pic>
          </p:grpSp>
        </p:grpSp>
        <p:pic>
          <p:nvPicPr>
            <p:cNvPr id="36" name="Grafik 35" descr="Sonnenblumen Silhouette">
              <a:extLst>
                <a:ext uri="{FF2B5EF4-FFF2-40B4-BE49-F238E27FC236}">
                  <a16:creationId xmlns:a16="http://schemas.microsoft.com/office/drawing/2014/main" id="{30EA0160-CC0C-92C5-1AE1-ACC11354D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9465" y="4064918"/>
              <a:ext cx="914400" cy="914400"/>
            </a:xfrm>
            <a:prstGeom prst="rect">
              <a:avLst/>
            </a:prstGeom>
            <a:scene3d>
              <a:camera prst="perspectiveContrastingLeftFacing"/>
              <a:lightRig rig="threePt" dir="t"/>
            </a:scene3d>
          </p:spPr>
        </p:pic>
        <p:pic>
          <p:nvPicPr>
            <p:cNvPr id="37" name="Grafik 36" descr="Pflanze Silhouette">
              <a:extLst>
                <a:ext uri="{FF2B5EF4-FFF2-40B4-BE49-F238E27FC236}">
                  <a16:creationId xmlns:a16="http://schemas.microsoft.com/office/drawing/2014/main" id="{683BACD7-35F9-1570-34A7-A3707186C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28967" y="4157312"/>
              <a:ext cx="830483" cy="830483"/>
            </a:xfrm>
            <a:prstGeom prst="rect">
              <a:avLst/>
            </a:prstGeom>
            <a:scene3d>
              <a:camera prst="perspectiveContrastingLeftFacing"/>
              <a:lightRig rig="threePt" dir="t"/>
            </a:scene3d>
          </p:spPr>
        </p:pic>
        <p:pic>
          <p:nvPicPr>
            <p:cNvPr id="38" name="Grafik 37" descr="Pflanze Silhouette">
              <a:extLst>
                <a:ext uri="{FF2B5EF4-FFF2-40B4-BE49-F238E27FC236}">
                  <a16:creationId xmlns:a16="http://schemas.microsoft.com/office/drawing/2014/main" id="{D2B64D36-7D10-DFFD-0255-65DCD89C3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338" y="4177286"/>
              <a:ext cx="830483" cy="830483"/>
            </a:xfrm>
            <a:prstGeom prst="rect">
              <a:avLst/>
            </a:prstGeom>
            <a:scene3d>
              <a:camera prst="perspectiveContrastingLeftFacing"/>
              <a:lightRig rig="threePt" dir="t"/>
            </a:scene3d>
          </p:spPr>
        </p:pic>
        <p:pic>
          <p:nvPicPr>
            <p:cNvPr id="43" name="Grafik 42" descr="Windig Silhouette">
              <a:extLst>
                <a:ext uri="{FF2B5EF4-FFF2-40B4-BE49-F238E27FC236}">
                  <a16:creationId xmlns:a16="http://schemas.microsoft.com/office/drawing/2014/main" id="{BFD68E13-63E8-0EDF-2A26-7303AB691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837053">
              <a:off x="214671" y="3411718"/>
              <a:ext cx="914400" cy="914400"/>
            </a:xfrm>
            <a:prstGeom prst="rect">
              <a:avLst/>
            </a:prstGeom>
          </p:spPr>
        </p:pic>
        <p:pic>
          <p:nvPicPr>
            <p:cNvPr id="45" name="Grafik 44" descr="Windig Silhouette">
              <a:extLst>
                <a:ext uri="{FF2B5EF4-FFF2-40B4-BE49-F238E27FC236}">
                  <a16:creationId xmlns:a16="http://schemas.microsoft.com/office/drawing/2014/main" id="{E9CB52CC-69C7-1A36-0981-CAA0F0705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837053">
              <a:off x="1244587" y="3428232"/>
              <a:ext cx="914400" cy="914400"/>
            </a:xfrm>
            <a:prstGeom prst="rect">
              <a:avLst/>
            </a:prstGeom>
          </p:spPr>
        </p:pic>
      </p:grpSp>
      <p:sp>
        <p:nvSpPr>
          <p:cNvPr id="40" name="Rechteck 39">
            <a:extLst>
              <a:ext uri="{FF2B5EF4-FFF2-40B4-BE49-F238E27FC236}">
                <a16:creationId xmlns:a16="http://schemas.microsoft.com/office/drawing/2014/main" id="{7F44E65B-E82E-C873-4FF6-4DA199C6C5DA}"/>
              </a:ext>
            </a:extLst>
          </p:cNvPr>
          <p:cNvSpPr/>
          <p:nvPr/>
        </p:nvSpPr>
        <p:spPr>
          <a:xfrm>
            <a:off x="323850" y="4912363"/>
            <a:ext cx="3772146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DFD929A-A867-12D1-6D12-B1EC9B0DE417}"/>
              </a:ext>
            </a:extLst>
          </p:cNvPr>
          <p:cNvSpPr/>
          <p:nvPr/>
        </p:nvSpPr>
        <p:spPr>
          <a:xfrm rot="4809774">
            <a:off x="5347595" y="1500732"/>
            <a:ext cx="73542" cy="4388650"/>
          </a:xfrm>
          <a:prstGeom prst="rect">
            <a:avLst/>
          </a:prstGeom>
          <a:pattFill prst="narHorz">
            <a:fgClr>
              <a:schemeClr val="accent6"/>
            </a:fgClr>
            <a:bgClr>
              <a:schemeClr val="bg1"/>
            </a:bgClr>
          </a:patt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91" name="Grafik 190" descr="Windig Silhouette">
            <a:extLst>
              <a:ext uri="{FF2B5EF4-FFF2-40B4-BE49-F238E27FC236}">
                <a16:creationId xmlns:a16="http://schemas.microsoft.com/office/drawing/2014/main" id="{BC1BAE0D-8827-EB3F-7287-234F8C0B39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33941" y="1179160"/>
            <a:ext cx="914400" cy="914400"/>
          </a:xfrm>
          <a:prstGeom prst="rect">
            <a:avLst/>
          </a:prstGeom>
        </p:spPr>
      </p:pic>
      <p:sp>
        <p:nvSpPr>
          <p:cNvPr id="193" name="Textfeld 192">
            <a:extLst>
              <a:ext uri="{FF2B5EF4-FFF2-40B4-BE49-F238E27FC236}">
                <a16:creationId xmlns:a16="http://schemas.microsoft.com/office/drawing/2014/main" id="{EDF2FA4B-8653-EC3F-FB68-DD74518F243E}"/>
              </a:ext>
            </a:extLst>
          </p:cNvPr>
          <p:cNvSpPr txBox="1"/>
          <p:nvPr/>
        </p:nvSpPr>
        <p:spPr>
          <a:xfrm>
            <a:off x="9639300" y="145169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Wind</a:t>
            </a:r>
          </a:p>
        </p:txBody>
      </p:sp>
      <p:sp>
        <p:nvSpPr>
          <p:cNvPr id="195" name="Textfeld 194">
            <a:extLst>
              <a:ext uri="{FF2B5EF4-FFF2-40B4-BE49-F238E27FC236}">
                <a16:creationId xmlns:a16="http://schemas.microsoft.com/office/drawing/2014/main" id="{1D1705BC-FCAE-7129-8253-8552CD7C039B}"/>
              </a:ext>
            </a:extLst>
          </p:cNvPr>
          <p:cNvSpPr txBox="1"/>
          <p:nvPr/>
        </p:nvSpPr>
        <p:spPr>
          <a:xfrm>
            <a:off x="7980379" y="9241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Schutz vor: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86DCD0C-6D1F-51C6-D947-7AC1FC835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23</a:t>
            </a:fld>
            <a:endParaRPr lang="de-DE" dirty="0"/>
          </a:p>
        </p:txBody>
      </p:sp>
      <p:sp>
        <p:nvSpPr>
          <p:cNvPr id="34" name="Titel 1">
            <a:extLst>
              <a:ext uri="{FF2B5EF4-FFF2-40B4-BE49-F238E27FC236}">
                <a16:creationId xmlns:a16="http://schemas.microsoft.com/office/drawing/2014/main" id="{72705494-7499-38A5-2FE8-A6C50B9C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Vorteile bietet Agri-PV? </a:t>
            </a:r>
            <a:r>
              <a:rPr lang="de-DE" b="1" smtClean="0">
                <a:sym typeface="Wingdings" panose="05000000000000000000" pitchFamily="2" charset="2"/>
              </a:rPr>
              <a:t> Lösung</a:t>
            </a:r>
            <a:endParaRPr lang="de-DE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350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45EEE-51E4-D7BC-96DE-AB816B58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2550883-8E45-3652-118C-7AE64E68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99F1424-BB06-4053-EDA9-4D6F76E7C0EA}"/>
              </a:ext>
            </a:extLst>
          </p:cNvPr>
          <p:cNvSpPr/>
          <p:nvPr/>
        </p:nvSpPr>
        <p:spPr>
          <a:xfrm>
            <a:off x="3560389" y="3978519"/>
            <a:ext cx="72000" cy="917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C60F037-5034-B687-3811-8D0F6677861D}"/>
              </a:ext>
            </a:extLst>
          </p:cNvPr>
          <p:cNvSpPr/>
          <p:nvPr/>
        </p:nvSpPr>
        <p:spPr>
          <a:xfrm>
            <a:off x="7030828" y="3394951"/>
            <a:ext cx="93690" cy="15091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Pflanze Silhouette">
            <a:extLst>
              <a:ext uri="{FF2B5EF4-FFF2-40B4-BE49-F238E27FC236}">
                <a16:creationId xmlns:a16="http://schemas.microsoft.com/office/drawing/2014/main" id="{4FAA7DEF-B2C7-FC15-D12A-A7A7833BC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8600" y="4177286"/>
            <a:ext cx="830483" cy="830483"/>
          </a:xfrm>
          <a:prstGeom prst="rect">
            <a:avLst/>
          </a:prstGeom>
        </p:spPr>
      </p:pic>
      <p:pic>
        <p:nvPicPr>
          <p:cNvPr id="9" name="Grafik 8" descr="Sonnenblumen Silhouette">
            <a:extLst>
              <a:ext uri="{FF2B5EF4-FFF2-40B4-BE49-F238E27FC236}">
                <a16:creationId xmlns:a16="http://schemas.microsoft.com/office/drawing/2014/main" id="{53E582E0-19A2-B482-6F97-D3B6674761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1469" y="4064918"/>
            <a:ext cx="914400" cy="914400"/>
          </a:xfrm>
          <a:prstGeom prst="rect">
            <a:avLst/>
          </a:prstGeom>
        </p:spPr>
      </p:pic>
      <p:pic>
        <p:nvPicPr>
          <p:cNvPr id="10" name="Grafik 9" descr="Pflanze Silhouette">
            <a:extLst>
              <a:ext uri="{FF2B5EF4-FFF2-40B4-BE49-F238E27FC236}">
                <a16:creationId xmlns:a16="http://schemas.microsoft.com/office/drawing/2014/main" id="{62FDAE76-E279-35C5-C07F-85F2079520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0971" y="4157312"/>
            <a:ext cx="830483" cy="830483"/>
          </a:xfrm>
          <a:prstGeom prst="rect">
            <a:avLst/>
          </a:prstGeom>
        </p:spPr>
      </p:pic>
      <p:pic>
        <p:nvPicPr>
          <p:cNvPr id="11" name="Grafik 10" descr="Pflanze Silhouette">
            <a:extLst>
              <a:ext uri="{FF2B5EF4-FFF2-40B4-BE49-F238E27FC236}">
                <a16:creationId xmlns:a16="http://schemas.microsoft.com/office/drawing/2014/main" id="{18AB5640-A0D7-927F-2D66-5699B881D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23342" y="4177286"/>
            <a:ext cx="830483" cy="830483"/>
          </a:xfrm>
          <a:prstGeom prst="rect">
            <a:avLst/>
          </a:prstGeom>
        </p:spPr>
      </p:pic>
      <p:pic>
        <p:nvPicPr>
          <p:cNvPr id="12" name="Grafik 11" descr="Sonnenblumen Silhouette">
            <a:extLst>
              <a:ext uri="{FF2B5EF4-FFF2-40B4-BE49-F238E27FC236}">
                <a16:creationId xmlns:a16="http://schemas.microsoft.com/office/drawing/2014/main" id="{6319E75D-F8C9-236D-8CD3-341D2A1AE0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4732" y="4064918"/>
            <a:ext cx="914400" cy="9144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6EBEE14F-E5B6-45B8-EE8E-B03C8E8FA906}"/>
              </a:ext>
            </a:extLst>
          </p:cNvPr>
          <p:cNvSpPr/>
          <p:nvPr/>
        </p:nvSpPr>
        <p:spPr>
          <a:xfrm>
            <a:off x="2988000" y="4912363"/>
            <a:ext cx="4680000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2D721D6B-A59F-CFB3-334A-BAC19D559E9D}"/>
              </a:ext>
            </a:extLst>
          </p:cNvPr>
          <p:cNvSpPr/>
          <p:nvPr/>
        </p:nvSpPr>
        <p:spPr>
          <a:xfrm>
            <a:off x="323850" y="4912363"/>
            <a:ext cx="3772146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0" name="Grafik 49" descr="Sonnenblumen Silhouette">
            <a:extLst>
              <a:ext uri="{FF2B5EF4-FFF2-40B4-BE49-F238E27FC236}">
                <a16:creationId xmlns:a16="http://schemas.microsoft.com/office/drawing/2014/main" id="{7C9B45FE-5954-1B23-DB20-456EC9114F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611" y="4057783"/>
            <a:ext cx="914400" cy="914400"/>
          </a:xfrm>
          <a:prstGeom prst="rect">
            <a:avLst/>
          </a:prstGeom>
          <a:effectLst>
            <a:softEdge rad="6350"/>
          </a:effectLst>
          <a:scene3d>
            <a:camera prst="perspectiveBelow"/>
            <a:lightRig rig="threePt" dir="t"/>
          </a:scene3d>
        </p:spPr>
      </p:pic>
      <p:pic>
        <p:nvPicPr>
          <p:cNvPr id="51" name="Grafik 50" descr="Pflanze Silhouette">
            <a:extLst>
              <a:ext uri="{FF2B5EF4-FFF2-40B4-BE49-F238E27FC236}">
                <a16:creationId xmlns:a16="http://schemas.microsoft.com/office/drawing/2014/main" id="{27F6E64D-8BF1-11B2-18BE-54D46AA4C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1113" y="4170151"/>
            <a:ext cx="830483" cy="830483"/>
          </a:xfrm>
          <a:prstGeom prst="rect">
            <a:avLst/>
          </a:prstGeom>
          <a:effectLst>
            <a:softEdge rad="6350"/>
          </a:effectLst>
          <a:scene3d>
            <a:camera prst="perspectiveBelow"/>
            <a:lightRig rig="threePt" dir="t"/>
          </a:scene3d>
        </p:spPr>
      </p:pic>
      <p:pic>
        <p:nvPicPr>
          <p:cNvPr id="52" name="Grafik 51" descr="Pflanze Silhouette">
            <a:extLst>
              <a:ext uri="{FF2B5EF4-FFF2-40B4-BE49-F238E27FC236}">
                <a16:creationId xmlns:a16="http://schemas.microsoft.com/office/drawing/2014/main" id="{951000AC-1F64-3E35-77E9-042A9E0F8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3484" y="4170151"/>
            <a:ext cx="830483" cy="830483"/>
          </a:xfrm>
          <a:prstGeom prst="rect">
            <a:avLst/>
          </a:prstGeom>
          <a:effectLst>
            <a:softEdge rad="6350"/>
          </a:effectLst>
          <a:scene3d>
            <a:camera prst="perspectiveBelow"/>
            <a:lightRig rig="threePt" dir="t"/>
          </a:scene3d>
        </p:spPr>
      </p:pic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80BD2E4E-09F4-9CBF-2CC6-DDFE60D53B78}"/>
              </a:ext>
            </a:extLst>
          </p:cNvPr>
          <p:cNvGrpSpPr/>
          <p:nvPr/>
        </p:nvGrpSpPr>
        <p:grpSpPr>
          <a:xfrm>
            <a:off x="5244939" y="900100"/>
            <a:ext cx="1948197" cy="2721241"/>
            <a:chOff x="3045221" y="743414"/>
            <a:chExt cx="1948197" cy="2721241"/>
          </a:xfrm>
        </p:grpSpPr>
        <p:pic>
          <p:nvPicPr>
            <p:cNvPr id="27" name="Grafik 26" descr="Schnee Silhouette">
              <a:extLst>
                <a:ext uri="{FF2B5EF4-FFF2-40B4-BE49-F238E27FC236}">
                  <a16:creationId xmlns:a16="http://schemas.microsoft.com/office/drawing/2014/main" id="{49D88857-56F2-C0BE-49CD-5BCC92A8D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rcRect b="42389"/>
            <a:stretch/>
          </p:blipFill>
          <p:spPr>
            <a:xfrm>
              <a:off x="3045221" y="743414"/>
              <a:ext cx="1948197" cy="1122372"/>
            </a:xfrm>
            <a:prstGeom prst="rect">
              <a:avLst/>
            </a:prstGeom>
          </p:spPr>
        </p:pic>
        <p:pic>
          <p:nvPicPr>
            <p:cNvPr id="29" name="Grafik 28" descr="Schneeflocke Silhouette">
              <a:extLst>
                <a:ext uri="{FF2B5EF4-FFF2-40B4-BE49-F238E27FC236}">
                  <a16:creationId xmlns:a16="http://schemas.microsoft.com/office/drawing/2014/main" id="{4792CAAD-3EBA-D783-3D8C-444489DFF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485749" y="1864445"/>
              <a:ext cx="221280" cy="221280"/>
            </a:xfrm>
            <a:prstGeom prst="rect">
              <a:avLst/>
            </a:prstGeom>
          </p:spPr>
        </p:pic>
        <p:pic>
          <p:nvPicPr>
            <p:cNvPr id="46" name="Grafik 45" descr="Schneeflocke Silhouette">
              <a:extLst>
                <a:ext uri="{FF2B5EF4-FFF2-40B4-BE49-F238E27FC236}">
                  <a16:creationId xmlns:a16="http://schemas.microsoft.com/office/drawing/2014/main" id="{5E0D2E8A-262F-D6DB-5415-954EB6F00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697214" y="2080096"/>
              <a:ext cx="221280" cy="221280"/>
            </a:xfrm>
            <a:prstGeom prst="rect">
              <a:avLst/>
            </a:prstGeom>
          </p:spPr>
        </p:pic>
        <p:pic>
          <p:nvPicPr>
            <p:cNvPr id="47" name="Grafik 46" descr="Schneeflocke Silhouette">
              <a:extLst>
                <a:ext uri="{FF2B5EF4-FFF2-40B4-BE49-F238E27FC236}">
                  <a16:creationId xmlns:a16="http://schemas.microsoft.com/office/drawing/2014/main" id="{E98AFE5C-4EB3-FA03-BDC2-C1772A629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908679" y="1882299"/>
              <a:ext cx="221280" cy="221280"/>
            </a:xfrm>
            <a:prstGeom prst="rect">
              <a:avLst/>
            </a:prstGeom>
          </p:spPr>
        </p:pic>
        <p:pic>
          <p:nvPicPr>
            <p:cNvPr id="48" name="Grafik 47" descr="Schneeflocke Silhouette">
              <a:extLst>
                <a:ext uri="{FF2B5EF4-FFF2-40B4-BE49-F238E27FC236}">
                  <a16:creationId xmlns:a16="http://schemas.microsoft.com/office/drawing/2014/main" id="{14C726E5-E57E-C488-5081-DFC0435FF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29959" y="2103076"/>
              <a:ext cx="221280" cy="221280"/>
            </a:xfrm>
            <a:prstGeom prst="rect">
              <a:avLst/>
            </a:prstGeom>
          </p:spPr>
        </p:pic>
        <p:pic>
          <p:nvPicPr>
            <p:cNvPr id="53" name="Grafik 52" descr="Schneeflocke Silhouette">
              <a:extLst>
                <a:ext uri="{FF2B5EF4-FFF2-40B4-BE49-F238E27FC236}">
                  <a16:creationId xmlns:a16="http://schemas.microsoft.com/office/drawing/2014/main" id="{7AF5476C-7B93-DCEC-6592-2574A080D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05903" y="1864445"/>
              <a:ext cx="221280" cy="221280"/>
            </a:xfrm>
            <a:prstGeom prst="rect">
              <a:avLst/>
            </a:prstGeom>
          </p:spPr>
        </p:pic>
        <p:pic>
          <p:nvPicPr>
            <p:cNvPr id="54" name="Grafik 53" descr="Schneeflocke Silhouette">
              <a:extLst>
                <a:ext uri="{FF2B5EF4-FFF2-40B4-BE49-F238E27FC236}">
                  <a16:creationId xmlns:a16="http://schemas.microsoft.com/office/drawing/2014/main" id="{CD5C6C61-AF59-8EDA-F103-F86EBC52E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481367" y="2279142"/>
              <a:ext cx="221280" cy="221280"/>
            </a:xfrm>
            <a:prstGeom prst="rect">
              <a:avLst/>
            </a:prstGeom>
          </p:spPr>
        </p:pic>
        <p:pic>
          <p:nvPicPr>
            <p:cNvPr id="55" name="Grafik 54" descr="Schneeflocke Silhouette">
              <a:extLst>
                <a:ext uri="{FF2B5EF4-FFF2-40B4-BE49-F238E27FC236}">
                  <a16:creationId xmlns:a16="http://schemas.microsoft.com/office/drawing/2014/main" id="{4705825E-E933-323B-B0D7-630F086A8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692832" y="2494793"/>
              <a:ext cx="221280" cy="221280"/>
            </a:xfrm>
            <a:prstGeom prst="rect">
              <a:avLst/>
            </a:prstGeom>
          </p:spPr>
        </p:pic>
        <p:pic>
          <p:nvPicPr>
            <p:cNvPr id="56" name="Grafik 55" descr="Schneeflocke Silhouette">
              <a:extLst>
                <a:ext uri="{FF2B5EF4-FFF2-40B4-BE49-F238E27FC236}">
                  <a16:creationId xmlns:a16="http://schemas.microsoft.com/office/drawing/2014/main" id="{3E73DDDA-CC91-BA78-04A3-3D2A51947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904297" y="2296996"/>
              <a:ext cx="221280" cy="221280"/>
            </a:xfrm>
            <a:prstGeom prst="rect">
              <a:avLst/>
            </a:prstGeom>
          </p:spPr>
        </p:pic>
        <p:pic>
          <p:nvPicPr>
            <p:cNvPr id="57" name="Grafik 56" descr="Schneeflocke Silhouette">
              <a:extLst>
                <a:ext uri="{FF2B5EF4-FFF2-40B4-BE49-F238E27FC236}">
                  <a16:creationId xmlns:a16="http://schemas.microsoft.com/office/drawing/2014/main" id="{498D4D56-4F26-AC25-9751-DE1190EDB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25577" y="2517773"/>
              <a:ext cx="221280" cy="221280"/>
            </a:xfrm>
            <a:prstGeom prst="rect">
              <a:avLst/>
            </a:prstGeom>
          </p:spPr>
        </p:pic>
        <p:pic>
          <p:nvPicPr>
            <p:cNvPr id="58" name="Grafik 57" descr="Schneeflocke Silhouette">
              <a:extLst>
                <a:ext uri="{FF2B5EF4-FFF2-40B4-BE49-F238E27FC236}">
                  <a16:creationId xmlns:a16="http://schemas.microsoft.com/office/drawing/2014/main" id="{CD11F128-42CD-99DB-9330-930342CAE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01521" y="2279142"/>
              <a:ext cx="221280" cy="221280"/>
            </a:xfrm>
            <a:prstGeom prst="rect">
              <a:avLst/>
            </a:prstGeom>
          </p:spPr>
        </p:pic>
        <p:pic>
          <p:nvPicPr>
            <p:cNvPr id="59" name="Grafik 58" descr="Schneeflocke Silhouette">
              <a:extLst>
                <a:ext uri="{FF2B5EF4-FFF2-40B4-BE49-F238E27FC236}">
                  <a16:creationId xmlns:a16="http://schemas.microsoft.com/office/drawing/2014/main" id="{45381CD0-622B-F151-03F0-8BCEC5F03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482744" y="2637028"/>
              <a:ext cx="221280" cy="221280"/>
            </a:xfrm>
            <a:prstGeom prst="rect">
              <a:avLst/>
            </a:prstGeom>
          </p:spPr>
        </p:pic>
        <p:pic>
          <p:nvPicPr>
            <p:cNvPr id="60" name="Grafik 59" descr="Schneeflocke Silhouette">
              <a:extLst>
                <a:ext uri="{FF2B5EF4-FFF2-40B4-BE49-F238E27FC236}">
                  <a16:creationId xmlns:a16="http://schemas.microsoft.com/office/drawing/2014/main" id="{DDE7C087-77C0-B44B-6BE4-896B3D0AB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694209" y="2852679"/>
              <a:ext cx="221280" cy="221280"/>
            </a:xfrm>
            <a:prstGeom prst="rect">
              <a:avLst/>
            </a:prstGeom>
          </p:spPr>
        </p:pic>
        <p:pic>
          <p:nvPicPr>
            <p:cNvPr id="61" name="Grafik 60" descr="Schneeflocke Silhouette">
              <a:extLst>
                <a:ext uri="{FF2B5EF4-FFF2-40B4-BE49-F238E27FC236}">
                  <a16:creationId xmlns:a16="http://schemas.microsoft.com/office/drawing/2014/main" id="{209409C6-40CA-AF0B-C0FC-F9EA645E9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905674" y="2654882"/>
              <a:ext cx="221280" cy="221280"/>
            </a:xfrm>
            <a:prstGeom prst="rect">
              <a:avLst/>
            </a:prstGeom>
          </p:spPr>
        </p:pic>
        <p:pic>
          <p:nvPicPr>
            <p:cNvPr id="62" name="Grafik 61" descr="Schneeflocke Silhouette">
              <a:extLst>
                <a:ext uri="{FF2B5EF4-FFF2-40B4-BE49-F238E27FC236}">
                  <a16:creationId xmlns:a16="http://schemas.microsoft.com/office/drawing/2014/main" id="{566C4373-253E-575D-B0CB-E30089E7E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26954" y="2875659"/>
              <a:ext cx="221280" cy="221280"/>
            </a:xfrm>
            <a:prstGeom prst="rect">
              <a:avLst/>
            </a:prstGeom>
          </p:spPr>
        </p:pic>
        <p:pic>
          <p:nvPicPr>
            <p:cNvPr id="63" name="Grafik 62" descr="Schneeflocke Silhouette">
              <a:extLst>
                <a:ext uri="{FF2B5EF4-FFF2-40B4-BE49-F238E27FC236}">
                  <a16:creationId xmlns:a16="http://schemas.microsoft.com/office/drawing/2014/main" id="{44C4C476-D49F-CD3D-B845-519C81C63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02898" y="2637028"/>
              <a:ext cx="221280" cy="221280"/>
            </a:xfrm>
            <a:prstGeom prst="rect">
              <a:avLst/>
            </a:prstGeom>
          </p:spPr>
        </p:pic>
        <p:pic>
          <p:nvPicPr>
            <p:cNvPr id="64" name="Grafik 63" descr="Schneeflocke Silhouette">
              <a:extLst>
                <a:ext uri="{FF2B5EF4-FFF2-40B4-BE49-F238E27FC236}">
                  <a16:creationId xmlns:a16="http://schemas.microsoft.com/office/drawing/2014/main" id="{F533E1BD-3F91-C83C-E632-3C4CC816D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473104" y="3027724"/>
              <a:ext cx="221280" cy="221280"/>
            </a:xfrm>
            <a:prstGeom prst="rect">
              <a:avLst/>
            </a:prstGeom>
          </p:spPr>
        </p:pic>
        <p:pic>
          <p:nvPicPr>
            <p:cNvPr id="65" name="Grafik 64" descr="Schneeflocke Silhouette">
              <a:extLst>
                <a:ext uri="{FF2B5EF4-FFF2-40B4-BE49-F238E27FC236}">
                  <a16:creationId xmlns:a16="http://schemas.microsoft.com/office/drawing/2014/main" id="{980161C9-E3DA-1FA7-5026-75BF3C8DF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684569" y="3243375"/>
              <a:ext cx="221280" cy="221280"/>
            </a:xfrm>
            <a:prstGeom prst="rect">
              <a:avLst/>
            </a:prstGeom>
          </p:spPr>
        </p:pic>
        <p:pic>
          <p:nvPicPr>
            <p:cNvPr id="66" name="Grafik 65" descr="Schneeflocke Silhouette">
              <a:extLst>
                <a:ext uri="{FF2B5EF4-FFF2-40B4-BE49-F238E27FC236}">
                  <a16:creationId xmlns:a16="http://schemas.microsoft.com/office/drawing/2014/main" id="{26ECD44D-8DB3-CD0F-A5CE-C3FE3D8FC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96034" y="3045578"/>
              <a:ext cx="221280" cy="221280"/>
            </a:xfrm>
            <a:prstGeom prst="rect">
              <a:avLst/>
            </a:prstGeom>
          </p:spPr>
        </p:pic>
        <p:pic>
          <p:nvPicPr>
            <p:cNvPr id="68" name="Grafik 67" descr="Schneeflocke Silhouette">
              <a:extLst>
                <a:ext uri="{FF2B5EF4-FFF2-40B4-BE49-F238E27FC236}">
                  <a16:creationId xmlns:a16="http://schemas.microsoft.com/office/drawing/2014/main" id="{CE96F389-D1F8-E6B6-9CA6-43D61AF5A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293258" y="3027724"/>
              <a:ext cx="221280" cy="221280"/>
            </a:xfrm>
            <a:prstGeom prst="rect">
              <a:avLst/>
            </a:prstGeom>
          </p:spPr>
        </p:pic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67E606AB-B17F-181C-6797-B7E01158872F}"/>
              </a:ext>
            </a:extLst>
          </p:cNvPr>
          <p:cNvGrpSpPr/>
          <p:nvPr/>
        </p:nvGrpSpPr>
        <p:grpSpPr>
          <a:xfrm>
            <a:off x="3486828" y="896030"/>
            <a:ext cx="1948197" cy="2926462"/>
            <a:chOff x="3045221" y="743414"/>
            <a:chExt cx="1948197" cy="2926462"/>
          </a:xfrm>
        </p:grpSpPr>
        <p:pic>
          <p:nvPicPr>
            <p:cNvPr id="76" name="Grafik 75" descr="Schnee Silhouette">
              <a:extLst>
                <a:ext uri="{FF2B5EF4-FFF2-40B4-BE49-F238E27FC236}">
                  <a16:creationId xmlns:a16="http://schemas.microsoft.com/office/drawing/2014/main" id="{114AABD1-6FD2-1461-BF4A-81C4A0430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rcRect b="42389"/>
            <a:stretch/>
          </p:blipFill>
          <p:spPr>
            <a:xfrm>
              <a:off x="3045221" y="743414"/>
              <a:ext cx="1948197" cy="1122372"/>
            </a:xfrm>
            <a:prstGeom prst="rect">
              <a:avLst/>
            </a:prstGeom>
          </p:spPr>
        </p:pic>
        <p:pic>
          <p:nvPicPr>
            <p:cNvPr id="77" name="Grafik 76" descr="Schneeflocke Silhouette">
              <a:extLst>
                <a:ext uri="{FF2B5EF4-FFF2-40B4-BE49-F238E27FC236}">
                  <a16:creationId xmlns:a16="http://schemas.microsoft.com/office/drawing/2014/main" id="{FEC71DEB-99C7-9E75-8BB1-BBD2E39BA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485749" y="1864445"/>
              <a:ext cx="221280" cy="221280"/>
            </a:xfrm>
            <a:prstGeom prst="rect">
              <a:avLst/>
            </a:prstGeom>
          </p:spPr>
        </p:pic>
        <p:pic>
          <p:nvPicPr>
            <p:cNvPr id="78" name="Grafik 77" descr="Schneeflocke Silhouette">
              <a:extLst>
                <a:ext uri="{FF2B5EF4-FFF2-40B4-BE49-F238E27FC236}">
                  <a16:creationId xmlns:a16="http://schemas.microsoft.com/office/drawing/2014/main" id="{1FC865CE-2DF3-5BC5-D8CA-DA7ACE3A6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697214" y="2080096"/>
              <a:ext cx="221280" cy="221280"/>
            </a:xfrm>
            <a:prstGeom prst="rect">
              <a:avLst/>
            </a:prstGeom>
          </p:spPr>
        </p:pic>
        <p:pic>
          <p:nvPicPr>
            <p:cNvPr id="79" name="Grafik 78" descr="Schneeflocke Silhouette">
              <a:extLst>
                <a:ext uri="{FF2B5EF4-FFF2-40B4-BE49-F238E27FC236}">
                  <a16:creationId xmlns:a16="http://schemas.microsoft.com/office/drawing/2014/main" id="{A13E234C-860D-C32F-324C-4BAED29C5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908679" y="1882299"/>
              <a:ext cx="221280" cy="221280"/>
            </a:xfrm>
            <a:prstGeom prst="rect">
              <a:avLst/>
            </a:prstGeom>
          </p:spPr>
        </p:pic>
        <p:pic>
          <p:nvPicPr>
            <p:cNvPr id="80" name="Grafik 79" descr="Schneeflocke Silhouette">
              <a:extLst>
                <a:ext uri="{FF2B5EF4-FFF2-40B4-BE49-F238E27FC236}">
                  <a16:creationId xmlns:a16="http://schemas.microsoft.com/office/drawing/2014/main" id="{039C6D53-5DB8-BC21-1117-855CF8F80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29959" y="2103076"/>
              <a:ext cx="221280" cy="221280"/>
            </a:xfrm>
            <a:prstGeom prst="rect">
              <a:avLst/>
            </a:prstGeom>
          </p:spPr>
        </p:pic>
        <p:pic>
          <p:nvPicPr>
            <p:cNvPr id="81" name="Grafik 80" descr="Schneeflocke Silhouette">
              <a:extLst>
                <a:ext uri="{FF2B5EF4-FFF2-40B4-BE49-F238E27FC236}">
                  <a16:creationId xmlns:a16="http://schemas.microsoft.com/office/drawing/2014/main" id="{8FE845EE-02BA-B58F-B723-1E9E56D99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05903" y="1864445"/>
              <a:ext cx="221280" cy="221280"/>
            </a:xfrm>
            <a:prstGeom prst="rect">
              <a:avLst/>
            </a:prstGeom>
          </p:spPr>
        </p:pic>
        <p:pic>
          <p:nvPicPr>
            <p:cNvPr id="82" name="Grafik 81" descr="Schneeflocke Silhouette">
              <a:extLst>
                <a:ext uri="{FF2B5EF4-FFF2-40B4-BE49-F238E27FC236}">
                  <a16:creationId xmlns:a16="http://schemas.microsoft.com/office/drawing/2014/main" id="{0F2E5CC2-AB58-4743-EB0B-9EF92D9A8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481367" y="2279142"/>
              <a:ext cx="221280" cy="221280"/>
            </a:xfrm>
            <a:prstGeom prst="rect">
              <a:avLst/>
            </a:prstGeom>
          </p:spPr>
        </p:pic>
        <p:pic>
          <p:nvPicPr>
            <p:cNvPr id="83" name="Grafik 82" descr="Schneeflocke Silhouette">
              <a:extLst>
                <a:ext uri="{FF2B5EF4-FFF2-40B4-BE49-F238E27FC236}">
                  <a16:creationId xmlns:a16="http://schemas.microsoft.com/office/drawing/2014/main" id="{63FC75BB-D437-E1C1-476B-C54D10049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692832" y="2494793"/>
              <a:ext cx="221280" cy="221280"/>
            </a:xfrm>
            <a:prstGeom prst="rect">
              <a:avLst/>
            </a:prstGeom>
          </p:spPr>
        </p:pic>
        <p:pic>
          <p:nvPicPr>
            <p:cNvPr id="84" name="Grafik 83" descr="Schneeflocke Silhouette">
              <a:extLst>
                <a:ext uri="{FF2B5EF4-FFF2-40B4-BE49-F238E27FC236}">
                  <a16:creationId xmlns:a16="http://schemas.microsoft.com/office/drawing/2014/main" id="{61CAC021-E279-7E86-6CB7-B55747027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904297" y="2296996"/>
              <a:ext cx="221280" cy="221280"/>
            </a:xfrm>
            <a:prstGeom prst="rect">
              <a:avLst/>
            </a:prstGeom>
          </p:spPr>
        </p:pic>
        <p:pic>
          <p:nvPicPr>
            <p:cNvPr id="85" name="Grafik 84" descr="Schneeflocke Silhouette">
              <a:extLst>
                <a:ext uri="{FF2B5EF4-FFF2-40B4-BE49-F238E27FC236}">
                  <a16:creationId xmlns:a16="http://schemas.microsoft.com/office/drawing/2014/main" id="{06D2E3C3-A8C9-460B-1D56-90A083096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25577" y="2517773"/>
              <a:ext cx="221280" cy="221280"/>
            </a:xfrm>
            <a:prstGeom prst="rect">
              <a:avLst/>
            </a:prstGeom>
          </p:spPr>
        </p:pic>
        <p:pic>
          <p:nvPicPr>
            <p:cNvPr id="86" name="Grafik 85" descr="Schneeflocke Silhouette">
              <a:extLst>
                <a:ext uri="{FF2B5EF4-FFF2-40B4-BE49-F238E27FC236}">
                  <a16:creationId xmlns:a16="http://schemas.microsoft.com/office/drawing/2014/main" id="{AA85F493-32D9-26E4-CBD5-8A829A9C8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01521" y="2279142"/>
              <a:ext cx="221280" cy="221280"/>
            </a:xfrm>
            <a:prstGeom prst="rect">
              <a:avLst/>
            </a:prstGeom>
          </p:spPr>
        </p:pic>
        <p:pic>
          <p:nvPicPr>
            <p:cNvPr id="87" name="Grafik 86" descr="Schneeflocke Silhouette">
              <a:extLst>
                <a:ext uri="{FF2B5EF4-FFF2-40B4-BE49-F238E27FC236}">
                  <a16:creationId xmlns:a16="http://schemas.microsoft.com/office/drawing/2014/main" id="{D3CD6E13-64C2-2A66-4DC0-1B347CDC9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482744" y="2637028"/>
              <a:ext cx="221280" cy="221280"/>
            </a:xfrm>
            <a:prstGeom prst="rect">
              <a:avLst/>
            </a:prstGeom>
          </p:spPr>
        </p:pic>
        <p:pic>
          <p:nvPicPr>
            <p:cNvPr id="88" name="Grafik 87" descr="Schneeflocke Silhouette">
              <a:extLst>
                <a:ext uri="{FF2B5EF4-FFF2-40B4-BE49-F238E27FC236}">
                  <a16:creationId xmlns:a16="http://schemas.microsoft.com/office/drawing/2014/main" id="{2F4D85CD-D43C-8D8F-C048-FC184E60B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694209" y="2852679"/>
              <a:ext cx="221280" cy="221280"/>
            </a:xfrm>
            <a:prstGeom prst="rect">
              <a:avLst/>
            </a:prstGeom>
          </p:spPr>
        </p:pic>
        <p:pic>
          <p:nvPicPr>
            <p:cNvPr id="89" name="Grafik 88" descr="Schneeflocke Silhouette">
              <a:extLst>
                <a:ext uri="{FF2B5EF4-FFF2-40B4-BE49-F238E27FC236}">
                  <a16:creationId xmlns:a16="http://schemas.microsoft.com/office/drawing/2014/main" id="{A7FF63AD-98C3-E134-45F2-CC4EFC73E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905674" y="2654882"/>
              <a:ext cx="221280" cy="221280"/>
            </a:xfrm>
            <a:prstGeom prst="rect">
              <a:avLst/>
            </a:prstGeom>
          </p:spPr>
        </p:pic>
        <p:pic>
          <p:nvPicPr>
            <p:cNvPr id="90" name="Grafik 89" descr="Schneeflocke Silhouette">
              <a:extLst>
                <a:ext uri="{FF2B5EF4-FFF2-40B4-BE49-F238E27FC236}">
                  <a16:creationId xmlns:a16="http://schemas.microsoft.com/office/drawing/2014/main" id="{212FF152-C393-6010-E073-E897117DB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26954" y="2875659"/>
              <a:ext cx="221280" cy="221280"/>
            </a:xfrm>
            <a:prstGeom prst="rect">
              <a:avLst/>
            </a:prstGeom>
          </p:spPr>
        </p:pic>
        <p:pic>
          <p:nvPicPr>
            <p:cNvPr id="91" name="Grafik 90" descr="Schneeflocke Silhouette">
              <a:extLst>
                <a:ext uri="{FF2B5EF4-FFF2-40B4-BE49-F238E27FC236}">
                  <a16:creationId xmlns:a16="http://schemas.microsoft.com/office/drawing/2014/main" id="{3ED951B9-3F02-1560-8D1F-3FC700130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02898" y="2637028"/>
              <a:ext cx="221280" cy="221280"/>
            </a:xfrm>
            <a:prstGeom prst="rect">
              <a:avLst/>
            </a:prstGeom>
          </p:spPr>
        </p:pic>
        <p:pic>
          <p:nvPicPr>
            <p:cNvPr id="92" name="Grafik 91" descr="Schneeflocke Silhouette">
              <a:extLst>
                <a:ext uri="{FF2B5EF4-FFF2-40B4-BE49-F238E27FC236}">
                  <a16:creationId xmlns:a16="http://schemas.microsoft.com/office/drawing/2014/main" id="{1282113A-B120-F0D5-9440-29B743B72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473104" y="3027724"/>
              <a:ext cx="221280" cy="221280"/>
            </a:xfrm>
            <a:prstGeom prst="rect">
              <a:avLst/>
            </a:prstGeom>
          </p:spPr>
        </p:pic>
        <p:pic>
          <p:nvPicPr>
            <p:cNvPr id="93" name="Grafik 92" descr="Schneeflocke Silhouette">
              <a:extLst>
                <a:ext uri="{FF2B5EF4-FFF2-40B4-BE49-F238E27FC236}">
                  <a16:creationId xmlns:a16="http://schemas.microsoft.com/office/drawing/2014/main" id="{622AA342-7CED-A099-9285-4740DFD11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684569" y="3243375"/>
              <a:ext cx="221280" cy="221280"/>
            </a:xfrm>
            <a:prstGeom prst="rect">
              <a:avLst/>
            </a:prstGeom>
          </p:spPr>
        </p:pic>
        <p:pic>
          <p:nvPicPr>
            <p:cNvPr id="94" name="Grafik 93" descr="Schneeflocke Silhouette">
              <a:extLst>
                <a:ext uri="{FF2B5EF4-FFF2-40B4-BE49-F238E27FC236}">
                  <a16:creationId xmlns:a16="http://schemas.microsoft.com/office/drawing/2014/main" id="{F57FFBB3-CE3F-C162-AD20-CA4D65A77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96034" y="3045578"/>
              <a:ext cx="221280" cy="221280"/>
            </a:xfrm>
            <a:prstGeom prst="rect">
              <a:avLst/>
            </a:prstGeom>
          </p:spPr>
        </p:pic>
        <p:pic>
          <p:nvPicPr>
            <p:cNvPr id="95" name="Grafik 94" descr="Schneeflocke Silhouette">
              <a:extLst>
                <a:ext uri="{FF2B5EF4-FFF2-40B4-BE49-F238E27FC236}">
                  <a16:creationId xmlns:a16="http://schemas.microsoft.com/office/drawing/2014/main" id="{8BB294CC-4879-A223-395D-30D29C2A6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17314" y="3266355"/>
              <a:ext cx="221280" cy="221280"/>
            </a:xfrm>
            <a:prstGeom prst="rect">
              <a:avLst/>
            </a:prstGeom>
          </p:spPr>
        </p:pic>
        <p:pic>
          <p:nvPicPr>
            <p:cNvPr id="96" name="Grafik 95" descr="Schneeflocke Silhouette">
              <a:extLst>
                <a:ext uri="{FF2B5EF4-FFF2-40B4-BE49-F238E27FC236}">
                  <a16:creationId xmlns:a16="http://schemas.microsoft.com/office/drawing/2014/main" id="{9BB88C80-3A0C-B24C-9DAE-15A1CD604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293258" y="3027724"/>
              <a:ext cx="221280" cy="221280"/>
            </a:xfrm>
            <a:prstGeom prst="rect">
              <a:avLst/>
            </a:prstGeom>
          </p:spPr>
        </p:pic>
        <p:pic>
          <p:nvPicPr>
            <p:cNvPr id="97" name="Grafik 96" descr="Schneeflocke Silhouette">
              <a:extLst>
                <a:ext uri="{FF2B5EF4-FFF2-40B4-BE49-F238E27FC236}">
                  <a16:creationId xmlns:a16="http://schemas.microsoft.com/office/drawing/2014/main" id="{B91D274F-9A44-916E-513A-8D3208149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487678" y="3430742"/>
              <a:ext cx="221280" cy="221280"/>
            </a:xfrm>
            <a:prstGeom prst="rect">
              <a:avLst/>
            </a:prstGeom>
          </p:spPr>
        </p:pic>
        <p:pic>
          <p:nvPicPr>
            <p:cNvPr id="99" name="Grafik 98" descr="Schneeflocke Silhouette">
              <a:extLst>
                <a:ext uri="{FF2B5EF4-FFF2-40B4-BE49-F238E27FC236}">
                  <a16:creationId xmlns:a16="http://schemas.microsoft.com/office/drawing/2014/main" id="{9016B94A-7AFE-C294-CA95-3C80BF562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910608" y="3448596"/>
              <a:ext cx="221280" cy="221280"/>
            </a:xfrm>
            <a:prstGeom prst="rect">
              <a:avLst/>
            </a:prstGeom>
          </p:spPr>
        </p:pic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E23922AC-83BD-D65D-B3AC-98D6F6C5F9DC}"/>
              </a:ext>
            </a:extLst>
          </p:cNvPr>
          <p:cNvSpPr/>
          <p:nvPr/>
        </p:nvSpPr>
        <p:spPr>
          <a:xfrm rot="4809774">
            <a:off x="5347595" y="1500732"/>
            <a:ext cx="73542" cy="4388650"/>
          </a:xfrm>
          <a:prstGeom prst="rect">
            <a:avLst/>
          </a:prstGeom>
          <a:pattFill prst="narHorz">
            <a:fgClr>
              <a:schemeClr val="accent6"/>
            </a:fgClr>
            <a:bgClr>
              <a:schemeClr val="bg1"/>
            </a:bgClr>
          </a:patt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91" name="Grafik 190" descr="Windig Silhouette">
            <a:extLst>
              <a:ext uri="{FF2B5EF4-FFF2-40B4-BE49-F238E27FC236}">
                <a16:creationId xmlns:a16="http://schemas.microsoft.com/office/drawing/2014/main" id="{63E20612-1812-463D-A60E-AB65414B24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33941" y="1179160"/>
            <a:ext cx="914400" cy="914400"/>
          </a:xfrm>
          <a:prstGeom prst="rect">
            <a:avLst/>
          </a:prstGeom>
        </p:spPr>
      </p:pic>
      <p:pic>
        <p:nvPicPr>
          <p:cNvPr id="192" name="Grafik 191" descr="Schneeflocke Silhouette">
            <a:extLst>
              <a:ext uri="{FF2B5EF4-FFF2-40B4-BE49-F238E27FC236}">
                <a16:creationId xmlns:a16="http://schemas.microsoft.com/office/drawing/2014/main" id="{C7A3679B-1184-231D-BE22-CF758E68EB5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3941" y="2093558"/>
            <a:ext cx="914399" cy="914399"/>
          </a:xfrm>
          <a:prstGeom prst="rect">
            <a:avLst/>
          </a:prstGeom>
        </p:spPr>
      </p:pic>
      <p:sp>
        <p:nvSpPr>
          <p:cNvPr id="193" name="Textfeld 192">
            <a:extLst>
              <a:ext uri="{FF2B5EF4-FFF2-40B4-BE49-F238E27FC236}">
                <a16:creationId xmlns:a16="http://schemas.microsoft.com/office/drawing/2014/main" id="{A0814924-08C2-75B3-4DB2-4FE16082307B}"/>
              </a:ext>
            </a:extLst>
          </p:cNvPr>
          <p:cNvSpPr txBox="1"/>
          <p:nvPr/>
        </p:nvSpPr>
        <p:spPr>
          <a:xfrm>
            <a:off x="9639300" y="145169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Wind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9682594E-96AC-8789-7B8C-0198254CAAAB}"/>
              </a:ext>
            </a:extLst>
          </p:cNvPr>
          <p:cNvSpPr txBox="1"/>
          <p:nvPr/>
        </p:nvSpPr>
        <p:spPr>
          <a:xfrm>
            <a:off x="9639299" y="2366091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Schnee &amp; Hagel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7B6DE6A-017F-A749-AD9A-1463E3D29FC8}"/>
              </a:ext>
            </a:extLst>
          </p:cNvPr>
          <p:cNvGrpSpPr/>
          <p:nvPr/>
        </p:nvGrpSpPr>
        <p:grpSpPr>
          <a:xfrm>
            <a:off x="282984" y="814947"/>
            <a:ext cx="3356307" cy="4108573"/>
            <a:chOff x="282984" y="814947"/>
            <a:chExt cx="3356307" cy="4108573"/>
          </a:xfrm>
        </p:grpSpPr>
        <p:grpSp>
          <p:nvGrpSpPr>
            <p:cNvPr id="190" name="Gruppieren 189">
              <a:extLst>
                <a:ext uri="{FF2B5EF4-FFF2-40B4-BE49-F238E27FC236}">
                  <a16:creationId xmlns:a16="http://schemas.microsoft.com/office/drawing/2014/main" id="{64607C35-57F5-17FE-867F-53C80009CAE2}"/>
                </a:ext>
              </a:extLst>
            </p:cNvPr>
            <p:cNvGrpSpPr/>
            <p:nvPr/>
          </p:nvGrpSpPr>
          <p:grpSpPr>
            <a:xfrm>
              <a:off x="282984" y="814947"/>
              <a:ext cx="3356307" cy="4108573"/>
              <a:chOff x="276082" y="799437"/>
              <a:chExt cx="3356307" cy="4108573"/>
            </a:xfrm>
          </p:grpSpPr>
          <p:grpSp>
            <p:nvGrpSpPr>
              <p:cNvPr id="102" name="Gruppieren 101">
                <a:extLst>
                  <a:ext uri="{FF2B5EF4-FFF2-40B4-BE49-F238E27FC236}">
                    <a16:creationId xmlns:a16="http://schemas.microsoft.com/office/drawing/2014/main" id="{1D64AB9C-1D83-6F80-1E38-D9DEBE17C7DA}"/>
                  </a:ext>
                </a:extLst>
              </p:cNvPr>
              <p:cNvGrpSpPr/>
              <p:nvPr/>
            </p:nvGrpSpPr>
            <p:grpSpPr>
              <a:xfrm>
                <a:off x="1684192" y="846576"/>
                <a:ext cx="1948197" cy="3147239"/>
                <a:chOff x="3045221" y="743414"/>
                <a:chExt cx="1948197" cy="3147239"/>
              </a:xfrm>
            </p:grpSpPr>
            <p:pic>
              <p:nvPicPr>
                <p:cNvPr id="103" name="Grafik 102" descr="Schnee Silhouette">
                  <a:extLst>
                    <a:ext uri="{FF2B5EF4-FFF2-40B4-BE49-F238E27FC236}">
                      <a16:creationId xmlns:a16="http://schemas.microsoft.com/office/drawing/2014/main" id="{CABA2F5C-C03A-EF4A-0EFA-80D5E7CC5A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="" xmlns:asvg="http://schemas.microsoft.com/office/drawing/2016/SVG/main" r:embed="rId8"/>
                    </a:ext>
                  </a:extLst>
                </a:blip>
                <a:srcRect b="42389"/>
                <a:stretch/>
              </p:blipFill>
              <p:spPr>
                <a:xfrm>
                  <a:off x="3045221" y="743414"/>
                  <a:ext cx="1948197" cy="1122372"/>
                </a:xfrm>
                <a:prstGeom prst="rect">
                  <a:avLst/>
                </a:prstGeom>
              </p:spPr>
            </p:pic>
            <p:pic>
              <p:nvPicPr>
                <p:cNvPr id="104" name="Grafik 103" descr="Schneeflocke Silhouette">
                  <a:extLst>
                    <a:ext uri="{FF2B5EF4-FFF2-40B4-BE49-F238E27FC236}">
                      <a16:creationId xmlns:a16="http://schemas.microsoft.com/office/drawing/2014/main" id="{20CED7DD-664D-DE3D-E24E-7A4B95E15D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85749" y="1864445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05" name="Grafik 104" descr="Schneeflocke Silhouette">
                  <a:extLst>
                    <a:ext uri="{FF2B5EF4-FFF2-40B4-BE49-F238E27FC236}">
                      <a16:creationId xmlns:a16="http://schemas.microsoft.com/office/drawing/2014/main" id="{40073EC8-EFA6-6C79-E642-67326F0C60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97214" y="2080096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06" name="Grafik 105" descr="Schneeflocke Silhouette">
                  <a:extLst>
                    <a:ext uri="{FF2B5EF4-FFF2-40B4-BE49-F238E27FC236}">
                      <a16:creationId xmlns:a16="http://schemas.microsoft.com/office/drawing/2014/main" id="{BDA8DEE5-4770-5A44-FEFC-0E521CCBDD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08679" y="1882299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07" name="Grafik 106" descr="Schneeflocke Silhouette">
                  <a:extLst>
                    <a:ext uri="{FF2B5EF4-FFF2-40B4-BE49-F238E27FC236}">
                      <a16:creationId xmlns:a16="http://schemas.microsoft.com/office/drawing/2014/main" id="{F6286D47-9BE7-EF6F-ED17-059DE3641E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29959" y="2103076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08" name="Grafik 107" descr="Schneeflocke Silhouette">
                  <a:extLst>
                    <a:ext uri="{FF2B5EF4-FFF2-40B4-BE49-F238E27FC236}">
                      <a16:creationId xmlns:a16="http://schemas.microsoft.com/office/drawing/2014/main" id="{08739F0B-9E83-DA9D-2ECA-548C71F850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5903" y="1864445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09" name="Grafik 108" descr="Schneeflocke Silhouette">
                  <a:extLst>
                    <a:ext uri="{FF2B5EF4-FFF2-40B4-BE49-F238E27FC236}">
                      <a16:creationId xmlns:a16="http://schemas.microsoft.com/office/drawing/2014/main" id="{E7BBB36A-4589-0E59-6C74-A31D1F7175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81367" y="2279142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10" name="Grafik 109" descr="Schneeflocke Silhouette">
                  <a:extLst>
                    <a:ext uri="{FF2B5EF4-FFF2-40B4-BE49-F238E27FC236}">
                      <a16:creationId xmlns:a16="http://schemas.microsoft.com/office/drawing/2014/main" id="{DD012A17-899D-6008-ADBC-64635A86D3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92832" y="2494793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11" name="Grafik 110" descr="Schneeflocke Silhouette">
                  <a:extLst>
                    <a:ext uri="{FF2B5EF4-FFF2-40B4-BE49-F238E27FC236}">
                      <a16:creationId xmlns:a16="http://schemas.microsoft.com/office/drawing/2014/main" id="{FEDF728C-0C5A-4EC2-B47A-5D4C102684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04297" y="2296996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12" name="Grafik 111" descr="Schneeflocke Silhouette">
                  <a:extLst>
                    <a:ext uri="{FF2B5EF4-FFF2-40B4-BE49-F238E27FC236}">
                      <a16:creationId xmlns:a16="http://schemas.microsoft.com/office/drawing/2014/main" id="{6894EFE1-8C13-2445-B268-83A68FDE5E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25577" y="2517773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13" name="Grafik 112" descr="Schneeflocke Silhouette">
                  <a:extLst>
                    <a:ext uri="{FF2B5EF4-FFF2-40B4-BE49-F238E27FC236}">
                      <a16:creationId xmlns:a16="http://schemas.microsoft.com/office/drawing/2014/main" id="{EECE33E0-256E-1AFD-91E9-5C0215CF35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1521" y="2279142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14" name="Grafik 113" descr="Schneeflocke Silhouette">
                  <a:extLst>
                    <a:ext uri="{FF2B5EF4-FFF2-40B4-BE49-F238E27FC236}">
                      <a16:creationId xmlns:a16="http://schemas.microsoft.com/office/drawing/2014/main" id="{3DE71055-DAB4-70BA-2869-16D14DC637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82744" y="2637028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15" name="Grafik 114" descr="Schneeflocke Silhouette">
                  <a:extLst>
                    <a:ext uri="{FF2B5EF4-FFF2-40B4-BE49-F238E27FC236}">
                      <a16:creationId xmlns:a16="http://schemas.microsoft.com/office/drawing/2014/main" id="{3B3D9BD2-1239-CDB2-B54E-D39024ADD1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94209" y="2852679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16" name="Grafik 115" descr="Schneeflocke Silhouette">
                  <a:extLst>
                    <a:ext uri="{FF2B5EF4-FFF2-40B4-BE49-F238E27FC236}">
                      <a16:creationId xmlns:a16="http://schemas.microsoft.com/office/drawing/2014/main" id="{CA8CCA42-C583-952F-4B6F-DEBCBDB61F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05674" y="2654882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17" name="Grafik 116" descr="Schneeflocke Silhouette">
                  <a:extLst>
                    <a:ext uri="{FF2B5EF4-FFF2-40B4-BE49-F238E27FC236}">
                      <a16:creationId xmlns:a16="http://schemas.microsoft.com/office/drawing/2014/main" id="{D9A94A22-4291-B305-B4E7-E93C19EF6F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26954" y="2875659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18" name="Grafik 117" descr="Schneeflocke Silhouette">
                  <a:extLst>
                    <a:ext uri="{FF2B5EF4-FFF2-40B4-BE49-F238E27FC236}">
                      <a16:creationId xmlns:a16="http://schemas.microsoft.com/office/drawing/2014/main" id="{2C256CC1-B25B-973E-7D4B-6B29354B7B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2898" y="2637028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19" name="Grafik 118" descr="Schneeflocke Silhouette">
                  <a:extLst>
                    <a:ext uri="{FF2B5EF4-FFF2-40B4-BE49-F238E27FC236}">
                      <a16:creationId xmlns:a16="http://schemas.microsoft.com/office/drawing/2014/main" id="{3EFE8614-38E5-2AA8-E2E3-4005A13BC1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73104" y="3027724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20" name="Grafik 119" descr="Schneeflocke Silhouette">
                  <a:extLst>
                    <a:ext uri="{FF2B5EF4-FFF2-40B4-BE49-F238E27FC236}">
                      <a16:creationId xmlns:a16="http://schemas.microsoft.com/office/drawing/2014/main" id="{5DDA7D4F-96CC-1421-B677-4F7D925298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84569" y="3243375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21" name="Grafik 120" descr="Schneeflocke Silhouette">
                  <a:extLst>
                    <a:ext uri="{FF2B5EF4-FFF2-40B4-BE49-F238E27FC236}">
                      <a16:creationId xmlns:a16="http://schemas.microsoft.com/office/drawing/2014/main" id="{2C64D97C-F958-72B0-9EFC-9DA886EBF6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96034" y="3045578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22" name="Grafik 121" descr="Schneeflocke Silhouette">
                  <a:extLst>
                    <a:ext uri="{FF2B5EF4-FFF2-40B4-BE49-F238E27FC236}">
                      <a16:creationId xmlns:a16="http://schemas.microsoft.com/office/drawing/2014/main" id="{93C6AAA0-DEC7-D769-3932-3A7E3433EA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17314" y="3266355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23" name="Grafik 122" descr="Schneeflocke Silhouette">
                  <a:extLst>
                    <a:ext uri="{FF2B5EF4-FFF2-40B4-BE49-F238E27FC236}">
                      <a16:creationId xmlns:a16="http://schemas.microsoft.com/office/drawing/2014/main" id="{EF47A22A-63BB-1571-8AD1-12500B237F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93258" y="3027724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24" name="Grafik 123" descr="Schneeflocke Silhouette">
                  <a:extLst>
                    <a:ext uri="{FF2B5EF4-FFF2-40B4-BE49-F238E27FC236}">
                      <a16:creationId xmlns:a16="http://schemas.microsoft.com/office/drawing/2014/main" id="{E758E9AD-6BDA-D694-29C5-EF4B272B28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87678" y="3430742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25" name="Grafik 124" descr="Schneeflocke Silhouette">
                  <a:extLst>
                    <a:ext uri="{FF2B5EF4-FFF2-40B4-BE49-F238E27FC236}">
                      <a16:creationId xmlns:a16="http://schemas.microsoft.com/office/drawing/2014/main" id="{1F3684E1-2AA1-9EDC-CDA6-BD08F62CE5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99143" y="3646393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26" name="Grafik 125" descr="Schneeflocke Silhouette">
                  <a:extLst>
                    <a:ext uri="{FF2B5EF4-FFF2-40B4-BE49-F238E27FC236}">
                      <a16:creationId xmlns:a16="http://schemas.microsoft.com/office/drawing/2014/main" id="{4F2F2C20-DB77-BBC3-92BD-573D8244D2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10608" y="3448596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27" name="Grafik 126" descr="Schneeflocke Silhouette">
                  <a:extLst>
                    <a:ext uri="{FF2B5EF4-FFF2-40B4-BE49-F238E27FC236}">
                      <a16:creationId xmlns:a16="http://schemas.microsoft.com/office/drawing/2014/main" id="{82522423-D65C-C137-930C-0BF4011B16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1888" y="3669373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28" name="Grafik 127" descr="Schneeflocke Silhouette">
                  <a:extLst>
                    <a:ext uri="{FF2B5EF4-FFF2-40B4-BE49-F238E27FC236}">
                      <a16:creationId xmlns:a16="http://schemas.microsoft.com/office/drawing/2014/main" id="{1D2969C3-D7BE-9AF2-BD74-494A2DD765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7832" y="3430742"/>
                  <a:ext cx="221280" cy="221280"/>
                </a:xfrm>
                <a:prstGeom prst="rect">
                  <a:avLst/>
                </a:prstGeom>
              </p:spPr>
            </p:pic>
          </p:grpSp>
          <p:grpSp>
            <p:nvGrpSpPr>
              <p:cNvPr id="129" name="Gruppieren 128">
                <a:extLst>
                  <a:ext uri="{FF2B5EF4-FFF2-40B4-BE49-F238E27FC236}">
                    <a16:creationId xmlns:a16="http://schemas.microsoft.com/office/drawing/2014/main" id="{C769F250-406B-2150-8617-2302155DF97F}"/>
                  </a:ext>
                </a:extLst>
              </p:cNvPr>
              <p:cNvGrpSpPr/>
              <p:nvPr/>
            </p:nvGrpSpPr>
            <p:grpSpPr>
              <a:xfrm>
                <a:off x="276082" y="799437"/>
                <a:ext cx="1948197" cy="3147239"/>
                <a:chOff x="3045221" y="743414"/>
                <a:chExt cx="1948197" cy="3147239"/>
              </a:xfrm>
            </p:grpSpPr>
            <p:pic>
              <p:nvPicPr>
                <p:cNvPr id="130" name="Grafik 129" descr="Schnee Silhouette">
                  <a:extLst>
                    <a:ext uri="{FF2B5EF4-FFF2-40B4-BE49-F238E27FC236}">
                      <a16:creationId xmlns:a16="http://schemas.microsoft.com/office/drawing/2014/main" id="{9C87A217-1E42-5867-7B4C-CDA7479D41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="" xmlns:asvg="http://schemas.microsoft.com/office/drawing/2016/SVG/main" r:embed="rId8"/>
                    </a:ext>
                  </a:extLst>
                </a:blip>
                <a:srcRect b="42389"/>
                <a:stretch/>
              </p:blipFill>
              <p:spPr>
                <a:xfrm>
                  <a:off x="3045221" y="743414"/>
                  <a:ext cx="1948197" cy="1122372"/>
                </a:xfrm>
                <a:prstGeom prst="rect">
                  <a:avLst/>
                </a:prstGeom>
              </p:spPr>
            </p:pic>
            <p:pic>
              <p:nvPicPr>
                <p:cNvPr id="131" name="Grafik 130" descr="Schneeflocke Silhouette">
                  <a:extLst>
                    <a:ext uri="{FF2B5EF4-FFF2-40B4-BE49-F238E27FC236}">
                      <a16:creationId xmlns:a16="http://schemas.microsoft.com/office/drawing/2014/main" id="{6E2DAA0A-5D98-BF70-384E-B948CB6A9D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85749" y="1864445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32" name="Grafik 131" descr="Schneeflocke Silhouette">
                  <a:extLst>
                    <a:ext uri="{FF2B5EF4-FFF2-40B4-BE49-F238E27FC236}">
                      <a16:creationId xmlns:a16="http://schemas.microsoft.com/office/drawing/2014/main" id="{5E7FDAE1-1A68-89C8-0A7D-E6C736E145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97214" y="2080096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33" name="Grafik 132" descr="Schneeflocke Silhouette">
                  <a:extLst>
                    <a:ext uri="{FF2B5EF4-FFF2-40B4-BE49-F238E27FC236}">
                      <a16:creationId xmlns:a16="http://schemas.microsoft.com/office/drawing/2014/main" id="{203EF7E1-51B2-F93E-BFD0-83C3ADE11E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08679" y="1882299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34" name="Grafik 133" descr="Schneeflocke Silhouette">
                  <a:extLst>
                    <a:ext uri="{FF2B5EF4-FFF2-40B4-BE49-F238E27FC236}">
                      <a16:creationId xmlns:a16="http://schemas.microsoft.com/office/drawing/2014/main" id="{4813E75D-53B9-F2A9-9570-037F3E3AE0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29959" y="2103076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35" name="Grafik 134" descr="Schneeflocke Silhouette">
                  <a:extLst>
                    <a:ext uri="{FF2B5EF4-FFF2-40B4-BE49-F238E27FC236}">
                      <a16:creationId xmlns:a16="http://schemas.microsoft.com/office/drawing/2014/main" id="{E365EF69-C62B-606C-9C33-0526BFDAB4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5903" y="1864445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36" name="Grafik 135" descr="Schneeflocke Silhouette">
                  <a:extLst>
                    <a:ext uri="{FF2B5EF4-FFF2-40B4-BE49-F238E27FC236}">
                      <a16:creationId xmlns:a16="http://schemas.microsoft.com/office/drawing/2014/main" id="{1A91E2AC-0C0F-3C8C-52F5-731C83A679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81367" y="2279142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37" name="Grafik 136" descr="Schneeflocke Silhouette">
                  <a:extLst>
                    <a:ext uri="{FF2B5EF4-FFF2-40B4-BE49-F238E27FC236}">
                      <a16:creationId xmlns:a16="http://schemas.microsoft.com/office/drawing/2014/main" id="{BD16BC4D-DCCE-368C-60CF-2D51F871D3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92832" y="2494793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38" name="Grafik 137" descr="Schneeflocke Silhouette">
                  <a:extLst>
                    <a:ext uri="{FF2B5EF4-FFF2-40B4-BE49-F238E27FC236}">
                      <a16:creationId xmlns:a16="http://schemas.microsoft.com/office/drawing/2014/main" id="{23E1473E-23B7-C62F-4CF2-6C76148ED4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04297" y="2296996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39" name="Grafik 138" descr="Schneeflocke Silhouette">
                  <a:extLst>
                    <a:ext uri="{FF2B5EF4-FFF2-40B4-BE49-F238E27FC236}">
                      <a16:creationId xmlns:a16="http://schemas.microsoft.com/office/drawing/2014/main" id="{D9C20A3A-4CED-AA72-C6BF-F362080E73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25577" y="2517773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40" name="Grafik 139" descr="Schneeflocke Silhouette">
                  <a:extLst>
                    <a:ext uri="{FF2B5EF4-FFF2-40B4-BE49-F238E27FC236}">
                      <a16:creationId xmlns:a16="http://schemas.microsoft.com/office/drawing/2014/main" id="{FED69EBE-C428-5684-8C7B-CEC8A52865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1521" y="2279142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41" name="Grafik 140" descr="Schneeflocke Silhouette">
                  <a:extLst>
                    <a:ext uri="{FF2B5EF4-FFF2-40B4-BE49-F238E27FC236}">
                      <a16:creationId xmlns:a16="http://schemas.microsoft.com/office/drawing/2014/main" id="{3FFD7F77-C6AB-4DE3-4DC1-F8713FB024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82744" y="2637028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42" name="Grafik 141" descr="Schneeflocke Silhouette">
                  <a:extLst>
                    <a:ext uri="{FF2B5EF4-FFF2-40B4-BE49-F238E27FC236}">
                      <a16:creationId xmlns:a16="http://schemas.microsoft.com/office/drawing/2014/main" id="{1D43D827-3F0C-1DA4-65D1-8C3F093D94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94209" y="2852679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43" name="Grafik 142" descr="Schneeflocke Silhouette">
                  <a:extLst>
                    <a:ext uri="{FF2B5EF4-FFF2-40B4-BE49-F238E27FC236}">
                      <a16:creationId xmlns:a16="http://schemas.microsoft.com/office/drawing/2014/main" id="{A76472EC-0FF7-D38D-F4F5-614E645589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05674" y="2654882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44" name="Grafik 143" descr="Schneeflocke Silhouette">
                  <a:extLst>
                    <a:ext uri="{FF2B5EF4-FFF2-40B4-BE49-F238E27FC236}">
                      <a16:creationId xmlns:a16="http://schemas.microsoft.com/office/drawing/2014/main" id="{FCF580BA-CFBC-AA02-7232-181D15509B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26954" y="2875659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45" name="Grafik 144" descr="Schneeflocke Silhouette">
                  <a:extLst>
                    <a:ext uri="{FF2B5EF4-FFF2-40B4-BE49-F238E27FC236}">
                      <a16:creationId xmlns:a16="http://schemas.microsoft.com/office/drawing/2014/main" id="{3712915E-3CE8-2477-5A28-62F73F92A8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2898" y="2637028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46" name="Grafik 145" descr="Schneeflocke Silhouette">
                  <a:extLst>
                    <a:ext uri="{FF2B5EF4-FFF2-40B4-BE49-F238E27FC236}">
                      <a16:creationId xmlns:a16="http://schemas.microsoft.com/office/drawing/2014/main" id="{74682B26-2FDA-AAAD-E40E-DC46E3B5BE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73104" y="3027724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47" name="Grafik 146" descr="Schneeflocke Silhouette">
                  <a:extLst>
                    <a:ext uri="{FF2B5EF4-FFF2-40B4-BE49-F238E27FC236}">
                      <a16:creationId xmlns:a16="http://schemas.microsoft.com/office/drawing/2014/main" id="{CF9D93A6-C900-6648-8F50-EDC50602F2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84569" y="3243375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48" name="Grafik 147" descr="Schneeflocke Silhouette">
                  <a:extLst>
                    <a:ext uri="{FF2B5EF4-FFF2-40B4-BE49-F238E27FC236}">
                      <a16:creationId xmlns:a16="http://schemas.microsoft.com/office/drawing/2014/main" id="{EB2B2301-5284-F68A-C2F4-EA65EB6BEF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96034" y="3045578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49" name="Grafik 148" descr="Schneeflocke Silhouette">
                  <a:extLst>
                    <a:ext uri="{FF2B5EF4-FFF2-40B4-BE49-F238E27FC236}">
                      <a16:creationId xmlns:a16="http://schemas.microsoft.com/office/drawing/2014/main" id="{1E46B0A5-6B11-DE69-96EF-DF78608551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17314" y="3266355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50" name="Grafik 149" descr="Schneeflocke Silhouette">
                  <a:extLst>
                    <a:ext uri="{FF2B5EF4-FFF2-40B4-BE49-F238E27FC236}">
                      <a16:creationId xmlns:a16="http://schemas.microsoft.com/office/drawing/2014/main" id="{91A7DA2B-C016-E751-E567-343CD1D254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93258" y="3027724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51" name="Grafik 150" descr="Schneeflocke Silhouette">
                  <a:extLst>
                    <a:ext uri="{FF2B5EF4-FFF2-40B4-BE49-F238E27FC236}">
                      <a16:creationId xmlns:a16="http://schemas.microsoft.com/office/drawing/2014/main" id="{E3739090-062A-056A-5C9B-9B4FE87C8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87678" y="3430742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52" name="Grafik 151" descr="Schneeflocke Silhouette">
                  <a:extLst>
                    <a:ext uri="{FF2B5EF4-FFF2-40B4-BE49-F238E27FC236}">
                      <a16:creationId xmlns:a16="http://schemas.microsoft.com/office/drawing/2014/main" id="{B3660018-204B-ED5B-A911-625F160857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99143" y="3646393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53" name="Grafik 152" descr="Schneeflocke Silhouette">
                  <a:extLst>
                    <a:ext uri="{FF2B5EF4-FFF2-40B4-BE49-F238E27FC236}">
                      <a16:creationId xmlns:a16="http://schemas.microsoft.com/office/drawing/2014/main" id="{AF3B5AD8-A59E-B70A-E707-718BBBDE6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10608" y="3448596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54" name="Grafik 153" descr="Schneeflocke Silhouette">
                  <a:extLst>
                    <a:ext uri="{FF2B5EF4-FFF2-40B4-BE49-F238E27FC236}">
                      <a16:creationId xmlns:a16="http://schemas.microsoft.com/office/drawing/2014/main" id="{503ACA49-08CE-F5D0-CB0C-A09E049FC0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1888" y="3669373"/>
                  <a:ext cx="221280" cy="221280"/>
                </a:xfrm>
                <a:prstGeom prst="rect">
                  <a:avLst/>
                </a:prstGeom>
              </p:spPr>
            </p:pic>
            <p:pic>
              <p:nvPicPr>
                <p:cNvPr id="155" name="Grafik 154" descr="Schneeflocke Silhouette">
                  <a:extLst>
                    <a:ext uri="{FF2B5EF4-FFF2-40B4-BE49-F238E27FC236}">
                      <a16:creationId xmlns:a16="http://schemas.microsoft.com/office/drawing/2014/main" id="{EB4E075F-ABFB-99FD-54DA-9DDD1C967F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7832" y="3430742"/>
                  <a:ext cx="221280" cy="221280"/>
                </a:xfrm>
                <a:prstGeom prst="rect">
                  <a:avLst/>
                </a:prstGeom>
              </p:spPr>
            </p:pic>
          </p:grpSp>
          <p:pic>
            <p:nvPicPr>
              <p:cNvPr id="156" name="Grafik 155" descr="Schneeflocke Silhouette">
                <a:extLst>
                  <a:ext uri="{FF2B5EF4-FFF2-40B4-BE49-F238E27FC236}">
                    <a16:creationId xmlns:a16="http://schemas.microsoft.com/office/drawing/2014/main" id="{6A469A57-A887-ACC8-2B31-0885BD8AA1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835855" y="2160398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57" name="Grafik 156" descr="Schneeflocke Silhouette">
                <a:extLst>
                  <a:ext uri="{FF2B5EF4-FFF2-40B4-BE49-F238E27FC236}">
                    <a16:creationId xmlns:a16="http://schemas.microsoft.com/office/drawing/2014/main" id="{B8257B93-A812-43A1-A37E-8A339D6A9E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831473" y="2575095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58" name="Grafik 157" descr="Schneeflocke Silhouette">
                <a:extLst>
                  <a:ext uri="{FF2B5EF4-FFF2-40B4-BE49-F238E27FC236}">
                    <a16:creationId xmlns:a16="http://schemas.microsoft.com/office/drawing/2014/main" id="{4AFB36A2-58F3-2AA7-B7F5-5B2776068B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832850" y="2932981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59" name="Grafik 158" descr="Schneeflocke Silhouette">
                <a:extLst>
                  <a:ext uri="{FF2B5EF4-FFF2-40B4-BE49-F238E27FC236}">
                    <a16:creationId xmlns:a16="http://schemas.microsoft.com/office/drawing/2014/main" id="{538717C9-3690-2ECC-05E5-5BD1382631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823210" y="3323677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67" name="Grafik 166" descr="Schneeflocke Silhouette">
                <a:extLst>
                  <a:ext uri="{FF2B5EF4-FFF2-40B4-BE49-F238E27FC236}">
                    <a16:creationId xmlns:a16="http://schemas.microsoft.com/office/drawing/2014/main" id="{6132AE5E-C3C1-208E-FEEF-F275458518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47205" y="3805807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68" name="Grafik 167" descr="Schneeflocke Silhouette">
                <a:extLst>
                  <a:ext uri="{FF2B5EF4-FFF2-40B4-BE49-F238E27FC236}">
                    <a16:creationId xmlns:a16="http://schemas.microsoft.com/office/drawing/2014/main" id="{83600082-AB44-7CDE-C822-EA424B509F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579950" y="3828787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69" name="Grafik 168" descr="Schneeflocke Silhouette">
                <a:extLst>
                  <a:ext uri="{FF2B5EF4-FFF2-40B4-BE49-F238E27FC236}">
                    <a16:creationId xmlns:a16="http://schemas.microsoft.com/office/drawing/2014/main" id="{CEEC7173-BE16-A6BE-5300-AD7083CC05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50314" y="3993174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70" name="Grafik 169" descr="Schneeflocke Silhouette">
                <a:extLst>
                  <a:ext uri="{FF2B5EF4-FFF2-40B4-BE49-F238E27FC236}">
                    <a16:creationId xmlns:a16="http://schemas.microsoft.com/office/drawing/2014/main" id="{A7AB9BC3-00D8-243D-BD88-F15AE71A73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61779" y="4208825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71" name="Grafik 170" descr="Schneeflocke Silhouette">
                <a:extLst>
                  <a:ext uri="{FF2B5EF4-FFF2-40B4-BE49-F238E27FC236}">
                    <a16:creationId xmlns:a16="http://schemas.microsoft.com/office/drawing/2014/main" id="{970D82E2-36F2-4062-D679-7175427CFB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373244" y="4011028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72" name="Grafik 171" descr="Schneeflocke Silhouette">
                <a:extLst>
                  <a:ext uri="{FF2B5EF4-FFF2-40B4-BE49-F238E27FC236}">
                    <a16:creationId xmlns:a16="http://schemas.microsoft.com/office/drawing/2014/main" id="{77C4927E-07F9-2635-03EE-EE356E63B4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594524" y="4231805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73" name="Grafik 172" descr="Schneeflocke Silhouette">
                <a:extLst>
                  <a:ext uri="{FF2B5EF4-FFF2-40B4-BE49-F238E27FC236}">
                    <a16:creationId xmlns:a16="http://schemas.microsoft.com/office/drawing/2014/main" id="{E0689C21-61F3-E858-915D-929A10E41B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770468" y="3993174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74" name="Grafik 173" descr="Schneeflocke Silhouette">
                <a:extLst>
                  <a:ext uri="{FF2B5EF4-FFF2-40B4-BE49-F238E27FC236}">
                    <a16:creationId xmlns:a16="http://schemas.microsoft.com/office/drawing/2014/main" id="{B2AAFAD4-F0F6-D0C8-1760-745526A384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114837" y="3954278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75" name="Grafik 174" descr="Schneeflocke Silhouette">
                <a:extLst>
                  <a:ext uri="{FF2B5EF4-FFF2-40B4-BE49-F238E27FC236}">
                    <a16:creationId xmlns:a16="http://schemas.microsoft.com/office/drawing/2014/main" id="{A2F92C7B-16EB-C7BA-CDF9-A100906356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547582" y="3977258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76" name="Grafik 175" descr="Schneeflocke Silhouette">
                <a:extLst>
                  <a:ext uri="{FF2B5EF4-FFF2-40B4-BE49-F238E27FC236}">
                    <a16:creationId xmlns:a16="http://schemas.microsoft.com/office/drawing/2014/main" id="{1CDE40DE-87E8-20F9-3FE2-423F11D1FD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917946" y="4141645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77" name="Grafik 176" descr="Schneeflocke Silhouette">
                <a:extLst>
                  <a:ext uri="{FF2B5EF4-FFF2-40B4-BE49-F238E27FC236}">
                    <a16:creationId xmlns:a16="http://schemas.microsoft.com/office/drawing/2014/main" id="{50BA7A10-C956-9367-42DA-4D6E17F3AE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129411" y="4357296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78" name="Grafik 177" descr="Schneeflocke Silhouette">
                <a:extLst>
                  <a:ext uri="{FF2B5EF4-FFF2-40B4-BE49-F238E27FC236}">
                    <a16:creationId xmlns:a16="http://schemas.microsoft.com/office/drawing/2014/main" id="{6E52D550-972B-5958-87C3-57F90FB68E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340876" y="4159499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79" name="Grafik 178" descr="Schneeflocke Silhouette">
                <a:extLst>
                  <a:ext uri="{FF2B5EF4-FFF2-40B4-BE49-F238E27FC236}">
                    <a16:creationId xmlns:a16="http://schemas.microsoft.com/office/drawing/2014/main" id="{9A2E7964-0475-58B4-40F9-0B77A27DA0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562156" y="4380276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80" name="Grafik 179" descr="Schneeflocke Silhouette">
                <a:extLst>
                  <a:ext uri="{FF2B5EF4-FFF2-40B4-BE49-F238E27FC236}">
                    <a16:creationId xmlns:a16="http://schemas.microsoft.com/office/drawing/2014/main" id="{FC364B5C-EB51-B9A6-F5E5-0AC041CE2A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738100" y="4141645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81" name="Grafik 180" descr="Schneeflocke Silhouette">
                <a:extLst>
                  <a:ext uri="{FF2B5EF4-FFF2-40B4-BE49-F238E27FC236}">
                    <a16:creationId xmlns:a16="http://schemas.microsoft.com/office/drawing/2014/main" id="{C5F1C47D-C3BD-5AC9-723C-35C7C51574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54031" y="4260732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82" name="Grafik 181" descr="Schneeflocke Silhouette">
                <a:extLst>
                  <a:ext uri="{FF2B5EF4-FFF2-40B4-BE49-F238E27FC236}">
                    <a16:creationId xmlns:a16="http://schemas.microsoft.com/office/drawing/2014/main" id="{09D4327C-1194-C1C2-66FD-9ACC14AA9D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386776" y="4283712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83" name="Grafik 182" descr="Schneeflocke Silhouette">
                <a:extLst>
                  <a:ext uri="{FF2B5EF4-FFF2-40B4-BE49-F238E27FC236}">
                    <a16:creationId xmlns:a16="http://schemas.microsoft.com/office/drawing/2014/main" id="{7964975A-2943-6AB2-31CF-C2A22C140A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57140" y="4448099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84" name="Grafik 183" descr="Schneeflocke Silhouette">
                <a:extLst>
                  <a:ext uri="{FF2B5EF4-FFF2-40B4-BE49-F238E27FC236}">
                    <a16:creationId xmlns:a16="http://schemas.microsoft.com/office/drawing/2014/main" id="{6046A7EB-98E1-DD8F-5D3B-93684A7932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68605" y="4663750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85" name="Grafik 184" descr="Schneeflocke Silhouette">
                <a:extLst>
                  <a:ext uri="{FF2B5EF4-FFF2-40B4-BE49-F238E27FC236}">
                    <a16:creationId xmlns:a16="http://schemas.microsoft.com/office/drawing/2014/main" id="{C68DF635-5175-B3DD-4841-6086231ABE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80070" y="4465953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86" name="Grafik 185" descr="Schneeflocke Silhouette">
                <a:extLst>
                  <a:ext uri="{FF2B5EF4-FFF2-40B4-BE49-F238E27FC236}">
                    <a16:creationId xmlns:a16="http://schemas.microsoft.com/office/drawing/2014/main" id="{7CE5B574-A37D-FBA9-469D-8DDC0C9C53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401350" y="4686730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87" name="Grafik 186" descr="Schneeflocke Silhouette">
                <a:extLst>
                  <a:ext uri="{FF2B5EF4-FFF2-40B4-BE49-F238E27FC236}">
                    <a16:creationId xmlns:a16="http://schemas.microsoft.com/office/drawing/2014/main" id="{9392AD42-81D2-F86E-B2E0-93F8975ED7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577294" y="4448099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88" name="Grafik 187" descr="Schneeflocke Silhouette">
                <a:extLst>
                  <a:ext uri="{FF2B5EF4-FFF2-40B4-BE49-F238E27FC236}">
                    <a16:creationId xmlns:a16="http://schemas.microsoft.com/office/drawing/2014/main" id="{2FB04057-87BF-0BFC-291C-A0F2CB90AE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31153" y="3843638"/>
                <a:ext cx="221280" cy="221280"/>
              </a:xfrm>
              <a:prstGeom prst="rect">
                <a:avLst/>
              </a:prstGeom>
            </p:spPr>
          </p:pic>
          <p:pic>
            <p:nvPicPr>
              <p:cNvPr id="189" name="Grafik 188" descr="Schneeflocke Silhouette">
                <a:extLst>
                  <a:ext uri="{FF2B5EF4-FFF2-40B4-BE49-F238E27FC236}">
                    <a16:creationId xmlns:a16="http://schemas.microsoft.com/office/drawing/2014/main" id="{B03AC963-21C7-B64B-35A0-551DAC0E00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897296" y="3714656"/>
                <a:ext cx="221280" cy="221280"/>
              </a:xfrm>
              <a:prstGeom prst="rect">
                <a:avLst/>
              </a:prstGeom>
            </p:spPr>
          </p:pic>
        </p:grpSp>
        <p:pic>
          <p:nvPicPr>
            <p:cNvPr id="3" name="Grafik 2" descr="Schneeflocke Silhouette">
              <a:extLst>
                <a:ext uri="{FF2B5EF4-FFF2-40B4-BE49-F238E27FC236}">
                  <a16:creationId xmlns:a16="http://schemas.microsoft.com/office/drawing/2014/main" id="{7444CBE6-C5E2-941F-225A-40F682CEC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018388" y="4675428"/>
              <a:ext cx="221280" cy="221280"/>
            </a:xfrm>
            <a:prstGeom prst="rect">
              <a:avLst/>
            </a:prstGeom>
          </p:spPr>
        </p:pic>
        <p:pic>
          <p:nvPicPr>
            <p:cNvPr id="14" name="Grafik 13" descr="Schneeflocke Silhouette">
              <a:extLst>
                <a:ext uri="{FF2B5EF4-FFF2-40B4-BE49-F238E27FC236}">
                  <a16:creationId xmlns:a16="http://schemas.microsoft.com/office/drawing/2014/main" id="{2A189C01-66AD-01CB-1C9E-2EE721DC7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572413" y="4691083"/>
              <a:ext cx="221280" cy="221280"/>
            </a:xfrm>
            <a:prstGeom prst="rect">
              <a:avLst/>
            </a:prstGeom>
          </p:spPr>
        </p:pic>
        <p:pic>
          <p:nvPicPr>
            <p:cNvPr id="15" name="Grafik 14" descr="Schneeflocke Silhouette">
              <a:extLst>
                <a:ext uri="{FF2B5EF4-FFF2-40B4-BE49-F238E27FC236}">
                  <a16:creationId xmlns:a16="http://schemas.microsoft.com/office/drawing/2014/main" id="{04A12A24-0A7D-CB53-EE8F-58A1F108A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857505" y="4404343"/>
              <a:ext cx="221280" cy="221280"/>
            </a:xfrm>
            <a:prstGeom prst="rect">
              <a:avLst/>
            </a:prstGeom>
          </p:spPr>
        </p:pic>
      </p:grpSp>
      <p:sp>
        <p:nvSpPr>
          <p:cNvPr id="18" name="Textfeld 17">
            <a:extLst>
              <a:ext uri="{FF2B5EF4-FFF2-40B4-BE49-F238E27FC236}">
                <a16:creationId xmlns:a16="http://schemas.microsoft.com/office/drawing/2014/main" id="{E8B458EE-316A-81CC-2AA8-7EEC62D51DF6}"/>
              </a:ext>
            </a:extLst>
          </p:cNvPr>
          <p:cNvSpPr txBox="1"/>
          <p:nvPr/>
        </p:nvSpPr>
        <p:spPr>
          <a:xfrm>
            <a:off x="7980379" y="9241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Schutz vor: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38AECDF9-2BF2-6825-F326-E7548FA5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24</a:t>
            </a:fld>
            <a:endParaRPr lang="de-DE" dirty="0"/>
          </a:p>
        </p:txBody>
      </p:sp>
      <p:sp>
        <p:nvSpPr>
          <p:cNvPr id="162" name="Titel 1">
            <a:extLst>
              <a:ext uri="{FF2B5EF4-FFF2-40B4-BE49-F238E27FC236}">
                <a16:creationId xmlns:a16="http://schemas.microsoft.com/office/drawing/2014/main" id="{72705494-7499-38A5-2FE8-A6C50B9C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Vorteile bietet Agri-PV? </a:t>
            </a:r>
            <a:r>
              <a:rPr lang="de-DE" b="1" smtClean="0">
                <a:sym typeface="Wingdings" panose="05000000000000000000" pitchFamily="2" charset="2"/>
              </a:rPr>
              <a:t> Lösung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425861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05525-8796-5771-3BF4-2F9C7F46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B0C9426-AA08-6948-6B4B-A86568EA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C7F5C31-371C-B013-A905-A53784AF6927}"/>
              </a:ext>
            </a:extLst>
          </p:cNvPr>
          <p:cNvSpPr/>
          <p:nvPr/>
        </p:nvSpPr>
        <p:spPr>
          <a:xfrm>
            <a:off x="3560389" y="3978519"/>
            <a:ext cx="72000" cy="917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0A99D69-6EDA-6881-84BB-4E3EE39B28E5}"/>
              </a:ext>
            </a:extLst>
          </p:cNvPr>
          <p:cNvSpPr/>
          <p:nvPr/>
        </p:nvSpPr>
        <p:spPr>
          <a:xfrm>
            <a:off x="7030828" y="3394951"/>
            <a:ext cx="93690" cy="15091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Pflanze Silhouette">
            <a:extLst>
              <a:ext uri="{FF2B5EF4-FFF2-40B4-BE49-F238E27FC236}">
                <a16:creationId xmlns:a16="http://schemas.microsoft.com/office/drawing/2014/main" id="{DD9485BB-576B-81FF-DCAE-20FD2B7B8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8600" y="4177286"/>
            <a:ext cx="830483" cy="830483"/>
          </a:xfrm>
          <a:prstGeom prst="rect">
            <a:avLst/>
          </a:prstGeom>
        </p:spPr>
      </p:pic>
      <p:pic>
        <p:nvPicPr>
          <p:cNvPr id="9" name="Grafik 8" descr="Sonnenblumen Silhouette">
            <a:extLst>
              <a:ext uri="{FF2B5EF4-FFF2-40B4-BE49-F238E27FC236}">
                <a16:creationId xmlns:a16="http://schemas.microsoft.com/office/drawing/2014/main" id="{444702BF-1C1C-F607-FD9F-0409D2CD0D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1469" y="4064918"/>
            <a:ext cx="914400" cy="914400"/>
          </a:xfrm>
          <a:prstGeom prst="rect">
            <a:avLst/>
          </a:prstGeom>
        </p:spPr>
      </p:pic>
      <p:pic>
        <p:nvPicPr>
          <p:cNvPr id="10" name="Grafik 9" descr="Pflanze Silhouette">
            <a:extLst>
              <a:ext uri="{FF2B5EF4-FFF2-40B4-BE49-F238E27FC236}">
                <a16:creationId xmlns:a16="http://schemas.microsoft.com/office/drawing/2014/main" id="{68941400-85E2-B8CD-470E-0CE8C3A8C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0971" y="4157312"/>
            <a:ext cx="830483" cy="830483"/>
          </a:xfrm>
          <a:prstGeom prst="rect">
            <a:avLst/>
          </a:prstGeom>
        </p:spPr>
      </p:pic>
      <p:pic>
        <p:nvPicPr>
          <p:cNvPr id="11" name="Grafik 10" descr="Pflanze Silhouette">
            <a:extLst>
              <a:ext uri="{FF2B5EF4-FFF2-40B4-BE49-F238E27FC236}">
                <a16:creationId xmlns:a16="http://schemas.microsoft.com/office/drawing/2014/main" id="{59CA95C3-D4FE-0A0A-B247-480273DD6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23342" y="4177286"/>
            <a:ext cx="830483" cy="830483"/>
          </a:xfrm>
          <a:prstGeom prst="rect">
            <a:avLst/>
          </a:prstGeom>
        </p:spPr>
      </p:pic>
      <p:pic>
        <p:nvPicPr>
          <p:cNvPr id="12" name="Grafik 11" descr="Sonnenblumen Silhouette">
            <a:extLst>
              <a:ext uri="{FF2B5EF4-FFF2-40B4-BE49-F238E27FC236}">
                <a16:creationId xmlns:a16="http://schemas.microsoft.com/office/drawing/2014/main" id="{8006016C-8A47-DCEA-607B-44D164C54A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4732" y="4064918"/>
            <a:ext cx="914400" cy="9144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0C2F3305-F7AD-214C-F0D5-06D20E431105}"/>
              </a:ext>
            </a:extLst>
          </p:cNvPr>
          <p:cNvSpPr/>
          <p:nvPr/>
        </p:nvSpPr>
        <p:spPr>
          <a:xfrm>
            <a:off x="2988000" y="4912363"/>
            <a:ext cx="4680000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0" name="Grafik 49" descr="Sonnenblumen Silhouette">
            <a:extLst>
              <a:ext uri="{FF2B5EF4-FFF2-40B4-BE49-F238E27FC236}">
                <a16:creationId xmlns:a16="http://schemas.microsoft.com/office/drawing/2014/main" id="{3BA60A56-BE9B-7108-495B-9FA6F47F18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611" y="4057783"/>
            <a:ext cx="914400" cy="914400"/>
          </a:xfrm>
          <a:prstGeom prst="rect">
            <a:avLst/>
          </a:prstGeom>
          <a:effectLst/>
        </p:spPr>
      </p:pic>
      <p:pic>
        <p:nvPicPr>
          <p:cNvPr id="51" name="Grafik 50" descr="Pflanze Silhouette">
            <a:extLst>
              <a:ext uri="{FF2B5EF4-FFF2-40B4-BE49-F238E27FC236}">
                <a16:creationId xmlns:a16="http://schemas.microsoft.com/office/drawing/2014/main" id="{51A2929E-0826-8B5C-E35F-AEC9FF564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1113" y="4170151"/>
            <a:ext cx="830483" cy="830483"/>
          </a:xfrm>
          <a:prstGeom prst="rect">
            <a:avLst/>
          </a:prstGeom>
          <a:effectLst/>
        </p:spPr>
      </p:pic>
      <p:pic>
        <p:nvPicPr>
          <p:cNvPr id="52" name="Grafik 51" descr="Pflanze Silhouette">
            <a:extLst>
              <a:ext uri="{FF2B5EF4-FFF2-40B4-BE49-F238E27FC236}">
                <a16:creationId xmlns:a16="http://schemas.microsoft.com/office/drawing/2014/main" id="{4B031543-ECD8-7C91-A4E4-69C7669FD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3484" y="4170151"/>
            <a:ext cx="830483" cy="830483"/>
          </a:xfrm>
          <a:prstGeom prst="rect">
            <a:avLst/>
          </a:prstGeom>
          <a:effectLst/>
        </p:spPr>
      </p:pic>
      <p:pic>
        <p:nvPicPr>
          <p:cNvPr id="27" name="Grafik 26" descr="Schnee Silhouette">
            <a:extLst>
              <a:ext uri="{FF2B5EF4-FFF2-40B4-BE49-F238E27FC236}">
                <a16:creationId xmlns:a16="http://schemas.microsoft.com/office/drawing/2014/main" id="{6984D385-3B43-CC66-28C1-564996445E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 b="42389"/>
          <a:stretch/>
        </p:blipFill>
        <p:spPr>
          <a:xfrm>
            <a:off x="5244939" y="900100"/>
            <a:ext cx="1948197" cy="1122372"/>
          </a:xfrm>
          <a:prstGeom prst="rect">
            <a:avLst/>
          </a:prstGeom>
        </p:spPr>
      </p:pic>
      <p:pic>
        <p:nvPicPr>
          <p:cNvPr id="29" name="Grafik 28" descr="Wasser Silhouette">
            <a:extLst>
              <a:ext uri="{FF2B5EF4-FFF2-40B4-BE49-F238E27FC236}">
                <a16:creationId xmlns:a16="http://schemas.microsoft.com/office/drawing/2014/main" id="{E6746954-A811-0187-767D-D37A5D5844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685467" y="2021131"/>
            <a:ext cx="221280" cy="221280"/>
          </a:xfrm>
          <a:prstGeom prst="rect">
            <a:avLst/>
          </a:prstGeom>
        </p:spPr>
      </p:pic>
      <p:pic>
        <p:nvPicPr>
          <p:cNvPr id="46" name="Grafik 45" descr="Wasser Silhouette">
            <a:extLst>
              <a:ext uri="{FF2B5EF4-FFF2-40B4-BE49-F238E27FC236}">
                <a16:creationId xmlns:a16="http://schemas.microsoft.com/office/drawing/2014/main" id="{04D62165-B212-5DF1-4B25-C8842F5C1B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896932" y="2236782"/>
            <a:ext cx="221280" cy="221280"/>
          </a:xfrm>
          <a:prstGeom prst="rect">
            <a:avLst/>
          </a:prstGeom>
        </p:spPr>
      </p:pic>
      <p:pic>
        <p:nvPicPr>
          <p:cNvPr id="47" name="Grafik 46" descr="Wasser Silhouette">
            <a:extLst>
              <a:ext uri="{FF2B5EF4-FFF2-40B4-BE49-F238E27FC236}">
                <a16:creationId xmlns:a16="http://schemas.microsoft.com/office/drawing/2014/main" id="{06E49AE5-69F3-0F3F-A127-F010FC1EE2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108397" y="2038985"/>
            <a:ext cx="221280" cy="221280"/>
          </a:xfrm>
          <a:prstGeom prst="rect">
            <a:avLst/>
          </a:prstGeom>
        </p:spPr>
      </p:pic>
      <p:pic>
        <p:nvPicPr>
          <p:cNvPr id="48" name="Grafik 47" descr="Wasser Silhouette">
            <a:extLst>
              <a:ext uri="{FF2B5EF4-FFF2-40B4-BE49-F238E27FC236}">
                <a16:creationId xmlns:a16="http://schemas.microsoft.com/office/drawing/2014/main" id="{EB8ED086-8848-2568-289F-13D970E061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329677" y="2259762"/>
            <a:ext cx="221280" cy="221280"/>
          </a:xfrm>
          <a:prstGeom prst="rect">
            <a:avLst/>
          </a:prstGeom>
        </p:spPr>
      </p:pic>
      <p:pic>
        <p:nvPicPr>
          <p:cNvPr id="53" name="Grafik 52" descr="Wasser Silhouette">
            <a:extLst>
              <a:ext uri="{FF2B5EF4-FFF2-40B4-BE49-F238E27FC236}">
                <a16:creationId xmlns:a16="http://schemas.microsoft.com/office/drawing/2014/main" id="{F4740E0A-3B58-4574-704D-B989D6548B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505621" y="2021131"/>
            <a:ext cx="221280" cy="221280"/>
          </a:xfrm>
          <a:prstGeom prst="rect">
            <a:avLst/>
          </a:prstGeom>
        </p:spPr>
      </p:pic>
      <p:pic>
        <p:nvPicPr>
          <p:cNvPr id="54" name="Grafik 53" descr="Wasser Silhouette">
            <a:extLst>
              <a:ext uri="{FF2B5EF4-FFF2-40B4-BE49-F238E27FC236}">
                <a16:creationId xmlns:a16="http://schemas.microsoft.com/office/drawing/2014/main" id="{BEB27C66-1B62-03FF-98C6-20FD96CF3A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681085" y="2435828"/>
            <a:ext cx="221280" cy="221280"/>
          </a:xfrm>
          <a:prstGeom prst="rect">
            <a:avLst/>
          </a:prstGeom>
        </p:spPr>
      </p:pic>
      <p:pic>
        <p:nvPicPr>
          <p:cNvPr id="55" name="Grafik 54" descr="Wasser Silhouette">
            <a:extLst>
              <a:ext uri="{FF2B5EF4-FFF2-40B4-BE49-F238E27FC236}">
                <a16:creationId xmlns:a16="http://schemas.microsoft.com/office/drawing/2014/main" id="{7DBC3E21-C0E0-046B-8EEE-25C28E9B1C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892550" y="2651479"/>
            <a:ext cx="221280" cy="221280"/>
          </a:xfrm>
          <a:prstGeom prst="rect">
            <a:avLst/>
          </a:prstGeom>
        </p:spPr>
      </p:pic>
      <p:pic>
        <p:nvPicPr>
          <p:cNvPr id="56" name="Grafik 55" descr="Wasser Silhouette">
            <a:extLst>
              <a:ext uri="{FF2B5EF4-FFF2-40B4-BE49-F238E27FC236}">
                <a16:creationId xmlns:a16="http://schemas.microsoft.com/office/drawing/2014/main" id="{D3CF6577-471E-794B-556A-13A6F055DF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104015" y="2453682"/>
            <a:ext cx="221280" cy="221280"/>
          </a:xfrm>
          <a:prstGeom prst="rect">
            <a:avLst/>
          </a:prstGeom>
        </p:spPr>
      </p:pic>
      <p:pic>
        <p:nvPicPr>
          <p:cNvPr id="57" name="Grafik 56" descr="Wasser Silhouette">
            <a:extLst>
              <a:ext uri="{FF2B5EF4-FFF2-40B4-BE49-F238E27FC236}">
                <a16:creationId xmlns:a16="http://schemas.microsoft.com/office/drawing/2014/main" id="{585D1459-A43B-334E-114C-EFD1A91F8B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325295" y="2674459"/>
            <a:ext cx="221280" cy="221280"/>
          </a:xfrm>
          <a:prstGeom prst="rect">
            <a:avLst/>
          </a:prstGeom>
        </p:spPr>
      </p:pic>
      <p:pic>
        <p:nvPicPr>
          <p:cNvPr id="58" name="Grafik 57" descr="Wasser Silhouette">
            <a:extLst>
              <a:ext uri="{FF2B5EF4-FFF2-40B4-BE49-F238E27FC236}">
                <a16:creationId xmlns:a16="http://schemas.microsoft.com/office/drawing/2014/main" id="{B72B4CA8-3998-08F3-0909-76520C2DA0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501239" y="2435828"/>
            <a:ext cx="221280" cy="221280"/>
          </a:xfrm>
          <a:prstGeom prst="rect">
            <a:avLst/>
          </a:prstGeom>
        </p:spPr>
      </p:pic>
      <p:pic>
        <p:nvPicPr>
          <p:cNvPr id="59" name="Grafik 58" descr="Wasser Silhouette">
            <a:extLst>
              <a:ext uri="{FF2B5EF4-FFF2-40B4-BE49-F238E27FC236}">
                <a16:creationId xmlns:a16="http://schemas.microsoft.com/office/drawing/2014/main" id="{35B02EE0-5649-00C7-11F1-D84C782C93E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682462" y="2793714"/>
            <a:ext cx="221280" cy="221280"/>
          </a:xfrm>
          <a:prstGeom prst="rect">
            <a:avLst/>
          </a:prstGeom>
        </p:spPr>
      </p:pic>
      <p:pic>
        <p:nvPicPr>
          <p:cNvPr id="60" name="Grafik 59" descr="Wasser Silhouette">
            <a:extLst>
              <a:ext uri="{FF2B5EF4-FFF2-40B4-BE49-F238E27FC236}">
                <a16:creationId xmlns:a16="http://schemas.microsoft.com/office/drawing/2014/main" id="{C328E496-386A-7019-09C7-7FCE0B115B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893927" y="3009365"/>
            <a:ext cx="221280" cy="221280"/>
          </a:xfrm>
          <a:prstGeom prst="rect">
            <a:avLst/>
          </a:prstGeom>
        </p:spPr>
      </p:pic>
      <p:pic>
        <p:nvPicPr>
          <p:cNvPr id="61" name="Grafik 60" descr="Wasser Silhouette">
            <a:extLst>
              <a:ext uri="{FF2B5EF4-FFF2-40B4-BE49-F238E27FC236}">
                <a16:creationId xmlns:a16="http://schemas.microsoft.com/office/drawing/2014/main" id="{6ECE2439-F084-94F7-0712-71A2F0B031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105392" y="2811568"/>
            <a:ext cx="221280" cy="221280"/>
          </a:xfrm>
          <a:prstGeom prst="rect">
            <a:avLst/>
          </a:prstGeom>
        </p:spPr>
      </p:pic>
      <p:pic>
        <p:nvPicPr>
          <p:cNvPr id="62" name="Grafik 61" descr="Wasser Silhouette">
            <a:extLst>
              <a:ext uri="{FF2B5EF4-FFF2-40B4-BE49-F238E27FC236}">
                <a16:creationId xmlns:a16="http://schemas.microsoft.com/office/drawing/2014/main" id="{32A4ECBB-0CAE-EC88-A70C-502C971982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326672" y="3032345"/>
            <a:ext cx="221280" cy="221280"/>
          </a:xfrm>
          <a:prstGeom prst="rect">
            <a:avLst/>
          </a:prstGeom>
        </p:spPr>
      </p:pic>
      <p:pic>
        <p:nvPicPr>
          <p:cNvPr id="63" name="Grafik 62" descr="Wasser Silhouette">
            <a:extLst>
              <a:ext uri="{FF2B5EF4-FFF2-40B4-BE49-F238E27FC236}">
                <a16:creationId xmlns:a16="http://schemas.microsoft.com/office/drawing/2014/main" id="{33E845D4-4CAF-EEC8-E9B2-07EECECA32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502616" y="2793714"/>
            <a:ext cx="221280" cy="221280"/>
          </a:xfrm>
          <a:prstGeom prst="rect">
            <a:avLst/>
          </a:prstGeom>
        </p:spPr>
      </p:pic>
      <p:pic>
        <p:nvPicPr>
          <p:cNvPr id="64" name="Grafik 63" descr="Wasser Silhouette">
            <a:extLst>
              <a:ext uri="{FF2B5EF4-FFF2-40B4-BE49-F238E27FC236}">
                <a16:creationId xmlns:a16="http://schemas.microsoft.com/office/drawing/2014/main" id="{4D328D3E-1BA6-EC9A-9652-0AEF860189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672822" y="3184410"/>
            <a:ext cx="221280" cy="221280"/>
          </a:xfrm>
          <a:prstGeom prst="rect">
            <a:avLst/>
          </a:prstGeom>
        </p:spPr>
      </p:pic>
      <p:pic>
        <p:nvPicPr>
          <p:cNvPr id="65" name="Grafik 64" descr="Wasser Silhouette">
            <a:extLst>
              <a:ext uri="{FF2B5EF4-FFF2-40B4-BE49-F238E27FC236}">
                <a16:creationId xmlns:a16="http://schemas.microsoft.com/office/drawing/2014/main" id="{D2B2AE97-8A11-0368-8C23-294BA74837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884287" y="3400061"/>
            <a:ext cx="221280" cy="221280"/>
          </a:xfrm>
          <a:prstGeom prst="rect">
            <a:avLst/>
          </a:prstGeom>
        </p:spPr>
      </p:pic>
      <p:pic>
        <p:nvPicPr>
          <p:cNvPr id="66" name="Grafik 65" descr="Wasser Silhouette">
            <a:extLst>
              <a:ext uri="{FF2B5EF4-FFF2-40B4-BE49-F238E27FC236}">
                <a16:creationId xmlns:a16="http://schemas.microsoft.com/office/drawing/2014/main" id="{07EE4439-851A-0699-F982-E4B8F14960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095752" y="3202264"/>
            <a:ext cx="221280" cy="221280"/>
          </a:xfrm>
          <a:prstGeom prst="rect">
            <a:avLst/>
          </a:prstGeom>
        </p:spPr>
      </p:pic>
      <p:pic>
        <p:nvPicPr>
          <p:cNvPr id="68" name="Grafik 67" descr="Wasser Silhouette">
            <a:extLst>
              <a:ext uri="{FF2B5EF4-FFF2-40B4-BE49-F238E27FC236}">
                <a16:creationId xmlns:a16="http://schemas.microsoft.com/office/drawing/2014/main" id="{BB7DFA01-C873-6B60-02AD-E46EE85EEB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492976" y="3184410"/>
            <a:ext cx="221280" cy="221280"/>
          </a:xfrm>
          <a:prstGeom prst="rect">
            <a:avLst/>
          </a:prstGeom>
        </p:spPr>
      </p:pic>
      <p:pic>
        <p:nvPicPr>
          <p:cNvPr id="76" name="Grafik 75" descr="Schnee Silhouette">
            <a:extLst>
              <a:ext uri="{FF2B5EF4-FFF2-40B4-BE49-F238E27FC236}">
                <a16:creationId xmlns:a16="http://schemas.microsoft.com/office/drawing/2014/main" id="{8099EAC4-57B7-52B6-9D53-20939A722B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 b="42389"/>
          <a:stretch/>
        </p:blipFill>
        <p:spPr>
          <a:xfrm>
            <a:off x="3486828" y="896030"/>
            <a:ext cx="1948197" cy="1122372"/>
          </a:xfrm>
          <a:prstGeom prst="rect">
            <a:avLst/>
          </a:prstGeom>
        </p:spPr>
      </p:pic>
      <p:pic>
        <p:nvPicPr>
          <p:cNvPr id="77" name="Grafik 76" descr="Wasser Silhouette">
            <a:extLst>
              <a:ext uri="{FF2B5EF4-FFF2-40B4-BE49-F238E27FC236}">
                <a16:creationId xmlns:a16="http://schemas.microsoft.com/office/drawing/2014/main" id="{D7496096-78B3-FFE1-842F-958AE45D3A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927356" y="2017061"/>
            <a:ext cx="221280" cy="221280"/>
          </a:xfrm>
          <a:prstGeom prst="rect">
            <a:avLst/>
          </a:prstGeom>
        </p:spPr>
      </p:pic>
      <p:pic>
        <p:nvPicPr>
          <p:cNvPr id="78" name="Grafik 77" descr="Wasser Silhouette">
            <a:extLst>
              <a:ext uri="{FF2B5EF4-FFF2-40B4-BE49-F238E27FC236}">
                <a16:creationId xmlns:a16="http://schemas.microsoft.com/office/drawing/2014/main" id="{92CADCE8-01EB-AEF9-FB73-98B35A28C8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138821" y="2232712"/>
            <a:ext cx="221280" cy="221280"/>
          </a:xfrm>
          <a:prstGeom prst="rect">
            <a:avLst/>
          </a:prstGeom>
        </p:spPr>
      </p:pic>
      <p:pic>
        <p:nvPicPr>
          <p:cNvPr id="79" name="Grafik 78" descr="Wasser Silhouette">
            <a:extLst>
              <a:ext uri="{FF2B5EF4-FFF2-40B4-BE49-F238E27FC236}">
                <a16:creationId xmlns:a16="http://schemas.microsoft.com/office/drawing/2014/main" id="{37D0A8DA-B942-0E44-5BDB-3B06EF42A6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350286" y="2034915"/>
            <a:ext cx="221280" cy="221280"/>
          </a:xfrm>
          <a:prstGeom prst="rect">
            <a:avLst/>
          </a:prstGeom>
        </p:spPr>
      </p:pic>
      <p:pic>
        <p:nvPicPr>
          <p:cNvPr id="80" name="Grafik 79" descr="Wasser Silhouette">
            <a:extLst>
              <a:ext uri="{FF2B5EF4-FFF2-40B4-BE49-F238E27FC236}">
                <a16:creationId xmlns:a16="http://schemas.microsoft.com/office/drawing/2014/main" id="{72517E1B-C0F0-F84D-CCC3-264824B4A4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571566" y="2255692"/>
            <a:ext cx="221280" cy="221280"/>
          </a:xfrm>
          <a:prstGeom prst="rect">
            <a:avLst/>
          </a:prstGeom>
        </p:spPr>
      </p:pic>
      <p:pic>
        <p:nvPicPr>
          <p:cNvPr id="81" name="Grafik 80" descr="Wasser Silhouette">
            <a:extLst>
              <a:ext uri="{FF2B5EF4-FFF2-40B4-BE49-F238E27FC236}">
                <a16:creationId xmlns:a16="http://schemas.microsoft.com/office/drawing/2014/main" id="{19B3A33D-AEA8-7E13-859E-4825314582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747510" y="2017061"/>
            <a:ext cx="221280" cy="221280"/>
          </a:xfrm>
          <a:prstGeom prst="rect">
            <a:avLst/>
          </a:prstGeom>
        </p:spPr>
      </p:pic>
      <p:pic>
        <p:nvPicPr>
          <p:cNvPr id="82" name="Grafik 81" descr="Wasser Silhouette">
            <a:extLst>
              <a:ext uri="{FF2B5EF4-FFF2-40B4-BE49-F238E27FC236}">
                <a16:creationId xmlns:a16="http://schemas.microsoft.com/office/drawing/2014/main" id="{C5016AE7-BD94-90E5-1E07-4E59F842BB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922974" y="2431758"/>
            <a:ext cx="221280" cy="221280"/>
          </a:xfrm>
          <a:prstGeom prst="rect">
            <a:avLst/>
          </a:prstGeom>
        </p:spPr>
      </p:pic>
      <p:pic>
        <p:nvPicPr>
          <p:cNvPr id="83" name="Grafik 82" descr="Wasser Silhouette">
            <a:extLst>
              <a:ext uri="{FF2B5EF4-FFF2-40B4-BE49-F238E27FC236}">
                <a16:creationId xmlns:a16="http://schemas.microsoft.com/office/drawing/2014/main" id="{F7DC62F4-6DFE-B3DC-9B65-7B917B8B6B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134439" y="2647409"/>
            <a:ext cx="221280" cy="221280"/>
          </a:xfrm>
          <a:prstGeom prst="rect">
            <a:avLst/>
          </a:prstGeom>
        </p:spPr>
      </p:pic>
      <p:pic>
        <p:nvPicPr>
          <p:cNvPr id="84" name="Grafik 83" descr="Wasser Silhouette">
            <a:extLst>
              <a:ext uri="{FF2B5EF4-FFF2-40B4-BE49-F238E27FC236}">
                <a16:creationId xmlns:a16="http://schemas.microsoft.com/office/drawing/2014/main" id="{67130D00-D33A-D2C1-F86D-24DA20E4CC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345904" y="2449612"/>
            <a:ext cx="221280" cy="221280"/>
          </a:xfrm>
          <a:prstGeom prst="rect">
            <a:avLst/>
          </a:prstGeom>
        </p:spPr>
      </p:pic>
      <p:pic>
        <p:nvPicPr>
          <p:cNvPr id="85" name="Grafik 84" descr="Wasser Silhouette">
            <a:extLst>
              <a:ext uri="{FF2B5EF4-FFF2-40B4-BE49-F238E27FC236}">
                <a16:creationId xmlns:a16="http://schemas.microsoft.com/office/drawing/2014/main" id="{62D6C09A-74A1-27E7-F3B0-A392709A8FF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567184" y="2670389"/>
            <a:ext cx="221280" cy="221280"/>
          </a:xfrm>
          <a:prstGeom prst="rect">
            <a:avLst/>
          </a:prstGeom>
        </p:spPr>
      </p:pic>
      <p:pic>
        <p:nvPicPr>
          <p:cNvPr id="86" name="Grafik 85" descr="Wasser Silhouette">
            <a:extLst>
              <a:ext uri="{FF2B5EF4-FFF2-40B4-BE49-F238E27FC236}">
                <a16:creationId xmlns:a16="http://schemas.microsoft.com/office/drawing/2014/main" id="{0616FEE3-7C7C-9700-4DC2-906DB1F9E3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743128" y="2431758"/>
            <a:ext cx="221280" cy="221280"/>
          </a:xfrm>
          <a:prstGeom prst="rect">
            <a:avLst/>
          </a:prstGeom>
        </p:spPr>
      </p:pic>
      <p:pic>
        <p:nvPicPr>
          <p:cNvPr id="87" name="Grafik 86" descr="Wasser Silhouette">
            <a:extLst>
              <a:ext uri="{FF2B5EF4-FFF2-40B4-BE49-F238E27FC236}">
                <a16:creationId xmlns:a16="http://schemas.microsoft.com/office/drawing/2014/main" id="{E88164F7-8354-C208-AEAA-E1E3D337E6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924351" y="2789644"/>
            <a:ext cx="221280" cy="221280"/>
          </a:xfrm>
          <a:prstGeom prst="rect">
            <a:avLst/>
          </a:prstGeom>
        </p:spPr>
      </p:pic>
      <p:pic>
        <p:nvPicPr>
          <p:cNvPr id="88" name="Grafik 87" descr="Wasser Silhouette">
            <a:extLst>
              <a:ext uri="{FF2B5EF4-FFF2-40B4-BE49-F238E27FC236}">
                <a16:creationId xmlns:a16="http://schemas.microsoft.com/office/drawing/2014/main" id="{610ACADA-273F-BEA9-F7DB-BAB7476355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135816" y="3005295"/>
            <a:ext cx="221280" cy="221280"/>
          </a:xfrm>
          <a:prstGeom prst="rect">
            <a:avLst/>
          </a:prstGeom>
        </p:spPr>
      </p:pic>
      <p:pic>
        <p:nvPicPr>
          <p:cNvPr id="89" name="Grafik 88" descr="Wasser Silhouette">
            <a:extLst>
              <a:ext uri="{FF2B5EF4-FFF2-40B4-BE49-F238E27FC236}">
                <a16:creationId xmlns:a16="http://schemas.microsoft.com/office/drawing/2014/main" id="{639EABF7-4E28-FB5B-6718-97506584F5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347281" y="2807498"/>
            <a:ext cx="221280" cy="221280"/>
          </a:xfrm>
          <a:prstGeom prst="rect">
            <a:avLst/>
          </a:prstGeom>
        </p:spPr>
      </p:pic>
      <p:pic>
        <p:nvPicPr>
          <p:cNvPr id="90" name="Grafik 89" descr="Wasser Silhouette">
            <a:extLst>
              <a:ext uri="{FF2B5EF4-FFF2-40B4-BE49-F238E27FC236}">
                <a16:creationId xmlns:a16="http://schemas.microsoft.com/office/drawing/2014/main" id="{05B17CDB-7305-54AD-150D-298866582E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568561" y="3028275"/>
            <a:ext cx="221280" cy="221280"/>
          </a:xfrm>
          <a:prstGeom prst="rect">
            <a:avLst/>
          </a:prstGeom>
        </p:spPr>
      </p:pic>
      <p:pic>
        <p:nvPicPr>
          <p:cNvPr id="91" name="Grafik 90" descr="Wasser Silhouette">
            <a:extLst>
              <a:ext uri="{FF2B5EF4-FFF2-40B4-BE49-F238E27FC236}">
                <a16:creationId xmlns:a16="http://schemas.microsoft.com/office/drawing/2014/main" id="{40E7141A-D444-E5FA-6856-6B394183E0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744505" y="2789644"/>
            <a:ext cx="221280" cy="221280"/>
          </a:xfrm>
          <a:prstGeom prst="rect">
            <a:avLst/>
          </a:prstGeom>
        </p:spPr>
      </p:pic>
      <p:pic>
        <p:nvPicPr>
          <p:cNvPr id="92" name="Grafik 91" descr="Wasser Silhouette">
            <a:extLst>
              <a:ext uri="{FF2B5EF4-FFF2-40B4-BE49-F238E27FC236}">
                <a16:creationId xmlns:a16="http://schemas.microsoft.com/office/drawing/2014/main" id="{FD340C83-5F79-7D56-A43C-35D4A7AA80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914711" y="3180340"/>
            <a:ext cx="221280" cy="221280"/>
          </a:xfrm>
          <a:prstGeom prst="rect">
            <a:avLst/>
          </a:prstGeom>
        </p:spPr>
      </p:pic>
      <p:pic>
        <p:nvPicPr>
          <p:cNvPr id="93" name="Grafik 92" descr="Wasser Silhouette">
            <a:extLst>
              <a:ext uri="{FF2B5EF4-FFF2-40B4-BE49-F238E27FC236}">
                <a16:creationId xmlns:a16="http://schemas.microsoft.com/office/drawing/2014/main" id="{DB2C1C90-B9E6-4CF6-C41C-90C3DB9560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126176" y="3395991"/>
            <a:ext cx="221280" cy="221280"/>
          </a:xfrm>
          <a:prstGeom prst="rect">
            <a:avLst/>
          </a:prstGeom>
        </p:spPr>
      </p:pic>
      <p:pic>
        <p:nvPicPr>
          <p:cNvPr id="94" name="Grafik 93" descr="Wasser Silhouette">
            <a:extLst>
              <a:ext uri="{FF2B5EF4-FFF2-40B4-BE49-F238E27FC236}">
                <a16:creationId xmlns:a16="http://schemas.microsoft.com/office/drawing/2014/main" id="{BF5D17E6-F74E-2E15-0257-C6519F285A3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337641" y="3198194"/>
            <a:ext cx="221280" cy="221280"/>
          </a:xfrm>
          <a:prstGeom prst="rect">
            <a:avLst/>
          </a:prstGeom>
        </p:spPr>
      </p:pic>
      <p:pic>
        <p:nvPicPr>
          <p:cNvPr id="95" name="Grafik 94" descr="Wasser Silhouette">
            <a:extLst>
              <a:ext uri="{FF2B5EF4-FFF2-40B4-BE49-F238E27FC236}">
                <a16:creationId xmlns:a16="http://schemas.microsoft.com/office/drawing/2014/main" id="{D5C4845D-76F1-65CF-4100-5389774631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558921" y="3418971"/>
            <a:ext cx="221280" cy="221280"/>
          </a:xfrm>
          <a:prstGeom prst="rect">
            <a:avLst/>
          </a:prstGeom>
        </p:spPr>
      </p:pic>
      <p:pic>
        <p:nvPicPr>
          <p:cNvPr id="96" name="Grafik 95" descr="Wasser Silhouette">
            <a:extLst>
              <a:ext uri="{FF2B5EF4-FFF2-40B4-BE49-F238E27FC236}">
                <a16:creationId xmlns:a16="http://schemas.microsoft.com/office/drawing/2014/main" id="{16CBD5C2-30E1-DB20-1AE5-33494607F6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734865" y="3180340"/>
            <a:ext cx="221280" cy="221280"/>
          </a:xfrm>
          <a:prstGeom prst="rect">
            <a:avLst/>
          </a:prstGeom>
        </p:spPr>
      </p:pic>
      <p:pic>
        <p:nvPicPr>
          <p:cNvPr id="97" name="Grafik 96" descr="Wasser Silhouette">
            <a:extLst>
              <a:ext uri="{FF2B5EF4-FFF2-40B4-BE49-F238E27FC236}">
                <a16:creationId xmlns:a16="http://schemas.microsoft.com/office/drawing/2014/main" id="{6614856F-9197-1820-7710-47EC0A1E03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929285" y="3583358"/>
            <a:ext cx="221280" cy="221280"/>
          </a:xfrm>
          <a:prstGeom prst="rect">
            <a:avLst/>
          </a:prstGeom>
        </p:spPr>
      </p:pic>
      <p:pic>
        <p:nvPicPr>
          <p:cNvPr id="99" name="Grafik 98" descr="Wasser Silhouette">
            <a:extLst>
              <a:ext uri="{FF2B5EF4-FFF2-40B4-BE49-F238E27FC236}">
                <a16:creationId xmlns:a16="http://schemas.microsoft.com/office/drawing/2014/main" id="{2CAF4031-59F7-C577-EAAE-F65CBBD909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352215" y="3601212"/>
            <a:ext cx="221280" cy="22128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4266008E-45CA-B426-515E-71B0E99D431E}"/>
              </a:ext>
            </a:extLst>
          </p:cNvPr>
          <p:cNvSpPr/>
          <p:nvPr/>
        </p:nvSpPr>
        <p:spPr>
          <a:xfrm rot="4809774">
            <a:off x="5347595" y="1500732"/>
            <a:ext cx="73542" cy="4388650"/>
          </a:xfrm>
          <a:prstGeom prst="rect">
            <a:avLst/>
          </a:prstGeom>
          <a:pattFill prst="narHorz">
            <a:fgClr>
              <a:schemeClr val="accent6"/>
            </a:fgClr>
            <a:bgClr>
              <a:schemeClr val="bg1"/>
            </a:bgClr>
          </a:patt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91" name="Grafik 190" descr="Windig Silhouette">
            <a:extLst>
              <a:ext uri="{FF2B5EF4-FFF2-40B4-BE49-F238E27FC236}">
                <a16:creationId xmlns:a16="http://schemas.microsoft.com/office/drawing/2014/main" id="{7CFCC6D4-3916-3EC5-D577-CE3924812A2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33941" y="1179160"/>
            <a:ext cx="914400" cy="914400"/>
          </a:xfrm>
          <a:prstGeom prst="rect">
            <a:avLst/>
          </a:prstGeom>
        </p:spPr>
      </p:pic>
      <p:pic>
        <p:nvPicPr>
          <p:cNvPr id="192" name="Grafik 191" descr="Schneeflocke Silhouette">
            <a:extLst>
              <a:ext uri="{FF2B5EF4-FFF2-40B4-BE49-F238E27FC236}">
                <a16:creationId xmlns:a16="http://schemas.microsoft.com/office/drawing/2014/main" id="{CD785C4B-F540-C1FD-B2C2-15441660B9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33941" y="2093558"/>
            <a:ext cx="914399" cy="914399"/>
          </a:xfrm>
          <a:prstGeom prst="rect">
            <a:avLst/>
          </a:prstGeom>
        </p:spPr>
      </p:pic>
      <p:sp>
        <p:nvSpPr>
          <p:cNvPr id="193" name="Textfeld 192">
            <a:extLst>
              <a:ext uri="{FF2B5EF4-FFF2-40B4-BE49-F238E27FC236}">
                <a16:creationId xmlns:a16="http://schemas.microsoft.com/office/drawing/2014/main" id="{045F65CD-7211-9FFA-3276-A6E5F119F386}"/>
              </a:ext>
            </a:extLst>
          </p:cNvPr>
          <p:cNvSpPr txBox="1"/>
          <p:nvPr/>
        </p:nvSpPr>
        <p:spPr>
          <a:xfrm>
            <a:off x="9639300" y="145169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Wind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FF599961-0186-26BE-1698-7BB42A4E802F}"/>
              </a:ext>
            </a:extLst>
          </p:cNvPr>
          <p:cNvSpPr txBox="1"/>
          <p:nvPr/>
        </p:nvSpPr>
        <p:spPr>
          <a:xfrm>
            <a:off x="9639299" y="2366091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Schnee &amp; Hagel</a:t>
            </a:r>
          </a:p>
        </p:txBody>
      </p:sp>
      <p:pic>
        <p:nvPicPr>
          <p:cNvPr id="103" name="Grafik 102" descr="Schnee Silhouette">
            <a:extLst>
              <a:ext uri="{FF2B5EF4-FFF2-40B4-BE49-F238E27FC236}">
                <a16:creationId xmlns:a16="http://schemas.microsoft.com/office/drawing/2014/main" id="{995F97A8-642A-5DC7-EAAF-DD0116BB3B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 b="42389"/>
          <a:stretch/>
        </p:blipFill>
        <p:spPr>
          <a:xfrm>
            <a:off x="1691094" y="862086"/>
            <a:ext cx="1948197" cy="1122372"/>
          </a:xfrm>
          <a:prstGeom prst="rect">
            <a:avLst/>
          </a:prstGeom>
        </p:spPr>
      </p:pic>
      <p:pic>
        <p:nvPicPr>
          <p:cNvPr id="104" name="Grafik 103" descr="Wasser Silhouette">
            <a:extLst>
              <a:ext uri="{FF2B5EF4-FFF2-40B4-BE49-F238E27FC236}">
                <a16:creationId xmlns:a16="http://schemas.microsoft.com/office/drawing/2014/main" id="{033FD5C7-1E2C-7779-D29E-290BBF3394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131622" y="1983117"/>
            <a:ext cx="221280" cy="221280"/>
          </a:xfrm>
          <a:prstGeom prst="rect">
            <a:avLst/>
          </a:prstGeom>
        </p:spPr>
      </p:pic>
      <p:pic>
        <p:nvPicPr>
          <p:cNvPr id="105" name="Grafik 104" descr="Wasser Silhouette">
            <a:extLst>
              <a:ext uri="{FF2B5EF4-FFF2-40B4-BE49-F238E27FC236}">
                <a16:creationId xmlns:a16="http://schemas.microsoft.com/office/drawing/2014/main" id="{766D6AB0-FF83-8630-891B-80E1F1F094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343087" y="2198768"/>
            <a:ext cx="221280" cy="221280"/>
          </a:xfrm>
          <a:prstGeom prst="rect">
            <a:avLst/>
          </a:prstGeom>
        </p:spPr>
      </p:pic>
      <p:pic>
        <p:nvPicPr>
          <p:cNvPr id="106" name="Grafik 105" descr="Wasser Silhouette">
            <a:extLst>
              <a:ext uri="{FF2B5EF4-FFF2-40B4-BE49-F238E27FC236}">
                <a16:creationId xmlns:a16="http://schemas.microsoft.com/office/drawing/2014/main" id="{53D65E95-554F-D548-26BB-043734F179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554552" y="2000971"/>
            <a:ext cx="221280" cy="221280"/>
          </a:xfrm>
          <a:prstGeom prst="rect">
            <a:avLst/>
          </a:prstGeom>
        </p:spPr>
      </p:pic>
      <p:pic>
        <p:nvPicPr>
          <p:cNvPr id="107" name="Grafik 106" descr="Wasser Silhouette">
            <a:extLst>
              <a:ext uri="{FF2B5EF4-FFF2-40B4-BE49-F238E27FC236}">
                <a16:creationId xmlns:a16="http://schemas.microsoft.com/office/drawing/2014/main" id="{A3FF21F0-D419-3464-3B34-5C7A4AF853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775832" y="2221748"/>
            <a:ext cx="221280" cy="221280"/>
          </a:xfrm>
          <a:prstGeom prst="rect">
            <a:avLst/>
          </a:prstGeom>
        </p:spPr>
      </p:pic>
      <p:pic>
        <p:nvPicPr>
          <p:cNvPr id="108" name="Grafik 107" descr="Wasser Silhouette">
            <a:extLst>
              <a:ext uri="{FF2B5EF4-FFF2-40B4-BE49-F238E27FC236}">
                <a16:creationId xmlns:a16="http://schemas.microsoft.com/office/drawing/2014/main" id="{39FD7797-B74F-7824-8CD9-9704AFB046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951776" y="1983117"/>
            <a:ext cx="221280" cy="221280"/>
          </a:xfrm>
          <a:prstGeom prst="rect">
            <a:avLst/>
          </a:prstGeom>
        </p:spPr>
      </p:pic>
      <p:pic>
        <p:nvPicPr>
          <p:cNvPr id="109" name="Grafik 108" descr="Wasser Silhouette">
            <a:extLst>
              <a:ext uri="{FF2B5EF4-FFF2-40B4-BE49-F238E27FC236}">
                <a16:creationId xmlns:a16="http://schemas.microsoft.com/office/drawing/2014/main" id="{25866E1B-32FE-C238-B688-FA325BF48D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127240" y="2397814"/>
            <a:ext cx="221280" cy="221280"/>
          </a:xfrm>
          <a:prstGeom prst="rect">
            <a:avLst/>
          </a:prstGeom>
        </p:spPr>
      </p:pic>
      <p:pic>
        <p:nvPicPr>
          <p:cNvPr id="110" name="Grafik 109" descr="Wasser Silhouette">
            <a:extLst>
              <a:ext uri="{FF2B5EF4-FFF2-40B4-BE49-F238E27FC236}">
                <a16:creationId xmlns:a16="http://schemas.microsoft.com/office/drawing/2014/main" id="{BEBB607D-FE4F-BAC8-708E-6EDE1DADEE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338705" y="2613465"/>
            <a:ext cx="221280" cy="221280"/>
          </a:xfrm>
          <a:prstGeom prst="rect">
            <a:avLst/>
          </a:prstGeom>
        </p:spPr>
      </p:pic>
      <p:pic>
        <p:nvPicPr>
          <p:cNvPr id="111" name="Grafik 110" descr="Wasser Silhouette">
            <a:extLst>
              <a:ext uri="{FF2B5EF4-FFF2-40B4-BE49-F238E27FC236}">
                <a16:creationId xmlns:a16="http://schemas.microsoft.com/office/drawing/2014/main" id="{0469569A-1944-5697-1B8D-E1C91D0C19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550170" y="2415668"/>
            <a:ext cx="221280" cy="221280"/>
          </a:xfrm>
          <a:prstGeom prst="rect">
            <a:avLst/>
          </a:prstGeom>
        </p:spPr>
      </p:pic>
      <p:pic>
        <p:nvPicPr>
          <p:cNvPr id="112" name="Grafik 111" descr="Wasser Silhouette">
            <a:extLst>
              <a:ext uri="{FF2B5EF4-FFF2-40B4-BE49-F238E27FC236}">
                <a16:creationId xmlns:a16="http://schemas.microsoft.com/office/drawing/2014/main" id="{509CADB7-28AB-7D5E-3D0C-D91CE72404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771450" y="2636445"/>
            <a:ext cx="221280" cy="221280"/>
          </a:xfrm>
          <a:prstGeom prst="rect">
            <a:avLst/>
          </a:prstGeom>
        </p:spPr>
      </p:pic>
      <p:pic>
        <p:nvPicPr>
          <p:cNvPr id="113" name="Grafik 112" descr="Wasser Silhouette">
            <a:extLst>
              <a:ext uri="{FF2B5EF4-FFF2-40B4-BE49-F238E27FC236}">
                <a16:creationId xmlns:a16="http://schemas.microsoft.com/office/drawing/2014/main" id="{61884708-E392-191D-690A-BDEF35BC89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947394" y="2397814"/>
            <a:ext cx="221280" cy="221280"/>
          </a:xfrm>
          <a:prstGeom prst="rect">
            <a:avLst/>
          </a:prstGeom>
        </p:spPr>
      </p:pic>
      <p:pic>
        <p:nvPicPr>
          <p:cNvPr id="114" name="Grafik 113" descr="Wasser Silhouette">
            <a:extLst>
              <a:ext uri="{FF2B5EF4-FFF2-40B4-BE49-F238E27FC236}">
                <a16:creationId xmlns:a16="http://schemas.microsoft.com/office/drawing/2014/main" id="{5B402AAC-B9CF-F81F-D89E-DF595DFAC3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128617" y="2755700"/>
            <a:ext cx="221280" cy="221280"/>
          </a:xfrm>
          <a:prstGeom prst="rect">
            <a:avLst/>
          </a:prstGeom>
        </p:spPr>
      </p:pic>
      <p:pic>
        <p:nvPicPr>
          <p:cNvPr id="115" name="Grafik 114" descr="Wasser Silhouette">
            <a:extLst>
              <a:ext uri="{FF2B5EF4-FFF2-40B4-BE49-F238E27FC236}">
                <a16:creationId xmlns:a16="http://schemas.microsoft.com/office/drawing/2014/main" id="{41C3BEE2-FE96-06D6-6E7C-2491C4A680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340082" y="2971351"/>
            <a:ext cx="221280" cy="221280"/>
          </a:xfrm>
          <a:prstGeom prst="rect">
            <a:avLst/>
          </a:prstGeom>
        </p:spPr>
      </p:pic>
      <p:pic>
        <p:nvPicPr>
          <p:cNvPr id="116" name="Grafik 115" descr="Wasser Silhouette">
            <a:extLst>
              <a:ext uri="{FF2B5EF4-FFF2-40B4-BE49-F238E27FC236}">
                <a16:creationId xmlns:a16="http://schemas.microsoft.com/office/drawing/2014/main" id="{2E372406-1DA2-FE89-70CF-1342C4E1CE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551547" y="2773554"/>
            <a:ext cx="221280" cy="221280"/>
          </a:xfrm>
          <a:prstGeom prst="rect">
            <a:avLst/>
          </a:prstGeom>
        </p:spPr>
      </p:pic>
      <p:pic>
        <p:nvPicPr>
          <p:cNvPr id="117" name="Grafik 116" descr="Wasser Silhouette">
            <a:extLst>
              <a:ext uri="{FF2B5EF4-FFF2-40B4-BE49-F238E27FC236}">
                <a16:creationId xmlns:a16="http://schemas.microsoft.com/office/drawing/2014/main" id="{F33F2887-F4C1-A46D-DD3F-25778A0F36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772827" y="2994331"/>
            <a:ext cx="221280" cy="221280"/>
          </a:xfrm>
          <a:prstGeom prst="rect">
            <a:avLst/>
          </a:prstGeom>
        </p:spPr>
      </p:pic>
      <p:pic>
        <p:nvPicPr>
          <p:cNvPr id="118" name="Grafik 117" descr="Wasser Silhouette">
            <a:extLst>
              <a:ext uri="{FF2B5EF4-FFF2-40B4-BE49-F238E27FC236}">
                <a16:creationId xmlns:a16="http://schemas.microsoft.com/office/drawing/2014/main" id="{66D7F973-3F29-A172-FBB1-99271B83FA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948771" y="2755700"/>
            <a:ext cx="221280" cy="221280"/>
          </a:xfrm>
          <a:prstGeom prst="rect">
            <a:avLst/>
          </a:prstGeom>
        </p:spPr>
      </p:pic>
      <p:pic>
        <p:nvPicPr>
          <p:cNvPr id="119" name="Grafik 118" descr="Wasser Silhouette">
            <a:extLst>
              <a:ext uri="{FF2B5EF4-FFF2-40B4-BE49-F238E27FC236}">
                <a16:creationId xmlns:a16="http://schemas.microsoft.com/office/drawing/2014/main" id="{927A7AA3-07C3-B039-0899-1775B66642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118977" y="3146396"/>
            <a:ext cx="221280" cy="221280"/>
          </a:xfrm>
          <a:prstGeom prst="rect">
            <a:avLst/>
          </a:prstGeom>
        </p:spPr>
      </p:pic>
      <p:pic>
        <p:nvPicPr>
          <p:cNvPr id="120" name="Grafik 119" descr="Wasser Silhouette">
            <a:extLst>
              <a:ext uri="{FF2B5EF4-FFF2-40B4-BE49-F238E27FC236}">
                <a16:creationId xmlns:a16="http://schemas.microsoft.com/office/drawing/2014/main" id="{12B270A2-75C2-09C3-E400-07F2736655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330442" y="3362047"/>
            <a:ext cx="221280" cy="221280"/>
          </a:xfrm>
          <a:prstGeom prst="rect">
            <a:avLst/>
          </a:prstGeom>
        </p:spPr>
      </p:pic>
      <p:pic>
        <p:nvPicPr>
          <p:cNvPr id="121" name="Grafik 120" descr="Wasser Silhouette">
            <a:extLst>
              <a:ext uri="{FF2B5EF4-FFF2-40B4-BE49-F238E27FC236}">
                <a16:creationId xmlns:a16="http://schemas.microsoft.com/office/drawing/2014/main" id="{D488D763-9CFB-66F0-0921-66B39BBD0E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541907" y="3164250"/>
            <a:ext cx="221280" cy="221280"/>
          </a:xfrm>
          <a:prstGeom prst="rect">
            <a:avLst/>
          </a:prstGeom>
        </p:spPr>
      </p:pic>
      <p:pic>
        <p:nvPicPr>
          <p:cNvPr id="122" name="Grafik 121" descr="Wasser Silhouette">
            <a:extLst>
              <a:ext uri="{FF2B5EF4-FFF2-40B4-BE49-F238E27FC236}">
                <a16:creationId xmlns:a16="http://schemas.microsoft.com/office/drawing/2014/main" id="{0496F2CF-081E-7DCB-A643-465DD9322D3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763187" y="3385027"/>
            <a:ext cx="221280" cy="221280"/>
          </a:xfrm>
          <a:prstGeom prst="rect">
            <a:avLst/>
          </a:prstGeom>
        </p:spPr>
      </p:pic>
      <p:pic>
        <p:nvPicPr>
          <p:cNvPr id="123" name="Grafik 122" descr="Wasser Silhouette">
            <a:extLst>
              <a:ext uri="{FF2B5EF4-FFF2-40B4-BE49-F238E27FC236}">
                <a16:creationId xmlns:a16="http://schemas.microsoft.com/office/drawing/2014/main" id="{763C9481-AFE9-E891-CD42-B3AB8E158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939131" y="3146396"/>
            <a:ext cx="221280" cy="221280"/>
          </a:xfrm>
          <a:prstGeom prst="rect">
            <a:avLst/>
          </a:prstGeom>
        </p:spPr>
      </p:pic>
      <p:pic>
        <p:nvPicPr>
          <p:cNvPr id="124" name="Grafik 123" descr="Wasser Silhouette">
            <a:extLst>
              <a:ext uri="{FF2B5EF4-FFF2-40B4-BE49-F238E27FC236}">
                <a16:creationId xmlns:a16="http://schemas.microsoft.com/office/drawing/2014/main" id="{BDF0E8D0-B922-6EE1-8744-B51C982A40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133551" y="3549414"/>
            <a:ext cx="221280" cy="221280"/>
          </a:xfrm>
          <a:prstGeom prst="rect">
            <a:avLst/>
          </a:prstGeom>
        </p:spPr>
      </p:pic>
      <p:pic>
        <p:nvPicPr>
          <p:cNvPr id="125" name="Grafik 124" descr="Wasser Silhouette">
            <a:extLst>
              <a:ext uri="{FF2B5EF4-FFF2-40B4-BE49-F238E27FC236}">
                <a16:creationId xmlns:a16="http://schemas.microsoft.com/office/drawing/2014/main" id="{B7826304-493D-D52E-AAE3-2A69E82867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345016" y="3765065"/>
            <a:ext cx="221280" cy="221280"/>
          </a:xfrm>
          <a:prstGeom prst="rect">
            <a:avLst/>
          </a:prstGeom>
        </p:spPr>
      </p:pic>
      <p:pic>
        <p:nvPicPr>
          <p:cNvPr id="126" name="Grafik 125" descr="Wasser Silhouette">
            <a:extLst>
              <a:ext uri="{FF2B5EF4-FFF2-40B4-BE49-F238E27FC236}">
                <a16:creationId xmlns:a16="http://schemas.microsoft.com/office/drawing/2014/main" id="{A5B6EECC-86DF-56EC-27BA-6093952B20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556481" y="3567268"/>
            <a:ext cx="221280" cy="221280"/>
          </a:xfrm>
          <a:prstGeom prst="rect">
            <a:avLst/>
          </a:prstGeom>
        </p:spPr>
      </p:pic>
      <p:pic>
        <p:nvPicPr>
          <p:cNvPr id="127" name="Grafik 126" descr="Wasser Silhouette">
            <a:extLst>
              <a:ext uri="{FF2B5EF4-FFF2-40B4-BE49-F238E27FC236}">
                <a16:creationId xmlns:a16="http://schemas.microsoft.com/office/drawing/2014/main" id="{B4334336-E204-B411-A852-8B5ECEED7C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777761" y="3788045"/>
            <a:ext cx="221280" cy="221280"/>
          </a:xfrm>
          <a:prstGeom prst="rect">
            <a:avLst/>
          </a:prstGeom>
        </p:spPr>
      </p:pic>
      <p:pic>
        <p:nvPicPr>
          <p:cNvPr id="128" name="Grafik 127" descr="Wasser Silhouette">
            <a:extLst>
              <a:ext uri="{FF2B5EF4-FFF2-40B4-BE49-F238E27FC236}">
                <a16:creationId xmlns:a16="http://schemas.microsoft.com/office/drawing/2014/main" id="{B2AAB021-E0C9-060E-6EB9-C13D2CBFB4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953705" y="3549414"/>
            <a:ext cx="221280" cy="221280"/>
          </a:xfrm>
          <a:prstGeom prst="rect">
            <a:avLst/>
          </a:prstGeom>
        </p:spPr>
      </p:pic>
      <p:pic>
        <p:nvPicPr>
          <p:cNvPr id="130" name="Grafik 129" descr="Schnee Silhouette">
            <a:extLst>
              <a:ext uri="{FF2B5EF4-FFF2-40B4-BE49-F238E27FC236}">
                <a16:creationId xmlns:a16="http://schemas.microsoft.com/office/drawing/2014/main" id="{BB302FBB-5972-B135-150C-998C462242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 b="42389"/>
          <a:stretch/>
        </p:blipFill>
        <p:spPr>
          <a:xfrm>
            <a:off x="282984" y="814947"/>
            <a:ext cx="1948197" cy="1122372"/>
          </a:xfrm>
          <a:prstGeom prst="rect">
            <a:avLst/>
          </a:prstGeom>
        </p:spPr>
      </p:pic>
      <p:pic>
        <p:nvPicPr>
          <p:cNvPr id="131" name="Grafik 130" descr="Wasser Silhouette">
            <a:extLst>
              <a:ext uri="{FF2B5EF4-FFF2-40B4-BE49-F238E27FC236}">
                <a16:creationId xmlns:a16="http://schemas.microsoft.com/office/drawing/2014/main" id="{5B676317-7FD7-FD76-1CD3-B300216B20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23512" y="1935978"/>
            <a:ext cx="221280" cy="221280"/>
          </a:xfrm>
          <a:prstGeom prst="rect">
            <a:avLst/>
          </a:prstGeom>
        </p:spPr>
      </p:pic>
      <p:pic>
        <p:nvPicPr>
          <p:cNvPr id="132" name="Grafik 131" descr="Wasser Silhouette">
            <a:extLst>
              <a:ext uri="{FF2B5EF4-FFF2-40B4-BE49-F238E27FC236}">
                <a16:creationId xmlns:a16="http://schemas.microsoft.com/office/drawing/2014/main" id="{03CF4EB0-956C-9C64-ECAC-BD2E570B98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34977" y="2151629"/>
            <a:ext cx="221280" cy="221280"/>
          </a:xfrm>
          <a:prstGeom prst="rect">
            <a:avLst/>
          </a:prstGeom>
        </p:spPr>
      </p:pic>
      <p:pic>
        <p:nvPicPr>
          <p:cNvPr id="133" name="Grafik 132" descr="Wasser Silhouette">
            <a:extLst>
              <a:ext uri="{FF2B5EF4-FFF2-40B4-BE49-F238E27FC236}">
                <a16:creationId xmlns:a16="http://schemas.microsoft.com/office/drawing/2014/main" id="{0343DFD9-37BB-7C70-ACDF-62924EA7839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146442" y="1953832"/>
            <a:ext cx="221280" cy="221280"/>
          </a:xfrm>
          <a:prstGeom prst="rect">
            <a:avLst/>
          </a:prstGeom>
        </p:spPr>
      </p:pic>
      <p:pic>
        <p:nvPicPr>
          <p:cNvPr id="134" name="Grafik 133" descr="Wasser Silhouette">
            <a:extLst>
              <a:ext uri="{FF2B5EF4-FFF2-40B4-BE49-F238E27FC236}">
                <a16:creationId xmlns:a16="http://schemas.microsoft.com/office/drawing/2014/main" id="{619817DD-21B7-DBD0-218A-D3F9EE5117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67722" y="2174609"/>
            <a:ext cx="221280" cy="221280"/>
          </a:xfrm>
          <a:prstGeom prst="rect">
            <a:avLst/>
          </a:prstGeom>
        </p:spPr>
      </p:pic>
      <p:pic>
        <p:nvPicPr>
          <p:cNvPr id="135" name="Grafik 134" descr="Wasser Silhouette">
            <a:extLst>
              <a:ext uri="{FF2B5EF4-FFF2-40B4-BE49-F238E27FC236}">
                <a16:creationId xmlns:a16="http://schemas.microsoft.com/office/drawing/2014/main" id="{D8BCDA66-B9FD-3D67-928D-80DC79FB56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543666" y="1935978"/>
            <a:ext cx="221280" cy="221280"/>
          </a:xfrm>
          <a:prstGeom prst="rect">
            <a:avLst/>
          </a:prstGeom>
        </p:spPr>
      </p:pic>
      <p:pic>
        <p:nvPicPr>
          <p:cNvPr id="136" name="Grafik 135" descr="Wasser Silhouette">
            <a:extLst>
              <a:ext uri="{FF2B5EF4-FFF2-40B4-BE49-F238E27FC236}">
                <a16:creationId xmlns:a16="http://schemas.microsoft.com/office/drawing/2014/main" id="{BDA213F5-0372-8DFD-4E92-DF7EDDDE01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19130" y="2350675"/>
            <a:ext cx="221280" cy="221280"/>
          </a:xfrm>
          <a:prstGeom prst="rect">
            <a:avLst/>
          </a:prstGeom>
        </p:spPr>
      </p:pic>
      <p:pic>
        <p:nvPicPr>
          <p:cNvPr id="137" name="Grafik 136" descr="Wasser Silhouette">
            <a:extLst>
              <a:ext uri="{FF2B5EF4-FFF2-40B4-BE49-F238E27FC236}">
                <a16:creationId xmlns:a16="http://schemas.microsoft.com/office/drawing/2014/main" id="{B2DCE0F6-E4DA-2055-DAAB-E7B6E426A8F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30595" y="2566326"/>
            <a:ext cx="221280" cy="221280"/>
          </a:xfrm>
          <a:prstGeom prst="rect">
            <a:avLst/>
          </a:prstGeom>
        </p:spPr>
      </p:pic>
      <p:pic>
        <p:nvPicPr>
          <p:cNvPr id="138" name="Grafik 137" descr="Wasser Silhouette">
            <a:extLst>
              <a:ext uri="{FF2B5EF4-FFF2-40B4-BE49-F238E27FC236}">
                <a16:creationId xmlns:a16="http://schemas.microsoft.com/office/drawing/2014/main" id="{B6016299-62B8-6EE8-D344-62BA20BFFD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142060" y="2368529"/>
            <a:ext cx="221280" cy="221280"/>
          </a:xfrm>
          <a:prstGeom prst="rect">
            <a:avLst/>
          </a:prstGeom>
        </p:spPr>
      </p:pic>
      <p:pic>
        <p:nvPicPr>
          <p:cNvPr id="139" name="Grafik 138" descr="Wasser Silhouette">
            <a:extLst>
              <a:ext uri="{FF2B5EF4-FFF2-40B4-BE49-F238E27FC236}">
                <a16:creationId xmlns:a16="http://schemas.microsoft.com/office/drawing/2014/main" id="{EE3055C1-2956-1932-1A22-F69B7F6B0D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63340" y="2589306"/>
            <a:ext cx="221280" cy="221280"/>
          </a:xfrm>
          <a:prstGeom prst="rect">
            <a:avLst/>
          </a:prstGeom>
        </p:spPr>
      </p:pic>
      <p:pic>
        <p:nvPicPr>
          <p:cNvPr id="140" name="Grafik 139" descr="Wasser Silhouette">
            <a:extLst>
              <a:ext uri="{FF2B5EF4-FFF2-40B4-BE49-F238E27FC236}">
                <a16:creationId xmlns:a16="http://schemas.microsoft.com/office/drawing/2014/main" id="{081D8D2A-C107-FCA5-DCDD-8FB0C3DCE8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539284" y="2350675"/>
            <a:ext cx="221280" cy="221280"/>
          </a:xfrm>
          <a:prstGeom prst="rect">
            <a:avLst/>
          </a:prstGeom>
        </p:spPr>
      </p:pic>
      <p:pic>
        <p:nvPicPr>
          <p:cNvPr id="141" name="Grafik 140" descr="Wasser Silhouette">
            <a:extLst>
              <a:ext uri="{FF2B5EF4-FFF2-40B4-BE49-F238E27FC236}">
                <a16:creationId xmlns:a16="http://schemas.microsoft.com/office/drawing/2014/main" id="{F38844E6-9D46-38E9-A4B9-214B321E16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20507" y="2708561"/>
            <a:ext cx="221280" cy="221280"/>
          </a:xfrm>
          <a:prstGeom prst="rect">
            <a:avLst/>
          </a:prstGeom>
        </p:spPr>
      </p:pic>
      <p:pic>
        <p:nvPicPr>
          <p:cNvPr id="142" name="Grafik 141" descr="Wasser Silhouette">
            <a:extLst>
              <a:ext uri="{FF2B5EF4-FFF2-40B4-BE49-F238E27FC236}">
                <a16:creationId xmlns:a16="http://schemas.microsoft.com/office/drawing/2014/main" id="{9639BA29-90DD-2E67-D227-1F2BA61A7E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31972" y="2924212"/>
            <a:ext cx="221280" cy="221280"/>
          </a:xfrm>
          <a:prstGeom prst="rect">
            <a:avLst/>
          </a:prstGeom>
        </p:spPr>
      </p:pic>
      <p:pic>
        <p:nvPicPr>
          <p:cNvPr id="143" name="Grafik 142" descr="Wasser Silhouette">
            <a:extLst>
              <a:ext uri="{FF2B5EF4-FFF2-40B4-BE49-F238E27FC236}">
                <a16:creationId xmlns:a16="http://schemas.microsoft.com/office/drawing/2014/main" id="{A5A53E9A-B6D6-8B36-3BE7-C7F580B783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143437" y="2726415"/>
            <a:ext cx="221280" cy="221280"/>
          </a:xfrm>
          <a:prstGeom prst="rect">
            <a:avLst/>
          </a:prstGeom>
        </p:spPr>
      </p:pic>
      <p:pic>
        <p:nvPicPr>
          <p:cNvPr id="144" name="Grafik 143" descr="Wasser Silhouette">
            <a:extLst>
              <a:ext uri="{FF2B5EF4-FFF2-40B4-BE49-F238E27FC236}">
                <a16:creationId xmlns:a16="http://schemas.microsoft.com/office/drawing/2014/main" id="{C50ACEDE-E530-7A4B-F3CB-5012AEE44B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64717" y="2947192"/>
            <a:ext cx="221280" cy="221280"/>
          </a:xfrm>
          <a:prstGeom prst="rect">
            <a:avLst/>
          </a:prstGeom>
        </p:spPr>
      </p:pic>
      <p:pic>
        <p:nvPicPr>
          <p:cNvPr id="145" name="Grafik 144" descr="Wasser Silhouette">
            <a:extLst>
              <a:ext uri="{FF2B5EF4-FFF2-40B4-BE49-F238E27FC236}">
                <a16:creationId xmlns:a16="http://schemas.microsoft.com/office/drawing/2014/main" id="{A115C226-33A1-8F1D-BAEA-B8E698B570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540661" y="2708561"/>
            <a:ext cx="221280" cy="221280"/>
          </a:xfrm>
          <a:prstGeom prst="rect">
            <a:avLst/>
          </a:prstGeom>
        </p:spPr>
      </p:pic>
      <p:pic>
        <p:nvPicPr>
          <p:cNvPr id="146" name="Grafik 145" descr="Wasser Silhouette">
            <a:extLst>
              <a:ext uri="{FF2B5EF4-FFF2-40B4-BE49-F238E27FC236}">
                <a16:creationId xmlns:a16="http://schemas.microsoft.com/office/drawing/2014/main" id="{949B5E72-F2F9-7432-5C9B-64DCB6612E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10867" y="3099257"/>
            <a:ext cx="221280" cy="221280"/>
          </a:xfrm>
          <a:prstGeom prst="rect">
            <a:avLst/>
          </a:prstGeom>
        </p:spPr>
      </p:pic>
      <p:pic>
        <p:nvPicPr>
          <p:cNvPr id="147" name="Grafik 146" descr="Wasser Silhouette">
            <a:extLst>
              <a:ext uri="{FF2B5EF4-FFF2-40B4-BE49-F238E27FC236}">
                <a16:creationId xmlns:a16="http://schemas.microsoft.com/office/drawing/2014/main" id="{9451C004-8731-7BB0-5E33-8ECCA8180C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22332" y="3314908"/>
            <a:ext cx="221280" cy="221280"/>
          </a:xfrm>
          <a:prstGeom prst="rect">
            <a:avLst/>
          </a:prstGeom>
        </p:spPr>
      </p:pic>
      <p:pic>
        <p:nvPicPr>
          <p:cNvPr id="148" name="Grafik 147" descr="Wasser Silhouette">
            <a:extLst>
              <a:ext uri="{FF2B5EF4-FFF2-40B4-BE49-F238E27FC236}">
                <a16:creationId xmlns:a16="http://schemas.microsoft.com/office/drawing/2014/main" id="{FB995EE2-6BA8-364D-32B0-6FE51AAFF8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133797" y="3117111"/>
            <a:ext cx="221280" cy="221280"/>
          </a:xfrm>
          <a:prstGeom prst="rect">
            <a:avLst/>
          </a:prstGeom>
        </p:spPr>
      </p:pic>
      <p:pic>
        <p:nvPicPr>
          <p:cNvPr id="149" name="Grafik 148" descr="Wasser Silhouette">
            <a:extLst>
              <a:ext uri="{FF2B5EF4-FFF2-40B4-BE49-F238E27FC236}">
                <a16:creationId xmlns:a16="http://schemas.microsoft.com/office/drawing/2014/main" id="{F18F6044-ACED-7C7D-B145-159C0B0318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55077" y="3337888"/>
            <a:ext cx="221280" cy="221280"/>
          </a:xfrm>
          <a:prstGeom prst="rect">
            <a:avLst/>
          </a:prstGeom>
        </p:spPr>
      </p:pic>
      <p:pic>
        <p:nvPicPr>
          <p:cNvPr id="150" name="Grafik 149" descr="Wasser Silhouette">
            <a:extLst>
              <a:ext uri="{FF2B5EF4-FFF2-40B4-BE49-F238E27FC236}">
                <a16:creationId xmlns:a16="http://schemas.microsoft.com/office/drawing/2014/main" id="{F5A47D9B-E4C1-0A51-6D8A-A6400B6B9C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531021" y="3099257"/>
            <a:ext cx="221280" cy="221280"/>
          </a:xfrm>
          <a:prstGeom prst="rect">
            <a:avLst/>
          </a:prstGeom>
        </p:spPr>
      </p:pic>
      <p:pic>
        <p:nvPicPr>
          <p:cNvPr id="151" name="Grafik 150" descr="Wasser Silhouette">
            <a:extLst>
              <a:ext uri="{FF2B5EF4-FFF2-40B4-BE49-F238E27FC236}">
                <a16:creationId xmlns:a16="http://schemas.microsoft.com/office/drawing/2014/main" id="{49FC1F3F-2C3E-91D9-3722-01F97253F3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25441" y="3502275"/>
            <a:ext cx="221280" cy="221280"/>
          </a:xfrm>
          <a:prstGeom prst="rect">
            <a:avLst/>
          </a:prstGeom>
        </p:spPr>
      </p:pic>
      <p:pic>
        <p:nvPicPr>
          <p:cNvPr id="152" name="Grafik 151" descr="Wasser Silhouette">
            <a:extLst>
              <a:ext uri="{FF2B5EF4-FFF2-40B4-BE49-F238E27FC236}">
                <a16:creationId xmlns:a16="http://schemas.microsoft.com/office/drawing/2014/main" id="{6FCE5DE7-E5DB-F0A0-5B63-1188F4FE32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36906" y="3717926"/>
            <a:ext cx="221280" cy="221280"/>
          </a:xfrm>
          <a:prstGeom prst="rect">
            <a:avLst/>
          </a:prstGeom>
        </p:spPr>
      </p:pic>
      <p:pic>
        <p:nvPicPr>
          <p:cNvPr id="153" name="Grafik 152" descr="Wasser Silhouette">
            <a:extLst>
              <a:ext uri="{FF2B5EF4-FFF2-40B4-BE49-F238E27FC236}">
                <a16:creationId xmlns:a16="http://schemas.microsoft.com/office/drawing/2014/main" id="{9979F947-C854-12BA-0FD2-EA085A93BF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148371" y="3520129"/>
            <a:ext cx="221280" cy="221280"/>
          </a:xfrm>
          <a:prstGeom prst="rect">
            <a:avLst/>
          </a:prstGeom>
        </p:spPr>
      </p:pic>
      <p:pic>
        <p:nvPicPr>
          <p:cNvPr id="154" name="Grafik 153" descr="Wasser Silhouette">
            <a:extLst>
              <a:ext uri="{FF2B5EF4-FFF2-40B4-BE49-F238E27FC236}">
                <a16:creationId xmlns:a16="http://schemas.microsoft.com/office/drawing/2014/main" id="{48CA9598-DF93-BAE2-9AB8-4272C87A2A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69651" y="3740906"/>
            <a:ext cx="221280" cy="221280"/>
          </a:xfrm>
          <a:prstGeom prst="rect">
            <a:avLst/>
          </a:prstGeom>
        </p:spPr>
      </p:pic>
      <p:pic>
        <p:nvPicPr>
          <p:cNvPr id="155" name="Grafik 154" descr="Wasser Silhouette">
            <a:extLst>
              <a:ext uri="{FF2B5EF4-FFF2-40B4-BE49-F238E27FC236}">
                <a16:creationId xmlns:a16="http://schemas.microsoft.com/office/drawing/2014/main" id="{8AEC2F95-EB6A-7776-B7C4-875BFFA763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545595" y="3502275"/>
            <a:ext cx="221280" cy="221280"/>
          </a:xfrm>
          <a:prstGeom prst="rect">
            <a:avLst/>
          </a:prstGeom>
        </p:spPr>
      </p:pic>
      <p:pic>
        <p:nvPicPr>
          <p:cNvPr id="156" name="Grafik 155" descr="Wasser Silhouette">
            <a:extLst>
              <a:ext uri="{FF2B5EF4-FFF2-40B4-BE49-F238E27FC236}">
                <a16:creationId xmlns:a16="http://schemas.microsoft.com/office/drawing/2014/main" id="{99B414FF-3118-155F-1A0F-E81E08BD13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842757" y="2175908"/>
            <a:ext cx="221280" cy="221280"/>
          </a:xfrm>
          <a:prstGeom prst="rect">
            <a:avLst/>
          </a:prstGeom>
        </p:spPr>
      </p:pic>
      <p:pic>
        <p:nvPicPr>
          <p:cNvPr id="157" name="Grafik 156" descr="Wasser Silhouette">
            <a:extLst>
              <a:ext uri="{FF2B5EF4-FFF2-40B4-BE49-F238E27FC236}">
                <a16:creationId xmlns:a16="http://schemas.microsoft.com/office/drawing/2014/main" id="{1407D23F-30EC-14C8-BC81-3F51D0E807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838375" y="2590605"/>
            <a:ext cx="221280" cy="221280"/>
          </a:xfrm>
          <a:prstGeom prst="rect">
            <a:avLst/>
          </a:prstGeom>
        </p:spPr>
      </p:pic>
      <p:pic>
        <p:nvPicPr>
          <p:cNvPr id="158" name="Grafik 157" descr="Wasser Silhouette">
            <a:extLst>
              <a:ext uri="{FF2B5EF4-FFF2-40B4-BE49-F238E27FC236}">
                <a16:creationId xmlns:a16="http://schemas.microsoft.com/office/drawing/2014/main" id="{274E05CF-3A6A-FDE0-3901-7E8F265963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839752" y="2948491"/>
            <a:ext cx="221280" cy="221280"/>
          </a:xfrm>
          <a:prstGeom prst="rect">
            <a:avLst/>
          </a:prstGeom>
        </p:spPr>
      </p:pic>
      <p:pic>
        <p:nvPicPr>
          <p:cNvPr id="159" name="Grafik 158" descr="Wasser Silhouette">
            <a:extLst>
              <a:ext uri="{FF2B5EF4-FFF2-40B4-BE49-F238E27FC236}">
                <a16:creationId xmlns:a16="http://schemas.microsoft.com/office/drawing/2014/main" id="{B2704DD3-376F-A1C6-CF46-52E9E55FDB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830112" y="3339187"/>
            <a:ext cx="221280" cy="221280"/>
          </a:xfrm>
          <a:prstGeom prst="rect">
            <a:avLst/>
          </a:prstGeom>
        </p:spPr>
      </p:pic>
      <p:pic>
        <p:nvPicPr>
          <p:cNvPr id="167" name="Grafik 166" descr="Wasser Silhouette">
            <a:extLst>
              <a:ext uri="{FF2B5EF4-FFF2-40B4-BE49-F238E27FC236}">
                <a16:creationId xmlns:a16="http://schemas.microsoft.com/office/drawing/2014/main" id="{3C9573AF-4C6E-A563-D3F0-1D41CDD16B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154107" y="3821317"/>
            <a:ext cx="221280" cy="221280"/>
          </a:xfrm>
          <a:prstGeom prst="rect">
            <a:avLst/>
          </a:prstGeom>
        </p:spPr>
      </p:pic>
      <p:pic>
        <p:nvPicPr>
          <p:cNvPr id="168" name="Grafik 167" descr="Wasser Silhouette">
            <a:extLst>
              <a:ext uri="{FF2B5EF4-FFF2-40B4-BE49-F238E27FC236}">
                <a16:creationId xmlns:a16="http://schemas.microsoft.com/office/drawing/2014/main" id="{F7781365-157E-BBCB-22D5-CD145327D7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586852" y="3844297"/>
            <a:ext cx="221280" cy="221280"/>
          </a:xfrm>
          <a:prstGeom prst="rect">
            <a:avLst/>
          </a:prstGeom>
        </p:spPr>
      </p:pic>
      <p:pic>
        <p:nvPicPr>
          <p:cNvPr id="169" name="Grafik 168" descr="Wasser Silhouette">
            <a:extLst>
              <a:ext uri="{FF2B5EF4-FFF2-40B4-BE49-F238E27FC236}">
                <a16:creationId xmlns:a16="http://schemas.microsoft.com/office/drawing/2014/main" id="{6F27FE3E-8034-E0CA-4AB1-F2BD9C3742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57216" y="4008684"/>
            <a:ext cx="221280" cy="221280"/>
          </a:xfrm>
          <a:prstGeom prst="rect">
            <a:avLst/>
          </a:prstGeom>
        </p:spPr>
      </p:pic>
      <p:pic>
        <p:nvPicPr>
          <p:cNvPr id="170" name="Grafik 169" descr="Wasser Silhouette">
            <a:extLst>
              <a:ext uri="{FF2B5EF4-FFF2-40B4-BE49-F238E27FC236}">
                <a16:creationId xmlns:a16="http://schemas.microsoft.com/office/drawing/2014/main" id="{8D2538B4-6418-D708-8D27-93A1478D08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168681" y="4224335"/>
            <a:ext cx="221280" cy="221280"/>
          </a:xfrm>
          <a:prstGeom prst="rect">
            <a:avLst/>
          </a:prstGeom>
        </p:spPr>
      </p:pic>
      <p:pic>
        <p:nvPicPr>
          <p:cNvPr id="171" name="Grafik 170" descr="Wasser Silhouette">
            <a:extLst>
              <a:ext uri="{FF2B5EF4-FFF2-40B4-BE49-F238E27FC236}">
                <a16:creationId xmlns:a16="http://schemas.microsoft.com/office/drawing/2014/main" id="{C0C5EC22-2ECE-23F2-8097-41AA03DF4C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80146" y="4026538"/>
            <a:ext cx="221280" cy="221280"/>
          </a:xfrm>
          <a:prstGeom prst="rect">
            <a:avLst/>
          </a:prstGeom>
        </p:spPr>
      </p:pic>
      <p:pic>
        <p:nvPicPr>
          <p:cNvPr id="172" name="Grafik 171" descr="Wasser Silhouette">
            <a:extLst>
              <a:ext uri="{FF2B5EF4-FFF2-40B4-BE49-F238E27FC236}">
                <a16:creationId xmlns:a16="http://schemas.microsoft.com/office/drawing/2014/main" id="{56B5D554-CC27-FF28-06FD-1BCEB9559B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601426" y="4247315"/>
            <a:ext cx="221280" cy="221280"/>
          </a:xfrm>
          <a:prstGeom prst="rect">
            <a:avLst/>
          </a:prstGeom>
        </p:spPr>
      </p:pic>
      <p:pic>
        <p:nvPicPr>
          <p:cNvPr id="173" name="Grafik 172" descr="Wasser Silhouette">
            <a:extLst>
              <a:ext uri="{FF2B5EF4-FFF2-40B4-BE49-F238E27FC236}">
                <a16:creationId xmlns:a16="http://schemas.microsoft.com/office/drawing/2014/main" id="{D69CCD5A-F5F7-BC3B-A041-0EEA8D41F3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777370" y="4008684"/>
            <a:ext cx="221280" cy="221280"/>
          </a:xfrm>
          <a:prstGeom prst="rect">
            <a:avLst/>
          </a:prstGeom>
        </p:spPr>
      </p:pic>
      <p:pic>
        <p:nvPicPr>
          <p:cNvPr id="174" name="Grafik 173" descr="Wasser Silhouette">
            <a:extLst>
              <a:ext uri="{FF2B5EF4-FFF2-40B4-BE49-F238E27FC236}">
                <a16:creationId xmlns:a16="http://schemas.microsoft.com/office/drawing/2014/main" id="{4AE7154E-5AA8-89C2-04F0-D052E5D694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121739" y="3969788"/>
            <a:ext cx="221280" cy="221280"/>
          </a:xfrm>
          <a:prstGeom prst="rect">
            <a:avLst/>
          </a:prstGeom>
        </p:spPr>
      </p:pic>
      <p:pic>
        <p:nvPicPr>
          <p:cNvPr id="175" name="Grafik 174" descr="Wasser Silhouette">
            <a:extLst>
              <a:ext uri="{FF2B5EF4-FFF2-40B4-BE49-F238E27FC236}">
                <a16:creationId xmlns:a16="http://schemas.microsoft.com/office/drawing/2014/main" id="{F511713D-95B7-6F3C-0DCA-AE41A7A947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554484" y="3992768"/>
            <a:ext cx="221280" cy="221280"/>
          </a:xfrm>
          <a:prstGeom prst="rect">
            <a:avLst/>
          </a:prstGeom>
        </p:spPr>
      </p:pic>
      <p:pic>
        <p:nvPicPr>
          <p:cNvPr id="176" name="Grafik 175" descr="Wasser Silhouette">
            <a:extLst>
              <a:ext uri="{FF2B5EF4-FFF2-40B4-BE49-F238E27FC236}">
                <a16:creationId xmlns:a16="http://schemas.microsoft.com/office/drawing/2014/main" id="{3B40E684-9936-FC98-BC85-F291CF4E76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924848" y="4157155"/>
            <a:ext cx="221280" cy="221280"/>
          </a:xfrm>
          <a:prstGeom prst="rect">
            <a:avLst/>
          </a:prstGeom>
        </p:spPr>
      </p:pic>
      <p:pic>
        <p:nvPicPr>
          <p:cNvPr id="177" name="Grafik 176" descr="Wasser Silhouette">
            <a:extLst>
              <a:ext uri="{FF2B5EF4-FFF2-40B4-BE49-F238E27FC236}">
                <a16:creationId xmlns:a16="http://schemas.microsoft.com/office/drawing/2014/main" id="{29B03B09-F12D-2D2B-7184-6F2793B8EF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136313" y="4372806"/>
            <a:ext cx="221280" cy="221280"/>
          </a:xfrm>
          <a:prstGeom prst="rect">
            <a:avLst/>
          </a:prstGeom>
        </p:spPr>
      </p:pic>
      <p:pic>
        <p:nvPicPr>
          <p:cNvPr id="178" name="Grafik 177" descr="Wasser Silhouette">
            <a:extLst>
              <a:ext uri="{FF2B5EF4-FFF2-40B4-BE49-F238E27FC236}">
                <a16:creationId xmlns:a16="http://schemas.microsoft.com/office/drawing/2014/main" id="{ED6CA114-631D-1952-ABDA-E3B3C8188A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347778" y="4175009"/>
            <a:ext cx="221280" cy="221280"/>
          </a:xfrm>
          <a:prstGeom prst="rect">
            <a:avLst/>
          </a:prstGeom>
        </p:spPr>
      </p:pic>
      <p:pic>
        <p:nvPicPr>
          <p:cNvPr id="179" name="Grafik 178" descr="Wasser Silhouette">
            <a:extLst>
              <a:ext uri="{FF2B5EF4-FFF2-40B4-BE49-F238E27FC236}">
                <a16:creationId xmlns:a16="http://schemas.microsoft.com/office/drawing/2014/main" id="{4B067312-899F-6967-5BB3-DD2E0E7FB2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569058" y="4395786"/>
            <a:ext cx="221280" cy="221280"/>
          </a:xfrm>
          <a:prstGeom prst="rect">
            <a:avLst/>
          </a:prstGeom>
        </p:spPr>
      </p:pic>
      <p:pic>
        <p:nvPicPr>
          <p:cNvPr id="180" name="Grafik 179" descr="Wasser Silhouette">
            <a:extLst>
              <a:ext uri="{FF2B5EF4-FFF2-40B4-BE49-F238E27FC236}">
                <a16:creationId xmlns:a16="http://schemas.microsoft.com/office/drawing/2014/main" id="{2C81FC87-03C3-954A-AA01-2D0A88E185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745002" y="4157155"/>
            <a:ext cx="221280" cy="221280"/>
          </a:xfrm>
          <a:prstGeom prst="rect">
            <a:avLst/>
          </a:prstGeom>
        </p:spPr>
      </p:pic>
      <p:pic>
        <p:nvPicPr>
          <p:cNvPr id="181" name="Grafik 180" descr="Wasser Silhouette">
            <a:extLst>
              <a:ext uri="{FF2B5EF4-FFF2-40B4-BE49-F238E27FC236}">
                <a16:creationId xmlns:a16="http://schemas.microsoft.com/office/drawing/2014/main" id="{D74636E0-F542-1A8A-4670-964E91044D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60933" y="4276242"/>
            <a:ext cx="221280" cy="221280"/>
          </a:xfrm>
          <a:prstGeom prst="rect">
            <a:avLst/>
          </a:prstGeom>
        </p:spPr>
      </p:pic>
      <p:pic>
        <p:nvPicPr>
          <p:cNvPr id="182" name="Grafik 181" descr="Wasser Silhouette">
            <a:extLst>
              <a:ext uri="{FF2B5EF4-FFF2-40B4-BE49-F238E27FC236}">
                <a16:creationId xmlns:a16="http://schemas.microsoft.com/office/drawing/2014/main" id="{565361A7-CDB4-D81F-6A0A-19D6BAD765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93678" y="4299222"/>
            <a:ext cx="221280" cy="221280"/>
          </a:xfrm>
          <a:prstGeom prst="rect">
            <a:avLst/>
          </a:prstGeom>
        </p:spPr>
      </p:pic>
      <p:pic>
        <p:nvPicPr>
          <p:cNvPr id="183" name="Grafik 182" descr="Wasser Silhouette">
            <a:extLst>
              <a:ext uri="{FF2B5EF4-FFF2-40B4-BE49-F238E27FC236}">
                <a16:creationId xmlns:a16="http://schemas.microsoft.com/office/drawing/2014/main" id="{3E1F904E-973C-E8A3-B0DF-1CB7EF7281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64042" y="4463609"/>
            <a:ext cx="221280" cy="221280"/>
          </a:xfrm>
          <a:prstGeom prst="rect">
            <a:avLst/>
          </a:prstGeom>
        </p:spPr>
      </p:pic>
      <p:pic>
        <p:nvPicPr>
          <p:cNvPr id="184" name="Grafik 183" descr="Wasser Silhouette">
            <a:extLst>
              <a:ext uri="{FF2B5EF4-FFF2-40B4-BE49-F238E27FC236}">
                <a16:creationId xmlns:a16="http://schemas.microsoft.com/office/drawing/2014/main" id="{07F66681-CE2F-1112-1364-3B91CA27E2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75507" y="4679260"/>
            <a:ext cx="221280" cy="221280"/>
          </a:xfrm>
          <a:prstGeom prst="rect">
            <a:avLst/>
          </a:prstGeom>
        </p:spPr>
      </p:pic>
      <p:pic>
        <p:nvPicPr>
          <p:cNvPr id="185" name="Grafik 184" descr="Wasser Silhouette">
            <a:extLst>
              <a:ext uri="{FF2B5EF4-FFF2-40B4-BE49-F238E27FC236}">
                <a16:creationId xmlns:a16="http://schemas.microsoft.com/office/drawing/2014/main" id="{25CFAF6F-58FB-3981-337D-3F32E0BE79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186972" y="4481463"/>
            <a:ext cx="221280" cy="221280"/>
          </a:xfrm>
          <a:prstGeom prst="rect">
            <a:avLst/>
          </a:prstGeom>
        </p:spPr>
      </p:pic>
      <p:pic>
        <p:nvPicPr>
          <p:cNvPr id="186" name="Grafik 185" descr="Wasser Silhouette">
            <a:extLst>
              <a:ext uri="{FF2B5EF4-FFF2-40B4-BE49-F238E27FC236}">
                <a16:creationId xmlns:a16="http://schemas.microsoft.com/office/drawing/2014/main" id="{FF4F6777-BA85-1DB1-048B-FFAE5FC01E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408252" y="4702240"/>
            <a:ext cx="221280" cy="221280"/>
          </a:xfrm>
          <a:prstGeom prst="rect">
            <a:avLst/>
          </a:prstGeom>
        </p:spPr>
      </p:pic>
      <p:pic>
        <p:nvPicPr>
          <p:cNvPr id="187" name="Grafik 186" descr="Wasser Silhouette">
            <a:extLst>
              <a:ext uri="{FF2B5EF4-FFF2-40B4-BE49-F238E27FC236}">
                <a16:creationId xmlns:a16="http://schemas.microsoft.com/office/drawing/2014/main" id="{123A577E-8E89-1C0C-E422-710DA0A17F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584196" y="4463609"/>
            <a:ext cx="221280" cy="221280"/>
          </a:xfrm>
          <a:prstGeom prst="rect">
            <a:avLst/>
          </a:prstGeom>
        </p:spPr>
      </p:pic>
      <p:pic>
        <p:nvPicPr>
          <p:cNvPr id="188" name="Grafik 187" descr="Wasser Silhouette">
            <a:extLst>
              <a:ext uri="{FF2B5EF4-FFF2-40B4-BE49-F238E27FC236}">
                <a16:creationId xmlns:a16="http://schemas.microsoft.com/office/drawing/2014/main" id="{5DB6EF74-58E6-D2E3-A287-A2A09FA938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38055" y="3859148"/>
            <a:ext cx="221280" cy="221280"/>
          </a:xfrm>
          <a:prstGeom prst="rect">
            <a:avLst/>
          </a:prstGeom>
        </p:spPr>
      </p:pic>
      <p:pic>
        <p:nvPicPr>
          <p:cNvPr id="189" name="Grafik 188" descr="Wasser Silhouette">
            <a:extLst>
              <a:ext uri="{FF2B5EF4-FFF2-40B4-BE49-F238E27FC236}">
                <a16:creationId xmlns:a16="http://schemas.microsoft.com/office/drawing/2014/main" id="{E4F98DB4-AF7F-60A8-FB8C-E66FEB8309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904198" y="3730166"/>
            <a:ext cx="221280" cy="221280"/>
          </a:xfrm>
          <a:prstGeom prst="rect">
            <a:avLst/>
          </a:prstGeom>
        </p:spPr>
      </p:pic>
      <p:pic>
        <p:nvPicPr>
          <p:cNvPr id="3" name="Grafik 2" descr="Wasser Silhouette">
            <a:extLst>
              <a:ext uri="{FF2B5EF4-FFF2-40B4-BE49-F238E27FC236}">
                <a16:creationId xmlns:a16="http://schemas.microsoft.com/office/drawing/2014/main" id="{697E5A72-6D13-5063-8B13-C5A2DEBEA4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018388" y="4675428"/>
            <a:ext cx="221280" cy="221280"/>
          </a:xfrm>
          <a:prstGeom prst="rect">
            <a:avLst/>
          </a:prstGeom>
        </p:spPr>
      </p:pic>
      <p:pic>
        <p:nvPicPr>
          <p:cNvPr id="14" name="Grafik 13" descr="Wasser Silhouette">
            <a:extLst>
              <a:ext uri="{FF2B5EF4-FFF2-40B4-BE49-F238E27FC236}">
                <a16:creationId xmlns:a16="http://schemas.microsoft.com/office/drawing/2014/main" id="{DD327450-6A1F-B02E-009B-16B9B02BE5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572413" y="4691083"/>
            <a:ext cx="221280" cy="221280"/>
          </a:xfrm>
          <a:prstGeom prst="rect">
            <a:avLst/>
          </a:prstGeom>
        </p:spPr>
      </p:pic>
      <p:pic>
        <p:nvPicPr>
          <p:cNvPr id="15" name="Grafik 14" descr="Wasser Silhouette">
            <a:extLst>
              <a:ext uri="{FF2B5EF4-FFF2-40B4-BE49-F238E27FC236}">
                <a16:creationId xmlns:a16="http://schemas.microsoft.com/office/drawing/2014/main" id="{89BE5531-D056-B879-078C-BE59AA9643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857505" y="4404343"/>
            <a:ext cx="221280" cy="221280"/>
          </a:xfrm>
          <a:prstGeom prst="rect">
            <a:avLst/>
          </a:prstGeom>
        </p:spPr>
      </p:pic>
      <p:pic>
        <p:nvPicPr>
          <p:cNvPr id="16" name="Grafik 15" descr="Wasser Silhouette">
            <a:extLst>
              <a:ext uri="{FF2B5EF4-FFF2-40B4-BE49-F238E27FC236}">
                <a16:creationId xmlns:a16="http://schemas.microsoft.com/office/drawing/2014/main" id="{7C6F6BAC-9D9E-55DA-C718-2C936F5855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633940" y="3087334"/>
            <a:ext cx="914400" cy="91440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704404BC-118D-6669-1EC2-47412468DB2C}"/>
              </a:ext>
            </a:extLst>
          </p:cNvPr>
          <p:cNvSpPr txBox="1"/>
          <p:nvPr/>
        </p:nvSpPr>
        <p:spPr>
          <a:xfrm>
            <a:off x="9639299" y="3435306"/>
            <a:ext cx="958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Wasser</a:t>
            </a:r>
          </a:p>
        </p:txBody>
      </p:sp>
      <p:pic>
        <p:nvPicPr>
          <p:cNvPr id="20" name="Grafik 19" descr="Springen mit einfarbiger Füllung">
            <a:extLst>
              <a:ext uri="{FF2B5EF4-FFF2-40B4-BE49-F238E27FC236}">
                <a16:creationId xmlns:a16="http://schemas.microsoft.com/office/drawing/2014/main" id="{2AC30C24-22DA-7C4C-530E-BA6E401A02B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rcRect l="-1572" t="59517" r="1572" b="-7564"/>
          <a:stretch/>
        </p:blipFill>
        <p:spPr>
          <a:xfrm rot="10800000">
            <a:off x="2120767" y="4490871"/>
            <a:ext cx="914400" cy="439346"/>
          </a:xfrm>
          <a:prstGeom prst="rect">
            <a:avLst/>
          </a:prstGeom>
        </p:spPr>
      </p:pic>
      <p:pic>
        <p:nvPicPr>
          <p:cNvPr id="23" name="Grafik 22" descr="Springen mit einfarbiger Füllung">
            <a:extLst>
              <a:ext uri="{FF2B5EF4-FFF2-40B4-BE49-F238E27FC236}">
                <a16:creationId xmlns:a16="http://schemas.microsoft.com/office/drawing/2014/main" id="{E320D910-7E08-470E-D5B7-BF28CE383BD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rcRect l="-1572" t="59517" r="1572" b="-7564"/>
          <a:stretch/>
        </p:blipFill>
        <p:spPr>
          <a:xfrm rot="10800000">
            <a:off x="591938" y="4473017"/>
            <a:ext cx="914400" cy="439346"/>
          </a:xfrm>
          <a:prstGeom prst="rect">
            <a:avLst/>
          </a:prstGeom>
        </p:spPr>
      </p:pic>
      <p:pic>
        <p:nvPicPr>
          <p:cNvPr id="24" name="Grafik 23" descr="Springen mit einfarbiger Füllung">
            <a:extLst>
              <a:ext uri="{FF2B5EF4-FFF2-40B4-BE49-F238E27FC236}">
                <a16:creationId xmlns:a16="http://schemas.microsoft.com/office/drawing/2014/main" id="{D8E25B04-DBA1-80F1-179F-B600F5A04B6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rcRect l="-1572" t="59517" r="1572" b="-7564"/>
          <a:stretch/>
        </p:blipFill>
        <p:spPr>
          <a:xfrm rot="10800000">
            <a:off x="1563321" y="4478396"/>
            <a:ext cx="914400" cy="439346"/>
          </a:xfrm>
          <a:prstGeom prst="rect">
            <a:avLst/>
          </a:prstGeom>
        </p:spPr>
      </p:pic>
      <p:pic>
        <p:nvPicPr>
          <p:cNvPr id="25" name="Grafik 24" descr="Springen mit einfarbiger Füllung">
            <a:extLst>
              <a:ext uri="{FF2B5EF4-FFF2-40B4-BE49-F238E27FC236}">
                <a16:creationId xmlns:a16="http://schemas.microsoft.com/office/drawing/2014/main" id="{CC1D9BBE-F0B1-78C7-52D1-35510D70CD2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rcRect l="-1572" t="59517" r="1572" b="-7564"/>
          <a:stretch/>
        </p:blipFill>
        <p:spPr>
          <a:xfrm rot="10800000" flipH="1">
            <a:off x="974689" y="4473017"/>
            <a:ext cx="914400" cy="439346"/>
          </a:xfrm>
          <a:prstGeom prst="rect">
            <a:avLst/>
          </a:prstGeom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C3A2F7E8-BC7A-FD49-4A95-7DFA7CDD09E4}"/>
              </a:ext>
            </a:extLst>
          </p:cNvPr>
          <p:cNvSpPr/>
          <p:nvPr/>
        </p:nvSpPr>
        <p:spPr>
          <a:xfrm>
            <a:off x="323850" y="4912363"/>
            <a:ext cx="3772146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9524923C-453F-5C25-50CC-609E026BF070}"/>
              </a:ext>
            </a:extLst>
          </p:cNvPr>
          <p:cNvSpPr txBox="1"/>
          <p:nvPr/>
        </p:nvSpPr>
        <p:spPr>
          <a:xfrm>
            <a:off x="7980379" y="9241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Schutz vor: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F3D52E07-262E-A0B0-3542-34E31A9FC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25</a:t>
            </a:fld>
            <a:endParaRPr lang="de-DE" dirty="0"/>
          </a:p>
        </p:txBody>
      </p:sp>
      <p:sp>
        <p:nvSpPr>
          <p:cNvPr id="162" name="Titel 1">
            <a:extLst>
              <a:ext uri="{FF2B5EF4-FFF2-40B4-BE49-F238E27FC236}">
                <a16:creationId xmlns:a16="http://schemas.microsoft.com/office/drawing/2014/main" id="{72705494-7499-38A5-2FE8-A6C50B9C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Vorteile bietet Agri-PV? </a:t>
            </a:r>
            <a:r>
              <a:rPr lang="de-DE" b="1" smtClean="0">
                <a:sym typeface="Wingdings" panose="05000000000000000000" pitchFamily="2" charset="2"/>
              </a:rPr>
              <a:t> Lösung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310483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87A47-21DE-CDAF-EB68-2FAA1C2FE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7F94FF-1452-3AAD-7CD2-86696D15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A68CD34-A98D-21CE-B9EC-9367C4963B92}"/>
              </a:ext>
            </a:extLst>
          </p:cNvPr>
          <p:cNvSpPr/>
          <p:nvPr/>
        </p:nvSpPr>
        <p:spPr>
          <a:xfrm>
            <a:off x="3560389" y="3978519"/>
            <a:ext cx="72000" cy="917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9CF76BF-51D2-B044-4961-094069BB06BE}"/>
              </a:ext>
            </a:extLst>
          </p:cNvPr>
          <p:cNvSpPr/>
          <p:nvPr/>
        </p:nvSpPr>
        <p:spPr>
          <a:xfrm>
            <a:off x="7030828" y="3394951"/>
            <a:ext cx="93690" cy="15091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Pflanze Silhouette">
            <a:extLst>
              <a:ext uri="{FF2B5EF4-FFF2-40B4-BE49-F238E27FC236}">
                <a16:creationId xmlns:a16="http://schemas.microsoft.com/office/drawing/2014/main" id="{9D20A1D1-F990-A2CE-5242-2CC6F8D51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8600" y="4177286"/>
            <a:ext cx="830483" cy="830483"/>
          </a:xfrm>
          <a:prstGeom prst="rect">
            <a:avLst/>
          </a:prstGeom>
        </p:spPr>
      </p:pic>
      <p:pic>
        <p:nvPicPr>
          <p:cNvPr id="9" name="Grafik 8" descr="Sonnenblumen Silhouette">
            <a:extLst>
              <a:ext uri="{FF2B5EF4-FFF2-40B4-BE49-F238E27FC236}">
                <a16:creationId xmlns:a16="http://schemas.microsoft.com/office/drawing/2014/main" id="{8C91213F-41FB-CF5E-3353-2DBBAC3678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1469" y="4064918"/>
            <a:ext cx="914400" cy="914400"/>
          </a:xfrm>
          <a:prstGeom prst="rect">
            <a:avLst/>
          </a:prstGeom>
        </p:spPr>
      </p:pic>
      <p:pic>
        <p:nvPicPr>
          <p:cNvPr id="10" name="Grafik 9" descr="Pflanze Silhouette">
            <a:extLst>
              <a:ext uri="{FF2B5EF4-FFF2-40B4-BE49-F238E27FC236}">
                <a16:creationId xmlns:a16="http://schemas.microsoft.com/office/drawing/2014/main" id="{D79CF3C9-3B9B-E427-6F9A-0F62F5866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0971" y="4157312"/>
            <a:ext cx="830483" cy="830483"/>
          </a:xfrm>
          <a:prstGeom prst="rect">
            <a:avLst/>
          </a:prstGeom>
        </p:spPr>
      </p:pic>
      <p:pic>
        <p:nvPicPr>
          <p:cNvPr id="11" name="Grafik 10" descr="Pflanze Silhouette">
            <a:extLst>
              <a:ext uri="{FF2B5EF4-FFF2-40B4-BE49-F238E27FC236}">
                <a16:creationId xmlns:a16="http://schemas.microsoft.com/office/drawing/2014/main" id="{09EFB61A-8BFA-9662-68E5-D6F999586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23342" y="4177286"/>
            <a:ext cx="830483" cy="830483"/>
          </a:xfrm>
          <a:prstGeom prst="rect">
            <a:avLst/>
          </a:prstGeom>
        </p:spPr>
      </p:pic>
      <p:pic>
        <p:nvPicPr>
          <p:cNvPr id="12" name="Grafik 11" descr="Sonnenblumen Silhouette">
            <a:extLst>
              <a:ext uri="{FF2B5EF4-FFF2-40B4-BE49-F238E27FC236}">
                <a16:creationId xmlns:a16="http://schemas.microsoft.com/office/drawing/2014/main" id="{B37B0D4E-A5BA-A96C-B0C0-151CBC29F3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4732" y="4064918"/>
            <a:ext cx="914400" cy="9144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CEFAA566-F48E-A0BC-8C5E-D977E037DCDD}"/>
              </a:ext>
            </a:extLst>
          </p:cNvPr>
          <p:cNvSpPr/>
          <p:nvPr/>
        </p:nvSpPr>
        <p:spPr>
          <a:xfrm>
            <a:off x="2988000" y="4912363"/>
            <a:ext cx="4680000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0" name="Grafik 49" descr="Sonnenblumen Silhouette">
            <a:extLst>
              <a:ext uri="{FF2B5EF4-FFF2-40B4-BE49-F238E27FC236}">
                <a16:creationId xmlns:a16="http://schemas.microsoft.com/office/drawing/2014/main" id="{5B6ED168-EA64-ACE5-244F-D6AA124EEE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611" y="4057783"/>
            <a:ext cx="914400" cy="914400"/>
          </a:xfrm>
          <a:prstGeom prst="rect">
            <a:avLst/>
          </a:prstGeom>
          <a:effectLst/>
        </p:spPr>
      </p:pic>
      <p:pic>
        <p:nvPicPr>
          <p:cNvPr id="51" name="Grafik 50" descr="Pflanze Silhouette">
            <a:extLst>
              <a:ext uri="{FF2B5EF4-FFF2-40B4-BE49-F238E27FC236}">
                <a16:creationId xmlns:a16="http://schemas.microsoft.com/office/drawing/2014/main" id="{B0C0F5A1-4564-BF65-BE1A-7F321BE1F6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31113" y="4170151"/>
            <a:ext cx="830483" cy="830483"/>
          </a:xfrm>
          <a:prstGeom prst="rect">
            <a:avLst/>
          </a:prstGeom>
          <a:effectLst/>
        </p:spPr>
      </p:pic>
      <p:pic>
        <p:nvPicPr>
          <p:cNvPr id="52" name="Grafik 51" descr="Pflanze Silhouette">
            <a:extLst>
              <a:ext uri="{FF2B5EF4-FFF2-40B4-BE49-F238E27FC236}">
                <a16:creationId xmlns:a16="http://schemas.microsoft.com/office/drawing/2014/main" id="{94123C3E-9F09-33D6-CACC-99C7A9C281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53484" y="4170151"/>
            <a:ext cx="830483" cy="830483"/>
          </a:xfrm>
          <a:prstGeom prst="rect">
            <a:avLst/>
          </a:prstGeom>
          <a:effectLst/>
        </p:spPr>
      </p:pic>
      <p:pic>
        <p:nvPicPr>
          <p:cNvPr id="191" name="Grafik 190" descr="Windig Silhouette">
            <a:extLst>
              <a:ext uri="{FF2B5EF4-FFF2-40B4-BE49-F238E27FC236}">
                <a16:creationId xmlns:a16="http://schemas.microsoft.com/office/drawing/2014/main" id="{68D4D97B-F9C6-293A-A1B3-7257AE45ED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33941" y="1179160"/>
            <a:ext cx="914400" cy="914400"/>
          </a:xfrm>
          <a:prstGeom prst="rect">
            <a:avLst/>
          </a:prstGeom>
        </p:spPr>
      </p:pic>
      <p:pic>
        <p:nvPicPr>
          <p:cNvPr id="192" name="Grafik 191" descr="Schneeflocke Silhouette">
            <a:extLst>
              <a:ext uri="{FF2B5EF4-FFF2-40B4-BE49-F238E27FC236}">
                <a16:creationId xmlns:a16="http://schemas.microsoft.com/office/drawing/2014/main" id="{C72D0B71-3767-C26C-046E-AF31186CF89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33941" y="2093558"/>
            <a:ext cx="914399" cy="914399"/>
          </a:xfrm>
          <a:prstGeom prst="rect">
            <a:avLst/>
          </a:prstGeom>
        </p:spPr>
      </p:pic>
      <p:sp>
        <p:nvSpPr>
          <p:cNvPr id="193" name="Textfeld 192">
            <a:extLst>
              <a:ext uri="{FF2B5EF4-FFF2-40B4-BE49-F238E27FC236}">
                <a16:creationId xmlns:a16="http://schemas.microsoft.com/office/drawing/2014/main" id="{83E65C59-77D1-E666-ED45-FB65DC9217C5}"/>
              </a:ext>
            </a:extLst>
          </p:cNvPr>
          <p:cNvSpPr txBox="1"/>
          <p:nvPr/>
        </p:nvSpPr>
        <p:spPr>
          <a:xfrm>
            <a:off x="9639300" y="145169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Wind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3A21182F-7DAE-63C2-5F3B-75D2D6514FAC}"/>
              </a:ext>
            </a:extLst>
          </p:cNvPr>
          <p:cNvSpPr txBox="1"/>
          <p:nvPr/>
        </p:nvSpPr>
        <p:spPr>
          <a:xfrm>
            <a:off x="9639299" y="2366091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Schnee &amp; Hagel</a:t>
            </a:r>
          </a:p>
        </p:txBody>
      </p:sp>
      <p:pic>
        <p:nvPicPr>
          <p:cNvPr id="16" name="Grafik 15" descr="Wasser Silhouette">
            <a:extLst>
              <a:ext uri="{FF2B5EF4-FFF2-40B4-BE49-F238E27FC236}">
                <a16:creationId xmlns:a16="http://schemas.microsoft.com/office/drawing/2014/main" id="{37A145AB-2080-179D-D481-61EFE8E36AB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8633940" y="3087334"/>
            <a:ext cx="914400" cy="91440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AA779FEA-E1C8-6591-E328-FD79DE63DC31}"/>
              </a:ext>
            </a:extLst>
          </p:cNvPr>
          <p:cNvSpPr txBox="1"/>
          <p:nvPr/>
        </p:nvSpPr>
        <p:spPr>
          <a:xfrm>
            <a:off x="9639299" y="3435306"/>
            <a:ext cx="958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Wasser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6D2231FE-44DA-1EC8-4C83-75EFC9769BBE}"/>
              </a:ext>
            </a:extLst>
          </p:cNvPr>
          <p:cNvSpPr/>
          <p:nvPr/>
        </p:nvSpPr>
        <p:spPr>
          <a:xfrm>
            <a:off x="323850" y="4912363"/>
            <a:ext cx="3772146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03A33A8-F0AC-39BD-BCCC-B840DD72DC87}"/>
              </a:ext>
            </a:extLst>
          </p:cNvPr>
          <p:cNvSpPr txBox="1"/>
          <p:nvPr/>
        </p:nvSpPr>
        <p:spPr>
          <a:xfrm>
            <a:off x="7980379" y="9241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Schutz vor:</a:t>
            </a:r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DED55331-678F-63FF-1E28-87A064DB1743}"/>
              </a:ext>
            </a:extLst>
          </p:cNvPr>
          <p:cNvSpPr/>
          <p:nvPr/>
        </p:nvSpPr>
        <p:spPr>
          <a:xfrm>
            <a:off x="690973" y="1287975"/>
            <a:ext cx="436601" cy="3708381"/>
          </a:xfrm>
          <a:prstGeom prst="trapezoid">
            <a:avLst/>
          </a:prstGeom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ADAB0E93-670B-CF8D-38FB-EFC7850A3D96}"/>
              </a:ext>
            </a:extLst>
          </p:cNvPr>
          <p:cNvSpPr/>
          <p:nvPr/>
        </p:nvSpPr>
        <p:spPr>
          <a:xfrm rot="20728032">
            <a:off x="1260841" y="1300671"/>
            <a:ext cx="436601" cy="3708381"/>
          </a:xfrm>
          <a:prstGeom prst="trapezoid">
            <a:avLst/>
          </a:prstGeom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rapezoid 27">
            <a:extLst>
              <a:ext uri="{FF2B5EF4-FFF2-40B4-BE49-F238E27FC236}">
                <a16:creationId xmlns:a16="http://schemas.microsoft.com/office/drawing/2014/main" id="{14ABB444-1FF9-806E-EAD3-6BB319200EF3}"/>
              </a:ext>
            </a:extLst>
          </p:cNvPr>
          <p:cNvSpPr/>
          <p:nvPr/>
        </p:nvSpPr>
        <p:spPr>
          <a:xfrm rot="20107896">
            <a:off x="1653663" y="1105152"/>
            <a:ext cx="436601" cy="4049170"/>
          </a:xfrm>
          <a:prstGeom prst="trapezoid">
            <a:avLst/>
          </a:prstGeom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rapezoid 29">
            <a:extLst>
              <a:ext uri="{FF2B5EF4-FFF2-40B4-BE49-F238E27FC236}">
                <a16:creationId xmlns:a16="http://schemas.microsoft.com/office/drawing/2014/main" id="{6881928C-7EFB-4136-FA55-C794F44C932D}"/>
              </a:ext>
            </a:extLst>
          </p:cNvPr>
          <p:cNvSpPr/>
          <p:nvPr/>
        </p:nvSpPr>
        <p:spPr>
          <a:xfrm rot="21136763">
            <a:off x="1004094" y="1513728"/>
            <a:ext cx="436601" cy="3513068"/>
          </a:xfrm>
          <a:prstGeom prst="trapezoid">
            <a:avLst/>
          </a:prstGeom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rapezoid 30">
            <a:extLst>
              <a:ext uri="{FF2B5EF4-FFF2-40B4-BE49-F238E27FC236}">
                <a16:creationId xmlns:a16="http://schemas.microsoft.com/office/drawing/2014/main" id="{BCBCF9AD-6B01-1BF4-BFA3-A711B3B163D5}"/>
              </a:ext>
            </a:extLst>
          </p:cNvPr>
          <p:cNvSpPr/>
          <p:nvPr/>
        </p:nvSpPr>
        <p:spPr>
          <a:xfrm rot="18901555">
            <a:off x="2014344" y="566164"/>
            <a:ext cx="436601" cy="4049170"/>
          </a:xfrm>
          <a:prstGeom prst="trapezoid">
            <a:avLst/>
          </a:prstGeom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rapezoid 31">
            <a:extLst>
              <a:ext uri="{FF2B5EF4-FFF2-40B4-BE49-F238E27FC236}">
                <a16:creationId xmlns:a16="http://schemas.microsoft.com/office/drawing/2014/main" id="{F81BE7DC-5243-A82B-973F-FFBB4CCD6B1A}"/>
              </a:ext>
            </a:extLst>
          </p:cNvPr>
          <p:cNvSpPr/>
          <p:nvPr/>
        </p:nvSpPr>
        <p:spPr>
          <a:xfrm rot="18385616">
            <a:off x="2364327" y="497678"/>
            <a:ext cx="436601" cy="4232448"/>
          </a:xfrm>
          <a:prstGeom prst="trapezoid">
            <a:avLst/>
          </a:prstGeom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9C0F6D57-4E32-A814-5F43-6C5EA22C7976}"/>
              </a:ext>
            </a:extLst>
          </p:cNvPr>
          <p:cNvSpPr/>
          <p:nvPr/>
        </p:nvSpPr>
        <p:spPr>
          <a:xfrm rot="19483890">
            <a:off x="2094894" y="935369"/>
            <a:ext cx="436601" cy="4413817"/>
          </a:xfrm>
          <a:prstGeom prst="trapezoid">
            <a:avLst/>
          </a:prstGeom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rapezoid 33">
            <a:extLst>
              <a:ext uri="{FF2B5EF4-FFF2-40B4-BE49-F238E27FC236}">
                <a16:creationId xmlns:a16="http://schemas.microsoft.com/office/drawing/2014/main" id="{134C47FF-0414-8A1D-E5B8-A72D1BDC0090}"/>
              </a:ext>
            </a:extLst>
          </p:cNvPr>
          <p:cNvSpPr/>
          <p:nvPr/>
        </p:nvSpPr>
        <p:spPr>
          <a:xfrm rot="17832183">
            <a:off x="2784357" y="-142940"/>
            <a:ext cx="436601" cy="5171112"/>
          </a:xfrm>
          <a:prstGeom prst="trapezoid">
            <a:avLst/>
          </a:prstGeom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Trapezoid 34">
            <a:extLst>
              <a:ext uri="{FF2B5EF4-FFF2-40B4-BE49-F238E27FC236}">
                <a16:creationId xmlns:a16="http://schemas.microsoft.com/office/drawing/2014/main" id="{903BFC1C-9580-2A61-AB78-D648A57847FE}"/>
              </a:ext>
            </a:extLst>
          </p:cNvPr>
          <p:cNvSpPr/>
          <p:nvPr/>
        </p:nvSpPr>
        <p:spPr>
          <a:xfrm rot="17319468">
            <a:off x="3666558" y="-633800"/>
            <a:ext cx="436601" cy="6057390"/>
          </a:xfrm>
          <a:prstGeom prst="trapezoid">
            <a:avLst/>
          </a:prstGeom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rapezoid 35">
            <a:extLst>
              <a:ext uri="{FF2B5EF4-FFF2-40B4-BE49-F238E27FC236}">
                <a16:creationId xmlns:a16="http://schemas.microsoft.com/office/drawing/2014/main" id="{B10D5E90-FA35-E464-FEF5-2F5FF387EA41}"/>
              </a:ext>
            </a:extLst>
          </p:cNvPr>
          <p:cNvSpPr/>
          <p:nvPr/>
        </p:nvSpPr>
        <p:spPr>
          <a:xfrm rot="17126248">
            <a:off x="3831188" y="-1598129"/>
            <a:ext cx="387806" cy="7596584"/>
          </a:xfrm>
          <a:prstGeom prst="trapezoid">
            <a:avLst/>
          </a:prstGeom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7" name="Grafik 36" descr="dunkel (kleinere Sonne) Silhouette">
            <a:extLst>
              <a:ext uri="{FF2B5EF4-FFF2-40B4-BE49-F238E27FC236}">
                <a16:creationId xmlns:a16="http://schemas.microsoft.com/office/drawing/2014/main" id="{76F6567A-FE2C-A702-E9DE-A9FA2208441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80058" y="3818746"/>
            <a:ext cx="1457471" cy="1457471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9E194D73-A320-B29F-7BE7-B22A5CC2C4DD}"/>
              </a:ext>
            </a:extLst>
          </p:cNvPr>
          <p:cNvSpPr txBox="1"/>
          <p:nvPr/>
        </p:nvSpPr>
        <p:spPr>
          <a:xfrm>
            <a:off x="9639298" y="4387887"/>
            <a:ext cx="23812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Sonneneinstrahlung</a:t>
            </a:r>
          </a:p>
          <a:p>
            <a:r>
              <a:rPr lang="de-DE" sz="1200" dirty="0">
                <a:sym typeface="Wingdings" panose="05000000000000000000" pitchFamily="2" charset="2"/>
              </a:rPr>
              <a:t> Geringerer Wasserverbrauch</a:t>
            </a:r>
            <a:endParaRPr lang="de-DE" sz="120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8504F92-B604-293A-5163-C296BE1E53BF}"/>
              </a:ext>
            </a:extLst>
          </p:cNvPr>
          <p:cNvSpPr/>
          <p:nvPr/>
        </p:nvSpPr>
        <p:spPr>
          <a:xfrm rot="4809774">
            <a:off x="5347595" y="1500732"/>
            <a:ext cx="73542" cy="4388650"/>
          </a:xfrm>
          <a:prstGeom prst="rect">
            <a:avLst/>
          </a:prstGeom>
          <a:pattFill prst="narHorz">
            <a:fgClr>
              <a:schemeClr val="accent6"/>
            </a:fgClr>
            <a:bgClr>
              <a:schemeClr val="bg1"/>
            </a:bgClr>
          </a:patt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rapezoid 40">
            <a:extLst>
              <a:ext uri="{FF2B5EF4-FFF2-40B4-BE49-F238E27FC236}">
                <a16:creationId xmlns:a16="http://schemas.microsoft.com/office/drawing/2014/main" id="{2FA4795E-88A1-B627-78C1-D20F50663BE1}"/>
              </a:ext>
            </a:extLst>
          </p:cNvPr>
          <p:cNvSpPr/>
          <p:nvPr/>
        </p:nvSpPr>
        <p:spPr>
          <a:xfrm rot="18385616">
            <a:off x="3149132" y="280166"/>
            <a:ext cx="536922" cy="5855039"/>
          </a:xfrm>
          <a:prstGeom prst="trapezoid">
            <a:avLst/>
          </a:prstGeom>
          <a:solidFill>
            <a:schemeClr val="accent1">
              <a:alpha val="40000"/>
            </a:schemeClr>
          </a:soli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Trapezoid 41">
            <a:extLst>
              <a:ext uri="{FF2B5EF4-FFF2-40B4-BE49-F238E27FC236}">
                <a16:creationId xmlns:a16="http://schemas.microsoft.com/office/drawing/2014/main" id="{DA916312-A414-539F-ED15-34FCE808E39B}"/>
              </a:ext>
            </a:extLst>
          </p:cNvPr>
          <p:cNvSpPr/>
          <p:nvPr/>
        </p:nvSpPr>
        <p:spPr>
          <a:xfrm rot="18901555">
            <a:off x="2529814" y="550830"/>
            <a:ext cx="478734" cy="5093993"/>
          </a:xfrm>
          <a:prstGeom prst="trapezoid">
            <a:avLst/>
          </a:prstGeom>
          <a:solidFill>
            <a:schemeClr val="accent1">
              <a:alpha val="40000"/>
            </a:schemeClr>
          </a:soli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id="{B5486BF2-91EC-E905-604F-EA6D4F22CF0B}"/>
              </a:ext>
            </a:extLst>
          </p:cNvPr>
          <p:cNvSpPr/>
          <p:nvPr/>
        </p:nvSpPr>
        <p:spPr>
          <a:xfrm rot="17832183">
            <a:off x="3708409" y="-519249"/>
            <a:ext cx="531166" cy="6964064"/>
          </a:xfrm>
          <a:prstGeom prst="trapezoid">
            <a:avLst/>
          </a:prstGeom>
          <a:solidFill>
            <a:schemeClr val="accent1">
              <a:alpha val="40000"/>
            </a:schemeClr>
          </a:soli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Trapezoid 43">
            <a:extLst>
              <a:ext uri="{FF2B5EF4-FFF2-40B4-BE49-F238E27FC236}">
                <a16:creationId xmlns:a16="http://schemas.microsoft.com/office/drawing/2014/main" id="{481FA135-0645-01F4-761E-D90C299DCCA5}"/>
              </a:ext>
            </a:extLst>
          </p:cNvPr>
          <p:cNvSpPr/>
          <p:nvPr/>
        </p:nvSpPr>
        <p:spPr>
          <a:xfrm rot="17319468">
            <a:off x="4143166" y="-763439"/>
            <a:ext cx="520285" cy="6757642"/>
          </a:xfrm>
          <a:prstGeom prst="trapezoid">
            <a:avLst/>
          </a:prstGeom>
          <a:solidFill>
            <a:schemeClr val="accent1">
              <a:alpha val="40000"/>
            </a:schemeClr>
          </a:soli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 descr="dunkel (kleinere Sonne) Silhouette">
            <a:extLst>
              <a:ext uri="{FF2B5EF4-FFF2-40B4-BE49-F238E27FC236}">
                <a16:creationId xmlns:a16="http://schemas.microsoft.com/office/drawing/2014/main" id="{03169B09-F940-A202-E1E6-24B35648D4E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1849" y="743766"/>
            <a:ext cx="1457471" cy="1457471"/>
          </a:xfrm>
          <a:prstGeom prst="rect">
            <a:avLst/>
          </a:prstGeom>
        </p:spPr>
      </p:pic>
      <p:sp>
        <p:nvSpPr>
          <p:cNvPr id="98" name="Ellipse 97">
            <a:extLst>
              <a:ext uri="{FF2B5EF4-FFF2-40B4-BE49-F238E27FC236}">
                <a16:creationId xmlns:a16="http://schemas.microsoft.com/office/drawing/2014/main" id="{E56C8F7F-ACB4-A6BA-CB73-E72122D4A8B8}"/>
              </a:ext>
            </a:extLst>
          </p:cNvPr>
          <p:cNvSpPr/>
          <p:nvPr/>
        </p:nvSpPr>
        <p:spPr>
          <a:xfrm>
            <a:off x="799662" y="1293466"/>
            <a:ext cx="366091" cy="35936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3F32FF7-1DE5-6A12-984C-D77096F5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26</a:t>
            </a:fld>
            <a:endParaRPr lang="de-DE" dirty="0"/>
          </a:p>
        </p:txBody>
      </p:sp>
      <p:sp>
        <p:nvSpPr>
          <p:cNvPr id="48" name="Titel 1">
            <a:extLst>
              <a:ext uri="{FF2B5EF4-FFF2-40B4-BE49-F238E27FC236}">
                <a16:creationId xmlns:a16="http://schemas.microsoft.com/office/drawing/2014/main" id="{72705494-7499-38A5-2FE8-A6C50B9C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Vorteile bietet Agri-PV? </a:t>
            </a:r>
            <a:r>
              <a:rPr lang="de-DE" b="1" smtClean="0">
                <a:sym typeface="Wingdings" panose="05000000000000000000" pitchFamily="2" charset="2"/>
              </a:rPr>
              <a:t> Lösung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17731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D2F6-2BDE-76BB-D991-9D59F4438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592CB-C398-08BE-3139-BF6D25D5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FCBC6D7-4859-44EF-0F07-BEAD1E59CCD8}"/>
              </a:ext>
            </a:extLst>
          </p:cNvPr>
          <p:cNvSpPr/>
          <p:nvPr/>
        </p:nvSpPr>
        <p:spPr>
          <a:xfrm>
            <a:off x="3560389" y="3978519"/>
            <a:ext cx="72000" cy="917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20D7CF3-FF76-4378-64B2-4CFF0AA7D93F}"/>
              </a:ext>
            </a:extLst>
          </p:cNvPr>
          <p:cNvSpPr/>
          <p:nvPr/>
        </p:nvSpPr>
        <p:spPr>
          <a:xfrm>
            <a:off x="7030828" y="3394951"/>
            <a:ext cx="93690" cy="15091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Pflanze Silhouette">
            <a:extLst>
              <a:ext uri="{FF2B5EF4-FFF2-40B4-BE49-F238E27FC236}">
                <a16:creationId xmlns:a16="http://schemas.microsoft.com/office/drawing/2014/main" id="{2B9B681C-0333-55E9-AD59-FEA0C0AD2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600" y="4177286"/>
            <a:ext cx="830483" cy="830483"/>
          </a:xfrm>
          <a:prstGeom prst="rect">
            <a:avLst/>
          </a:prstGeom>
        </p:spPr>
      </p:pic>
      <p:pic>
        <p:nvPicPr>
          <p:cNvPr id="9" name="Grafik 8" descr="Sonnenblumen Silhouette">
            <a:extLst>
              <a:ext uri="{FF2B5EF4-FFF2-40B4-BE49-F238E27FC236}">
                <a16:creationId xmlns:a16="http://schemas.microsoft.com/office/drawing/2014/main" id="{0B9F2239-14C1-57D7-35CF-0798055C2A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1469" y="4064918"/>
            <a:ext cx="914400" cy="914400"/>
          </a:xfrm>
          <a:prstGeom prst="rect">
            <a:avLst/>
          </a:prstGeom>
        </p:spPr>
      </p:pic>
      <p:pic>
        <p:nvPicPr>
          <p:cNvPr id="10" name="Grafik 9" descr="Pflanze Silhouette">
            <a:extLst>
              <a:ext uri="{FF2B5EF4-FFF2-40B4-BE49-F238E27FC236}">
                <a16:creationId xmlns:a16="http://schemas.microsoft.com/office/drawing/2014/main" id="{70CDB3BC-5B42-E775-E530-DAA68BFDF7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971" y="4157312"/>
            <a:ext cx="830483" cy="830483"/>
          </a:xfrm>
          <a:prstGeom prst="rect">
            <a:avLst/>
          </a:prstGeom>
        </p:spPr>
      </p:pic>
      <p:pic>
        <p:nvPicPr>
          <p:cNvPr id="11" name="Grafik 10" descr="Pflanze Silhouette">
            <a:extLst>
              <a:ext uri="{FF2B5EF4-FFF2-40B4-BE49-F238E27FC236}">
                <a16:creationId xmlns:a16="http://schemas.microsoft.com/office/drawing/2014/main" id="{DFB92F8D-EBDB-6FDC-1224-A7ACE152E2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3342" y="4177286"/>
            <a:ext cx="830483" cy="830483"/>
          </a:xfrm>
          <a:prstGeom prst="rect">
            <a:avLst/>
          </a:prstGeom>
        </p:spPr>
      </p:pic>
      <p:pic>
        <p:nvPicPr>
          <p:cNvPr id="12" name="Grafik 11" descr="Sonnenblumen Silhouette">
            <a:extLst>
              <a:ext uri="{FF2B5EF4-FFF2-40B4-BE49-F238E27FC236}">
                <a16:creationId xmlns:a16="http://schemas.microsoft.com/office/drawing/2014/main" id="{67A6E4E6-9F3C-793B-251F-7DF02E6CD4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4732" y="4064918"/>
            <a:ext cx="914400" cy="9144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6A44B105-7541-2346-B931-87CBC836ABCB}"/>
              </a:ext>
            </a:extLst>
          </p:cNvPr>
          <p:cNvSpPr/>
          <p:nvPr/>
        </p:nvSpPr>
        <p:spPr>
          <a:xfrm>
            <a:off x="2988000" y="4912363"/>
            <a:ext cx="4680000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0" name="Grafik 49" descr="Sonnenblumen Silhouette">
            <a:extLst>
              <a:ext uri="{FF2B5EF4-FFF2-40B4-BE49-F238E27FC236}">
                <a16:creationId xmlns:a16="http://schemas.microsoft.com/office/drawing/2014/main" id="{FA2DE013-2555-C2D5-C2B1-E7C2EDEAB5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611" y="4057783"/>
            <a:ext cx="914400" cy="914400"/>
          </a:xfrm>
          <a:prstGeom prst="rect">
            <a:avLst/>
          </a:prstGeom>
          <a:effectLst/>
        </p:spPr>
      </p:pic>
      <p:pic>
        <p:nvPicPr>
          <p:cNvPr id="51" name="Grafik 50" descr="Pflanze Silhouette">
            <a:extLst>
              <a:ext uri="{FF2B5EF4-FFF2-40B4-BE49-F238E27FC236}">
                <a16:creationId xmlns:a16="http://schemas.microsoft.com/office/drawing/2014/main" id="{A06BE7E9-F42E-D9E5-1BDB-3F3EF794C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1113" y="4170151"/>
            <a:ext cx="830483" cy="830483"/>
          </a:xfrm>
          <a:prstGeom prst="rect">
            <a:avLst/>
          </a:prstGeom>
          <a:effectLst/>
        </p:spPr>
      </p:pic>
      <p:pic>
        <p:nvPicPr>
          <p:cNvPr id="52" name="Grafik 51" descr="Pflanze Silhouette">
            <a:extLst>
              <a:ext uri="{FF2B5EF4-FFF2-40B4-BE49-F238E27FC236}">
                <a16:creationId xmlns:a16="http://schemas.microsoft.com/office/drawing/2014/main" id="{E770932A-C773-9B91-8595-126EB9CD9E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3484" y="4170151"/>
            <a:ext cx="830483" cy="830483"/>
          </a:xfrm>
          <a:prstGeom prst="rect">
            <a:avLst/>
          </a:prstGeom>
          <a:effectLst/>
        </p:spPr>
      </p:pic>
      <p:pic>
        <p:nvPicPr>
          <p:cNvPr id="191" name="Grafik 190" descr="Windig Silhouette">
            <a:extLst>
              <a:ext uri="{FF2B5EF4-FFF2-40B4-BE49-F238E27FC236}">
                <a16:creationId xmlns:a16="http://schemas.microsoft.com/office/drawing/2014/main" id="{512EBC7F-E4D9-F0E3-A78C-346DA3A0FF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81033" y="1108800"/>
            <a:ext cx="452608" cy="452608"/>
          </a:xfrm>
          <a:prstGeom prst="rect">
            <a:avLst/>
          </a:prstGeom>
        </p:spPr>
      </p:pic>
      <p:pic>
        <p:nvPicPr>
          <p:cNvPr id="192" name="Grafik 191" descr="Schneeflocke Silhouette">
            <a:extLst>
              <a:ext uri="{FF2B5EF4-FFF2-40B4-BE49-F238E27FC236}">
                <a16:creationId xmlns:a16="http://schemas.microsoft.com/office/drawing/2014/main" id="{6F170CF8-7E3F-E2CB-5F6F-798F857859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81032" y="1548723"/>
            <a:ext cx="452608" cy="452608"/>
          </a:xfrm>
          <a:prstGeom prst="rect">
            <a:avLst/>
          </a:prstGeom>
        </p:spPr>
      </p:pic>
      <p:sp>
        <p:nvSpPr>
          <p:cNvPr id="193" name="Textfeld 192">
            <a:extLst>
              <a:ext uri="{FF2B5EF4-FFF2-40B4-BE49-F238E27FC236}">
                <a16:creationId xmlns:a16="http://schemas.microsoft.com/office/drawing/2014/main" id="{B7F342BD-7FA2-C60B-280E-2C6EDB0C918B}"/>
              </a:ext>
            </a:extLst>
          </p:cNvPr>
          <p:cNvSpPr txBox="1"/>
          <p:nvPr/>
        </p:nvSpPr>
        <p:spPr>
          <a:xfrm>
            <a:off x="9342582" y="1201304"/>
            <a:ext cx="593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Wind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43490940-E5BC-0CE3-3839-2DC45B6F9AC3}"/>
              </a:ext>
            </a:extLst>
          </p:cNvPr>
          <p:cNvSpPr txBox="1"/>
          <p:nvPr/>
        </p:nvSpPr>
        <p:spPr>
          <a:xfrm>
            <a:off x="9333640" y="1621138"/>
            <a:ext cx="1479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Schnee &amp; Hagel</a:t>
            </a:r>
          </a:p>
        </p:txBody>
      </p:sp>
      <p:pic>
        <p:nvPicPr>
          <p:cNvPr id="16" name="Grafik 15" descr="Wasser Silhouette">
            <a:extLst>
              <a:ext uri="{FF2B5EF4-FFF2-40B4-BE49-F238E27FC236}">
                <a16:creationId xmlns:a16="http://schemas.microsoft.com/office/drawing/2014/main" id="{4D4C1638-CF86-C2E8-1BED-4F3C2DE33F1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881032" y="1970061"/>
            <a:ext cx="452608" cy="452608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84906409-B1AA-F993-3C6E-505F04BB6AC2}"/>
              </a:ext>
            </a:extLst>
          </p:cNvPr>
          <p:cNvSpPr txBox="1"/>
          <p:nvPr/>
        </p:nvSpPr>
        <p:spPr>
          <a:xfrm>
            <a:off x="9342582" y="2017168"/>
            <a:ext cx="785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Wasser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68AA4D75-D47D-7794-6D30-6870B2B6F712}"/>
              </a:ext>
            </a:extLst>
          </p:cNvPr>
          <p:cNvSpPr/>
          <p:nvPr/>
        </p:nvSpPr>
        <p:spPr>
          <a:xfrm>
            <a:off x="323850" y="4912363"/>
            <a:ext cx="3772146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A9B9864-DBD9-3E8F-530E-6E2584566089}"/>
              </a:ext>
            </a:extLst>
          </p:cNvPr>
          <p:cNvSpPr txBox="1"/>
          <p:nvPr/>
        </p:nvSpPr>
        <p:spPr>
          <a:xfrm>
            <a:off x="7980379" y="924134"/>
            <a:ext cx="1080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Schutz vor: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43F7432-1879-04F6-D72B-09F039A3F637}"/>
              </a:ext>
            </a:extLst>
          </p:cNvPr>
          <p:cNvSpPr/>
          <p:nvPr/>
        </p:nvSpPr>
        <p:spPr>
          <a:xfrm rot="4809774">
            <a:off x="5347595" y="1500732"/>
            <a:ext cx="73542" cy="4388650"/>
          </a:xfrm>
          <a:prstGeom prst="rect">
            <a:avLst/>
          </a:prstGeom>
          <a:pattFill prst="narHorz">
            <a:fgClr>
              <a:schemeClr val="accent6"/>
            </a:fgClr>
            <a:bgClr>
              <a:schemeClr val="bg1"/>
            </a:bgClr>
          </a:patt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1D47E802-4FD0-9A46-02A1-7A418785E92C}"/>
              </a:ext>
            </a:extLst>
          </p:cNvPr>
          <p:cNvSpPr/>
          <p:nvPr/>
        </p:nvSpPr>
        <p:spPr>
          <a:xfrm>
            <a:off x="799662" y="1293466"/>
            <a:ext cx="366091" cy="35936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 descr="dunkel (kleinere Sonne) Silhouette">
            <a:extLst>
              <a:ext uri="{FF2B5EF4-FFF2-40B4-BE49-F238E27FC236}">
                <a16:creationId xmlns:a16="http://schemas.microsoft.com/office/drawing/2014/main" id="{0C5FA23F-B385-0C73-F81C-BA836FA4356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01336" y="2414974"/>
            <a:ext cx="612000" cy="6120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014ADFEC-2EBF-91A4-1249-B955612F39CB}"/>
              </a:ext>
            </a:extLst>
          </p:cNvPr>
          <p:cNvSpPr txBox="1"/>
          <p:nvPr/>
        </p:nvSpPr>
        <p:spPr>
          <a:xfrm>
            <a:off x="7974599" y="3087174"/>
            <a:ext cx="1961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</a:t>
            </a:r>
            <a:r>
              <a:rPr lang="de-DE" smtClean="0"/>
              <a:t>eitere </a:t>
            </a:r>
            <a:r>
              <a:rPr lang="de-DE" dirty="0"/>
              <a:t>Vorteile:</a:t>
            </a:r>
          </a:p>
        </p:txBody>
      </p:sp>
      <p:pic>
        <p:nvPicPr>
          <p:cNvPr id="25" name="Grafik 24" descr="Erneuerbare Energien Silhouette">
            <a:extLst>
              <a:ext uri="{FF2B5EF4-FFF2-40B4-BE49-F238E27FC236}">
                <a16:creationId xmlns:a16="http://schemas.microsoft.com/office/drawing/2014/main" id="{8ECF2FA3-5960-C6EA-13CF-46A2C02C4C8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50136" y="3437686"/>
            <a:ext cx="914400" cy="914400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628C7EEB-DFE5-9810-CD5C-0A131850FAAB}"/>
              </a:ext>
            </a:extLst>
          </p:cNvPr>
          <p:cNvSpPr txBox="1"/>
          <p:nvPr/>
        </p:nvSpPr>
        <p:spPr>
          <a:xfrm>
            <a:off x="9413336" y="3702388"/>
            <a:ext cx="177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Nachhaltigkeit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EECD81C7-C137-6A9A-39C1-65BE93A5125D}"/>
              </a:ext>
            </a:extLst>
          </p:cNvPr>
          <p:cNvSpPr txBox="1"/>
          <p:nvPr/>
        </p:nvSpPr>
        <p:spPr>
          <a:xfrm>
            <a:off x="9296979" y="2548276"/>
            <a:ext cx="238125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Sonneneinstrahlung</a:t>
            </a:r>
          </a:p>
          <a:p>
            <a:r>
              <a:rPr lang="de-DE" sz="1050" dirty="0">
                <a:sym typeface="Wingdings" panose="05000000000000000000" pitchFamily="2" charset="2"/>
              </a:rPr>
              <a:t> Geringerer Wasserverbrauch</a:t>
            </a:r>
            <a:endParaRPr lang="de-DE" sz="1050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6038E65F-658D-A868-B762-077FCCAD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27</a:t>
            </a:fld>
            <a:endParaRPr lang="de-DE" dirty="0"/>
          </a:p>
        </p:txBody>
      </p:sp>
      <p:sp>
        <p:nvSpPr>
          <p:cNvPr id="36" name="Titel 1">
            <a:extLst>
              <a:ext uri="{FF2B5EF4-FFF2-40B4-BE49-F238E27FC236}">
                <a16:creationId xmlns:a16="http://schemas.microsoft.com/office/drawing/2014/main" id="{72705494-7499-38A5-2FE8-A6C50B9C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Vorteile bietet Agri-PV? </a:t>
            </a:r>
            <a:r>
              <a:rPr lang="de-DE" b="1" smtClean="0">
                <a:sym typeface="Wingdings" panose="05000000000000000000" pitchFamily="2" charset="2"/>
              </a:rPr>
              <a:t> Lösung</a:t>
            </a:r>
            <a:endParaRPr lang="de-DE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304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D2F6-2BDE-76BB-D991-9D59F4438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592CB-C398-08BE-3139-BF6D25D5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FCBC6D7-4859-44EF-0F07-BEAD1E59CCD8}"/>
              </a:ext>
            </a:extLst>
          </p:cNvPr>
          <p:cNvSpPr/>
          <p:nvPr/>
        </p:nvSpPr>
        <p:spPr>
          <a:xfrm>
            <a:off x="3560389" y="3978519"/>
            <a:ext cx="72000" cy="917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20D7CF3-FF76-4378-64B2-4CFF0AA7D93F}"/>
              </a:ext>
            </a:extLst>
          </p:cNvPr>
          <p:cNvSpPr/>
          <p:nvPr/>
        </p:nvSpPr>
        <p:spPr>
          <a:xfrm>
            <a:off x="7030828" y="3394951"/>
            <a:ext cx="93690" cy="15091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Pflanze Silhouette">
            <a:extLst>
              <a:ext uri="{FF2B5EF4-FFF2-40B4-BE49-F238E27FC236}">
                <a16:creationId xmlns:a16="http://schemas.microsoft.com/office/drawing/2014/main" id="{2B9B681C-0333-55E9-AD59-FEA0C0AD2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600" y="4177286"/>
            <a:ext cx="830483" cy="830483"/>
          </a:xfrm>
          <a:prstGeom prst="rect">
            <a:avLst/>
          </a:prstGeom>
        </p:spPr>
      </p:pic>
      <p:pic>
        <p:nvPicPr>
          <p:cNvPr id="9" name="Grafik 8" descr="Sonnenblumen Silhouette">
            <a:extLst>
              <a:ext uri="{FF2B5EF4-FFF2-40B4-BE49-F238E27FC236}">
                <a16:creationId xmlns:a16="http://schemas.microsoft.com/office/drawing/2014/main" id="{0B9F2239-14C1-57D7-35CF-0798055C2A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1469" y="4064918"/>
            <a:ext cx="914400" cy="914400"/>
          </a:xfrm>
          <a:prstGeom prst="rect">
            <a:avLst/>
          </a:prstGeom>
        </p:spPr>
      </p:pic>
      <p:pic>
        <p:nvPicPr>
          <p:cNvPr id="10" name="Grafik 9" descr="Pflanze Silhouette">
            <a:extLst>
              <a:ext uri="{FF2B5EF4-FFF2-40B4-BE49-F238E27FC236}">
                <a16:creationId xmlns:a16="http://schemas.microsoft.com/office/drawing/2014/main" id="{70CDB3BC-5B42-E775-E530-DAA68BFDF7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971" y="4157312"/>
            <a:ext cx="830483" cy="830483"/>
          </a:xfrm>
          <a:prstGeom prst="rect">
            <a:avLst/>
          </a:prstGeom>
        </p:spPr>
      </p:pic>
      <p:pic>
        <p:nvPicPr>
          <p:cNvPr id="11" name="Grafik 10" descr="Pflanze Silhouette">
            <a:extLst>
              <a:ext uri="{FF2B5EF4-FFF2-40B4-BE49-F238E27FC236}">
                <a16:creationId xmlns:a16="http://schemas.microsoft.com/office/drawing/2014/main" id="{DFB92F8D-EBDB-6FDC-1224-A7ACE152E2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3342" y="4177286"/>
            <a:ext cx="830483" cy="830483"/>
          </a:xfrm>
          <a:prstGeom prst="rect">
            <a:avLst/>
          </a:prstGeom>
        </p:spPr>
      </p:pic>
      <p:pic>
        <p:nvPicPr>
          <p:cNvPr id="12" name="Grafik 11" descr="Sonnenblumen Silhouette">
            <a:extLst>
              <a:ext uri="{FF2B5EF4-FFF2-40B4-BE49-F238E27FC236}">
                <a16:creationId xmlns:a16="http://schemas.microsoft.com/office/drawing/2014/main" id="{67A6E4E6-9F3C-793B-251F-7DF02E6CD4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4732" y="4064918"/>
            <a:ext cx="914400" cy="9144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6A44B105-7541-2346-B931-87CBC836ABCB}"/>
              </a:ext>
            </a:extLst>
          </p:cNvPr>
          <p:cNvSpPr/>
          <p:nvPr/>
        </p:nvSpPr>
        <p:spPr>
          <a:xfrm>
            <a:off x="2988000" y="4912363"/>
            <a:ext cx="4680000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0" name="Grafik 49" descr="Sonnenblumen Silhouette">
            <a:extLst>
              <a:ext uri="{FF2B5EF4-FFF2-40B4-BE49-F238E27FC236}">
                <a16:creationId xmlns:a16="http://schemas.microsoft.com/office/drawing/2014/main" id="{FA2DE013-2555-C2D5-C2B1-E7C2EDEAB5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611" y="4057783"/>
            <a:ext cx="914400" cy="914400"/>
          </a:xfrm>
          <a:prstGeom prst="rect">
            <a:avLst/>
          </a:prstGeom>
          <a:effectLst/>
        </p:spPr>
      </p:pic>
      <p:pic>
        <p:nvPicPr>
          <p:cNvPr id="51" name="Grafik 50" descr="Pflanze Silhouette">
            <a:extLst>
              <a:ext uri="{FF2B5EF4-FFF2-40B4-BE49-F238E27FC236}">
                <a16:creationId xmlns:a16="http://schemas.microsoft.com/office/drawing/2014/main" id="{A06BE7E9-F42E-D9E5-1BDB-3F3EF794C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1113" y="4170151"/>
            <a:ext cx="830483" cy="830483"/>
          </a:xfrm>
          <a:prstGeom prst="rect">
            <a:avLst/>
          </a:prstGeom>
          <a:effectLst/>
        </p:spPr>
      </p:pic>
      <p:pic>
        <p:nvPicPr>
          <p:cNvPr id="52" name="Grafik 51" descr="Pflanze Silhouette">
            <a:extLst>
              <a:ext uri="{FF2B5EF4-FFF2-40B4-BE49-F238E27FC236}">
                <a16:creationId xmlns:a16="http://schemas.microsoft.com/office/drawing/2014/main" id="{E770932A-C773-9B91-8595-126EB9CD9E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3484" y="4170151"/>
            <a:ext cx="830483" cy="830483"/>
          </a:xfrm>
          <a:prstGeom prst="rect">
            <a:avLst/>
          </a:prstGeom>
          <a:effectLst/>
        </p:spPr>
      </p:pic>
      <p:pic>
        <p:nvPicPr>
          <p:cNvPr id="191" name="Grafik 190" descr="Windig Silhouette">
            <a:extLst>
              <a:ext uri="{FF2B5EF4-FFF2-40B4-BE49-F238E27FC236}">
                <a16:creationId xmlns:a16="http://schemas.microsoft.com/office/drawing/2014/main" id="{512EBC7F-E4D9-F0E3-A78C-346DA3A0FF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81033" y="1108800"/>
            <a:ext cx="452608" cy="452608"/>
          </a:xfrm>
          <a:prstGeom prst="rect">
            <a:avLst/>
          </a:prstGeom>
        </p:spPr>
      </p:pic>
      <p:pic>
        <p:nvPicPr>
          <p:cNvPr id="192" name="Grafik 191" descr="Schneeflocke Silhouette">
            <a:extLst>
              <a:ext uri="{FF2B5EF4-FFF2-40B4-BE49-F238E27FC236}">
                <a16:creationId xmlns:a16="http://schemas.microsoft.com/office/drawing/2014/main" id="{6F170CF8-7E3F-E2CB-5F6F-798F857859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81032" y="1548723"/>
            <a:ext cx="452608" cy="452608"/>
          </a:xfrm>
          <a:prstGeom prst="rect">
            <a:avLst/>
          </a:prstGeom>
        </p:spPr>
      </p:pic>
      <p:sp>
        <p:nvSpPr>
          <p:cNvPr id="193" name="Textfeld 192">
            <a:extLst>
              <a:ext uri="{FF2B5EF4-FFF2-40B4-BE49-F238E27FC236}">
                <a16:creationId xmlns:a16="http://schemas.microsoft.com/office/drawing/2014/main" id="{B7F342BD-7FA2-C60B-280E-2C6EDB0C918B}"/>
              </a:ext>
            </a:extLst>
          </p:cNvPr>
          <p:cNvSpPr txBox="1"/>
          <p:nvPr/>
        </p:nvSpPr>
        <p:spPr>
          <a:xfrm>
            <a:off x="9342582" y="1201304"/>
            <a:ext cx="593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Wind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43490940-E5BC-0CE3-3839-2DC45B6F9AC3}"/>
              </a:ext>
            </a:extLst>
          </p:cNvPr>
          <p:cNvSpPr txBox="1"/>
          <p:nvPr/>
        </p:nvSpPr>
        <p:spPr>
          <a:xfrm>
            <a:off x="9333640" y="1621138"/>
            <a:ext cx="1479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Schnee &amp; Hagel</a:t>
            </a:r>
          </a:p>
        </p:txBody>
      </p:sp>
      <p:pic>
        <p:nvPicPr>
          <p:cNvPr id="16" name="Grafik 15" descr="Wasser Silhouette">
            <a:extLst>
              <a:ext uri="{FF2B5EF4-FFF2-40B4-BE49-F238E27FC236}">
                <a16:creationId xmlns:a16="http://schemas.microsoft.com/office/drawing/2014/main" id="{4D4C1638-CF86-C2E8-1BED-4F3C2DE33F1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881032" y="1970061"/>
            <a:ext cx="452608" cy="452608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84906409-B1AA-F993-3C6E-505F04BB6AC2}"/>
              </a:ext>
            </a:extLst>
          </p:cNvPr>
          <p:cNvSpPr txBox="1"/>
          <p:nvPr/>
        </p:nvSpPr>
        <p:spPr>
          <a:xfrm>
            <a:off x="9342582" y="2017168"/>
            <a:ext cx="785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Wasser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68AA4D75-D47D-7794-6D30-6870B2B6F712}"/>
              </a:ext>
            </a:extLst>
          </p:cNvPr>
          <p:cNvSpPr/>
          <p:nvPr/>
        </p:nvSpPr>
        <p:spPr>
          <a:xfrm>
            <a:off x="323850" y="4912363"/>
            <a:ext cx="3772146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A9B9864-DBD9-3E8F-530E-6E2584566089}"/>
              </a:ext>
            </a:extLst>
          </p:cNvPr>
          <p:cNvSpPr txBox="1"/>
          <p:nvPr/>
        </p:nvSpPr>
        <p:spPr>
          <a:xfrm>
            <a:off x="7980379" y="924134"/>
            <a:ext cx="1080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Schutz vor: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43F7432-1879-04F6-D72B-09F039A3F637}"/>
              </a:ext>
            </a:extLst>
          </p:cNvPr>
          <p:cNvSpPr/>
          <p:nvPr/>
        </p:nvSpPr>
        <p:spPr>
          <a:xfrm rot="4809774">
            <a:off x="5347595" y="1500732"/>
            <a:ext cx="73542" cy="4388650"/>
          </a:xfrm>
          <a:prstGeom prst="rect">
            <a:avLst/>
          </a:prstGeom>
          <a:pattFill prst="narHorz">
            <a:fgClr>
              <a:schemeClr val="accent6"/>
            </a:fgClr>
            <a:bgClr>
              <a:schemeClr val="bg1"/>
            </a:bgClr>
          </a:patt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1D47E802-4FD0-9A46-02A1-7A418785E92C}"/>
              </a:ext>
            </a:extLst>
          </p:cNvPr>
          <p:cNvSpPr/>
          <p:nvPr/>
        </p:nvSpPr>
        <p:spPr>
          <a:xfrm>
            <a:off x="799662" y="1293466"/>
            <a:ext cx="366091" cy="35936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 descr="dunkel (kleinere Sonne) Silhouette">
            <a:extLst>
              <a:ext uri="{FF2B5EF4-FFF2-40B4-BE49-F238E27FC236}">
                <a16:creationId xmlns:a16="http://schemas.microsoft.com/office/drawing/2014/main" id="{0C5FA23F-B385-0C73-F81C-BA836FA4356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01336" y="2414974"/>
            <a:ext cx="612000" cy="612000"/>
          </a:xfrm>
          <a:prstGeom prst="rect">
            <a:avLst/>
          </a:prstGeom>
        </p:spPr>
      </p:pic>
      <p:sp>
        <p:nvSpPr>
          <p:cNvPr id="66" name="Textfeld 65">
            <a:extLst>
              <a:ext uri="{FF2B5EF4-FFF2-40B4-BE49-F238E27FC236}">
                <a16:creationId xmlns:a16="http://schemas.microsoft.com/office/drawing/2014/main" id="{EECD81C7-C137-6A9A-39C1-65BE93A5125D}"/>
              </a:ext>
            </a:extLst>
          </p:cNvPr>
          <p:cNvSpPr txBox="1"/>
          <p:nvPr/>
        </p:nvSpPr>
        <p:spPr>
          <a:xfrm>
            <a:off x="9296979" y="2548276"/>
            <a:ext cx="238125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Sonneneinstrahlung</a:t>
            </a:r>
          </a:p>
          <a:p>
            <a:r>
              <a:rPr lang="de-DE" sz="1050" dirty="0">
                <a:sym typeface="Wingdings" panose="05000000000000000000" pitchFamily="2" charset="2"/>
              </a:rPr>
              <a:t> Geringerer Wasserverbrauch</a:t>
            </a:r>
            <a:endParaRPr lang="de-DE" sz="1050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6038E65F-658D-A868-B762-077FCCAD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28</a:t>
            </a:fld>
            <a:endParaRPr lang="de-DE" dirty="0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014ADFEC-2EBF-91A4-1249-B955612F39CB}"/>
              </a:ext>
            </a:extLst>
          </p:cNvPr>
          <p:cNvSpPr txBox="1"/>
          <p:nvPr/>
        </p:nvSpPr>
        <p:spPr>
          <a:xfrm>
            <a:off x="7974599" y="3087174"/>
            <a:ext cx="1961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</a:t>
            </a:r>
            <a:r>
              <a:rPr lang="de-DE" smtClean="0"/>
              <a:t>eitere </a:t>
            </a:r>
            <a:r>
              <a:rPr lang="de-DE" dirty="0"/>
              <a:t>Vorteile:</a:t>
            </a:r>
          </a:p>
        </p:txBody>
      </p:sp>
      <p:pic>
        <p:nvPicPr>
          <p:cNvPr id="43" name="Grafik 42" descr="Erneuerbare Energien Silhouette">
            <a:extLst>
              <a:ext uri="{FF2B5EF4-FFF2-40B4-BE49-F238E27FC236}">
                <a16:creationId xmlns:a16="http://schemas.microsoft.com/office/drawing/2014/main" id="{8ECF2FA3-5960-C6EA-13CF-46A2C02C4C8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50136" y="3437686"/>
            <a:ext cx="914400" cy="914400"/>
          </a:xfrm>
          <a:prstGeom prst="rect">
            <a:avLst/>
          </a:prstGeom>
        </p:spPr>
      </p:pic>
      <p:sp>
        <p:nvSpPr>
          <p:cNvPr id="44" name="Textfeld 43">
            <a:extLst>
              <a:ext uri="{FF2B5EF4-FFF2-40B4-BE49-F238E27FC236}">
                <a16:creationId xmlns:a16="http://schemas.microsoft.com/office/drawing/2014/main" id="{628C7EEB-DFE5-9810-CD5C-0A131850FAAB}"/>
              </a:ext>
            </a:extLst>
          </p:cNvPr>
          <p:cNvSpPr txBox="1"/>
          <p:nvPr/>
        </p:nvSpPr>
        <p:spPr>
          <a:xfrm>
            <a:off x="9413336" y="3702388"/>
            <a:ext cx="177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Nachhaltigkeit</a:t>
            </a:r>
          </a:p>
        </p:txBody>
      </p:sp>
      <p:pic>
        <p:nvPicPr>
          <p:cNvPr id="41" name="Grafik 40" descr="Euro mit einfarbiger Füllung">
            <a:extLst>
              <a:ext uri="{FF2B5EF4-FFF2-40B4-BE49-F238E27FC236}">
                <a16:creationId xmlns:a16="http://schemas.microsoft.com/office/drawing/2014/main" id="{FC67EFC1-B5FC-2592-BE4B-7175A7080B6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801336" y="4322572"/>
            <a:ext cx="714250" cy="714250"/>
          </a:xfrm>
          <a:prstGeom prst="rect">
            <a:avLst/>
          </a:prstGeom>
        </p:spPr>
      </p:pic>
      <p:sp>
        <p:nvSpPr>
          <p:cNvPr id="56" name="Textfeld 55">
            <a:extLst>
              <a:ext uri="{FF2B5EF4-FFF2-40B4-BE49-F238E27FC236}">
                <a16:creationId xmlns:a16="http://schemas.microsoft.com/office/drawing/2014/main" id="{C929D030-3B1B-0786-6B3D-3E324CE21193}"/>
              </a:ext>
            </a:extLst>
          </p:cNvPr>
          <p:cNvSpPr txBox="1"/>
          <p:nvPr/>
        </p:nvSpPr>
        <p:spPr>
          <a:xfrm>
            <a:off x="9417506" y="4495031"/>
            <a:ext cx="216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Einkommensquelle</a:t>
            </a:r>
          </a:p>
        </p:txBody>
      </p:sp>
      <p:sp>
        <p:nvSpPr>
          <p:cNvPr id="57" name="Titel 1">
            <a:extLst>
              <a:ext uri="{FF2B5EF4-FFF2-40B4-BE49-F238E27FC236}">
                <a16:creationId xmlns:a16="http://schemas.microsoft.com/office/drawing/2014/main" id="{72705494-7499-38A5-2FE8-A6C50B9C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Vorteile bietet Agri-PV? </a:t>
            </a:r>
            <a:r>
              <a:rPr lang="de-DE" b="1" smtClean="0">
                <a:sym typeface="Wingdings" panose="05000000000000000000" pitchFamily="2" charset="2"/>
              </a:rPr>
              <a:t> Lösung</a:t>
            </a:r>
            <a:endParaRPr lang="de-DE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163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D2F6-2BDE-76BB-D991-9D59F4438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D8C0FA67-D961-538C-FBE7-1302D8A6F776}"/>
              </a:ext>
            </a:extLst>
          </p:cNvPr>
          <p:cNvGrpSpPr/>
          <p:nvPr/>
        </p:nvGrpSpPr>
        <p:grpSpPr>
          <a:xfrm>
            <a:off x="8155075" y="5052849"/>
            <a:ext cx="1399973" cy="914400"/>
            <a:chOff x="8512146" y="3989917"/>
            <a:chExt cx="830437" cy="495343"/>
          </a:xfrm>
        </p:grpSpPr>
        <p:pic>
          <p:nvPicPr>
            <p:cNvPr id="29" name="Grafik 28" descr="Pflanze Silhouette">
              <a:extLst>
                <a:ext uri="{FF2B5EF4-FFF2-40B4-BE49-F238E27FC236}">
                  <a16:creationId xmlns:a16="http://schemas.microsoft.com/office/drawing/2014/main" id="{06FAF820-7D8A-1F34-6223-BDA55C4BD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997811" y="4219077"/>
              <a:ext cx="218057" cy="218057"/>
            </a:xfrm>
            <a:prstGeom prst="rect">
              <a:avLst/>
            </a:prstGeom>
          </p:spPr>
        </p:pic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FF832AC1-18CF-F236-381D-DE1262F9E3E9}"/>
                </a:ext>
              </a:extLst>
            </p:cNvPr>
            <p:cNvSpPr/>
            <p:nvPr/>
          </p:nvSpPr>
          <p:spPr>
            <a:xfrm>
              <a:off x="8976018" y="4414274"/>
              <a:ext cx="261641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D6BE97CD-95AB-932F-1D02-7710904E424E}"/>
                </a:ext>
              </a:extLst>
            </p:cNvPr>
            <p:cNvSpPr/>
            <p:nvPr/>
          </p:nvSpPr>
          <p:spPr>
            <a:xfrm>
              <a:off x="8976018" y="4177286"/>
              <a:ext cx="261641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7" name="Grafik 46" descr="Blitz Silhouette">
              <a:extLst>
                <a:ext uri="{FF2B5EF4-FFF2-40B4-BE49-F238E27FC236}">
                  <a16:creationId xmlns:a16="http://schemas.microsoft.com/office/drawing/2014/main" id="{F8790896-870D-3B10-0694-43C56ECDC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042296" y="4000975"/>
              <a:ext cx="218057" cy="218057"/>
            </a:xfrm>
            <a:prstGeom prst="rect">
              <a:avLst/>
            </a:prstGeom>
          </p:spPr>
        </p:pic>
        <p:sp>
          <p:nvSpPr>
            <p:cNvPr id="48" name="Geschweifte Klammer links/rechts 47">
              <a:extLst>
                <a:ext uri="{FF2B5EF4-FFF2-40B4-BE49-F238E27FC236}">
                  <a16:creationId xmlns:a16="http://schemas.microsoft.com/office/drawing/2014/main" id="{68105DB8-B876-478A-EDA2-1F43E905D24B}"/>
                </a:ext>
              </a:extLst>
            </p:cNvPr>
            <p:cNvSpPr/>
            <p:nvPr/>
          </p:nvSpPr>
          <p:spPr>
            <a:xfrm>
              <a:off x="8910677" y="4000975"/>
              <a:ext cx="411697" cy="484285"/>
            </a:xfrm>
            <a:prstGeom prst="bracePair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683E2162-D92B-56C2-98F6-68CBA0F87EEA}"/>
                </a:ext>
              </a:extLst>
            </p:cNvPr>
            <p:cNvSpPr/>
            <p:nvPr/>
          </p:nvSpPr>
          <p:spPr>
            <a:xfrm>
              <a:off x="9231393" y="3989917"/>
              <a:ext cx="111190" cy="495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13638077-B175-4CF6-D723-83A4E3692CC6}"/>
                </a:ext>
              </a:extLst>
            </p:cNvPr>
            <p:cNvSpPr txBox="1"/>
            <p:nvPr/>
          </p:nvSpPr>
          <p:spPr>
            <a:xfrm>
              <a:off x="8512146" y="4173875"/>
              <a:ext cx="714324" cy="1417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&gt; 100 %</a:t>
              </a:r>
            </a:p>
          </p:txBody>
        </p:sp>
      </p:grpSp>
      <p:sp>
        <p:nvSpPr>
          <p:cNvPr id="54" name="Textfeld 53">
            <a:extLst>
              <a:ext uri="{FF2B5EF4-FFF2-40B4-BE49-F238E27FC236}">
                <a16:creationId xmlns:a16="http://schemas.microsoft.com/office/drawing/2014/main" id="{2FBA7193-0B69-783E-8FBC-AB03FE825BFF}"/>
              </a:ext>
            </a:extLst>
          </p:cNvPr>
          <p:cNvSpPr txBox="1"/>
          <p:nvPr/>
        </p:nvSpPr>
        <p:spPr>
          <a:xfrm>
            <a:off x="9407407" y="5346054"/>
            <a:ext cx="191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Flächeneffizienz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592CB-C398-08BE-3139-BF6D25D5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FCBC6D7-4859-44EF-0F07-BEAD1E59CCD8}"/>
              </a:ext>
            </a:extLst>
          </p:cNvPr>
          <p:cNvSpPr/>
          <p:nvPr/>
        </p:nvSpPr>
        <p:spPr>
          <a:xfrm>
            <a:off x="3560389" y="3978519"/>
            <a:ext cx="72000" cy="917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20D7CF3-FF76-4378-64B2-4CFF0AA7D93F}"/>
              </a:ext>
            </a:extLst>
          </p:cNvPr>
          <p:cNvSpPr/>
          <p:nvPr/>
        </p:nvSpPr>
        <p:spPr>
          <a:xfrm>
            <a:off x="7030828" y="3394951"/>
            <a:ext cx="93690" cy="15091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Pflanze Silhouette">
            <a:extLst>
              <a:ext uri="{FF2B5EF4-FFF2-40B4-BE49-F238E27FC236}">
                <a16:creationId xmlns:a16="http://schemas.microsoft.com/office/drawing/2014/main" id="{2B9B681C-0333-55E9-AD59-FEA0C0AD2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600" y="4177286"/>
            <a:ext cx="830483" cy="830483"/>
          </a:xfrm>
          <a:prstGeom prst="rect">
            <a:avLst/>
          </a:prstGeom>
        </p:spPr>
      </p:pic>
      <p:pic>
        <p:nvPicPr>
          <p:cNvPr id="9" name="Grafik 8" descr="Sonnenblumen Silhouette">
            <a:extLst>
              <a:ext uri="{FF2B5EF4-FFF2-40B4-BE49-F238E27FC236}">
                <a16:creationId xmlns:a16="http://schemas.microsoft.com/office/drawing/2014/main" id="{0B9F2239-14C1-57D7-35CF-0798055C2A6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1469" y="4064918"/>
            <a:ext cx="914400" cy="914400"/>
          </a:xfrm>
          <a:prstGeom prst="rect">
            <a:avLst/>
          </a:prstGeom>
        </p:spPr>
      </p:pic>
      <p:pic>
        <p:nvPicPr>
          <p:cNvPr id="10" name="Grafik 9" descr="Pflanze Silhouette">
            <a:extLst>
              <a:ext uri="{FF2B5EF4-FFF2-40B4-BE49-F238E27FC236}">
                <a16:creationId xmlns:a16="http://schemas.microsoft.com/office/drawing/2014/main" id="{70CDB3BC-5B42-E775-E530-DAA68BFDF7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971" y="4157312"/>
            <a:ext cx="830483" cy="830483"/>
          </a:xfrm>
          <a:prstGeom prst="rect">
            <a:avLst/>
          </a:prstGeom>
        </p:spPr>
      </p:pic>
      <p:pic>
        <p:nvPicPr>
          <p:cNvPr id="11" name="Grafik 10" descr="Pflanze Silhouette">
            <a:extLst>
              <a:ext uri="{FF2B5EF4-FFF2-40B4-BE49-F238E27FC236}">
                <a16:creationId xmlns:a16="http://schemas.microsoft.com/office/drawing/2014/main" id="{DFB92F8D-EBDB-6FDC-1224-A7ACE152E2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3342" y="4177286"/>
            <a:ext cx="830483" cy="830483"/>
          </a:xfrm>
          <a:prstGeom prst="rect">
            <a:avLst/>
          </a:prstGeom>
        </p:spPr>
      </p:pic>
      <p:pic>
        <p:nvPicPr>
          <p:cNvPr id="12" name="Grafik 11" descr="Sonnenblumen Silhouette">
            <a:extLst>
              <a:ext uri="{FF2B5EF4-FFF2-40B4-BE49-F238E27FC236}">
                <a16:creationId xmlns:a16="http://schemas.microsoft.com/office/drawing/2014/main" id="{67A6E4E6-9F3C-793B-251F-7DF02E6CD4C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4732" y="4064918"/>
            <a:ext cx="914400" cy="9144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6A44B105-7541-2346-B931-87CBC836ABCB}"/>
              </a:ext>
            </a:extLst>
          </p:cNvPr>
          <p:cNvSpPr/>
          <p:nvPr/>
        </p:nvSpPr>
        <p:spPr>
          <a:xfrm>
            <a:off x="2988000" y="4912363"/>
            <a:ext cx="4680000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0" name="Grafik 49" descr="Sonnenblumen Silhouette">
            <a:extLst>
              <a:ext uri="{FF2B5EF4-FFF2-40B4-BE49-F238E27FC236}">
                <a16:creationId xmlns:a16="http://schemas.microsoft.com/office/drawing/2014/main" id="{FA2DE013-2555-C2D5-C2B1-E7C2EDEAB56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611" y="4057783"/>
            <a:ext cx="914400" cy="914400"/>
          </a:xfrm>
          <a:prstGeom prst="rect">
            <a:avLst/>
          </a:prstGeom>
          <a:effectLst/>
        </p:spPr>
      </p:pic>
      <p:pic>
        <p:nvPicPr>
          <p:cNvPr id="51" name="Grafik 50" descr="Pflanze Silhouette">
            <a:extLst>
              <a:ext uri="{FF2B5EF4-FFF2-40B4-BE49-F238E27FC236}">
                <a16:creationId xmlns:a16="http://schemas.microsoft.com/office/drawing/2014/main" id="{A06BE7E9-F42E-D9E5-1BDB-3F3EF794C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1113" y="4170151"/>
            <a:ext cx="830483" cy="830483"/>
          </a:xfrm>
          <a:prstGeom prst="rect">
            <a:avLst/>
          </a:prstGeom>
          <a:effectLst/>
        </p:spPr>
      </p:pic>
      <p:pic>
        <p:nvPicPr>
          <p:cNvPr id="52" name="Grafik 51" descr="Pflanze Silhouette">
            <a:extLst>
              <a:ext uri="{FF2B5EF4-FFF2-40B4-BE49-F238E27FC236}">
                <a16:creationId xmlns:a16="http://schemas.microsoft.com/office/drawing/2014/main" id="{E770932A-C773-9B91-8595-126EB9CD9E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3484" y="4170151"/>
            <a:ext cx="830483" cy="830483"/>
          </a:xfrm>
          <a:prstGeom prst="rect">
            <a:avLst/>
          </a:prstGeom>
          <a:effectLst/>
        </p:spPr>
      </p:pic>
      <p:pic>
        <p:nvPicPr>
          <p:cNvPr id="191" name="Grafik 190" descr="Windig Silhouette">
            <a:extLst>
              <a:ext uri="{FF2B5EF4-FFF2-40B4-BE49-F238E27FC236}">
                <a16:creationId xmlns:a16="http://schemas.microsoft.com/office/drawing/2014/main" id="{512EBC7F-E4D9-F0E3-A78C-346DA3A0FFB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81033" y="1108800"/>
            <a:ext cx="452608" cy="452608"/>
          </a:xfrm>
          <a:prstGeom prst="rect">
            <a:avLst/>
          </a:prstGeom>
        </p:spPr>
      </p:pic>
      <p:pic>
        <p:nvPicPr>
          <p:cNvPr id="192" name="Grafik 191" descr="Schneeflocke Silhouette">
            <a:extLst>
              <a:ext uri="{FF2B5EF4-FFF2-40B4-BE49-F238E27FC236}">
                <a16:creationId xmlns:a16="http://schemas.microsoft.com/office/drawing/2014/main" id="{6F170CF8-7E3F-E2CB-5F6F-798F857859D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81032" y="1548723"/>
            <a:ext cx="452608" cy="452608"/>
          </a:xfrm>
          <a:prstGeom prst="rect">
            <a:avLst/>
          </a:prstGeom>
        </p:spPr>
      </p:pic>
      <p:sp>
        <p:nvSpPr>
          <p:cNvPr id="193" name="Textfeld 192">
            <a:extLst>
              <a:ext uri="{FF2B5EF4-FFF2-40B4-BE49-F238E27FC236}">
                <a16:creationId xmlns:a16="http://schemas.microsoft.com/office/drawing/2014/main" id="{B7F342BD-7FA2-C60B-280E-2C6EDB0C918B}"/>
              </a:ext>
            </a:extLst>
          </p:cNvPr>
          <p:cNvSpPr txBox="1"/>
          <p:nvPr/>
        </p:nvSpPr>
        <p:spPr>
          <a:xfrm>
            <a:off x="9342582" y="1201304"/>
            <a:ext cx="593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Wind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43490940-E5BC-0CE3-3839-2DC45B6F9AC3}"/>
              </a:ext>
            </a:extLst>
          </p:cNvPr>
          <p:cNvSpPr txBox="1"/>
          <p:nvPr/>
        </p:nvSpPr>
        <p:spPr>
          <a:xfrm>
            <a:off x="9333640" y="1621138"/>
            <a:ext cx="1479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Schnee &amp; Hagel</a:t>
            </a:r>
          </a:p>
        </p:txBody>
      </p:sp>
      <p:pic>
        <p:nvPicPr>
          <p:cNvPr id="16" name="Grafik 15" descr="Wasser Silhouette">
            <a:extLst>
              <a:ext uri="{FF2B5EF4-FFF2-40B4-BE49-F238E27FC236}">
                <a16:creationId xmlns:a16="http://schemas.microsoft.com/office/drawing/2014/main" id="{4D4C1638-CF86-C2E8-1BED-4F3C2DE33F1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881032" y="1970061"/>
            <a:ext cx="452608" cy="452608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84906409-B1AA-F993-3C6E-505F04BB6AC2}"/>
              </a:ext>
            </a:extLst>
          </p:cNvPr>
          <p:cNvSpPr txBox="1"/>
          <p:nvPr/>
        </p:nvSpPr>
        <p:spPr>
          <a:xfrm>
            <a:off x="9342582" y="2017168"/>
            <a:ext cx="785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Wasser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68AA4D75-D47D-7794-6D30-6870B2B6F712}"/>
              </a:ext>
            </a:extLst>
          </p:cNvPr>
          <p:cNvSpPr/>
          <p:nvPr/>
        </p:nvSpPr>
        <p:spPr>
          <a:xfrm>
            <a:off x="323850" y="4912363"/>
            <a:ext cx="3772146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A9B9864-DBD9-3E8F-530E-6E2584566089}"/>
              </a:ext>
            </a:extLst>
          </p:cNvPr>
          <p:cNvSpPr txBox="1"/>
          <p:nvPr/>
        </p:nvSpPr>
        <p:spPr>
          <a:xfrm>
            <a:off x="7980379" y="924134"/>
            <a:ext cx="1080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Schutz vor: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43F7432-1879-04F6-D72B-09F039A3F637}"/>
              </a:ext>
            </a:extLst>
          </p:cNvPr>
          <p:cNvSpPr/>
          <p:nvPr/>
        </p:nvSpPr>
        <p:spPr>
          <a:xfrm rot="4809774">
            <a:off x="5347595" y="1500732"/>
            <a:ext cx="73542" cy="4388650"/>
          </a:xfrm>
          <a:prstGeom prst="rect">
            <a:avLst/>
          </a:prstGeom>
          <a:pattFill prst="narHorz">
            <a:fgClr>
              <a:schemeClr val="accent6"/>
            </a:fgClr>
            <a:bgClr>
              <a:schemeClr val="bg1"/>
            </a:bgClr>
          </a:patt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1D47E802-4FD0-9A46-02A1-7A418785E92C}"/>
              </a:ext>
            </a:extLst>
          </p:cNvPr>
          <p:cNvSpPr/>
          <p:nvPr/>
        </p:nvSpPr>
        <p:spPr>
          <a:xfrm>
            <a:off x="799662" y="1293466"/>
            <a:ext cx="366091" cy="35936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 descr="dunkel (kleinere Sonne) Silhouette">
            <a:extLst>
              <a:ext uri="{FF2B5EF4-FFF2-40B4-BE49-F238E27FC236}">
                <a16:creationId xmlns:a16="http://schemas.microsoft.com/office/drawing/2014/main" id="{0C5FA23F-B385-0C73-F81C-BA836FA4356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01336" y="2414974"/>
            <a:ext cx="612000" cy="612000"/>
          </a:xfrm>
          <a:prstGeom prst="rect">
            <a:avLst/>
          </a:prstGeom>
        </p:spPr>
      </p:pic>
      <p:sp>
        <p:nvSpPr>
          <p:cNvPr id="66" name="Textfeld 65">
            <a:extLst>
              <a:ext uri="{FF2B5EF4-FFF2-40B4-BE49-F238E27FC236}">
                <a16:creationId xmlns:a16="http://schemas.microsoft.com/office/drawing/2014/main" id="{EECD81C7-C137-6A9A-39C1-65BE93A5125D}"/>
              </a:ext>
            </a:extLst>
          </p:cNvPr>
          <p:cNvSpPr txBox="1"/>
          <p:nvPr/>
        </p:nvSpPr>
        <p:spPr>
          <a:xfrm>
            <a:off x="9296979" y="2548276"/>
            <a:ext cx="238125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Sonneneinstrahlung</a:t>
            </a:r>
          </a:p>
          <a:p>
            <a:r>
              <a:rPr lang="de-DE" sz="1050" dirty="0">
                <a:sym typeface="Wingdings" panose="05000000000000000000" pitchFamily="2" charset="2"/>
              </a:rPr>
              <a:t> Geringerer Wasserverbrauch</a:t>
            </a:r>
            <a:endParaRPr lang="de-DE" sz="1050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6038E65F-658D-A868-B762-077FCCAD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29</a:t>
            </a:fld>
            <a:endParaRPr lang="de-DE" dirty="0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014ADFEC-2EBF-91A4-1249-B955612F39CB}"/>
              </a:ext>
            </a:extLst>
          </p:cNvPr>
          <p:cNvSpPr txBox="1"/>
          <p:nvPr/>
        </p:nvSpPr>
        <p:spPr>
          <a:xfrm>
            <a:off x="7974599" y="3087174"/>
            <a:ext cx="1961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</a:t>
            </a:r>
            <a:r>
              <a:rPr lang="de-DE" smtClean="0"/>
              <a:t>eitere </a:t>
            </a:r>
            <a:r>
              <a:rPr lang="de-DE" dirty="0"/>
              <a:t>Vorteile:</a:t>
            </a:r>
          </a:p>
        </p:txBody>
      </p:sp>
      <p:pic>
        <p:nvPicPr>
          <p:cNvPr id="43" name="Grafik 42" descr="Erneuerbare Energien Silhouette">
            <a:extLst>
              <a:ext uri="{FF2B5EF4-FFF2-40B4-BE49-F238E27FC236}">
                <a16:creationId xmlns:a16="http://schemas.microsoft.com/office/drawing/2014/main" id="{8ECF2FA3-5960-C6EA-13CF-46A2C02C4C8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50136" y="3437686"/>
            <a:ext cx="914400" cy="914400"/>
          </a:xfrm>
          <a:prstGeom prst="rect">
            <a:avLst/>
          </a:prstGeom>
        </p:spPr>
      </p:pic>
      <p:sp>
        <p:nvSpPr>
          <p:cNvPr id="44" name="Textfeld 43">
            <a:extLst>
              <a:ext uri="{FF2B5EF4-FFF2-40B4-BE49-F238E27FC236}">
                <a16:creationId xmlns:a16="http://schemas.microsoft.com/office/drawing/2014/main" id="{628C7EEB-DFE5-9810-CD5C-0A131850FAAB}"/>
              </a:ext>
            </a:extLst>
          </p:cNvPr>
          <p:cNvSpPr txBox="1"/>
          <p:nvPr/>
        </p:nvSpPr>
        <p:spPr>
          <a:xfrm>
            <a:off x="9413336" y="3702388"/>
            <a:ext cx="177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Nachhaltigkeit</a:t>
            </a:r>
          </a:p>
        </p:txBody>
      </p:sp>
      <p:pic>
        <p:nvPicPr>
          <p:cNvPr id="41" name="Grafik 40" descr="Euro mit einfarbiger Füllung">
            <a:extLst>
              <a:ext uri="{FF2B5EF4-FFF2-40B4-BE49-F238E27FC236}">
                <a16:creationId xmlns:a16="http://schemas.microsoft.com/office/drawing/2014/main" id="{FC67EFC1-B5FC-2592-BE4B-7175A7080B6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=""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801336" y="4322572"/>
            <a:ext cx="714250" cy="714250"/>
          </a:xfrm>
          <a:prstGeom prst="rect">
            <a:avLst/>
          </a:prstGeom>
        </p:spPr>
      </p:pic>
      <p:sp>
        <p:nvSpPr>
          <p:cNvPr id="56" name="Textfeld 55">
            <a:extLst>
              <a:ext uri="{FF2B5EF4-FFF2-40B4-BE49-F238E27FC236}">
                <a16:creationId xmlns:a16="http://schemas.microsoft.com/office/drawing/2014/main" id="{C929D030-3B1B-0786-6B3D-3E324CE21193}"/>
              </a:ext>
            </a:extLst>
          </p:cNvPr>
          <p:cNvSpPr txBox="1"/>
          <p:nvPr/>
        </p:nvSpPr>
        <p:spPr>
          <a:xfrm>
            <a:off x="9417506" y="4495031"/>
            <a:ext cx="216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Einkommensquelle</a:t>
            </a:r>
          </a:p>
        </p:txBody>
      </p:sp>
      <p:sp>
        <p:nvSpPr>
          <p:cNvPr id="57" name="Titel 1">
            <a:extLst>
              <a:ext uri="{FF2B5EF4-FFF2-40B4-BE49-F238E27FC236}">
                <a16:creationId xmlns:a16="http://schemas.microsoft.com/office/drawing/2014/main" id="{72705494-7499-38A5-2FE8-A6C50B9C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Vorteile bietet Agri-PV? </a:t>
            </a:r>
            <a:r>
              <a:rPr lang="de-DE" b="1" smtClean="0">
                <a:sym typeface="Wingdings" panose="05000000000000000000" pitchFamily="2" charset="2"/>
              </a:rPr>
              <a:t> Lösung</a:t>
            </a:r>
            <a:endParaRPr lang="de-DE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21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7573CB-5974-4C2F-825B-FE311270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Apropos Flächeneffizienz – wie viel landwirtschaftlich genutzte Fläche gibt es in Deutschland?</a:t>
            </a:r>
            <a:endParaRPr lang="de-DE" b="1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EA73A39E-FDA2-435F-AA8B-0F7E8DAC0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921" y="1842340"/>
            <a:ext cx="2829817" cy="3869836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AD1CC3-137A-4B27-B10A-2395574E0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5875F548-A030-42DB-B046-6408AA76B0C9}"/>
              </a:ext>
            </a:extLst>
          </p:cNvPr>
          <p:cNvGrpSpPr/>
          <p:nvPr/>
        </p:nvGrpSpPr>
        <p:grpSpPr>
          <a:xfrm>
            <a:off x="29103" y="1364846"/>
            <a:ext cx="8243958" cy="3895630"/>
            <a:chOff x="29103" y="1479146"/>
            <a:chExt cx="8243958" cy="3895630"/>
          </a:xfrm>
        </p:grpSpPr>
        <p:graphicFrame>
          <p:nvGraphicFramePr>
            <p:cNvPr id="7" name="Diagramm 6">
              <a:extLst>
                <a:ext uri="{FF2B5EF4-FFF2-40B4-BE49-F238E27FC236}">
                  <a16:creationId xmlns:a16="http://schemas.microsoft.com/office/drawing/2014/main" id="{E1EE0531-F058-4558-904D-C027159BDC0C}"/>
                </a:ext>
              </a:extLst>
            </p:cNvPr>
            <p:cNvGraphicFramePr>
              <a:graphicFrameLocks/>
            </p:cNvGraphicFramePr>
            <p:nvPr>
              <p:extLst/>
            </p:nvPr>
          </p:nvGraphicFramePr>
          <p:xfrm>
            <a:off x="1946128" y="2614706"/>
            <a:ext cx="4620054" cy="27540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6B8D8480-283B-467E-BE20-3E10D3DF2855}"/>
                </a:ext>
              </a:extLst>
            </p:cNvPr>
            <p:cNvSpPr txBox="1"/>
            <p:nvPr/>
          </p:nvSpPr>
          <p:spPr>
            <a:xfrm>
              <a:off x="29103" y="1479146"/>
              <a:ext cx="310258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de-DE" sz="2000" b="1" dirty="0" smtClean="0"/>
            </a:p>
            <a:p>
              <a:pPr algn="r"/>
              <a:endParaRPr lang="de-DE" sz="2000" b="1" dirty="0"/>
            </a:p>
            <a:p>
              <a:pPr algn="r"/>
              <a:r>
                <a:rPr lang="de-DE" sz="2000" b="1" dirty="0" smtClean="0"/>
                <a:t>7,8 </a:t>
              </a:r>
              <a:r>
                <a:rPr lang="de-DE" sz="2000" b="1" dirty="0"/>
                <a:t>Mio. ha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3BBAFF57-C9D0-429A-861B-741E093EFA36}"/>
                </a:ext>
              </a:extLst>
            </p:cNvPr>
            <p:cNvSpPr txBox="1"/>
            <p:nvPr/>
          </p:nvSpPr>
          <p:spPr>
            <a:xfrm>
              <a:off x="810148" y="4666890"/>
              <a:ext cx="18406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de-DE" sz="2000" b="1" dirty="0" smtClean="0"/>
            </a:p>
            <a:p>
              <a:pPr algn="r"/>
              <a:r>
                <a:rPr lang="de-DE" sz="2000" b="1" dirty="0" smtClean="0"/>
                <a:t>11,4 </a:t>
              </a:r>
              <a:r>
                <a:rPr lang="de-DE" sz="2000" b="1" dirty="0"/>
                <a:t>Mio. ha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0DC3AADE-C566-4FDF-867A-53CA6CE98346}"/>
                </a:ext>
              </a:extLst>
            </p:cNvPr>
            <p:cNvSpPr txBox="1"/>
            <p:nvPr/>
          </p:nvSpPr>
          <p:spPr>
            <a:xfrm>
              <a:off x="5789117" y="2156948"/>
              <a:ext cx="248394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de-DE" sz="2000" b="1" dirty="0" smtClean="0"/>
            </a:p>
            <a:p>
              <a:endParaRPr lang="de-DE" sz="2000" b="1" dirty="0"/>
            </a:p>
            <a:p>
              <a:r>
                <a:rPr lang="de-DE" sz="2000" b="1" dirty="0" smtClean="0"/>
                <a:t>16,6 </a:t>
              </a:r>
              <a:r>
                <a:rPr lang="de-DE" sz="2000" b="1" dirty="0"/>
                <a:t>Mio. ha</a:t>
              </a:r>
            </a:p>
          </p:txBody>
        </p:sp>
        <p:cxnSp>
          <p:nvCxnSpPr>
            <p:cNvPr id="12" name="Verbinder: gewinkelt 11">
              <a:extLst>
                <a:ext uri="{FF2B5EF4-FFF2-40B4-BE49-F238E27FC236}">
                  <a16:creationId xmlns:a16="http://schemas.microsoft.com/office/drawing/2014/main" id="{5237BD93-AF84-40F6-ADD7-1FFBE98E8DCB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rot="5400000">
              <a:off x="5962753" y="2807599"/>
              <a:ext cx="703324" cy="1433348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Verbinder: gewinkelt 15">
              <a:extLst>
                <a:ext uri="{FF2B5EF4-FFF2-40B4-BE49-F238E27FC236}">
                  <a16:creationId xmlns:a16="http://schemas.microsoft.com/office/drawing/2014/main" id="{F460AB7A-56BE-4F10-B2B6-B869713BC301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rot="16200000" flipH="1">
              <a:off x="2102299" y="1972907"/>
              <a:ext cx="677802" cy="1721606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Verbinder: gewinkelt 18">
              <a:extLst>
                <a:ext uri="{FF2B5EF4-FFF2-40B4-BE49-F238E27FC236}">
                  <a16:creationId xmlns:a16="http://schemas.microsoft.com/office/drawing/2014/main" id="{EC8E4069-303F-4C33-9D03-51DE1D9E1FEA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rot="5400000" flipH="1" flipV="1">
              <a:off x="2241473" y="3841072"/>
              <a:ext cx="314807" cy="1336830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EAEF6462-D4F8-4CC5-B4EC-FE63E5CD9504}"/>
                </a:ext>
              </a:extLst>
            </p:cNvPr>
            <p:cNvSpPr txBox="1"/>
            <p:nvPr/>
          </p:nvSpPr>
          <p:spPr>
            <a:xfrm>
              <a:off x="2756394" y="3270390"/>
              <a:ext cx="14609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2000" b="1" dirty="0"/>
                <a:t>21,8%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B98CCAB8-FF95-4E7C-87A5-D0858920E15C}"/>
                </a:ext>
              </a:extLst>
            </p:cNvPr>
            <p:cNvSpPr txBox="1"/>
            <p:nvPr/>
          </p:nvSpPr>
          <p:spPr>
            <a:xfrm>
              <a:off x="3131691" y="4225245"/>
              <a:ext cx="1085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2000" b="1" dirty="0"/>
                <a:t>31,8%</a:t>
              </a: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418D15E5-CC3B-4456-A1C7-8DAB9BD04CD3}"/>
                </a:ext>
              </a:extLst>
            </p:cNvPr>
            <p:cNvSpPr txBox="1"/>
            <p:nvPr/>
          </p:nvSpPr>
          <p:spPr>
            <a:xfrm>
              <a:off x="4355767" y="3815246"/>
              <a:ext cx="10526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2000" b="1" dirty="0"/>
                <a:t>46,4%</a:t>
              </a:r>
            </a:p>
          </p:txBody>
        </p:sp>
      </p:grpSp>
      <p:sp>
        <p:nvSpPr>
          <p:cNvPr id="44" name="Textfeld 43">
            <a:extLst>
              <a:ext uri="{FF2B5EF4-FFF2-40B4-BE49-F238E27FC236}">
                <a16:creationId xmlns:a16="http://schemas.microsoft.com/office/drawing/2014/main" id="{8C30BA29-0D95-4F86-B142-D6B0EECA7510}"/>
              </a:ext>
            </a:extLst>
          </p:cNvPr>
          <p:cNvSpPr txBox="1"/>
          <p:nvPr/>
        </p:nvSpPr>
        <p:spPr>
          <a:xfrm>
            <a:off x="4282935" y="5509840"/>
            <a:ext cx="1951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b="1" dirty="0"/>
              <a:t>∑ 35,8 Mio. ha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8100DBC-406B-42E2-BBFD-74D9AB74F58D}"/>
              </a:ext>
            </a:extLst>
          </p:cNvPr>
          <p:cNvSpPr txBox="1"/>
          <p:nvPr/>
        </p:nvSpPr>
        <p:spPr>
          <a:xfrm>
            <a:off x="1207806" y="5784151"/>
            <a:ext cx="2823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modifiziert nach</a:t>
            </a:r>
          </a:p>
          <a:p>
            <a:r>
              <a:rPr lang="de-DE" sz="800" dirty="0">
                <a:latin typeface="Calibri" pitchFamily="34" charset="0"/>
                <a:hlinkClick r:id="rId6"/>
              </a:rPr>
              <a:t>https://mediathek.fnr.de/flachennutzung-in-deutschland.html</a:t>
            </a:r>
            <a:r>
              <a:rPr lang="de-DE" sz="800" dirty="0">
                <a:latin typeface="Calibri" pitchFamily="34" charset="0"/>
              </a:rPr>
              <a:t> </a:t>
            </a:r>
            <a:endParaRPr lang="de-DE" sz="80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530952D-42DF-8970-71B5-018CD39B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30</a:t>
            </a:fld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8273061" y="2372141"/>
            <a:ext cx="1317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Waldfläche</a:t>
            </a:r>
            <a:endParaRPr lang="de-DE" dirty="0"/>
          </a:p>
        </p:txBody>
      </p:sp>
      <p:sp>
        <p:nvSpPr>
          <p:cNvPr id="32" name="Textfeld 31"/>
          <p:cNvSpPr txBox="1"/>
          <p:nvPr/>
        </p:nvSpPr>
        <p:spPr>
          <a:xfrm>
            <a:off x="8273061" y="3175061"/>
            <a:ext cx="2736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Landwirtschaftlich genutzte Flächen</a:t>
            </a:r>
            <a:endParaRPr lang="de-DE" dirty="0"/>
          </a:p>
        </p:txBody>
      </p:sp>
      <p:sp>
        <p:nvSpPr>
          <p:cNvPr id="33" name="Textfeld 32"/>
          <p:cNvSpPr txBox="1"/>
          <p:nvPr/>
        </p:nvSpPr>
        <p:spPr>
          <a:xfrm>
            <a:off x="8273061" y="4254980"/>
            <a:ext cx="2736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Siedlungs-, Verkehr-, Wasserfläche, Sonstiges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111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0">
        <p:fade/>
      </p:transition>
    </mc:Choice>
    <mc:Fallback xmlns="">
      <p:transition spd="med" advTm="2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7573CB-5974-4C2F-825B-FE311270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Apropos Flächeneffizienz – wie viel landwirtschaftlich genutzte Fläche gibt es in Deutschland?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AD1CC3-137A-4B27-B10A-2395574E0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530952D-42DF-8970-71B5-018CD39B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31</a:t>
            </a:fld>
            <a:endParaRPr lang="de-DE" dirty="0"/>
          </a:p>
        </p:txBody>
      </p:sp>
      <p:pic>
        <p:nvPicPr>
          <p:cNvPr id="29" name="Inhaltsplatzhalter 5">
            <a:extLst>
              <a:ext uri="{FF2B5EF4-FFF2-40B4-BE49-F238E27FC236}">
                <a16:creationId xmlns:a16="http://schemas.microsoft.com/office/drawing/2014/main" id="{EA73A39E-FDA2-435F-AA8B-0F7E8DAC0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021" y="1870034"/>
            <a:ext cx="2829817" cy="3869836"/>
          </a:xfrm>
        </p:spPr>
      </p:pic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5875F548-A030-42DB-B046-6408AA76B0C9}"/>
              </a:ext>
            </a:extLst>
          </p:cNvPr>
          <p:cNvGrpSpPr/>
          <p:nvPr/>
        </p:nvGrpSpPr>
        <p:grpSpPr>
          <a:xfrm>
            <a:off x="1845203" y="1392540"/>
            <a:ext cx="8243958" cy="3895630"/>
            <a:chOff x="29103" y="1479146"/>
            <a:chExt cx="8243958" cy="3895630"/>
          </a:xfrm>
        </p:grpSpPr>
        <p:graphicFrame>
          <p:nvGraphicFramePr>
            <p:cNvPr id="31" name="Diagramm 30">
              <a:extLst>
                <a:ext uri="{FF2B5EF4-FFF2-40B4-BE49-F238E27FC236}">
                  <a16:creationId xmlns:a16="http://schemas.microsoft.com/office/drawing/2014/main" id="{E1EE0531-F058-4558-904D-C027159BDC0C}"/>
                </a:ext>
              </a:extLst>
            </p:cNvPr>
            <p:cNvGraphicFramePr>
              <a:graphicFrameLocks/>
            </p:cNvGraphicFramePr>
            <p:nvPr>
              <p:extLst/>
            </p:nvPr>
          </p:nvGraphicFramePr>
          <p:xfrm>
            <a:off x="1946128" y="2614706"/>
            <a:ext cx="4620054" cy="27540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6B8D8480-283B-467E-BE20-3E10D3DF2855}"/>
                </a:ext>
              </a:extLst>
            </p:cNvPr>
            <p:cNvSpPr txBox="1"/>
            <p:nvPr/>
          </p:nvSpPr>
          <p:spPr>
            <a:xfrm>
              <a:off x="29103" y="1479146"/>
              <a:ext cx="310258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de-DE" sz="2000" b="1" dirty="0" smtClean="0"/>
            </a:p>
            <a:p>
              <a:pPr algn="r"/>
              <a:endParaRPr lang="de-DE" sz="2000" b="1" dirty="0"/>
            </a:p>
            <a:p>
              <a:pPr algn="r"/>
              <a:r>
                <a:rPr lang="de-DE" sz="2000" b="1" dirty="0" smtClean="0"/>
                <a:t>7,8 </a:t>
              </a:r>
              <a:r>
                <a:rPr lang="de-DE" sz="2000" b="1" dirty="0"/>
                <a:t>Mio. ha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3BBAFF57-C9D0-429A-861B-741E093EFA36}"/>
                </a:ext>
              </a:extLst>
            </p:cNvPr>
            <p:cNvSpPr txBox="1"/>
            <p:nvPr/>
          </p:nvSpPr>
          <p:spPr>
            <a:xfrm>
              <a:off x="810148" y="4666890"/>
              <a:ext cx="18406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de-DE" sz="2000" b="1" dirty="0" smtClean="0"/>
            </a:p>
            <a:p>
              <a:pPr algn="r"/>
              <a:r>
                <a:rPr lang="de-DE" sz="2000" b="1" dirty="0" smtClean="0"/>
                <a:t>11,4 </a:t>
              </a:r>
              <a:r>
                <a:rPr lang="de-DE" sz="2000" b="1" dirty="0"/>
                <a:t>Mio. ha</a:t>
              </a: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0DC3AADE-C566-4FDF-867A-53CA6CE98346}"/>
                </a:ext>
              </a:extLst>
            </p:cNvPr>
            <p:cNvSpPr txBox="1"/>
            <p:nvPr/>
          </p:nvSpPr>
          <p:spPr>
            <a:xfrm>
              <a:off x="5789117" y="2156948"/>
              <a:ext cx="248394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de-DE" sz="2000" b="1" dirty="0" smtClean="0"/>
            </a:p>
            <a:p>
              <a:endParaRPr lang="de-DE" sz="2000" b="1" dirty="0"/>
            </a:p>
            <a:p>
              <a:r>
                <a:rPr lang="de-DE" sz="2000" b="1" dirty="0" smtClean="0"/>
                <a:t>16,6 </a:t>
              </a:r>
              <a:r>
                <a:rPr lang="de-DE" sz="2000" b="1" dirty="0"/>
                <a:t>Mio. ha</a:t>
              </a:r>
            </a:p>
          </p:txBody>
        </p:sp>
        <p:cxnSp>
          <p:nvCxnSpPr>
            <p:cNvPr id="37" name="Verbinder: gewinkelt 11">
              <a:extLst>
                <a:ext uri="{FF2B5EF4-FFF2-40B4-BE49-F238E27FC236}">
                  <a16:creationId xmlns:a16="http://schemas.microsoft.com/office/drawing/2014/main" id="{5237BD93-AF84-40F6-ADD7-1FFBE98E8DCB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 rot="5400000">
              <a:off x="5962753" y="2807599"/>
              <a:ext cx="703324" cy="1433348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Verbinder: gewinkelt 15">
              <a:extLst>
                <a:ext uri="{FF2B5EF4-FFF2-40B4-BE49-F238E27FC236}">
                  <a16:creationId xmlns:a16="http://schemas.microsoft.com/office/drawing/2014/main" id="{F460AB7A-56BE-4F10-B2B6-B869713BC301}"/>
                </a:ext>
              </a:extLst>
            </p:cNvPr>
            <p:cNvCxnSpPr>
              <a:cxnSpLocks/>
              <a:stCxn id="34" idx="2"/>
            </p:cNvCxnSpPr>
            <p:nvPr/>
          </p:nvCxnSpPr>
          <p:spPr>
            <a:xfrm rot="16200000" flipH="1">
              <a:off x="2102299" y="1972907"/>
              <a:ext cx="677802" cy="1721606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Verbinder: gewinkelt 18">
              <a:extLst>
                <a:ext uri="{FF2B5EF4-FFF2-40B4-BE49-F238E27FC236}">
                  <a16:creationId xmlns:a16="http://schemas.microsoft.com/office/drawing/2014/main" id="{EC8E4069-303F-4C33-9D03-51DE1D9E1FEA}"/>
                </a:ext>
              </a:extLst>
            </p:cNvPr>
            <p:cNvCxnSpPr>
              <a:cxnSpLocks/>
              <a:stCxn id="35" idx="0"/>
            </p:cNvCxnSpPr>
            <p:nvPr/>
          </p:nvCxnSpPr>
          <p:spPr>
            <a:xfrm rot="5400000" flipH="1" flipV="1">
              <a:off x="2241473" y="3841072"/>
              <a:ext cx="314807" cy="1336830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EAEF6462-D4F8-4CC5-B4EC-FE63E5CD9504}"/>
                </a:ext>
              </a:extLst>
            </p:cNvPr>
            <p:cNvSpPr txBox="1"/>
            <p:nvPr/>
          </p:nvSpPr>
          <p:spPr>
            <a:xfrm>
              <a:off x="2756394" y="3270390"/>
              <a:ext cx="14609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2000" b="1" dirty="0"/>
                <a:t>21,8%</a:t>
              </a: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B98CCAB8-FF95-4E7C-87A5-D0858920E15C}"/>
                </a:ext>
              </a:extLst>
            </p:cNvPr>
            <p:cNvSpPr txBox="1"/>
            <p:nvPr/>
          </p:nvSpPr>
          <p:spPr>
            <a:xfrm>
              <a:off x="3131691" y="4225245"/>
              <a:ext cx="1085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2000" b="1" dirty="0"/>
                <a:t>31,8%</a:t>
              </a: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418D15E5-CC3B-4456-A1C7-8DAB9BD04CD3}"/>
                </a:ext>
              </a:extLst>
            </p:cNvPr>
            <p:cNvSpPr txBox="1"/>
            <p:nvPr/>
          </p:nvSpPr>
          <p:spPr>
            <a:xfrm>
              <a:off x="4355767" y="3815246"/>
              <a:ext cx="10526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2000" b="1" dirty="0"/>
                <a:t>46,4%</a:t>
              </a:r>
            </a:p>
          </p:txBody>
        </p:sp>
      </p:grpSp>
      <p:sp>
        <p:nvSpPr>
          <p:cNvPr id="45" name="Textfeld 44">
            <a:extLst>
              <a:ext uri="{FF2B5EF4-FFF2-40B4-BE49-F238E27FC236}">
                <a16:creationId xmlns:a16="http://schemas.microsoft.com/office/drawing/2014/main" id="{8C30BA29-0D95-4F86-B142-D6B0EECA7510}"/>
              </a:ext>
            </a:extLst>
          </p:cNvPr>
          <p:cNvSpPr txBox="1"/>
          <p:nvPr/>
        </p:nvSpPr>
        <p:spPr>
          <a:xfrm>
            <a:off x="6099035" y="5537534"/>
            <a:ext cx="1951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b="1" dirty="0"/>
              <a:t>∑ 35,8 Mio. ha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58100DBC-406B-42E2-BBFD-74D9AB74F58D}"/>
              </a:ext>
            </a:extLst>
          </p:cNvPr>
          <p:cNvSpPr txBox="1"/>
          <p:nvPr/>
        </p:nvSpPr>
        <p:spPr>
          <a:xfrm>
            <a:off x="3023906" y="5811845"/>
            <a:ext cx="2823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modifiziert nach</a:t>
            </a:r>
          </a:p>
          <a:p>
            <a:r>
              <a:rPr lang="de-DE" sz="800" dirty="0">
                <a:latin typeface="Calibri" pitchFamily="34" charset="0"/>
                <a:hlinkClick r:id="rId6"/>
              </a:rPr>
              <a:t>https://mediathek.fnr.de/flachennutzung-in-deutschland.html</a:t>
            </a:r>
            <a:r>
              <a:rPr lang="de-DE" sz="800" dirty="0">
                <a:latin typeface="Calibri" pitchFamily="34" charset="0"/>
              </a:rPr>
              <a:t> </a:t>
            </a:r>
            <a:endParaRPr lang="de-DE" sz="800" dirty="0"/>
          </a:p>
        </p:txBody>
      </p:sp>
      <p:sp>
        <p:nvSpPr>
          <p:cNvPr id="47" name="Textfeld 46"/>
          <p:cNvSpPr txBox="1"/>
          <p:nvPr/>
        </p:nvSpPr>
        <p:spPr>
          <a:xfrm>
            <a:off x="3023906" y="5187199"/>
            <a:ext cx="1317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Waldfläche</a:t>
            </a:r>
            <a:endParaRPr lang="de-DE" dirty="0"/>
          </a:p>
        </p:txBody>
      </p:sp>
      <p:sp>
        <p:nvSpPr>
          <p:cNvPr id="48" name="Textfeld 47"/>
          <p:cNvSpPr txBox="1"/>
          <p:nvPr/>
        </p:nvSpPr>
        <p:spPr>
          <a:xfrm>
            <a:off x="7478708" y="2100772"/>
            <a:ext cx="2736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Landwirtschaftlich genutzte Flächen</a:t>
            </a:r>
            <a:endParaRPr lang="de-DE" dirty="0"/>
          </a:p>
        </p:txBody>
      </p:sp>
      <p:sp>
        <p:nvSpPr>
          <p:cNvPr id="49" name="Textfeld 48"/>
          <p:cNvSpPr txBox="1"/>
          <p:nvPr/>
        </p:nvSpPr>
        <p:spPr>
          <a:xfrm>
            <a:off x="2529021" y="1411630"/>
            <a:ext cx="2736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Siedlungs-, Verkehr-, Wasserfläche, Sonstiges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793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0">
        <p:fade/>
      </p:transition>
    </mc:Choice>
    <mc:Fallback xmlns="">
      <p:transition spd="med" advTm="2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feil nach unten 4"/>
          <p:cNvSpPr/>
          <p:nvPr/>
        </p:nvSpPr>
        <p:spPr>
          <a:xfrm>
            <a:off x="5673997" y="1789815"/>
            <a:ext cx="1663700" cy="425768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7573CB-5974-4C2F-825B-FE311270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Wie viel Prozent der landwirtschaftlich genutzten Flächen müssen mit Agri-PV versehen werden, um die Klimaziele bis 2030/2040 zu erreichen, angenommen 50 % der Leistung sollen aus Agri-PV stammen?         </a:t>
            </a:r>
            <a:endParaRPr lang="de-DE" b="1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AD1CC3-137A-4B27-B10A-2395574E0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Ludwig Ostertag, Laura Ruminger,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530952D-42DF-8970-71B5-018CD39B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32</a:t>
            </a:fld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1899059"/>
            <a:ext cx="3906436" cy="2669038"/>
          </a:xfrm>
          <a:prstGeom prst="rect">
            <a:avLst/>
          </a:prstGeom>
        </p:spPr>
      </p:pic>
      <p:sp>
        <p:nvSpPr>
          <p:cNvPr id="10" name="Textfeld 9"/>
          <p:cNvSpPr txBox="1"/>
          <p:nvPr/>
        </p:nvSpPr>
        <p:spPr>
          <a:xfrm>
            <a:off x="4893835" y="1789815"/>
            <a:ext cx="3224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/>
              <a:t>PV Ausbauziel 2030: 215 GW</a:t>
            </a:r>
          </a:p>
          <a:p>
            <a:r>
              <a:rPr lang="de-DE" smtClean="0"/>
              <a:t>PV Ausbauziel 2040: 400 GW</a:t>
            </a:r>
            <a:endParaRPr lang="de-DE"/>
          </a:p>
        </p:txBody>
      </p:sp>
      <p:sp>
        <p:nvSpPr>
          <p:cNvPr id="12" name="Textfeld 11"/>
          <p:cNvSpPr txBox="1"/>
          <p:nvPr/>
        </p:nvSpPr>
        <p:spPr>
          <a:xfrm>
            <a:off x="4850874" y="2618802"/>
            <a:ext cx="3266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/>
              <a:t>50 % Agri-PV, 50 % </a:t>
            </a:r>
            <a:r>
              <a:rPr lang="de-DE"/>
              <a:t>S</a:t>
            </a:r>
            <a:r>
              <a:rPr lang="de-DE" smtClean="0"/>
              <a:t>onstiges</a:t>
            </a:r>
            <a:endParaRPr lang="de-DE"/>
          </a:p>
        </p:txBody>
      </p:sp>
      <p:pic>
        <p:nvPicPr>
          <p:cNvPr id="18" name="Grafik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3086" y="1900107"/>
            <a:ext cx="1979093" cy="2481251"/>
          </a:xfrm>
          <a:prstGeom prst="rect">
            <a:avLst/>
          </a:prstGeom>
        </p:spPr>
      </p:pic>
      <p:sp>
        <p:nvSpPr>
          <p:cNvPr id="8" name="Textfeld 7"/>
          <p:cNvSpPr txBox="1"/>
          <p:nvPr/>
        </p:nvSpPr>
        <p:spPr>
          <a:xfrm>
            <a:off x="9123086" y="3596528"/>
            <a:ext cx="85264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de-DE" smtClean="0"/>
          </a:p>
          <a:p>
            <a:pPr algn="r"/>
            <a:r>
              <a:rPr lang="de-DE" smtClean="0"/>
              <a:t>???</a:t>
            </a:r>
          </a:p>
          <a:p>
            <a:pPr algn="r"/>
            <a:endParaRPr lang="de-DE"/>
          </a:p>
        </p:txBody>
      </p:sp>
      <p:sp>
        <p:nvSpPr>
          <p:cNvPr id="13" name="Textfeld 12"/>
          <p:cNvSpPr txBox="1"/>
          <p:nvPr/>
        </p:nvSpPr>
        <p:spPr>
          <a:xfrm>
            <a:off x="5172790" y="4012026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/>
              <a:t>1 ha/MW = 1000 ha/GW</a:t>
            </a:r>
            <a:endParaRPr lang="de-D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6114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0">
        <p:fade/>
      </p:transition>
    </mc:Choice>
    <mc:Fallback xmlns="">
      <p:transition spd="med" advTm="2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feil nach unten 4"/>
          <p:cNvSpPr/>
          <p:nvPr/>
        </p:nvSpPr>
        <p:spPr>
          <a:xfrm>
            <a:off x="5673997" y="1789815"/>
            <a:ext cx="1663700" cy="425768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AD1CC3-137A-4B27-B10A-2395574E0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Ludwig Ostertag, Laura Ruminger,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530952D-42DF-8970-71B5-018CD39B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33</a:t>
            </a:fld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1899059"/>
            <a:ext cx="3906436" cy="2669038"/>
          </a:xfrm>
          <a:prstGeom prst="rect">
            <a:avLst/>
          </a:prstGeom>
        </p:spPr>
      </p:pic>
      <p:sp>
        <p:nvSpPr>
          <p:cNvPr id="10" name="Textfeld 9"/>
          <p:cNvSpPr txBox="1"/>
          <p:nvPr/>
        </p:nvSpPr>
        <p:spPr>
          <a:xfrm>
            <a:off x="4893835" y="1789815"/>
            <a:ext cx="3224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/>
              <a:t>PV Ausbauziel 2030: 215 GW</a:t>
            </a:r>
          </a:p>
          <a:p>
            <a:r>
              <a:rPr lang="de-DE" smtClean="0"/>
              <a:t>PV Ausbauziel 2040: 400 GW</a:t>
            </a:r>
            <a:endParaRPr lang="de-DE"/>
          </a:p>
        </p:txBody>
      </p:sp>
      <p:sp>
        <p:nvSpPr>
          <p:cNvPr id="11" name="Textfeld 10"/>
          <p:cNvSpPr txBox="1"/>
          <p:nvPr/>
        </p:nvSpPr>
        <p:spPr>
          <a:xfrm>
            <a:off x="5172790" y="4012026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/>
              <a:t>1 ha/MW = 1000 ha/GW</a:t>
            </a:r>
            <a:endParaRPr lang="de-DE"/>
          </a:p>
        </p:txBody>
      </p:sp>
      <p:sp>
        <p:nvSpPr>
          <p:cNvPr id="12" name="Textfeld 11"/>
          <p:cNvSpPr txBox="1"/>
          <p:nvPr/>
        </p:nvSpPr>
        <p:spPr>
          <a:xfrm>
            <a:off x="4714331" y="2618098"/>
            <a:ext cx="3228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/>
              <a:t>50 % Agri-PV, 50 % sonstiges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/>
              <p:cNvSpPr txBox="1"/>
              <p:nvPr/>
            </p:nvSpPr>
            <p:spPr>
              <a:xfrm>
                <a:off x="4467436" y="3178956"/>
                <a:ext cx="407682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mtClean="0">
                    <a:ea typeface="Cambria Math" panose="02040503050406030204" pitchFamily="18" charset="0"/>
                  </a:rPr>
                  <a:t>Agri-PV Ausbauziel 2030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mtClean="0"/>
                  <a:t> 107,5 GW</a:t>
                </a:r>
              </a:p>
              <a:p>
                <a:r>
                  <a:rPr lang="de-DE">
                    <a:ea typeface="Cambria Math" panose="02040503050406030204" pitchFamily="18" charset="0"/>
                  </a:rPr>
                  <a:t>Agri-PV Ausbauziel 20</a:t>
                </a:r>
                <a:r>
                  <a:rPr lang="de-DE" smtClean="0">
                    <a:ea typeface="Cambria Math" panose="02040503050406030204" pitchFamily="18" charset="0"/>
                  </a:rPr>
                  <a:t>40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mtClean="0"/>
                  <a:t> 200 GW</a:t>
                </a:r>
                <a:endParaRPr lang="de-DE"/>
              </a:p>
            </p:txBody>
          </p:sp>
        </mc:Choice>
        <mc:Fallback xmlns="">
          <p:sp>
            <p:nvSpPr>
              <p:cNvPr id="15" name="Textfeld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436" y="3178956"/>
                <a:ext cx="4076822" cy="646331"/>
              </a:xfrm>
              <a:prstGeom prst="rect">
                <a:avLst/>
              </a:prstGeom>
              <a:blipFill>
                <a:blip r:embed="rId5"/>
                <a:stretch>
                  <a:fillRect l="-1345" t="-4673" r="-598" b="-1308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/>
              <p:cNvSpPr txBox="1"/>
              <p:nvPr/>
            </p:nvSpPr>
            <p:spPr>
              <a:xfrm>
                <a:off x="2757066" y="5401167"/>
                <a:ext cx="760015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/>
                  <a:t>p</a:t>
                </a:r>
                <a:r>
                  <a:rPr lang="de-DE" smtClean="0"/>
                  <a:t>rozentualer Flächenbedarf 2030: 107 500 ha / 16 600 000 ha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mtClean="0"/>
                  <a:t> </a:t>
                </a:r>
                <a:r>
                  <a:rPr lang="de-DE" b="1" smtClean="0"/>
                  <a:t>0,65 %</a:t>
                </a:r>
              </a:p>
              <a:p>
                <a:r>
                  <a:rPr lang="de-DE" smtClean="0"/>
                  <a:t>prozentualer </a:t>
                </a:r>
                <a:r>
                  <a:rPr lang="de-DE"/>
                  <a:t>Flächenbedarf </a:t>
                </a:r>
                <a:r>
                  <a:rPr lang="de-DE" smtClean="0"/>
                  <a:t>2040</a:t>
                </a:r>
                <a:r>
                  <a:rPr lang="de-DE"/>
                  <a:t>: </a:t>
                </a:r>
                <a:r>
                  <a:rPr lang="de-DE" smtClean="0"/>
                  <a:t>200 000 ha </a:t>
                </a:r>
                <a:r>
                  <a:rPr lang="de-DE"/>
                  <a:t>/ 16 600 000 ha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</m:t>
                    </m:r>
                  </m:oMath>
                </a14:m>
                <a:r>
                  <a:rPr lang="de-DE" b="1" smtClean="0"/>
                  <a:t>1,20 %</a:t>
                </a:r>
                <a:endParaRPr lang="de-DE" b="1"/>
              </a:p>
            </p:txBody>
          </p:sp>
        </mc:Choice>
        <mc:Fallback xmlns="">
          <p:sp>
            <p:nvSpPr>
              <p:cNvPr id="16" name="Textfeld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066" y="5401167"/>
                <a:ext cx="7600157" cy="646331"/>
              </a:xfrm>
              <a:prstGeom prst="rect">
                <a:avLst/>
              </a:prstGeom>
              <a:blipFill>
                <a:blip r:embed="rId6"/>
                <a:stretch>
                  <a:fillRect l="-642" t="-4717" b="-14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feld 16"/>
          <p:cNvSpPr txBox="1"/>
          <p:nvPr/>
        </p:nvSpPr>
        <p:spPr>
          <a:xfrm>
            <a:off x="3306895" y="4568097"/>
            <a:ext cx="6397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/>
              <a:t>Flächenbedarf 2030: 107,5 GW * 1000 ha/GW = 107 500 ha </a:t>
            </a:r>
          </a:p>
          <a:p>
            <a:r>
              <a:rPr lang="de-DE" smtClean="0"/>
              <a:t>Flächenbedarf 2040: 200 GW * </a:t>
            </a:r>
            <a:r>
              <a:rPr lang="de-DE"/>
              <a:t>1000 ha/GW </a:t>
            </a:r>
            <a:r>
              <a:rPr lang="de-DE" smtClean="0"/>
              <a:t>= 200 000 ha</a:t>
            </a:r>
            <a:endParaRPr lang="de-DE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947573CB-5974-4C2F-825B-FE3112700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viel Prozent der landwirtschaftlich genutzten Flächen müssen mit Agri-PV versehen werden, um die Klimaziele bis 2030/2040 zu erreichen, angenommen 50 % der Leistung sollen aus Agri-PV stammen?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    </a:t>
            </a:r>
            <a:endParaRPr lang="de-DE" b="1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7518" y="1789815"/>
            <a:ext cx="1676634" cy="23434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14407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0">
        <p:fade/>
      </p:transition>
    </mc:Choice>
    <mc:Fallback xmlns="">
      <p:transition spd="med" advTm="2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1B67-FC62-B770-5E31-BDB6E978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Welche Nachteile hat Agri-PV?</a:t>
            </a:r>
            <a:endParaRPr lang="de-DE" b="1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5F9EDF-6F6D-B4D6-6B8D-C62A4EB4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88AF877-0B40-F9F5-956D-8E956EE0FD28}"/>
              </a:ext>
            </a:extLst>
          </p:cNvPr>
          <p:cNvSpPr/>
          <p:nvPr/>
        </p:nvSpPr>
        <p:spPr>
          <a:xfrm>
            <a:off x="3560389" y="3978519"/>
            <a:ext cx="72000" cy="917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BF1169B-AE14-C78D-938E-8A0ECFDB24E3}"/>
              </a:ext>
            </a:extLst>
          </p:cNvPr>
          <p:cNvSpPr/>
          <p:nvPr/>
        </p:nvSpPr>
        <p:spPr>
          <a:xfrm>
            <a:off x="7030828" y="3394951"/>
            <a:ext cx="93690" cy="15091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Pflanze Silhouette">
            <a:extLst>
              <a:ext uri="{FF2B5EF4-FFF2-40B4-BE49-F238E27FC236}">
                <a16:creationId xmlns:a16="http://schemas.microsoft.com/office/drawing/2014/main" id="{27622C9E-5C74-9EF3-3F3C-535174F59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600" y="4177286"/>
            <a:ext cx="830483" cy="830483"/>
          </a:xfrm>
          <a:prstGeom prst="rect">
            <a:avLst/>
          </a:prstGeom>
        </p:spPr>
      </p:pic>
      <p:pic>
        <p:nvPicPr>
          <p:cNvPr id="9" name="Grafik 8" descr="Sonnenblumen Silhouette">
            <a:extLst>
              <a:ext uri="{FF2B5EF4-FFF2-40B4-BE49-F238E27FC236}">
                <a16:creationId xmlns:a16="http://schemas.microsoft.com/office/drawing/2014/main" id="{7D561460-5DC6-C407-9CC1-66B86C232C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1469" y="4064918"/>
            <a:ext cx="914400" cy="914400"/>
          </a:xfrm>
          <a:prstGeom prst="rect">
            <a:avLst/>
          </a:prstGeom>
        </p:spPr>
      </p:pic>
      <p:pic>
        <p:nvPicPr>
          <p:cNvPr id="10" name="Grafik 9" descr="Pflanze Silhouette">
            <a:extLst>
              <a:ext uri="{FF2B5EF4-FFF2-40B4-BE49-F238E27FC236}">
                <a16:creationId xmlns:a16="http://schemas.microsoft.com/office/drawing/2014/main" id="{FE4F3134-A369-3388-A3CE-1EA8CCEB5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971" y="4157312"/>
            <a:ext cx="830483" cy="830483"/>
          </a:xfrm>
          <a:prstGeom prst="rect">
            <a:avLst/>
          </a:prstGeom>
        </p:spPr>
      </p:pic>
      <p:pic>
        <p:nvPicPr>
          <p:cNvPr id="11" name="Grafik 10" descr="Pflanze Silhouette">
            <a:extLst>
              <a:ext uri="{FF2B5EF4-FFF2-40B4-BE49-F238E27FC236}">
                <a16:creationId xmlns:a16="http://schemas.microsoft.com/office/drawing/2014/main" id="{1DA308F5-F830-2867-D744-1F8A632B7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3342" y="4177286"/>
            <a:ext cx="830483" cy="830483"/>
          </a:xfrm>
          <a:prstGeom prst="rect">
            <a:avLst/>
          </a:prstGeom>
        </p:spPr>
      </p:pic>
      <p:pic>
        <p:nvPicPr>
          <p:cNvPr id="12" name="Grafik 11" descr="Sonnenblumen Silhouette">
            <a:extLst>
              <a:ext uri="{FF2B5EF4-FFF2-40B4-BE49-F238E27FC236}">
                <a16:creationId xmlns:a16="http://schemas.microsoft.com/office/drawing/2014/main" id="{3ADF5523-059F-5C47-07EA-0083B03C97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4732" y="4064918"/>
            <a:ext cx="914400" cy="9144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1563B15-029A-CC00-E0B7-72B33970FEC2}"/>
              </a:ext>
            </a:extLst>
          </p:cNvPr>
          <p:cNvSpPr/>
          <p:nvPr/>
        </p:nvSpPr>
        <p:spPr>
          <a:xfrm>
            <a:off x="2988000" y="4912363"/>
            <a:ext cx="4680000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0" name="Grafik 49" descr="Sonnenblumen Silhouette">
            <a:extLst>
              <a:ext uri="{FF2B5EF4-FFF2-40B4-BE49-F238E27FC236}">
                <a16:creationId xmlns:a16="http://schemas.microsoft.com/office/drawing/2014/main" id="{597164D2-FE0F-216A-5804-230495A83D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611" y="4057783"/>
            <a:ext cx="914400" cy="914400"/>
          </a:xfrm>
          <a:prstGeom prst="rect">
            <a:avLst/>
          </a:prstGeom>
          <a:effectLst/>
        </p:spPr>
      </p:pic>
      <p:pic>
        <p:nvPicPr>
          <p:cNvPr id="51" name="Grafik 50" descr="Pflanze Silhouette">
            <a:extLst>
              <a:ext uri="{FF2B5EF4-FFF2-40B4-BE49-F238E27FC236}">
                <a16:creationId xmlns:a16="http://schemas.microsoft.com/office/drawing/2014/main" id="{8305C602-7464-9BE1-8BD1-305EE7602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1113" y="4170151"/>
            <a:ext cx="830483" cy="830483"/>
          </a:xfrm>
          <a:prstGeom prst="rect">
            <a:avLst/>
          </a:prstGeom>
          <a:effectLst/>
        </p:spPr>
      </p:pic>
      <p:pic>
        <p:nvPicPr>
          <p:cNvPr id="52" name="Grafik 51" descr="Pflanze Silhouette">
            <a:extLst>
              <a:ext uri="{FF2B5EF4-FFF2-40B4-BE49-F238E27FC236}">
                <a16:creationId xmlns:a16="http://schemas.microsoft.com/office/drawing/2014/main" id="{E9809776-52A2-566F-25EC-10511ADEB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3484" y="4170151"/>
            <a:ext cx="830483" cy="830483"/>
          </a:xfrm>
          <a:prstGeom prst="rect">
            <a:avLst/>
          </a:prstGeom>
          <a:effectLst/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BD2A018F-0942-5044-24EE-266F268B5B83}"/>
              </a:ext>
            </a:extLst>
          </p:cNvPr>
          <p:cNvSpPr/>
          <p:nvPr/>
        </p:nvSpPr>
        <p:spPr>
          <a:xfrm>
            <a:off x="323850" y="4912363"/>
            <a:ext cx="3772146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5EB333F-2E88-533F-BFC6-E2E11A3D9A6E}"/>
              </a:ext>
            </a:extLst>
          </p:cNvPr>
          <p:cNvSpPr/>
          <p:nvPr/>
        </p:nvSpPr>
        <p:spPr>
          <a:xfrm rot="4809774">
            <a:off x="5347595" y="1500732"/>
            <a:ext cx="73542" cy="4388650"/>
          </a:xfrm>
          <a:prstGeom prst="rect">
            <a:avLst/>
          </a:prstGeom>
          <a:pattFill prst="narHorz">
            <a:fgClr>
              <a:schemeClr val="accent6"/>
            </a:fgClr>
            <a:bgClr>
              <a:schemeClr val="bg1"/>
            </a:bgClr>
          </a:patt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A8B880C1-5836-E209-ABF1-474700D7A907}"/>
              </a:ext>
            </a:extLst>
          </p:cNvPr>
          <p:cNvSpPr/>
          <p:nvPr/>
        </p:nvSpPr>
        <p:spPr>
          <a:xfrm>
            <a:off x="799662" y="1293466"/>
            <a:ext cx="366091" cy="35936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53481A15-7486-CE2F-91EE-E60BA4C8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34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1945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1B67-FC62-B770-5E31-BDB6E978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5F9EDF-6F6D-B4D6-6B8D-C62A4EB4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88AF877-0B40-F9F5-956D-8E956EE0FD28}"/>
              </a:ext>
            </a:extLst>
          </p:cNvPr>
          <p:cNvSpPr/>
          <p:nvPr/>
        </p:nvSpPr>
        <p:spPr>
          <a:xfrm>
            <a:off x="3560389" y="3978519"/>
            <a:ext cx="72000" cy="917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BF1169B-AE14-C78D-938E-8A0ECFDB24E3}"/>
              </a:ext>
            </a:extLst>
          </p:cNvPr>
          <p:cNvSpPr/>
          <p:nvPr/>
        </p:nvSpPr>
        <p:spPr>
          <a:xfrm>
            <a:off x="7030828" y="3394951"/>
            <a:ext cx="93690" cy="15091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Pflanze Silhouette">
            <a:extLst>
              <a:ext uri="{FF2B5EF4-FFF2-40B4-BE49-F238E27FC236}">
                <a16:creationId xmlns:a16="http://schemas.microsoft.com/office/drawing/2014/main" id="{27622C9E-5C74-9EF3-3F3C-535174F59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600" y="4177286"/>
            <a:ext cx="830483" cy="830483"/>
          </a:xfrm>
          <a:prstGeom prst="rect">
            <a:avLst/>
          </a:prstGeom>
        </p:spPr>
      </p:pic>
      <p:pic>
        <p:nvPicPr>
          <p:cNvPr id="9" name="Grafik 8" descr="Sonnenblumen Silhouette">
            <a:extLst>
              <a:ext uri="{FF2B5EF4-FFF2-40B4-BE49-F238E27FC236}">
                <a16:creationId xmlns:a16="http://schemas.microsoft.com/office/drawing/2014/main" id="{7D561460-5DC6-C407-9CC1-66B86C232C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1469" y="4064918"/>
            <a:ext cx="914400" cy="914400"/>
          </a:xfrm>
          <a:prstGeom prst="rect">
            <a:avLst/>
          </a:prstGeom>
        </p:spPr>
      </p:pic>
      <p:pic>
        <p:nvPicPr>
          <p:cNvPr id="10" name="Grafik 9" descr="Pflanze Silhouette">
            <a:extLst>
              <a:ext uri="{FF2B5EF4-FFF2-40B4-BE49-F238E27FC236}">
                <a16:creationId xmlns:a16="http://schemas.microsoft.com/office/drawing/2014/main" id="{FE4F3134-A369-3388-A3CE-1EA8CCEB5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971" y="4157312"/>
            <a:ext cx="830483" cy="830483"/>
          </a:xfrm>
          <a:prstGeom prst="rect">
            <a:avLst/>
          </a:prstGeom>
        </p:spPr>
      </p:pic>
      <p:pic>
        <p:nvPicPr>
          <p:cNvPr id="11" name="Grafik 10" descr="Pflanze Silhouette">
            <a:extLst>
              <a:ext uri="{FF2B5EF4-FFF2-40B4-BE49-F238E27FC236}">
                <a16:creationId xmlns:a16="http://schemas.microsoft.com/office/drawing/2014/main" id="{1DA308F5-F830-2867-D744-1F8A632B7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3342" y="4177286"/>
            <a:ext cx="830483" cy="830483"/>
          </a:xfrm>
          <a:prstGeom prst="rect">
            <a:avLst/>
          </a:prstGeom>
        </p:spPr>
      </p:pic>
      <p:pic>
        <p:nvPicPr>
          <p:cNvPr id="12" name="Grafik 11" descr="Sonnenblumen Silhouette">
            <a:extLst>
              <a:ext uri="{FF2B5EF4-FFF2-40B4-BE49-F238E27FC236}">
                <a16:creationId xmlns:a16="http://schemas.microsoft.com/office/drawing/2014/main" id="{3ADF5523-059F-5C47-07EA-0083B03C97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4732" y="4064918"/>
            <a:ext cx="914400" cy="9144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1563B15-029A-CC00-E0B7-72B33970FEC2}"/>
              </a:ext>
            </a:extLst>
          </p:cNvPr>
          <p:cNvSpPr/>
          <p:nvPr/>
        </p:nvSpPr>
        <p:spPr>
          <a:xfrm>
            <a:off x="2988000" y="4912363"/>
            <a:ext cx="4680000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0" name="Grafik 49" descr="Sonnenblumen Silhouette">
            <a:extLst>
              <a:ext uri="{FF2B5EF4-FFF2-40B4-BE49-F238E27FC236}">
                <a16:creationId xmlns:a16="http://schemas.microsoft.com/office/drawing/2014/main" id="{597164D2-FE0F-216A-5804-230495A83D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611" y="4057783"/>
            <a:ext cx="914400" cy="914400"/>
          </a:xfrm>
          <a:prstGeom prst="rect">
            <a:avLst/>
          </a:prstGeom>
          <a:effectLst/>
        </p:spPr>
      </p:pic>
      <p:pic>
        <p:nvPicPr>
          <p:cNvPr id="51" name="Grafik 50" descr="Pflanze Silhouette">
            <a:extLst>
              <a:ext uri="{FF2B5EF4-FFF2-40B4-BE49-F238E27FC236}">
                <a16:creationId xmlns:a16="http://schemas.microsoft.com/office/drawing/2014/main" id="{8305C602-7464-9BE1-8BD1-305EE7602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1113" y="4170151"/>
            <a:ext cx="830483" cy="830483"/>
          </a:xfrm>
          <a:prstGeom prst="rect">
            <a:avLst/>
          </a:prstGeom>
          <a:effectLst/>
        </p:spPr>
      </p:pic>
      <p:pic>
        <p:nvPicPr>
          <p:cNvPr id="52" name="Grafik 51" descr="Pflanze Silhouette">
            <a:extLst>
              <a:ext uri="{FF2B5EF4-FFF2-40B4-BE49-F238E27FC236}">
                <a16:creationId xmlns:a16="http://schemas.microsoft.com/office/drawing/2014/main" id="{E9809776-52A2-566F-25EC-10511ADEB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3484" y="4170151"/>
            <a:ext cx="830483" cy="830483"/>
          </a:xfrm>
          <a:prstGeom prst="rect">
            <a:avLst/>
          </a:prstGeom>
          <a:effectLst/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BD2A018F-0942-5044-24EE-266F268B5B83}"/>
              </a:ext>
            </a:extLst>
          </p:cNvPr>
          <p:cNvSpPr/>
          <p:nvPr/>
        </p:nvSpPr>
        <p:spPr>
          <a:xfrm>
            <a:off x="323850" y="4912363"/>
            <a:ext cx="3772146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3A0A76A-D3B6-7662-49D7-BACED9CB0878}"/>
              </a:ext>
            </a:extLst>
          </p:cNvPr>
          <p:cNvSpPr txBox="1"/>
          <p:nvPr/>
        </p:nvSpPr>
        <p:spPr>
          <a:xfrm>
            <a:off x="7980378" y="924134"/>
            <a:ext cx="234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Herausforderungen: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5EB333F-2E88-533F-BFC6-E2E11A3D9A6E}"/>
              </a:ext>
            </a:extLst>
          </p:cNvPr>
          <p:cNvSpPr/>
          <p:nvPr/>
        </p:nvSpPr>
        <p:spPr>
          <a:xfrm rot="4809774">
            <a:off x="5347595" y="1500732"/>
            <a:ext cx="73542" cy="4388650"/>
          </a:xfrm>
          <a:prstGeom prst="rect">
            <a:avLst/>
          </a:prstGeom>
          <a:pattFill prst="narHorz">
            <a:fgClr>
              <a:schemeClr val="accent6"/>
            </a:fgClr>
            <a:bgClr>
              <a:schemeClr val="bg1"/>
            </a:bgClr>
          </a:patt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A8B880C1-5836-E209-ABF1-474700D7A907}"/>
              </a:ext>
            </a:extLst>
          </p:cNvPr>
          <p:cNvSpPr/>
          <p:nvPr/>
        </p:nvSpPr>
        <p:spPr>
          <a:xfrm>
            <a:off x="799662" y="1293466"/>
            <a:ext cx="366091" cy="35936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53481A15-7486-CE2F-91EE-E60BA4C8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35</a:t>
            </a:fld>
            <a:endParaRPr lang="de-DE" dirty="0"/>
          </a:p>
        </p:txBody>
      </p:sp>
      <p:pic>
        <p:nvPicPr>
          <p:cNvPr id="23" name="Grafik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8084" y="1323450"/>
            <a:ext cx="1033829" cy="1033829"/>
          </a:xfrm>
          <a:prstGeom prst="rect">
            <a:avLst/>
          </a:prstGeom>
        </p:spPr>
      </p:pic>
      <p:sp>
        <p:nvSpPr>
          <p:cNvPr id="57" name="Textfeld 56">
            <a:extLst>
              <a:ext uri="{FF2B5EF4-FFF2-40B4-BE49-F238E27FC236}">
                <a16:creationId xmlns:a16="http://schemas.microsoft.com/office/drawing/2014/main" id="{C63CD458-EA89-9A6F-6216-F676A17B56E4}"/>
              </a:ext>
            </a:extLst>
          </p:cNvPr>
          <p:cNvSpPr txBox="1"/>
          <p:nvPr/>
        </p:nvSpPr>
        <p:spPr>
          <a:xfrm>
            <a:off x="8881913" y="1655699"/>
            <a:ext cx="296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Hohe </a:t>
            </a:r>
            <a:r>
              <a:rPr lang="de-DE" dirty="0"/>
              <a:t>A</a:t>
            </a:r>
            <a:r>
              <a:rPr lang="de-DE" dirty="0" smtClean="0"/>
              <a:t>nfangsinvestitionen</a:t>
            </a:r>
            <a:endParaRPr lang="de-DE" dirty="0"/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Nachteile hat Agri-PV? </a:t>
            </a:r>
            <a:r>
              <a:rPr lang="de-DE" b="1" smtClean="0">
                <a:sym typeface="Wingdings" panose="05000000000000000000" pitchFamily="2" charset="2"/>
              </a:rPr>
              <a:t> Lösung</a:t>
            </a:r>
            <a:endParaRPr lang="de-DE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788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1B67-FC62-B770-5E31-BDB6E978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5F9EDF-6F6D-B4D6-6B8D-C62A4EB4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88AF877-0B40-F9F5-956D-8E956EE0FD28}"/>
              </a:ext>
            </a:extLst>
          </p:cNvPr>
          <p:cNvSpPr/>
          <p:nvPr/>
        </p:nvSpPr>
        <p:spPr>
          <a:xfrm>
            <a:off x="3560389" y="3978519"/>
            <a:ext cx="72000" cy="917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BF1169B-AE14-C78D-938E-8A0ECFDB24E3}"/>
              </a:ext>
            </a:extLst>
          </p:cNvPr>
          <p:cNvSpPr/>
          <p:nvPr/>
        </p:nvSpPr>
        <p:spPr>
          <a:xfrm>
            <a:off x="7030828" y="3394951"/>
            <a:ext cx="93690" cy="15091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Pflanze Silhouette">
            <a:extLst>
              <a:ext uri="{FF2B5EF4-FFF2-40B4-BE49-F238E27FC236}">
                <a16:creationId xmlns:a16="http://schemas.microsoft.com/office/drawing/2014/main" id="{27622C9E-5C74-9EF3-3F3C-535174F59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600" y="4177286"/>
            <a:ext cx="830483" cy="830483"/>
          </a:xfrm>
          <a:prstGeom prst="rect">
            <a:avLst/>
          </a:prstGeom>
        </p:spPr>
      </p:pic>
      <p:pic>
        <p:nvPicPr>
          <p:cNvPr id="9" name="Grafik 8" descr="Sonnenblumen Silhouette">
            <a:extLst>
              <a:ext uri="{FF2B5EF4-FFF2-40B4-BE49-F238E27FC236}">
                <a16:creationId xmlns:a16="http://schemas.microsoft.com/office/drawing/2014/main" id="{7D561460-5DC6-C407-9CC1-66B86C232C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1469" y="4064918"/>
            <a:ext cx="914400" cy="914400"/>
          </a:xfrm>
          <a:prstGeom prst="rect">
            <a:avLst/>
          </a:prstGeom>
        </p:spPr>
      </p:pic>
      <p:pic>
        <p:nvPicPr>
          <p:cNvPr id="10" name="Grafik 9" descr="Pflanze Silhouette">
            <a:extLst>
              <a:ext uri="{FF2B5EF4-FFF2-40B4-BE49-F238E27FC236}">
                <a16:creationId xmlns:a16="http://schemas.microsoft.com/office/drawing/2014/main" id="{FE4F3134-A369-3388-A3CE-1EA8CCEB5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971" y="4157312"/>
            <a:ext cx="830483" cy="830483"/>
          </a:xfrm>
          <a:prstGeom prst="rect">
            <a:avLst/>
          </a:prstGeom>
        </p:spPr>
      </p:pic>
      <p:pic>
        <p:nvPicPr>
          <p:cNvPr id="11" name="Grafik 10" descr="Pflanze Silhouette">
            <a:extLst>
              <a:ext uri="{FF2B5EF4-FFF2-40B4-BE49-F238E27FC236}">
                <a16:creationId xmlns:a16="http://schemas.microsoft.com/office/drawing/2014/main" id="{1DA308F5-F830-2867-D744-1F8A632B7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3342" y="4177286"/>
            <a:ext cx="830483" cy="830483"/>
          </a:xfrm>
          <a:prstGeom prst="rect">
            <a:avLst/>
          </a:prstGeom>
        </p:spPr>
      </p:pic>
      <p:pic>
        <p:nvPicPr>
          <p:cNvPr id="12" name="Grafik 11" descr="Sonnenblumen Silhouette">
            <a:extLst>
              <a:ext uri="{FF2B5EF4-FFF2-40B4-BE49-F238E27FC236}">
                <a16:creationId xmlns:a16="http://schemas.microsoft.com/office/drawing/2014/main" id="{3ADF5523-059F-5C47-07EA-0083B03C97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4732" y="4064918"/>
            <a:ext cx="914400" cy="9144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1563B15-029A-CC00-E0B7-72B33970FEC2}"/>
              </a:ext>
            </a:extLst>
          </p:cNvPr>
          <p:cNvSpPr/>
          <p:nvPr/>
        </p:nvSpPr>
        <p:spPr>
          <a:xfrm>
            <a:off x="2988000" y="4912363"/>
            <a:ext cx="4680000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0" name="Grafik 49" descr="Sonnenblumen Silhouette">
            <a:extLst>
              <a:ext uri="{FF2B5EF4-FFF2-40B4-BE49-F238E27FC236}">
                <a16:creationId xmlns:a16="http://schemas.microsoft.com/office/drawing/2014/main" id="{597164D2-FE0F-216A-5804-230495A83D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611" y="4057783"/>
            <a:ext cx="914400" cy="914400"/>
          </a:xfrm>
          <a:prstGeom prst="rect">
            <a:avLst/>
          </a:prstGeom>
          <a:effectLst/>
        </p:spPr>
      </p:pic>
      <p:pic>
        <p:nvPicPr>
          <p:cNvPr id="51" name="Grafik 50" descr="Pflanze Silhouette">
            <a:extLst>
              <a:ext uri="{FF2B5EF4-FFF2-40B4-BE49-F238E27FC236}">
                <a16:creationId xmlns:a16="http://schemas.microsoft.com/office/drawing/2014/main" id="{8305C602-7464-9BE1-8BD1-305EE7602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1113" y="4170151"/>
            <a:ext cx="830483" cy="830483"/>
          </a:xfrm>
          <a:prstGeom prst="rect">
            <a:avLst/>
          </a:prstGeom>
          <a:effectLst/>
        </p:spPr>
      </p:pic>
      <p:pic>
        <p:nvPicPr>
          <p:cNvPr id="52" name="Grafik 51" descr="Pflanze Silhouette">
            <a:extLst>
              <a:ext uri="{FF2B5EF4-FFF2-40B4-BE49-F238E27FC236}">
                <a16:creationId xmlns:a16="http://schemas.microsoft.com/office/drawing/2014/main" id="{E9809776-52A2-566F-25EC-10511ADEB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3484" y="4170151"/>
            <a:ext cx="830483" cy="830483"/>
          </a:xfrm>
          <a:prstGeom prst="rect">
            <a:avLst/>
          </a:prstGeom>
          <a:effectLst/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BD2A018F-0942-5044-24EE-266F268B5B83}"/>
              </a:ext>
            </a:extLst>
          </p:cNvPr>
          <p:cNvSpPr/>
          <p:nvPr/>
        </p:nvSpPr>
        <p:spPr>
          <a:xfrm>
            <a:off x="323850" y="4912363"/>
            <a:ext cx="3772146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3A0A76A-D3B6-7662-49D7-BACED9CB0878}"/>
              </a:ext>
            </a:extLst>
          </p:cNvPr>
          <p:cNvSpPr txBox="1"/>
          <p:nvPr/>
        </p:nvSpPr>
        <p:spPr>
          <a:xfrm>
            <a:off x="7980378" y="924134"/>
            <a:ext cx="234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Herausforderungen: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5EB333F-2E88-533F-BFC6-E2E11A3D9A6E}"/>
              </a:ext>
            </a:extLst>
          </p:cNvPr>
          <p:cNvSpPr/>
          <p:nvPr/>
        </p:nvSpPr>
        <p:spPr>
          <a:xfrm rot="4809774">
            <a:off x="5347595" y="1500732"/>
            <a:ext cx="73542" cy="4388650"/>
          </a:xfrm>
          <a:prstGeom prst="rect">
            <a:avLst/>
          </a:prstGeom>
          <a:pattFill prst="narHorz">
            <a:fgClr>
              <a:schemeClr val="accent6"/>
            </a:fgClr>
            <a:bgClr>
              <a:schemeClr val="bg1"/>
            </a:bgClr>
          </a:patt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A8B880C1-5836-E209-ABF1-474700D7A907}"/>
              </a:ext>
            </a:extLst>
          </p:cNvPr>
          <p:cNvSpPr/>
          <p:nvPr/>
        </p:nvSpPr>
        <p:spPr>
          <a:xfrm>
            <a:off x="799662" y="1293466"/>
            <a:ext cx="366091" cy="35936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53481A15-7486-CE2F-91EE-E60BA4C8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36</a:t>
            </a:fld>
            <a:endParaRPr lang="de-DE" dirty="0"/>
          </a:p>
        </p:txBody>
      </p:sp>
      <p:pic>
        <p:nvPicPr>
          <p:cNvPr id="23" name="Grafik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8084" y="1323450"/>
            <a:ext cx="1033829" cy="1033829"/>
          </a:xfrm>
          <a:prstGeom prst="rect">
            <a:avLst/>
          </a:prstGeom>
        </p:spPr>
      </p:pic>
      <p:sp>
        <p:nvSpPr>
          <p:cNvPr id="57" name="Textfeld 56">
            <a:extLst>
              <a:ext uri="{FF2B5EF4-FFF2-40B4-BE49-F238E27FC236}">
                <a16:creationId xmlns:a16="http://schemas.microsoft.com/office/drawing/2014/main" id="{C63CD458-EA89-9A6F-6216-F676A17B56E4}"/>
              </a:ext>
            </a:extLst>
          </p:cNvPr>
          <p:cNvSpPr txBox="1"/>
          <p:nvPr/>
        </p:nvSpPr>
        <p:spPr>
          <a:xfrm>
            <a:off x="8881913" y="1655699"/>
            <a:ext cx="296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Hohe </a:t>
            </a:r>
            <a:r>
              <a:rPr lang="de-DE" dirty="0"/>
              <a:t>A</a:t>
            </a:r>
            <a:r>
              <a:rPr lang="de-DE" dirty="0" smtClean="0"/>
              <a:t>nfangsinvestitionen</a:t>
            </a:r>
            <a:endParaRPr lang="de-DE" dirty="0"/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Nachteile hat Agri-PV? </a:t>
            </a:r>
            <a:r>
              <a:rPr lang="de-DE" b="1" smtClean="0">
                <a:sym typeface="Wingdings" panose="05000000000000000000" pitchFamily="2" charset="2"/>
              </a:rPr>
              <a:t> Lösung</a:t>
            </a:r>
            <a:endParaRPr lang="de-DE" b="1" dirty="0"/>
          </a:p>
        </p:txBody>
      </p:sp>
      <p:pic>
        <p:nvPicPr>
          <p:cNvPr id="22" name="Grafik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8084" y="2515622"/>
            <a:ext cx="1033829" cy="1033829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C63CD458-EA89-9A6F-6216-F676A17B56E4}"/>
              </a:ext>
            </a:extLst>
          </p:cNvPr>
          <p:cNvSpPr txBox="1"/>
          <p:nvPr/>
        </p:nvSpPr>
        <p:spPr>
          <a:xfrm>
            <a:off x="8888262" y="2821112"/>
            <a:ext cx="28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Genehmigungsverfahren</a:t>
            </a:r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596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1B67-FC62-B770-5E31-BDB6E978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5F9EDF-6F6D-B4D6-6B8D-C62A4EB4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88AF877-0B40-F9F5-956D-8E956EE0FD28}"/>
              </a:ext>
            </a:extLst>
          </p:cNvPr>
          <p:cNvSpPr/>
          <p:nvPr/>
        </p:nvSpPr>
        <p:spPr>
          <a:xfrm>
            <a:off x="3560389" y="3978519"/>
            <a:ext cx="72000" cy="917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BF1169B-AE14-C78D-938E-8A0ECFDB24E3}"/>
              </a:ext>
            </a:extLst>
          </p:cNvPr>
          <p:cNvSpPr/>
          <p:nvPr/>
        </p:nvSpPr>
        <p:spPr>
          <a:xfrm>
            <a:off x="7030828" y="3394951"/>
            <a:ext cx="93690" cy="15091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Pflanze Silhouette">
            <a:extLst>
              <a:ext uri="{FF2B5EF4-FFF2-40B4-BE49-F238E27FC236}">
                <a16:creationId xmlns:a16="http://schemas.microsoft.com/office/drawing/2014/main" id="{27622C9E-5C74-9EF3-3F3C-535174F59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600" y="4177286"/>
            <a:ext cx="830483" cy="830483"/>
          </a:xfrm>
          <a:prstGeom prst="rect">
            <a:avLst/>
          </a:prstGeom>
        </p:spPr>
      </p:pic>
      <p:pic>
        <p:nvPicPr>
          <p:cNvPr id="9" name="Grafik 8" descr="Sonnenblumen Silhouette">
            <a:extLst>
              <a:ext uri="{FF2B5EF4-FFF2-40B4-BE49-F238E27FC236}">
                <a16:creationId xmlns:a16="http://schemas.microsoft.com/office/drawing/2014/main" id="{7D561460-5DC6-C407-9CC1-66B86C232C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1469" y="4064918"/>
            <a:ext cx="914400" cy="914400"/>
          </a:xfrm>
          <a:prstGeom prst="rect">
            <a:avLst/>
          </a:prstGeom>
        </p:spPr>
      </p:pic>
      <p:pic>
        <p:nvPicPr>
          <p:cNvPr id="10" name="Grafik 9" descr="Pflanze Silhouette">
            <a:extLst>
              <a:ext uri="{FF2B5EF4-FFF2-40B4-BE49-F238E27FC236}">
                <a16:creationId xmlns:a16="http://schemas.microsoft.com/office/drawing/2014/main" id="{FE4F3134-A369-3388-A3CE-1EA8CCEB5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971" y="4157312"/>
            <a:ext cx="830483" cy="830483"/>
          </a:xfrm>
          <a:prstGeom prst="rect">
            <a:avLst/>
          </a:prstGeom>
        </p:spPr>
      </p:pic>
      <p:pic>
        <p:nvPicPr>
          <p:cNvPr id="11" name="Grafik 10" descr="Pflanze Silhouette">
            <a:extLst>
              <a:ext uri="{FF2B5EF4-FFF2-40B4-BE49-F238E27FC236}">
                <a16:creationId xmlns:a16="http://schemas.microsoft.com/office/drawing/2014/main" id="{1DA308F5-F830-2867-D744-1F8A632B7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3342" y="4177286"/>
            <a:ext cx="830483" cy="830483"/>
          </a:xfrm>
          <a:prstGeom prst="rect">
            <a:avLst/>
          </a:prstGeom>
        </p:spPr>
      </p:pic>
      <p:pic>
        <p:nvPicPr>
          <p:cNvPr id="12" name="Grafik 11" descr="Sonnenblumen Silhouette">
            <a:extLst>
              <a:ext uri="{FF2B5EF4-FFF2-40B4-BE49-F238E27FC236}">
                <a16:creationId xmlns:a16="http://schemas.microsoft.com/office/drawing/2014/main" id="{3ADF5523-059F-5C47-07EA-0083B03C97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4732" y="4064918"/>
            <a:ext cx="914400" cy="9144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1563B15-029A-CC00-E0B7-72B33970FEC2}"/>
              </a:ext>
            </a:extLst>
          </p:cNvPr>
          <p:cNvSpPr/>
          <p:nvPr/>
        </p:nvSpPr>
        <p:spPr>
          <a:xfrm>
            <a:off x="2988000" y="4912363"/>
            <a:ext cx="4680000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0" name="Grafik 49" descr="Sonnenblumen Silhouette">
            <a:extLst>
              <a:ext uri="{FF2B5EF4-FFF2-40B4-BE49-F238E27FC236}">
                <a16:creationId xmlns:a16="http://schemas.microsoft.com/office/drawing/2014/main" id="{597164D2-FE0F-216A-5804-230495A83D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611" y="4057783"/>
            <a:ext cx="914400" cy="914400"/>
          </a:xfrm>
          <a:prstGeom prst="rect">
            <a:avLst/>
          </a:prstGeom>
          <a:effectLst/>
        </p:spPr>
      </p:pic>
      <p:pic>
        <p:nvPicPr>
          <p:cNvPr id="51" name="Grafik 50" descr="Pflanze Silhouette">
            <a:extLst>
              <a:ext uri="{FF2B5EF4-FFF2-40B4-BE49-F238E27FC236}">
                <a16:creationId xmlns:a16="http://schemas.microsoft.com/office/drawing/2014/main" id="{8305C602-7464-9BE1-8BD1-305EE7602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1113" y="4170151"/>
            <a:ext cx="830483" cy="830483"/>
          </a:xfrm>
          <a:prstGeom prst="rect">
            <a:avLst/>
          </a:prstGeom>
          <a:effectLst/>
        </p:spPr>
      </p:pic>
      <p:pic>
        <p:nvPicPr>
          <p:cNvPr id="52" name="Grafik 51" descr="Pflanze Silhouette">
            <a:extLst>
              <a:ext uri="{FF2B5EF4-FFF2-40B4-BE49-F238E27FC236}">
                <a16:creationId xmlns:a16="http://schemas.microsoft.com/office/drawing/2014/main" id="{E9809776-52A2-566F-25EC-10511ADEB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3484" y="4170151"/>
            <a:ext cx="830483" cy="830483"/>
          </a:xfrm>
          <a:prstGeom prst="rect">
            <a:avLst/>
          </a:prstGeom>
          <a:effectLst/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BD2A018F-0942-5044-24EE-266F268B5B83}"/>
              </a:ext>
            </a:extLst>
          </p:cNvPr>
          <p:cNvSpPr/>
          <p:nvPr/>
        </p:nvSpPr>
        <p:spPr>
          <a:xfrm>
            <a:off x="323850" y="4912363"/>
            <a:ext cx="3772146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3A0A76A-D3B6-7662-49D7-BACED9CB0878}"/>
              </a:ext>
            </a:extLst>
          </p:cNvPr>
          <p:cNvSpPr txBox="1"/>
          <p:nvPr/>
        </p:nvSpPr>
        <p:spPr>
          <a:xfrm>
            <a:off x="7980378" y="924134"/>
            <a:ext cx="234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Herausforderungen: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5EB333F-2E88-533F-BFC6-E2E11A3D9A6E}"/>
              </a:ext>
            </a:extLst>
          </p:cNvPr>
          <p:cNvSpPr/>
          <p:nvPr/>
        </p:nvSpPr>
        <p:spPr>
          <a:xfrm rot="4809774">
            <a:off x="5347595" y="1500732"/>
            <a:ext cx="73542" cy="4388650"/>
          </a:xfrm>
          <a:prstGeom prst="rect">
            <a:avLst/>
          </a:prstGeom>
          <a:pattFill prst="narHorz">
            <a:fgClr>
              <a:schemeClr val="accent6"/>
            </a:fgClr>
            <a:bgClr>
              <a:schemeClr val="bg1"/>
            </a:bgClr>
          </a:patt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A8B880C1-5836-E209-ABF1-474700D7A907}"/>
              </a:ext>
            </a:extLst>
          </p:cNvPr>
          <p:cNvSpPr/>
          <p:nvPr/>
        </p:nvSpPr>
        <p:spPr>
          <a:xfrm>
            <a:off x="799662" y="1293466"/>
            <a:ext cx="366091" cy="35936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53481A15-7486-CE2F-91EE-E60BA4C8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37</a:t>
            </a:fld>
            <a:endParaRPr lang="de-DE" dirty="0"/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Nachteile hat Agri-PV? </a:t>
            </a:r>
            <a:r>
              <a:rPr lang="de-DE" b="1" smtClean="0">
                <a:sym typeface="Wingdings" panose="05000000000000000000" pitchFamily="2" charset="2"/>
              </a:rPr>
              <a:t> Lösung</a:t>
            </a:r>
            <a:endParaRPr lang="de-DE" b="1" dirty="0"/>
          </a:p>
        </p:txBody>
      </p:sp>
      <p:pic>
        <p:nvPicPr>
          <p:cNvPr id="27" name="Grafik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3942" y="3654277"/>
            <a:ext cx="1039317" cy="1039317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C63CD458-EA89-9A6F-6216-F676A17B56E4}"/>
              </a:ext>
            </a:extLst>
          </p:cNvPr>
          <p:cNvSpPr txBox="1"/>
          <p:nvPr/>
        </p:nvSpPr>
        <p:spPr>
          <a:xfrm>
            <a:off x="8949994" y="3963292"/>
            <a:ext cx="2592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Skepsis</a:t>
            </a:r>
            <a:endParaRPr lang="de-DE" dirty="0"/>
          </a:p>
        </p:txBody>
      </p:sp>
      <p:pic>
        <p:nvPicPr>
          <p:cNvPr id="29" name="Grafik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8084" y="1323450"/>
            <a:ext cx="1033829" cy="1033829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C63CD458-EA89-9A6F-6216-F676A17B56E4}"/>
              </a:ext>
            </a:extLst>
          </p:cNvPr>
          <p:cNvSpPr txBox="1"/>
          <p:nvPr/>
        </p:nvSpPr>
        <p:spPr>
          <a:xfrm>
            <a:off x="8881913" y="1655699"/>
            <a:ext cx="296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Hohe </a:t>
            </a:r>
            <a:r>
              <a:rPr lang="de-DE" dirty="0"/>
              <a:t>A</a:t>
            </a:r>
            <a:r>
              <a:rPr lang="de-DE" dirty="0" smtClean="0"/>
              <a:t>nfangsinvestitionen</a:t>
            </a:r>
            <a:endParaRPr lang="de-DE" dirty="0"/>
          </a:p>
        </p:txBody>
      </p:sp>
      <p:pic>
        <p:nvPicPr>
          <p:cNvPr id="31" name="Grafik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48084" y="2515622"/>
            <a:ext cx="1033829" cy="1033829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C63CD458-EA89-9A6F-6216-F676A17B56E4}"/>
              </a:ext>
            </a:extLst>
          </p:cNvPr>
          <p:cNvSpPr txBox="1"/>
          <p:nvPr/>
        </p:nvSpPr>
        <p:spPr>
          <a:xfrm>
            <a:off x="8888262" y="2821112"/>
            <a:ext cx="28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Genehmigungsverfahren</a:t>
            </a:r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0388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1B67-FC62-B770-5E31-BDB6E978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5F9EDF-6F6D-B4D6-6B8D-C62A4EB4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88AF877-0B40-F9F5-956D-8E956EE0FD28}"/>
              </a:ext>
            </a:extLst>
          </p:cNvPr>
          <p:cNvSpPr/>
          <p:nvPr/>
        </p:nvSpPr>
        <p:spPr>
          <a:xfrm>
            <a:off x="3560389" y="3978519"/>
            <a:ext cx="72000" cy="917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BF1169B-AE14-C78D-938E-8A0ECFDB24E3}"/>
              </a:ext>
            </a:extLst>
          </p:cNvPr>
          <p:cNvSpPr/>
          <p:nvPr/>
        </p:nvSpPr>
        <p:spPr>
          <a:xfrm>
            <a:off x="7030828" y="3394951"/>
            <a:ext cx="93690" cy="15091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Pflanze Silhouette">
            <a:extLst>
              <a:ext uri="{FF2B5EF4-FFF2-40B4-BE49-F238E27FC236}">
                <a16:creationId xmlns:a16="http://schemas.microsoft.com/office/drawing/2014/main" id="{27622C9E-5C74-9EF3-3F3C-535174F59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600" y="4177286"/>
            <a:ext cx="830483" cy="830483"/>
          </a:xfrm>
          <a:prstGeom prst="rect">
            <a:avLst/>
          </a:prstGeom>
        </p:spPr>
      </p:pic>
      <p:pic>
        <p:nvPicPr>
          <p:cNvPr id="9" name="Grafik 8" descr="Sonnenblumen Silhouette">
            <a:extLst>
              <a:ext uri="{FF2B5EF4-FFF2-40B4-BE49-F238E27FC236}">
                <a16:creationId xmlns:a16="http://schemas.microsoft.com/office/drawing/2014/main" id="{7D561460-5DC6-C407-9CC1-66B86C232C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1469" y="4064918"/>
            <a:ext cx="914400" cy="914400"/>
          </a:xfrm>
          <a:prstGeom prst="rect">
            <a:avLst/>
          </a:prstGeom>
        </p:spPr>
      </p:pic>
      <p:pic>
        <p:nvPicPr>
          <p:cNvPr id="10" name="Grafik 9" descr="Pflanze Silhouette">
            <a:extLst>
              <a:ext uri="{FF2B5EF4-FFF2-40B4-BE49-F238E27FC236}">
                <a16:creationId xmlns:a16="http://schemas.microsoft.com/office/drawing/2014/main" id="{FE4F3134-A369-3388-A3CE-1EA8CCEB5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971" y="4157312"/>
            <a:ext cx="830483" cy="830483"/>
          </a:xfrm>
          <a:prstGeom prst="rect">
            <a:avLst/>
          </a:prstGeom>
        </p:spPr>
      </p:pic>
      <p:pic>
        <p:nvPicPr>
          <p:cNvPr id="11" name="Grafik 10" descr="Pflanze Silhouette">
            <a:extLst>
              <a:ext uri="{FF2B5EF4-FFF2-40B4-BE49-F238E27FC236}">
                <a16:creationId xmlns:a16="http://schemas.microsoft.com/office/drawing/2014/main" id="{1DA308F5-F830-2867-D744-1F8A632B7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3342" y="4177286"/>
            <a:ext cx="830483" cy="830483"/>
          </a:xfrm>
          <a:prstGeom prst="rect">
            <a:avLst/>
          </a:prstGeom>
        </p:spPr>
      </p:pic>
      <p:pic>
        <p:nvPicPr>
          <p:cNvPr id="12" name="Grafik 11" descr="Sonnenblumen Silhouette">
            <a:extLst>
              <a:ext uri="{FF2B5EF4-FFF2-40B4-BE49-F238E27FC236}">
                <a16:creationId xmlns:a16="http://schemas.microsoft.com/office/drawing/2014/main" id="{3ADF5523-059F-5C47-07EA-0083B03C97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4732" y="4064918"/>
            <a:ext cx="914400" cy="9144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1563B15-029A-CC00-E0B7-72B33970FEC2}"/>
              </a:ext>
            </a:extLst>
          </p:cNvPr>
          <p:cNvSpPr/>
          <p:nvPr/>
        </p:nvSpPr>
        <p:spPr>
          <a:xfrm>
            <a:off x="2988000" y="4912363"/>
            <a:ext cx="4680000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0" name="Grafik 49" descr="Sonnenblumen Silhouette">
            <a:extLst>
              <a:ext uri="{FF2B5EF4-FFF2-40B4-BE49-F238E27FC236}">
                <a16:creationId xmlns:a16="http://schemas.microsoft.com/office/drawing/2014/main" id="{597164D2-FE0F-216A-5804-230495A83D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611" y="4057783"/>
            <a:ext cx="914400" cy="914400"/>
          </a:xfrm>
          <a:prstGeom prst="rect">
            <a:avLst/>
          </a:prstGeom>
          <a:effectLst/>
        </p:spPr>
      </p:pic>
      <p:pic>
        <p:nvPicPr>
          <p:cNvPr id="51" name="Grafik 50" descr="Pflanze Silhouette">
            <a:extLst>
              <a:ext uri="{FF2B5EF4-FFF2-40B4-BE49-F238E27FC236}">
                <a16:creationId xmlns:a16="http://schemas.microsoft.com/office/drawing/2014/main" id="{8305C602-7464-9BE1-8BD1-305EE7602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1113" y="4170151"/>
            <a:ext cx="830483" cy="830483"/>
          </a:xfrm>
          <a:prstGeom prst="rect">
            <a:avLst/>
          </a:prstGeom>
          <a:effectLst/>
        </p:spPr>
      </p:pic>
      <p:pic>
        <p:nvPicPr>
          <p:cNvPr id="52" name="Grafik 51" descr="Pflanze Silhouette">
            <a:extLst>
              <a:ext uri="{FF2B5EF4-FFF2-40B4-BE49-F238E27FC236}">
                <a16:creationId xmlns:a16="http://schemas.microsoft.com/office/drawing/2014/main" id="{E9809776-52A2-566F-25EC-10511ADEB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3484" y="4170151"/>
            <a:ext cx="830483" cy="830483"/>
          </a:xfrm>
          <a:prstGeom prst="rect">
            <a:avLst/>
          </a:prstGeom>
          <a:effectLst/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BD2A018F-0942-5044-24EE-266F268B5B83}"/>
              </a:ext>
            </a:extLst>
          </p:cNvPr>
          <p:cNvSpPr/>
          <p:nvPr/>
        </p:nvSpPr>
        <p:spPr>
          <a:xfrm>
            <a:off x="323850" y="4912363"/>
            <a:ext cx="3772146" cy="1533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5EB333F-2E88-533F-BFC6-E2E11A3D9A6E}"/>
              </a:ext>
            </a:extLst>
          </p:cNvPr>
          <p:cNvSpPr/>
          <p:nvPr/>
        </p:nvSpPr>
        <p:spPr>
          <a:xfrm rot="4809774">
            <a:off x="5347595" y="1500732"/>
            <a:ext cx="73542" cy="4388650"/>
          </a:xfrm>
          <a:prstGeom prst="rect">
            <a:avLst/>
          </a:prstGeom>
          <a:pattFill prst="narHorz">
            <a:fgClr>
              <a:schemeClr val="accent6"/>
            </a:fgClr>
            <a:bgClr>
              <a:schemeClr val="bg1"/>
            </a:bgClr>
          </a:patt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A8B880C1-5836-E209-ABF1-474700D7A907}"/>
              </a:ext>
            </a:extLst>
          </p:cNvPr>
          <p:cNvSpPr/>
          <p:nvPr/>
        </p:nvSpPr>
        <p:spPr>
          <a:xfrm>
            <a:off x="799662" y="1293466"/>
            <a:ext cx="366091" cy="35936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53481A15-7486-CE2F-91EE-E60BA4C8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38</a:t>
            </a:fld>
            <a:endParaRPr lang="de-DE" dirty="0"/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kann zur Überwindung der Skepsis getan werden?</a:t>
            </a:r>
            <a:endParaRPr lang="de-DE" b="1" dirty="0"/>
          </a:p>
        </p:txBody>
      </p:sp>
      <p:pic>
        <p:nvPicPr>
          <p:cNvPr id="27" name="Grafik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2415" y="1269883"/>
            <a:ext cx="4893496" cy="4893496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23A0A76A-D3B6-7662-49D7-BACED9CB0878}"/>
              </a:ext>
            </a:extLst>
          </p:cNvPr>
          <p:cNvSpPr txBox="1"/>
          <p:nvPr/>
        </p:nvSpPr>
        <p:spPr>
          <a:xfrm>
            <a:off x="7980378" y="924134"/>
            <a:ext cx="234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Herausforderungen:</a:t>
            </a:r>
            <a:endParaRPr lang="de-DE" dirty="0"/>
          </a:p>
        </p:txBody>
      </p:sp>
      <p:pic>
        <p:nvPicPr>
          <p:cNvPr id="29" name="Grafik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8084" y="1323450"/>
            <a:ext cx="1033829" cy="1033829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C63CD458-EA89-9A6F-6216-F676A17B56E4}"/>
              </a:ext>
            </a:extLst>
          </p:cNvPr>
          <p:cNvSpPr txBox="1"/>
          <p:nvPr/>
        </p:nvSpPr>
        <p:spPr>
          <a:xfrm>
            <a:off x="8881913" y="1655699"/>
            <a:ext cx="296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Hohe </a:t>
            </a:r>
            <a:r>
              <a:rPr lang="de-DE" dirty="0"/>
              <a:t>A</a:t>
            </a:r>
            <a:r>
              <a:rPr lang="de-DE" dirty="0" smtClean="0"/>
              <a:t>nfangsinvestitionen</a:t>
            </a:r>
            <a:endParaRPr lang="de-DE" dirty="0"/>
          </a:p>
        </p:txBody>
      </p:sp>
      <p:pic>
        <p:nvPicPr>
          <p:cNvPr id="31" name="Grafik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48084" y="2515622"/>
            <a:ext cx="1033829" cy="1033829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C63CD458-EA89-9A6F-6216-F676A17B56E4}"/>
              </a:ext>
            </a:extLst>
          </p:cNvPr>
          <p:cNvSpPr txBox="1"/>
          <p:nvPr/>
        </p:nvSpPr>
        <p:spPr>
          <a:xfrm>
            <a:off x="8888262" y="2821112"/>
            <a:ext cx="28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Genehmigungsverfahren</a:t>
            </a:r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459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104B27-42FF-4BDB-87C4-2EAEA8DD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55B9B9-1511-E1C7-6954-5FA80142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39</a:t>
            </a:fld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kann zur Überwindung der Skepsis getan werden?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12" name="Textfeld 11"/>
          <p:cNvSpPr txBox="1"/>
          <p:nvPr/>
        </p:nvSpPr>
        <p:spPr>
          <a:xfrm>
            <a:off x="4259599" y="5723340"/>
            <a:ext cx="3672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smtClean="0"/>
              <a:t>Forschung und Kommunikation</a:t>
            </a:r>
            <a:endParaRPr lang="de-DE" b="1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A78C0E3D-E5A1-4340-B008-0019B9B03E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9" t="13335" r="20311" b="27754"/>
          <a:stretch/>
        </p:blipFill>
        <p:spPr>
          <a:xfrm>
            <a:off x="9108682" y="1682105"/>
            <a:ext cx="2365767" cy="293517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C01E4FD-D34C-4225-B891-3A542EC76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817772"/>
            <a:ext cx="8016935" cy="4663844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C54FB9B8-28C6-4B2B-AA95-2AAA1C2CA902}"/>
              </a:ext>
            </a:extLst>
          </p:cNvPr>
          <p:cNvSpPr txBox="1"/>
          <p:nvPr/>
        </p:nvSpPr>
        <p:spPr>
          <a:xfrm>
            <a:off x="9108682" y="4630147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BF46274-6C35-41E7-B3D0-A4959A4AF206}"/>
              </a:ext>
            </a:extLst>
          </p:cNvPr>
          <p:cNvSpPr txBox="1"/>
          <p:nvPr/>
        </p:nvSpPr>
        <p:spPr>
          <a:xfrm>
            <a:off x="717550" y="5483240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3019425" y="2280293"/>
            <a:ext cx="5790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smtClean="0"/>
              <a:t>Relais</a:t>
            </a:r>
          </a:p>
          <a:p>
            <a:r>
              <a:rPr lang="de-DE" sz="1050" smtClean="0"/>
              <a:t>Trafo</a:t>
            </a:r>
            <a:endParaRPr lang="de-DE" sz="1050"/>
          </a:p>
        </p:txBody>
      </p:sp>
    </p:spTree>
    <p:extLst>
      <p:ext uri="{BB962C8B-B14F-4D97-AF65-F5344CB8AC3E}">
        <p14:creationId xmlns:p14="http://schemas.microsoft.com/office/powerpoint/2010/main" val="3457245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7B1E2C4-F7F5-4893-A6B4-7DDD02CF7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EE2298-899D-CB1B-27E3-7CE1B793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40</a:t>
            </a:fld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613" y="0"/>
            <a:ext cx="7784386" cy="6858000"/>
          </a:xfrm>
        </p:spPr>
        <p:txBody>
          <a:bodyPr anchor="ctr">
            <a:normAutofit/>
          </a:bodyPr>
          <a:lstStyle/>
          <a:p>
            <a:pPr algn="ctr"/>
            <a:r>
              <a:rPr lang="de-DE" sz="4800" b="1" smtClean="0"/>
              <a:t>Elektrische Bauteile</a:t>
            </a:r>
            <a:endParaRPr lang="de-DE" sz="4800" b="1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10" y="9906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14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104B27-42FF-4BDB-87C4-2EAEA8DD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55B9B9-1511-E1C7-6954-5FA80142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41</a:t>
            </a:fld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sind ESP‘s?</a:t>
            </a:r>
            <a:endParaRPr lang="de-DE" b="1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78C0E3D-E5A1-4340-B008-0019B9B03E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9" t="13335" r="20311" b="27754"/>
          <a:stretch/>
        </p:blipFill>
        <p:spPr>
          <a:xfrm>
            <a:off x="9108682" y="1682105"/>
            <a:ext cx="2365767" cy="2935178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C01E4FD-D34C-4225-B891-3A542EC76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817772"/>
            <a:ext cx="8016935" cy="4663844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C54FB9B8-28C6-4B2B-AA95-2AAA1C2CA902}"/>
              </a:ext>
            </a:extLst>
          </p:cNvPr>
          <p:cNvSpPr txBox="1"/>
          <p:nvPr/>
        </p:nvSpPr>
        <p:spPr>
          <a:xfrm>
            <a:off x="9108682" y="4630147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BF46274-6C35-41E7-B3D0-A4959A4AF206}"/>
              </a:ext>
            </a:extLst>
          </p:cNvPr>
          <p:cNvSpPr txBox="1"/>
          <p:nvPr/>
        </p:nvSpPr>
        <p:spPr>
          <a:xfrm>
            <a:off x="717550" y="5483240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3019425" y="2280293"/>
            <a:ext cx="5790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smtClean="0"/>
              <a:t>Relais</a:t>
            </a:r>
          </a:p>
          <a:p>
            <a:r>
              <a:rPr lang="de-DE" sz="1050" smtClean="0"/>
              <a:t>Trafo</a:t>
            </a:r>
            <a:endParaRPr lang="de-DE" sz="1050"/>
          </a:p>
        </p:txBody>
      </p:sp>
      <p:sp>
        <p:nvSpPr>
          <p:cNvPr id="20" name="Textfeld 19"/>
          <p:cNvSpPr txBox="1"/>
          <p:nvPr/>
        </p:nvSpPr>
        <p:spPr>
          <a:xfrm>
            <a:off x="1770067" y="164879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smtClean="0">
                <a:solidFill>
                  <a:srgbClr val="FF0000"/>
                </a:solidFill>
              </a:rPr>
              <a:t>?</a:t>
            </a:r>
            <a:endParaRPr lang="de-DE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04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104B27-42FF-4BDB-87C4-2EAEA8DD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78C0E3D-E5A1-4340-B008-0019B9B03E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9" t="13335" r="20311" b="27754"/>
          <a:stretch/>
        </p:blipFill>
        <p:spPr>
          <a:xfrm>
            <a:off x="9108682" y="1682105"/>
            <a:ext cx="2365767" cy="293517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C01E4FD-D34C-4225-B891-3A542EC76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817772"/>
            <a:ext cx="8016935" cy="4663844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54FB9B8-28C6-4B2B-AA95-2AAA1C2CA902}"/>
              </a:ext>
            </a:extLst>
          </p:cNvPr>
          <p:cNvSpPr txBox="1"/>
          <p:nvPr/>
        </p:nvSpPr>
        <p:spPr>
          <a:xfrm>
            <a:off x="9108682" y="4630147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BF46274-6C35-41E7-B3D0-A4959A4AF206}"/>
              </a:ext>
            </a:extLst>
          </p:cNvPr>
          <p:cNvSpPr txBox="1"/>
          <p:nvPr/>
        </p:nvSpPr>
        <p:spPr>
          <a:xfrm>
            <a:off x="717550" y="5483240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55B9B9-1511-E1C7-6954-5FA80142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42</a:t>
            </a:fld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sind ESP‘s?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12" name="Textfeld 11"/>
          <p:cNvSpPr txBox="1"/>
          <p:nvPr/>
        </p:nvSpPr>
        <p:spPr>
          <a:xfrm>
            <a:off x="717550" y="5615835"/>
            <a:ext cx="10756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smtClean="0"/>
              <a:t>Mikrocontroller = Mini-Computer, der Programme ausführen und elektrische Geräte steuern kann </a:t>
            </a:r>
            <a:r>
              <a:rPr lang="de-DE" b="1" smtClean="0">
                <a:sym typeface="Wingdings" panose="05000000000000000000" pitchFamily="2" charset="2"/>
              </a:rPr>
              <a:t> Auslesen und verarbeiten von Sensordaten</a:t>
            </a:r>
            <a:endParaRPr lang="de-DE" b="1"/>
          </a:p>
        </p:txBody>
      </p:sp>
      <p:sp>
        <p:nvSpPr>
          <p:cNvPr id="13" name="Textfeld 12"/>
          <p:cNvSpPr txBox="1"/>
          <p:nvPr/>
        </p:nvSpPr>
        <p:spPr>
          <a:xfrm>
            <a:off x="3019425" y="2280293"/>
            <a:ext cx="5790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smtClean="0"/>
              <a:t>Relais</a:t>
            </a:r>
          </a:p>
          <a:p>
            <a:r>
              <a:rPr lang="de-DE" sz="1050" smtClean="0"/>
              <a:t>Trafo</a:t>
            </a:r>
            <a:endParaRPr lang="de-DE" sz="1050"/>
          </a:p>
        </p:txBody>
      </p:sp>
      <p:sp>
        <p:nvSpPr>
          <p:cNvPr id="14" name="Textfeld 13"/>
          <p:cNvSpPr txBox="1"/>
          <p:nvPr/>
        </p:nvSpPr>
        <p:spPr>
          <a:xfrm>
            <a:off x="1728971" y="173098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smtClean="0">
                <a:solidFill>
                  <a:srgbClr val="FF0000"/>
                </a:solidFill>
              </a:rPr>
              <a:t>?</a:t>
            </a:r>
            <a:endParaRPr lang="de-DE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10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104B27-42FF-4BDB-87C4-2EAEA8DD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55B9B9-1511-E1C7-6954-5FA80142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43</a:t>
            </a:fld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sind Trafo‘s?</a:t>
            </a:r>
            <a:endParaRPr lang="de-DE" b="1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78C0E3D-E5A1-4340-B008-0019B9B03E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9" t="13335" r="20311" b="27754"/>
          <a:stretch/>
        </p:blipFill>
        <p:spPr>
          <a:xfrm>
            <a:off x="9108682" y="1682105"/>
            <a:ext cx="2365767" cy="2935178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C01E4FD-D34C-4225-B891-3A542EC76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817772"/>
            <a:ext cx="8016935" cy="4663844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C54FB9B8-28C6-4B2B-AA95-2AAA1C2CA902}"/>
              </a:ext>
            </a:extLst>
          </p:cNvPr>
          <p:cNvSpPr txBox="1"/>
          <p:nvPr/>
        </p:nvSpPr>
        <p:spPr>
          <a:xfrm>
            <a:off x="9108682" y="4630147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BF46274-6C35-41E7-B3D0-A4959A4AF206}"/>
              </a:ext>
            </a:extLst>
          </p:cNvPr>
          <p:cNvSpPr txBox="1"/>
          <p:nvPr/>
        </p:nvSpPr>
        <p:spPr>
          <a:xfrm>
            <a:off x="717550" y="5483240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3019425" y="2280293"/>
            <a:ext cx="5790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smtClean="0"/>
              <a:t>Relais</a:t>
            </a:r>
          </a:p>
          <a:p>
            <a:r>
              <a:rPr lang="de-DE" sz="1050" smtClean="0"/>
              <a:t>Trafo</a:t>
            </a:r>
            <a:endParaRPr lang="de-DE" sz="1050"/>
          </a:p>
        </p:txBody>
      </p:sp>
      <p:sp>
        <p:nvSpPr>
          <p:cNvPr id="20" name="Textfeld 19"/>
          <p:cNvSpPr txBox="1"/>
          <p:nvPr/>
        </p:nvSpPr>
        <p:spPr>
          <a:xfrm>
            <a:off x="3347027" y="236659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smtClean="0">
                <a:solidFill>
                  <a:srgbClr val="FF0000"/>
                </a:solidFill>
              </a:rPr>
              <a:t>?</a:t>
            </a:r>
            <a:endParaRPr lang="de-DE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77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104B27-42FF-4BDB-87C4-2EAEA8DD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55B9B9-1511-E1C7-6954-5FA80142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44</a:t>
            </a:fld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sind Trafo‘s?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12" name="Textfeld 11"/>
          <p:cNvSpPr txBox="1"/>
          <p:nvPr/>
        </p:nvSpPr>
        <p:spPr>
          <a:xfrm>
            <a:off x="717550" y="5634000"/>
            <a:ext cx="10756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smtClean="0"/>
              <a:t>Spannungswandler </a:t>
            </a:r>
          </a:p>
          <a:p>
            <a:pPr algn="ctr"/>
            <a:r>
              <a:rPr lang="de-DE" b="1" smtClean="0">
                <a:sym typeface="Wingdings" panose="05000000000000000000" pitchFamily="2" charset="2"/>
              </a:rPr>
              <a:t> </a:t>
            </a:r>
            <a:r>
              <a:rPr lang="de-DE" b="1" smtClean="0"/>
              <a:t>ESP‘s benötigen 5V, Wasserpumpen 12V</a:t>
            </a:r>
            <a:endParaRPr lang="de-DE" b="1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78C0E3D-E5A1-4340-B008-0019B9B03E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9" t="13335" r="20311" b="27754"/>
          <a:stretch/>
        </p:blipFill>
        <p:spPr>
          <a:xfrm>
            <a:off x="9108682" y="1682105"/>
            <a:ext cx="2365767" cy="2935178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C01E4FD-D34C-4225-B891-3A542EC76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817772"/>
            <a:ext cx="8016935" cy="4663844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C54FB9B8-28C6-4B2B-AA95-2AAA1C2CA902}"/>
              </a:ext>
            </a:extLst>
          </p:cNvPr>
          <p:cNvSpPr txBox="1"/>
          <p:nvPr/>
        </p:nvSpPr>
        <p:spPr>
          <a:xfrm>
            <a:off x="9108682" y="4630147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BF46274-6C35-41E7-B3D0-A4959A4AF206}"/>
              </a:ext>
            </a:extLst>
          </p:cNvPr>
          <p:cNvSpPr txBox="1"/>
          <p:nvPr/>
        </p:nvSpPr>
        <p:spPr>
          <a:xfrm>
            <a:off x="717550" y="5483240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3019425" y="2280293"/>
            <a:ext cx="5790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smtClean="0"/>
              <a:t>Relais</a:t>
            </a:r>
          </a:p>
          <a:p>
            <a:r>
              <a:rPr lang="de-DE" sz="1050" smtClean="0"/>
              <a:t>Trafo</a:t>
            </a:r>
            <a:endParaRPr lang="de-DE" sz="1050"/>
          </a:p>
        </p:txBody>
      </p:sp>
      <p:sp>
        <p:nvSpPr>
          <p:cNvPr id="20" name="Textfeld 19"/>
          <p:cNvSpPr txBox="1"/>
          <p:nvPr/>
        </p:nvSpPr>
        <p:spPr>
          <a:xfrm>
            <a:off x="3347027" y="236659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smtClean="0">
                <a:solidFill>
                  <a:srgbClr val="FF0000"/>
                </a:solidFill>
              </a:rPr>
              <a:t>?</a:t>
            </a:r>
            <a:endParaRPr lang="de-DE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068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104B27-42FF-4BDB-87C4-2EAEA8DD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55B9B9-1511-E1C7-6954-5FA80142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45</a:t>
            </a:fld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sind Relais? </a:t>
            </a:r>
            <a:endParaRPr lang="de-DE" b="1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78C0E3D-E5A1-4340-B008-0019B9B03E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9" t="13335" r="20311" b="27754"/>
          <a:stretch/>
        </p:blipFill>
        <p:spPr>
          <a:xfrm>
            <a:off x="9108682" y="1682105"/>
            <a:ext cx="2365767" cy="2935178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C01E4FD-D34C-4225-B891-3A542EC76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817772"/>
            <a:ext cx="8016935" cy="4663844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C54FB9B8-28C6-4B2B-AA95-2AAA1C2CA902}"/>
              </a:ext>
            </a:extLst>
          </p:cNvPr>
          <p:cNvSpPr txBox="1"/>
          <p:nvPr/>
        </p:nvSpPr>
        <p:spPr>
          <a:xfrm>
            <a:off x="9108682" y="4630147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BF46274-6C35-41E7-B3D0-A4959A4AF206}"/>
              </a:ext>
            </a:extLst>
          </p:cNvPr>
          <p:cNvSpPr txBox="1"/>
          <p:nvPr/>
        </p:nvSpPr>
        <p:spPr>
          <a:xfrm>
            <a:off x="717550" y="5483240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3019425" y="2280293"/>
            <a:ext cx="5790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smtClean="0"/>
              <a:t>Relais</a:t>
            </a:r>
          </a:p>
          <a:p>
            <a:r>
              <a:rPr lang="de-DE" sz="1050" smtClean="0"/>
              <a:t>Trafo</a:t>
            </a:r>
            <a:endParaRPr lang="de-DE" sz="1050"/>
          </a:p>
        </p:txBody>
      </p:sp>
      <p:sp>
        <p:nvSpPr>
          <p:cNvPr id="13" name="Textfeld 12"/>
          <p:cNvSpPr txBox="1"/>
          <p:nvPr/>
        </p:nvSpPr>
        <p:spPr>
          <a:xfrm>
            <a:off x="3385127" y="219080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smtClean="0">
                <a:solidFill>
                  <a:srgbClr val="FF0000"/>
                </a:solidFill>
              </a:rPr>
              <a:t>?</a:t>
            </a:r>
            <a:endParaRPr lang="de-DE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43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104B27-42FF-4BDB-87C4-2EAEA8DD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55B9B9-1511-E1C7-6954-5FA80142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46</a:t>
            </a:fld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sind Relais?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12" name="Textfeld 11"/>
          <p:cNvSpPr txBox="1"/>
          <p:nvPr/>
        </p:nvSpPr>
        <p:spPr>
          <a:xfrm>
            <a:off x="717550" y="5634000"/>
            <a:ext cx="10756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smtClean="0"/>
              <a:t>Schalter zur Öffnung und Schließung von Stromkreisen</a:t>
            </a:r>
          </a:p>
          <a:p>
            <a:pPr algn="ctr"/>
            <a:r>
              <a:rPr lang="de-DE" b="1" smtClean="0">
                <a:sym typeface="Wingdings" panose="05000000000000000000" pitchFamily="2" charset="2"/>
              </a:rPr>
              <a:t> </a:t>
            </a:r>
            <a:r>
              <a:rPr lang="de-DE" b="1" smtClean="0"/>
              <a:t>An- und Ausschalten aller elektrischen Bauteile</a:t>
            </a:r>
            <a:endParaRPr lang="de-DE" b="1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78C0E3D-E5A1-4340-B008-0019B9B03E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9" t="13335" r="20311" b="27754"/>
          <a:stretch/>
        </p:blipFill>
        <p:spPr>
          <a:xfrm>
            <a:off x="9108682" y="1682105"/>
            <a:ext cx="2365767" cy="2935178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C01E4FD-D34C-4225-B891-3A542EC76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817772"/>
            <a:ext cx="8016935" cy="4663844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C54FB9B8-28C6-4B2B-AA95-2AAA1C2CA902}"/>
              </a:ext>
            </a:extLst>
          </p:cNvPr>
          <p:cNvSpPr txBox="1"/>
          <p:nvPr/>
        </p:nvSpPr>
        <p:spPr>
          <a:xfrm>
            <a:off x="9108682" y="4630147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BF46274-6C35-41E7-B3D0-A4959A4AF206}"/>
              </a:ext>
            </a:extLst>
          </p:cNvPr>
          <p:cNvSpPr txBox="1"/>
          <p:nvPr/>
        </p:nvSpPr>
        <p:spPr>
          <a:xfrm>
            <a:off x="717550" y="5483240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3019425" y="2280293"/>
            <a:ext cx="5790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smtClean="0"/>
              <a:t>Relais</a:t>
            </a:r>
          </a:p>
          <a:p>
            <a:r>
              <a:rPr lang="de-DE" sz="1050" smtClean="0"/>
              <a:t>Trafo</a:t>
            </a:r>
            <a:endParaRPr lang="de-DE" sz="1050"/>
          </a:p>
        </p:txBody>
      </p:sp>
      <p:sp>
        <p:nvSpPr>
          <p:cNvPr id="20" name="Textfeld 19"/>
          <p:cNvSpPr txBox="1"/>
          <p:nvPr/>
        </p:nvSpPr>
        <p:spPr>
          <a:xfrm>
            <a:off x="3385127" y="219080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smtClean="0">
                <a:solidFill>
                  <a:srgbClr val="FF0000"/>
                </a:solidFill>
              </a:rPr>
              <a:t>?</a:t>
            </a:r>
            <a:endParaRPr lang="de-DE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36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104B27-42FF-4BDB-87C4-2EAEA8DD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55B9B9-1511-E1C7-6954-5FA80142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47</a:t>
            </a:fld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sind MPPT‘s? </a:t>
            </a:r>
            <a:endParaRPr lang="de-DE" b="1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78C0E3D-E5A1-4340-B008-0019B9B03E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9" t="13335" r="20311" b="27754"/>
          <a:stretch/>
        </p:blipFill>
        <p:spPr>
          <a:xfrm>
            <a:off x="9108682" y="1682105"/>
            <a:ext cx="2365767" cy="2935178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C01E4FD-D34C-4225-B891-3A542EC76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817772"/>
            <a:ext cx="8016935" cy="4663844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C54FB9B8-28C6-4B2B-AA95-2AAA1C2CA902}"/>
              </a:ext>
            </a:extLst>
          </p:cNvPr>
          <p:cNvSpPr txBox="1"/>
          <p:nvPr/>
        </p:nvSpPr>
        <p:spPr>
          <a:xfrm>
            <a:off x="9108682" y="4630147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BF46274-6C35-41E7-B3D0-A4959A4AF206}"/>
              </a:ext>
            </a:extLst>
          </p:cNvPr>
          <p:cNvSpPr txBox="1"/>
          <p:nvPr/>
        </p:nvSpPr>
        <p:spPr>
          <a:xfrm>
            <a:off x="717550" y="5483240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3019425" y="2280293"/>
            <a:ext cx="5790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smtClean="0"/>
              <a:t>Relais</a:t>
            </a:r>
          </a:p>
          <a:p>
            <a:r>
              <a:rPr lang="de-DE" sz="1050" smtClean="0"/>
              <a:t>Trafo</a:t>
            </a:r>
            <a:endParaRPr lang="de-DE" sz="1050"/>
          </a:p>
        </p:txBody>
      </p:sp>
      <p:sp>
        <p:nvSpPr>
          <p:cNvPr id="20" name="Textfeld 19"/>
          <p:cNvSpPr txBox="1"/>
          <p:nvPr/>
        </p:nvSpPr>
        <p:spPr>
          <a:xfrm>
            <a:off x="5366327" y="161285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smtClean="0">
                <a:solidFill>
                  <a:srgbClr val="FF0000"/>
                </a:solidFill>
              </a:rPr>
              <a:t>?</a:t>
            </a:r>
            <a:endParaRPr lang="de-DE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17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104B27-42FF-4BDB-87C4-2EAEA8DD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55B9B9-1511-E1C7-6954-5FA80142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48</a:t>
            </a:fld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sind MPPT‘s?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12" name="Textfeld 11"/>
          <p:cNvSpPr txBox="1"/>
          <p:nvPr/>
        </p:nvSpPr>
        <p:spPr>
          <a:xfrm>
            <a:off x="717550" y="5743888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smtClean="0"/>
              <a:t>Maximum Power Point Tracker </a:t>
            </a:r>
            <a:r>
              <a:rPr lang="de-DE" b="1" smtClean="0">
                <a:sym typeface="Wingdings" panose="05000000000000000000" pitchFamily="2" charset="2"/>
              </a:rPr>
              <a:t> findet den Punkt der maximalen Leistung der Solarmodule</a:t>
            </a:r>
            <a:endParaRPr lang="de-DE" b="1" smtClean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78C0E3D-E5A1-4340-B008-0019B9B03E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9" t="13335" r="20311" b="27754"/>
          <a:stretch/>
        </p:blipFill>
        <p:spPr>
          <a:xfrm>
            <a:off x="9108682" y="1682105"/>
            <a:ext cx="2365767" cy="2935178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C01E4FD-D34C-4225-B891-3A542EC76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817772"/>
            <a:ext cx="8016935" cy="4663844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C54FB9B8-28C6-4B2B-AA95-2AAA1C2CA902}"/>
              </a:ext>
            </a:extLst>
          </p:cNvPr>
          <p:cNvSpPr txBox="1"/>
          <p:nvPr/>
        </p:nvSpPr>
        <p:spPr>
          <a:xfrm>
            <a:off x="9108682" y="4630147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BF46274-6C35-41E7-B3D0-A4959A4AF206}"/>
              </a:ext>
            </a:extLst>
          </p:cNvPr>
          <p:cNvSpPr txBox="1"/>
          <p:nvPr/>
        </p:nvSpPr>
        <p:spPr>
          <a:xfrm>
            <a:off x="717550" y="5483240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3019425" y="2280293"/>
            <a:ext cx="5790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smtClean="0"/>
              <a:t>Relais</a:t>
            </a:r>
          </a:p>
          <a:p>
            <a:r>
              <a:rPr lang="de-DE" sz="1050" smtClean="0"/>
              <a:t>Trafo</a:t>
            </a:r>
            <a:endParaRPr lang="de-DE" sz="1050"/>
          </a:p>
        </p:txBody>
      </p:sp>
      <p:sp>
        <p:nvSpPr>
          <p:cNvPr id="13" name="Textfeld 12"/>
          <p:cNvSpPr txBox="1"/>
          <p:nvPr/>
        </p:nvSpPr>
        <p:spPr>
          <a:xfrm>
            <a:off x="5366327" y="161285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smtClean="0">
                <a:solidFill>
                  <a:srgbClr val="FF0000"/>
                </a:solidFill>
              </a:rPr>
              <a:t>?</a:t>
            </a:r>
            <a:endParaRPr lang="de-DE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631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49</a:t>
            </a:fld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33D58FA-FDAD-4EF3-9D9C-87BB2E7A6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Wo befindet sich der MPP?</a:t>
            </a:r>
            <a:endParaRPr lang="de-DE" b="1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23" y="1166505"/>
            <a:ext cx="7515551" cy="4570003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BF46274-6C35-41E7-B3D0-A4959A4AF206}"/>
              </a:ext>
            </a:extLst>
          </p:cNvPr>
          <p:cNvSpPr txBox="1"/>
          <p:nvPr/>
        </p:nvSpPr>
        <p:spPr>
          <a:xfrm>
            <a:off x="2338223" y="5736508"/>
            <a:ext cx="7515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Quelle: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www.startpage.com/av/proxy-image?piurl=https%3A%2F%2Fwww.pv-wissen.de%2Fwp-content%2Fuploads%2F3008-strom-spannungs-kennlinie-solarzelle-1536x934.png&amp;sp=1767626952T3f6440993d32b3ebcf08fba7f40da8596bc954be9bc7b3d97561a346ac6d8232</a:t>
            </a:r>
            <a:r>
              <a:rPr lang="de-DE" sz="800" smtClean="0"/>
              <a:t> </a:t>
            </a:r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38920747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50</a:t>
            </a:fld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7522633" y="2359877"/>
            <a:ext cx="41620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smtClean="0"/>
              <a:t>Leistung = Spannung * Stromstärke</a:t>
            </a:r>
          </a:p>
          <a:p>
            <a:pPr algn="ctr"/>
            <a:endParaRPr lang="de-DE" b="1"/>
          </a:p>
          <a:p>
            <a:pPr algn="ctr"/>
            <a:r>
              <a:rPr lang="de-DE" b="1" smtClean="0"/>
              <a:t>(A = a*b)</a:t>
            </a:r>
          </a:p>
          <a:p>
            <a:pPr algn="ctr"/>
            <a:endParaRPr lang="de-DE" b="1" smtClean="0"/>
          </a:p>
          <a:p>
            <a:pPr algn="ctr"/>
            <a:r>
              <a:rPr lang="de-DE" b="1" smtClean="0">
                <a:sym typeface="Wingdings" panose="05000000000000000000" pitchFamily="2" charset="2"/>
              </a:rPr>
              <a:t> MPP ist da, wo die Fläche unter der Kurve maximal wird</a:t>
            </a:r>
            <a:endParaRPr lang="de-DE" b="1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1476990"/>
            <a:ext cx="6394450" cy="3888291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233D58FA-FDAD-4EF3-9D9C-87BB2E7A6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Wo befindet sich der MPP? </a:t>
            </a:r>
            <a:r>
              <a:rPr lang="de-DE" b="1" smtClean="0">
                <a:sym typeface="Wingdings" panose="05000000000000000000" pitchFamily="2" charset="2"/>
              </a:rPr>
              <a:t> Lösung</a:t>
            </a:r>
            <a:endParaRPr lang="de-DE" b="1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BF46274-6C35-41E7-B3D0-A4959A4AF206}"/>
              </a:ext>
            </a:extLst>
          </p:cNvPr>
          <p:cNvSpPr txBox="1"/>
          <p:nvPr/>
        </p:nvSpPr>
        <p:spPr>
          <a:xfrm>
            <a:off x="717550" y="5365281"/>
            <a:ext cx="7515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Quelle: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www.startpage.com/av/proxy-image?piurl=https%3A%2F%2Fwww.pv-wissen.de%2Fwp-content%2Fuploads%2F3107-strom-spannungs-leistungs-kennlinie-solarmodul-1536x934.png&amp;sp=1767626952T6fa0011b11a23632f2ea36ce012bcd8d95623e1eae8d069bef960d2a06cf903d</a:t>
            </a:r>
            <a:r>
              <a:rPr lang="de-DE" sz="800" smtClean="0"/>
              <a:t> </a:t>
            </a:r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23538235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7B1E2C4-F7F5-4893-A6B4-7DDD02CF7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EE2298-899D-CB1B-27E3-7CE1B793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51</a:t>
            </a:fld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858000"/>
          </a:xfrm>
        </p:spPr>
        <p:txBody>
          <a:bodyPr anchor="ctr">
            <a:normAutofit/>
          </a:bodyPr>
          <a:lstStyle/>
          <a:p>
            <a:pPr algn="ctr"/>
            <a:r>
              <a:rPr lang="de-DE" sz="4800" b="1" smtClean="0"/>
              <a:t>Vermessung von Solarmodulen</a:t>
            </a:r>
            <a:endParaRPr lang="de-DE" sz="4800" b="1" dirty="0"/>
          </a:p>
        </p:txBody>
      </p:sp>
    </p:spTree>
    <p:extLst>
      <p:ext uri="{BB962C8B-B14F-4D97-AF65-F5344CB8AC3E}">
        <p14:creationId xmlns:p14="http://schemas.microsoft.com/office/powerpoint/2010/main" val="342591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52</a:t>
            </a:fld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33D58FA-FDAD-4EF3-9D9C-87BB2E7A6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Welches Gerät wird zur Vermessung von Solarmodulen genutzt?</a:t>
            </a:r>
            <a:br>
              <a:rPr lang="de-DE" b="1" smtClean="0"/>
            </a:br>
            <a:r>
              <a:rPr lang="de-DE" b="1" smtClean="0"/>
              <a:t>Welche Größen beeinflussen die Leistung von Solarmodulen?</a:t>
            </a:r>
            <a:endParaRPr lang="de-DE" b="1"/>
          </a:p>
        </p:txBody>
      </p:sp>
      <p:sp>
        <p:nvSpPr>
          <p:cNvPr id="9" name="Rechteck 8"/>
          <p:cNvSpPr/>
          <p:nvPr/>
        </p:nvSpPr>
        <p:spPr>
          <a:xfrm>
            <a:off x="3524250" y="5724525"/>
            <a:ext cx="5543550" cy="238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8" y="1448373"/>
            <a:ext cx="4572001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596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233D58FA-FDAD-4EF3-9D9C-87BB2E7A6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>
                <a:solidFill>
                  <a:schemeClr val="accent6"/>
                </a:solidFill>
              </a:rPr>
              <a:t>Welches Gerät wird zur Vermessung von Solarmodulen genutzt?</a:t>
            </a:r>
            <a:r>
              <a:rPr lang="de-DE" b="1" smtClean="0"/>
              <a:t/>
            </a:r>
            <a:br>
              <a:rPr lang="de-DE" b="1" smtClean="0"/>
            </a:br>
            <a:r>
              <a:rPr lang="de-DE" b="1" smtClean="0">
                <a:solidFill>
                  <a:schemeClr val="accent3"/>
                </a:solidFill>
              </a:rPr>
              <a:t>Welche Größen beeinflussen die Leistung von Solarmodulen?                  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53</a:t>
            </a:fld>
            <a:endParaRPr lang="de-DE" dirty="0"/>
          </a:p>
        </p:txBody>
      </p:sp>
      <p:sp>
        <p:nvSpPr>
          <p:cNvPr id="9" name="Rechteck 8"/>
          <p:cNvSpPr/>
          <p:nvPr/>
        </p:nvSpPr>
        <p:spPr>
          <a:xfrm>
            <a:off x="3524250" y="5724525"/>
            <a:ext cx="5543550" cy="238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314" name="Picture 2" descr="SINUS-360 PRO - WAVELAB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13"/>
          <a:stretch/>
        </p:blipFill>
        <p:spPr bwMode="auto">
          <a:xfrm>
            <a:off x="692150" y="1709258"/>
            <a:ext cx="3309456" cy="4114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/>
          <p:cNvSpPr txBox="1"/>
          <p:nvPr/>
        </p:nvSpPr>
        <p:spPr>
          <a:xfrm rot="5400000">
            <a:off x="2037517" y="3590410"/>
            <a:ext cx="4375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smtClean="0">
                <a:solidFill>
                  <a:schemeClr val="accent6"/>
                </a:solidFill>
              </a:rPr>
              <a:t>Solarflasher bzw. Sonnensimulatoren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BF46274-6C35-41E7-B3D0-A4959A4AF206}"/>
              </a:ext>
            </a:extLst>
          </p:cNvPr>
          <p:cNvSpPr txBox="1"/>
          <p:nvPr/>
        </p:nvSpPr>
        <p:spPr>
          <a:xfrm>
            <a:off x="692150" y="5821237"/>
            <a:ext cx="5413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Quelle: </a:t>
            </a:r>
            <a:r>
              <a:rPr lang="de-DE" sz="800">
                <a:hlinkClick r:id="rId3"/>
              </a:rPr>
              <a:t>https://</a:t>
            </a:r>
            <a:r>
              <a:rPr lang="de-DE" sz="800" smtClean="0">
                <a:hlinkClick r:id="rId3"/>
              </a:rPr>
              <a:t>www.startpage.com/av/proxy-image?piurl=https%3A%2F%2Fwavelabs.de%2Fwp-content%2Fuploads%2FWAVELABS_SINUS-360_PRO-1-600x900.jpg&amp;sp=1767627471T66fd5313de854b7ef3c119aaa6f8c9eca5b1508958001a9b7d63fe943badef34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3" name="Textfeld 12"/>
          <p:cNvSpPr txBox="1"/>
          <p:nvPr/>
        </p:nvSpPr>
        <p:spPr>
          <a:xfrm>
            <a:off x="8377515" y="1379962"/>
            <a:ext cx="2781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smtClean="0">
                <a:solidFill>
                  <a:schemeClr val="accent3"/>
                </a:solidFill>
              </a:rPr>
              <a:t>Material der Solarzellen </a:t>
            </a:r>
          </a:p>
        </p:txBody>
      </p:sp>
      <p:sp>
        <p:nvSpPr>
          <p:cNvPr id="7" name="Rechteck 6"/>
          <p:cNvSpPr/>
          <p:nvPr/>
        </p:nvSpPr>
        <p:spPr>
          <a:xfrm>
            <a:off x="4635144" y="2399253"/>
            <a:ext cx="37925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1">
                <a:solidFill>
                  <a:schemeClr val="accent3"/>
                </a:solidFill>
              </a:rPr>
              <a:t>Lichintensität und </a:t>
            </a:r>
            <a:r>
              <a:rPr lang="de-DE" b="1" smtClean="0">
                <a:solidFill>
                  <a:schemeClr val="accent3"/>
                </a:solidFill>
              </a:rPr>
              <a:t>Lichspektrum </a:t>
            </a:r>
            <a:endParaRPr lang="de-DE" b="1">
              <a:solidFill>
                <a:schemeClr val="accent3"/>
              </a:solidFill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8145268" y="3888424"/>
            <a:ext cx="1435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1" smtClean="0">
                <a:solidFill>
                  <a:schemeClr val="accent3"/>
                </a:solidFill>
              </a:rPr>
              <a:t>Temperatur</a:t>
            </a:r>
            <a:endParaRPr lang="de-DE" b="1">
              <a:solidFill>
                <a:schemeClr val="accent3"/>
              </a:solidFill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10058400" y="3442670"/>
            <a:ext cx="15526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1" smtClean="0">
                <a:solidFill>
                  <a:schemeClr val="accent3"/>
                </a:solidFill>
              </a:rPr>
              <a:t>Degradation</a:t>
            </a:r>
            <a:endParaRPr lang="de-DE" b="1">
              <a:solidFill>
                <a:schemeClr val="accent3"/>
              </a:solidFill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7573433" y="5777985"/>
            <a:ext cx="3185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>
                <a:solidFill>
                  <a:schemeClr val="accent3"/>
                </a:solidFill>
              </a:rPr>
              <a:t>Sauberkeit, Verschattung…</a:t>
            </a:r>
          </a:p>
        </p:txBody>
      </p:sp>
      <p:pic>
        <p:nvPicPr>
          <p:cNvPr id="17" name="Grafik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5836" y="1687528"/>
            <a:ext cx="1713976" cy="1713976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8749" y="3865462"/>
            <a:ext cx="990600" cy="990600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3162" y="2829320"/>
            <a:ext cx="2416504" cy="2416504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7515" y="4273351"/>
            <a:ext cx="1140084" cy="114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1481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k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456847"/>
              </p:ext>
            </p:extLst>
          </p:nvPr>
        </p:nvGraphicFramePr>
        <p:xfrm>
          <a:off x="2527300" y="1154402"/>
          <a:ext cx="7540625" cy="4644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" name="Arbeitsblatt" r:id="rId3" imgW="8944507" imgH="5507838" progId="Excel.Sheet.12">
                  <p:embed/>
                </p:oleObj>
              </mc:Choice>
              <mc:Fallback>
                <p:oleObj name="Arbeitsblatt" r:id="rId3" imgW="8944507" imgH="5507838" progId="Excel.Sheet.12">
                  <p:embed/>
                  <p:pic>
                    <p:nvPicPr>
                      <p:cNvPr id="7" name="Objek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27300" y="1154402"/>
                        <a:ext cx="7540625" cy="4644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54</a:t>
            </a:fld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33D58FA-FDAD-4EF3-9D9C-87BB2E7A6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Welche Kurve gehört zu welchem Lichtspektrum?</a:t>
            </a:r>
          </a:p>
        </p:txBody>
      </p:sp>
      <p:sp>
        <p:nvSpPr>
          <p:cNvPr id="2" name="Rechteck 1"/>
          <p:cNvSpPr/>
          <p:nvPr/>
        </p:nvSpPr>
        <p:spPr>
          <a:xfrm>
            <a:off x="3237016" y="5486400"/>
            <a:ext cx="6021284" cy="177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54FB9B8-28C6-4B2B-AA95-2AAA1C2CA902}"/>
              </a:ext>
            </a:extLst>
          </p:cNvPr>
          <p:cNvSpPr txBox="1"/>
          <p:nvPr/>
        </p:nvSpPr>
        <p:spPr>
          <a:xfrm>
            <a:off x="2527300" y="5806203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</p:spTree>
    <p:extLst>
      <p:ext uri="{BB962C8B-B14F-4D97-AF65-F5344CB8AC3E}">
        <p14:creationId xmlns:p14="http://schemas.microsoft.com/office/powerpoint/2010/main" val="12148512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55</a:t>
            </a:fld>
            <a:endParaRPr lang="de-DE" dirty="0"/>
          </a:p>
        </p:txBody>
      </p:sp>
      <p:graphicFrame>
        <p:nvGraphicFramePr>
          <p:cNvPr id="7" name="Objek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465560"/>
              </p:ext>
            </p:extLst>
          </p:nvPr>
        </p:nvGraphicFramePr>
        <p:xfrm>
          <a:off x="2527300" y="1154402"/>
          <a:ext cx="7540625" cy="4644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Arbeitsblatt" r:id="rId4" imgW="8944507" imgH="5507838" progId="Excel.Sheet.12">
                  <p:embed/>
                </p:oleObj>
              </mc:Choice>
              <mc:Fallback>
                <p:oleObj name="Arbeitsblatt" r:id="rId4" imgW="8944507" imgH="5507838" progId="Excel.Sheet.12">
                  <p:embed/>
                  <p:pic>
                    <p:nvPicPr>
                      <p:cNvPr id="7" name="Objek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27300" y="1154402"/>
                        <a:ext cx="7540625" cy="4644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1">
            <a:extLst>
              <a:ext uri="{FF2B5EF4-FFF2-40B4-BE49-F238E27FC236}">
                <a16:creationId xmlns:a16="http://schemas.microsoft.com/office/drawing/2014/main" id="{233D58FA-FDAD-4EF3-9D9C-87BB2E7A6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Welche Kurve gehört zu welchem Lichtspektrum</a:t>
            </a:r>
            <a:r>
              <a:rPr lang="de-DE" b="1" smtClean="0"/>
              <a:t>? </a:t>
            </a:r>
            <a:r>
              <a:rPr lang="de-DE" b="1" smtClean="0">
                <a:sym typeface="Wingdings" panose="05000000000000000000" pitchFamily="2" charset="2"/>
              </a:rPr>
              <a:t> Lösung</a:t>
            </a:r>
            <a:endParaRPr lang="de-DE" b="1"/>
          </a:p>
        </p:txBody>
      </p:sp>
      <p:sp>
        <p:nvSpPr>
          <p:cNvPr id="9" name="Rechteck 8"/>
          <p:cNvSpPr/>
          <p:nvPr/>
        </p:nvSpPr>
        <p:spPr>
          <a:xfrm>
            <a:off x="3136544" y="1552037"/>
            <a:ext cx="7877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1" smtClean="0"/>
              <a:t>Weiß</a:t>
            </a:r>
            <a:endParaRPr lang="de-DE" b="1"/>
          </a:p>
        </p:txBody>
      </p:sp>
      <p:sp>
        <p:nvSpPr>
          <p:cNvPr id="10" name="Rechteck 9"/>
          <p:cNvSpPr/>
          <p:nvPr/>
        </p:nvSpPr>
        <p:spPr>
          <a:xfrm>
            <a:off x="3136544" y="4285338"/>
            <a:ext cx="7877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1" smtClean="0"/>
              <a:t>Grün</a:t>
            </a:r>
            <a:endParaRPr lang="de-DE" b="1"/>
          </a:p>
        </p:txBody>
      </p:sp>
      <p:sp>
        <p:nvSpPr>
          <p:cNvPr id="11" name="Rechteck 10"/>
          <p:cNvSpPr/>
          <p:nvPr/>
        </p:nvSpPr>
        <p:spPr>
          <a:xfrm>
            <a:off x="3136544" y="2210640"/>
            <a:ext cx="7877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1" smtClean="0"/>
              <a:t>Rot</a:t>
            </a:r>
            <a:endParaRPr lang="de-DE" b="1"/>
          </a:p>
        </p:txBody>
      </p:sp>
      <p:sp>
        <p:nvSpPr>
          <p:cNvPr id="12" name="Rechteck 11"/>
          <p:cNvSpPr/>
          <p:nvPr/>
        </p:nvSpPr>
        <p:spPr>
          <a:xfrm>
            <a:off x="3136544" y="4794370"/>
            <a:ext cx="7877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1" smtClean="0"/>
              <a:t>Blau</a:t>
            </a:r>
            <a:endParaRPr lang="de-DE" b="1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54FB9B8-28C6-4B2B-AA95-2AAA1C2CA902}"/>
              </a:ext>
            </a:extLst>
          </p:cNvPr>
          <p:cNvSpPr txBox="1"/>
          <p:nvPr/>
        </p:nvSpPr>
        <p:spPr>
          <a:xfrm>
            <a:off x="2527300" y="5806203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2" name="Rechteck 1"/>
          <p:cNvSpPr/>
          <p:nvPr/>
        </p:nvSpPr>
        <p:spPr>
          <a:xfrm>
            <a:off x="3530422" y="5586692"/>
            <a:ext cx="5654675" cy="143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62508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7B1E2C4-F7F5-4893-A6B4-7DDD02CF7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EE2298-899D-CB1B-27E3-7CE1B793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56</a:t>
            </a:fld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6935055" cy="6858000"/>
          </a:xfrm>
        </p:spPr>
        <p:txBody>
          <a:bodyPr anchor="ctr">
            <a:normAutofit/>
          </a:bodyPr>
          <a:lstStyle/>
          <a:p>
            <a:pPr algn="ctr"/>
            <a:r>
              <a:rPr lang="de-DE" sz="4800" b="1" smtClean="0"/>
              <a:t>Nächste Schritte</a:t>
            </a:r>
            <a:endParaRPr lang="de-DE" sz="4800" b="1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961" y="9906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3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104B27-42FF-4BDB-87C4-2EAEA8DD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M. Eng. Ludwig Ostertag, M. Sc. Elena Richter, Fakultät ING, Professur Industrielle Messtechnik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55B9B9-1511-E1C7-6954-5FA80142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57</a:t>
            </a:fld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Du möchtest erfahren, wie Sensoren ausgelesen werden?</a:t>
            </a:r>
            <a:endParaRPr lang="de-DE" b="1" dirty="0"/>
          </a:p>
        </p:txBody>
      </p:sp>
      <p:sp>
        <p:nvSpPr>
          <p:cNvPr id="12" name="Textfeld 11"/>
          <p:cNvSpPr txBox="1"/>
          <p:nvPr/>
        </p:nvSpPr>
        <p:spPr>
          <a:xfrm>
            <a:off x="717550" y="5612416"/>
            <a:ext cx="10756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smtClean="0"/>
              <a:t>Dann fahre mit den folgenden Einheiten fort: </a:t>
            </a:r>
          </a:p>
          <a:p>
            <a:pPr algn="ctr"/>
            <a:r>
              <a:rPr lang="de-DE" b="1" smtClean="0"/>
              <a:t>Arduino(2.1).pptx, Temperatursensoren(2.2).pptx, DHT22(2.3).pptx, LDR_Wokwi(2.4) 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78C0E3D-E5A1-4340-B008-0019B9B03E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9" t="13335" r="20311" b="27754"/>
          <a:stretch/>
        </p:blipFill>
        <p:spPr>
          <a:xfrm>
            <a:off x="9108682" y="1682105"/>
            <a:ext cx="2365767" cy="2935178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C01E4FD-D34C-4225-B891-3A542EC76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817772"/>
            <a:ext cx="8016935" cy="4663844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C54FB9B8-28C6-4B2B-AA95-2AAA1C2CA902}"/>
              </a:ext>
            </a:extLst>
          </p:cNvPr>
          <p:cNvSpPr txBox="1"/>
          <p:nvPr/>
        </p:nvSpPr>
        <p:spPr>
          <a:xfrm>
            <a:off x="9108682" y="4630147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BF46274-6C35-41E7-B3D0-A4959A4AF206}"/>
              </a:ext>
            </a:extLst>
          </p:cNvPr>
          <p:cNvSpPr txBox="1"/>
          <p:nvPr/>
        </p:nvSpPr>
        <p:spPr>
          <a:xfrm>
            <a:off x="717550" y="5483240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Quelle: intern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3019425" y="2280293"/>
            <a:ext cx="5790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smtClean="0"/>
              <a:t>Relais</a:t>
            </a:r>
          </a:p>
          <a:p>
            <a:r>
              <a:rPr lang="de-DE" sz="1050" smtClean="0"/>
              <a:t>Trafo</a:t>
            </a:r>
            <a:endParaRPr lang="de-DE" sz="1050"/>
          </a:p>
        </p:txBody>
      </p:sp>
      <p:sp>
        <p:nvSpPr>
          <p:cNvPr id="14" name="Rechteck 13"/>
          <p:cNvSpPr/>
          <p:nvPr/>
        </p:nvSpPr>
        <p:spPr>
          <a:xfrm>
            <a:off x="7119991" y="2085353"/>
            <a:ext cx="162476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061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870" y="3379869"/>
            <a:ext cx="11186808" cy="1783223"/>
          </a:xfrm>
        </p:spPr>
        <p:txBody>
          <a:bodyPr/>
          <a:lstStyle/>
          <a:p>
            <a:pPr algn="ctr"/>
            <a:r>
              <a:rPr lang="en-US" sz="3600" b="1" dirty="0" err="1"/>
              <a:t>Vielen</a:t>
            </a:r>
            <a:r>
              <a:rPr lang="en-US" sz="3600" b="1" dirty="0"/>
              <a:t> Dank für die </a:t>
            </a:r>
            <a:r>
              <a:rPr lang="en-US" sz="3600" b="1" dirty="0" err="1"/>
              <a:t>Aufmerksamkeit</a:t>
            </a:r>
            <a:r>
              <a:rPr lang="en-US" sz="3600" b="1" dirty="0"/>
              <a:t>!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0E8C82-2AF8-4F05-F328-ECE8C526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de-DE" smtClean="0"/>
              <a:t>Prof. Dr-Ing. Mathias Rudolph, M. Eng. Ludwig Ostertag, M. Sc. Elena Richter, Fakultät ING, Professur Industrielle Messtechnik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1456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2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2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2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2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3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3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3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2.5|3.1|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2.5|3.1|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2.5|3.1|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2.5|3.1|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2.9|2.5|2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2.9|2.5|2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2.9|2.5|2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2.9|2.5|2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2.9|2.5|2.2"/>
</p:tagLst>
</file>

<file path=ppt/theme/theme1.xml><?xml version="1.0" encoding="utf-8"?>
<a:theme xmlns:a="http://schemas.openxmlformats.org/drawingml/2006/main" name="HTWK_Praesentation_16-9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8501C412-F393-B646-9B96-1DF6D2826D91}"/>
    </a:ext>
  </a:extLst>
</a:theme>
</file>

<file path=ppt/theme/theme2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3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4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5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DA79B272C4D3C4887957B2C2A69604C" ma:contentTypeVersion="2" ma:contentTypeDescription="Ein neues Dokument erstellen." ma:contentTypeScope="" ma:versionID="e501a6c1b206167274165a6a5715c2fe">
  <xsd:schema xmlns:xsd="http://www.w3.org/2001/XMLSchema" xmlns:xs="http://www.w3.org/2001/XMLSchema" xmlns:p="http://schemas.microsoft.com/office/2006/metadata/properties" xmlns:ns2="99f41258-1f02-46b6-b230-447d6494c4cb" targetNamespace="http://schemas.microsoft.com/office/2006/metadata/properties" ma:root="true" ma:fieldsID="bfd365e997dc13bd9b2a2b3fee94f439" ns2:_="">
    <xsd:import namespace="99f41258-1f02-46b6-b230-447d6494c4c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41258-1f02-46b6-b230-447d6494c4c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EA1AA0-2AA4-439B-962A-59934CF953EE}">
  <ds:schemaRefs>
    <ds:schemaRef ds:uri="99f41258-1f02-46b6-b230-447d6494c4cb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D685EFA-6B14-4B03-AC9C-FEB7072B3A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D34047-AAA9-4492-92FF-29386DE30A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f41258-1f02-46b6-b230-447d6494c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3144</Words>
  <Application>Microsoft Office PowerPoint</Application>
  <PresentationFormat>Breitbild</PresentationFormat>
  <Paragraphs>520</Paragraphs>
  <Slides>58</Slides>
  <Notes>55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5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58</vt:i4>
      </vt:variant>
    </vt:vector>
  </HeadingPairs>
  <TitlesOfParts>
    <vt:vector size="69" baseType="lpstr">
      <vt:lpstr>Arial</vt:lpstr>
      <vt:lpstr>Calibri</vt:lpstr>
      <vt:lpstr>Cambria Math</vt:lpstr>
      <vt:lpstr>Wingdings</vt:lpstr>
      <vt:lpstr>Work Sans</vt:lpstr>
      <vt:lpstr>HTWK_Praesentation_16-9</vt:lpstr>
      <vt:lpstr>HTWK Magenta</vt:lpstr>
      <vt:lpstr>HTWK Grün</vt:lpstr>
      <vt:lpstr>HTWK Cyan</vt:lpstr>
      <vt:lpstr>HTWK Blau</vt:lpstr>
      <vt:lpstr>Arbeitsblatt</vt:lpstr>
      <vt:lpstr>Agri-PV</vt:lpstr>
      <vt:lpstr>Treibhausgasemissionen                       und deren Folgen</vt:lpstr>
      <vt:lpstr>Was zeigt diese Grafik?</vt:lpstr>
      <vt:lpstr>Was zeigt diese Grafik?  Lösung:</vt:lpstr>
      <vt:lpstr>Wozu führen die steigenden Treibhausgasemissionen                                        und was zeigt dieses Bild? </vt:lpstr>
      <vt:lpstr>Wozu führen die steigenden Treibhausgasemissionen                                        und was zeigt dieses Bild?  Lösung:</vt:lpstr>
      <vt:lpstr>Wozu führt der Klimawandel?</vt:lpstr>
      <vt:lpstr>Wozu führt der Klimawandel  Lösung: </vt:lpstr>
      <vt:lpstr>Rolle der Energieerzeugung bezüglich der Treibhausgasemissionen</vt:lpstr>
      <vt:lpstr>Welcher Sektor (nach KSG) emittiert wie viel Treibhausgase?</vt:lpstr>
      <vt:lpstr>Welcher Sektor (nach KSG) emittiert wie viel Treibhausgase?  Lösung:</vt:lpstr>
      <vt:lpstr>Möglichkeiten der nachhaltigen und möglichst emissionfreien Energieproduktion</vt:lpstr>
      <vt:lpstr>Welche Primärenergien werden wie stark verbraucht? </vt:lpstr>
      <vt:lpstr>Welche Primärenergien werden wie stark verbraucht?  Lösung</vt:lpstr>
      <vt:lpstr>Welche Primärenergieform muss ausgebaut werden, um nachhaltig und möglichst emissionsfrei Energie zu produzieren?</vt:lpstr>
      <vt:lpstr>Welche Primärenergieform muss ausgebaut werden, um nachhaltig und möglichst emissionsfrei Energie zu produzieren?  Lösung:</vt:lpstr>
      <vt:lpstr>Welche erneuerbare Energieformen gibt es?</vt:lpstr>
      <vt:lpstr>Welche erneuerbare Energieformen gibt es?  Lösung:</vt:lpstr>
      <vt:lpstr>Wo können Solarmodule neben Freiflächen noch installiert werden?        </vt:lpstr>
      <vt:lpstr>Wo können Solarmodule neben Freiflächen noch installiert werden?         Lösung:</vt:lpstr>
      <vt:lpstr> Agri-PV Agriculture + Photovoltaik</vt:lpstr>
      <vt:lpstr>Welche Vorteile bietet Agri-PV?</vt:lpstr>
      <vt:lpstr>Welche Vorteile bietet Agri-PV?  Lösung</vt:lpstr>
      <vt:lpstr>Welche Vorteile bietet Agri-PV?  Lösung</vt:lpstr>
      <vt:lpstr>Welche Vorteile bietet Agri-PV?  Lösung</vt:lpstr>
      <vt:lpstr>Welche Vorteile bietet Agri-PV?  Lösung</vt:lpstr>
      <vt:lpstr>Welche Vorteile bietet Agri-PV?  Lösung</vt:lpstr>
      <vt:lpstr>Welche Vorteile bietet Agri-PV?  Lösung</vt:lpstr>
      <vt:lpstr>Welche Vorteile bietet Agri-PV?  Lösung</vt:lpstr>
      <vt:lpstr>Apropos Flächeneffizienz – wie viel landwirtschaftlich genutzte Fläche gibt es in Deutschland?</vt:lpstr>
      <vt:lpstr>Apropos Flächeneffizienz – wie viel landwirtschaftlich genutzte Fläche gibt es in Deutschland?  Lösung:</vt:lpstr>
      <vt:lpstr>Wie viel Prozent der landwirtschaftlich genutzten Flächen müssen mit Agri-PV versehen werden, um die Klimaziele bis 2030/2040 zu erreichen, angenommen 50 % der Leistung sollen aus Agri-PV stammen?         </vt:lpstr>
      <vt:lpstr>Wie viel Prozent der landwirtschaftlich genutzten Flächen müssen mit Agri-PV versehen werden, um die Klimaziele bis 2030/2040 zu erreichen, angenommen 50 % der Leistung sollen aus Agri-PV stammen?  Lösung:     </vt:lpstr>
      <vt:lpstr>Welche Nachteile hat Agri-PV?</vt:lpstr>
      <vt:lpstr>Welche Nachteile hat Agri-PV?  Lösung</vt:lpstr>
      <vt:lpstr>Welche Nachteile hat Agri-PV?  Lösung</vt:lpstr>
      <vt:lpstr>Welche Nachteile hat Agri-PV?  Lösung</vt:lpstr>
      <vt:lpstr>Was kann zur Überwindung der Skepsis getan werden?</vt:lpstr>
      <vt:lpstr>Was kann zur Überwindung der Skepsis getan werden?  Lösung:</vt:lpstr>
      <vt:lpstr>Elektrische Bauteile</vt:lpstr>
      <vt:lpstr>Was sind ESP‘s?</vt:lpstr>
      <vt:lpstr>Was sind ESP‘s?  Lösung:</vt:lpstr>
      <vt:lpstr>Was sind Trafo‘s?</vt:lpstr>
      <vt:lpstr>Was sind Trafo‘s?  Lösung:</vt:lpstr>
      <vt:lpstr>Was sind Relais? </vt:lpstr>
      <vt:lpstr>Was sind Relais?  Lösung:</vt:lpstr>
      <vt:lpstr>Was sind MPPT‘s? </vt:lpstr>
      <vt:lpstr>Was sind MPPT‘s?  Lösung:</vt:lpstr>
      <vt:lpstr>Wo befindet sich der MPP?</vt:lpstr>
      <vt:lpstr>Wo befindet sich der MPP?  Lösung</vt:lpstr>
      <vt:lpstr>Vermessung von Solarmodulen</vt:lpstr>
      <vt:lpstr>Welches Gerät wird zur Vermessung von Solarmodulen genutzt? Welche Größen beeinflussen die Leistung von Solarmodulen?</vt:lpstr>
      <vt:lpstr>Welches Gerät wird zur Vermessung von Solarmodulen genutzt? Welche Größen beeinflussen die Leistung von Solarmodulen?                    Lösung:</vt:lpstr>
      <vt:lpstr>Welche Kurve gehört zu welchem Lichtspektrum?</vt:lpstr>
      <vt:lpstr>Welche Kurve gehört zu welchem Lichtspektrum?  Lösung</vt:lpstr>
      <vt:lpstr>Nächste Schritte</vt:lpstr>
      <vt:lpstr>Du möchtest erfahren, wie Sensoren ausgelesen werden?</vt:lpstr>
      <vt:lpstr>Vielen Dank für die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Richter, Elena</cp:lastModifiedBy>
  <cp:revision>321</cp:revision>
  <dcterms:created xsi:type="dcterms:W3CDTF">2019-01-10T16:04:56Z</dcterms:created>
  <dcterms:modified xsi:type="dcterms:W3CDTF">2026-04-30T07:51:11Z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0x0101005DA79B272C4D3C4887957B2C2A69604C</vt:lpwstr>
  </property>
</Properties>
</file>