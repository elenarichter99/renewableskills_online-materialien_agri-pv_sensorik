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32"/>
  </p:notesMasterIdLst>
  <p:sldIdLst>
    <p:sldId id="367" r:id="rId9"/>
    <p:sldId id="368" r:id="rId10"/>
    <p:sldId id="430" r:id="rId11"/>
    <p:sldId id="390" r:id="rId12"/>
    <p:sldId id="393" r:id="rId13"/>
    <p:sldId id="422" r:id="rId14"/>
    <p:sldId id="403" r:id="rId15"/>
    <p:sldId id="423" r:id="rId16"/>
    <p:sldId id="405" r:id="rId17"/>
    <p:sldId id="421" r:id="rId18"/>
    <p:sldId id="406" r:id="rId19"/>
    <p:sldId id="426" r:id="rId20"/>
    <p:sldId id="408" r:id="rId21"/>
    <p:sldId id="409" r:id="rId22"/>
    <p:sldId id="415" r:id="rId23"/>
    <p:sldId id="427" r:id="rId24"/>
    <p:sldId id="412" r:id="rId25"/>
    <p:sldId id="413" r:id="rId26"/>
    <p:sldId id="418" r:id="rId27"/>
    <p:sldId id="428" r:id="rId28"/>
    <p:sldId id="416" r:id="rId29"/>
    <p:sldId id="417" r:id="rId30"/>
    <p:sldId id="36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99A0"/>
    <a:srgbClr val="EADB61"/>
    <a:srgbClr val="F9F9F9"/>
    <a:srgbClr val="E9796B"/>
    <a:srgbClr val="E97A70"/>
    <a:srgbClr val="E45E7C"/>
    <a:srgbClr val="633330"/>
    <a:srgbClr val="6D89D1"/>
    <a:srgbClr val="2DCD28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1387" autoAdjust="0"/>
  </p:normalViewPr>
  <p:slideViewPr>
    <p:cSldViewPr snapToGrid="0" showGuides="1">
      <p:cViewPr varScale="1">
        <p:scale>
          <a:sx n="94" d="100"/>
          <a:sy n="94" d="100"/>
        </p:scale>
        <p:origin x="1224" y="78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74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2803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9421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501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4877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507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6604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348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3718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294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879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829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Skript: LED_1_Luecken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7271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LED_1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20098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6315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2542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LED_2_Luecken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6949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LED_2_Luecken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741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900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346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LED_3_Luecken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063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LED_3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01677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8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144904657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8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hyperlink" Target="https://www.startpage.com/av/proxy-image?piurl=https%3A%2F%2Ftse4.mm.bing.net%2Fth%2Fid%2FOIP.Za0qPOKE3GqZYmdEAczKJQHaHa%3Fpid%3DApi&amp;sp=1768302160T595d207b0b37e35c3e338ae13f2f9e331041a5e3ddf076337ee24041064366fd" TargetMode="External"/><Relationship Id="rId4" Type="http://schemas.openxmlformats.org/officeDocument/2006/relationships/hyperlink" Target="https://www.startpage.com/av/proxy-image?piurl=https%3A%2F%2Ftse4.mm.bing.net%2Fth%2Fid%2FOIP.TpvqpsHupWChjcrJ59ztBwHaHa%3Fpid%3DApi&amp;sp=1768303081T1a404675739948c1624ab15b793801e828586840265f6b6a0e0e3528138ebac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rtpage.com/av/proxy-image?piurl=https%3A%2F%2Ftse4.mm.bing.net%2Fth%2Fid%2FOIP.Za0qPOKE3GqZYmdEAczKJQHaHa%3Fpid%3DApi&amp;sp=1768302160T595d207b0b37e35c3e338ae13f2f9e331041a5e3ddf076337ee24041064366f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startpage.com/av/proxy-image?piurl=https%3A%2F%2Ftse4.mm.bing.net%2Fth%2Fid%2FOIP.TpvqpsHupWChjcrJ59ztBwHaHa%3Fpid%3DApi&amp;sp=1768303081T1a404675739948c1624ab15b793801e828586840265f6b6a0e0e3528138ebaca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hyperlink" Target="https://www.startpage.com/av/proxy-image?piurl=https%3A%2F%2Ftse4.mm.bing.net%2Fth%2Fid%2FOIP.GV4hSS9xJ1fpoy_J89zCvwHaFW%3Fpid%3DApi&amp;sp=1768308471T9a52e8848aad3a741cd4834280859d74f16e8902e7816397e6963256a4f58cd9" TargetMode="Externa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hyperlink" Target="https://www.startpage.com/av/proxy-image?piurl=https%3A%2F%2Ftse4.mm.bing.net%2Fth%2Fid%2FOIP.GV4hSS9xJ1fpoy_J89zCvwHaFW%3Fpid%3DApi&amp;sp=1768308471T9a52e8848aad3a741cd4834280859d74f16e8902e7816397e6963256a4f58cd9" TargetMode="Externa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rduino.cc/en/software/" TargetMode="External"/><Relationship Id="rId13" Type="http://schemas.openxmlformats.org/officeDocument/2006/relationships/hyperlink" Target="https://asset.conrad.com/media10/isa/160267/c1/-/de/002885952PI00/image.jpg?x=1440&amp;y=1440&amp;format=jpg&amp;ex=1440&amp;ey=1440&amp;align=center" TargetMode="External"/><Relationship Id="rId18" Type="http://schemas.openxmlformats.org/officeDocument/2006/relationships/image" Target="../media/image20.jpeg"/><Relationship Id="rId3" Type="http://schemas.openxmlformats.org/officeDocument/2006/relationships/hyperlink" Target="https://www.reichelt.de/de/de/shop/produkt/sortiment_led_30-teilig-119303" TargetMode="External"/><Relationship Id="rId7" Type="http://schemas.openxmlformats.org/officeDocument/2006/relationships/hyperlink" Target="https://www.reichelt.de/de/de/shop/produkt/widerstand_metallschicht_220_ohm_0207_0_6_w_1_-11627" TargetMode="External"/><Relationship Id="rId12" Type="http://schemas.openxmlformats.org/officeDocument/2006/relationships/image" Target="../media/image19.png"/><Relationship Id="rId17" Type="http://schemas.openxmlformats.org/officeDocument/2006/relationships/hyperlink" Target="https://www.arduino.cc/wiki/static/arduino-app-76bd27c4ce7246825aceb8efe2871f7a.svg" TargetMode="External"/><Relationship Id="rId2" Type="http://schemas.openxmlformats.org/officeDocument/2006/relationships/notesSlide" Target="../notesSlides/notesSlide10.xml"/><Relationship Id="rId16" Type="http://schemas.openxmlformats.org/officeDocument/2006/relationships/hyperlink" Target="https://www.roboter-bausatz.de/media/image/d8/f3/0e/RBS18335_600x600.jpg" TargetMode="External"/><Relationship Id="rId20" Type="http://schemas.openxmlformats.org/officeDocument/2006/relationships/hyperlink" Target="https://cdn-reichelt.de/resize/600%2F-/web/xxl_ws/D800%2FS036.png?type=ProductXxl&amp;resize=600%252F-&amp;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oboter-bausatz.de/p/esp32-dev-board-32d-mit-cp2102-usb-c-wlan-bluetooth-iot-modul" TargetMode="External"/><Relationship Id="rId11" Type="http://schemas.openxmlformats.org/officeDocument/2006/relationships/image" Target="../media/image18.png"/><Relationship Id="rId5" Type="http://schemas.openxmlformats.org/officeDocument/2006/relationships/hyperlink" Target="https://www.az-delivery.de/products/40-stk-jumper-wire-male-to-male-20-zentimeter" TargetMode="External"/><Relationship Id="rId15" Type="http://schemas.openxmlformats.org/officeDocument/2006/relationships/hyperlink" Target="https://cdn-reichelt.de/bilder/web/artikel_ws/B400%2F%21WIDMET.jpg?type=Product&amp;" TargetMode="External"/><Relationship Id="rId10" Type="http://schemas.openxmlformats.org/officeDocument/2006/relationships/image" Target="../media/image17.png"/><Relationship Id="rId19" Type="http://schemas.openxmlformats.org/officeDocument/2006/relationships/image" Target="../media/image21.png"/><Relationship Id="rId4" Type="http://schemas.openxmlformats.org/officeDocument/2006/relationships/hyperlink" Target="https://www.conrad.de/de/p/tru-components-steckplatine-bus-stripe-ausklappbar-polzahl-gesamt-400-l-x-b-82-5-cm-x-54-6-mm-1-st-2885952.html" TargetMode="External"/><Relationship Id="rId9" Type="http://schemas.openxmlformats.org/officeDocument/2006/relationships/image" Target="../media/image16.png"/><Relationship Id="rId14" Type="http://schemas.openxmlformats.org/officeDocument/2006/relationships/hyperlink" Target="https://www.az-delivery.de/cdn/shop/products/jumper-wire-kabel-40-stk-je-20-cm-m2m-male-to-male-kompatibel-mit-arduino-und-raspberry-pi-breadboard-140806.jpg?v=1679398754&amp;width=1200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16600" b="1" smtClean="0"/>
              <a:t>Arduino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45864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596" y="0"/>
            <a:ext cx="5777403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Einführung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6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3"/>
          <p:cNvSpPr/>
          <p:nvPr/>
        </p:nvSpPr>
        <p:spPr>
          <a:xfrm>
            <a:off x="1560021" y="988681"/>
            <a:ext cx="9119062" cy="8099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ist Arduino?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cxnSp>
        <p:nvCxnSpPr>
          <p:cNvPr id="10" name="Gerade Verbindung mit Pfeil 9"/>
          <p:cNvCxnSpPr>
            <a:stCxn id="3" idx="2"/>
          </p:cNvCxnSpPr>
          <p:nvPr/>
        </p:nvCxnSpPr>
        <p:spPr>
          <a:xfrm flipH="1">
            <a:off x="3223893" y="1849739"/>
            <a:ext cx="2872106" cy="5730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>
            <a:stCxn id="3" idx="2"/>
          </p:cNvCxnSpPr>
          <p:nvPr/>
        </p:nvCxnSpPr>
        <p:spPr>
          <a:xfrm>
            <a:off x="6095999" y="1849739"/>
            <a:ext cx="2872105" cy="57305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bgerundetes Rechteck 2"/>
          <p:cNvSpPr/>
          <p:nvPr/>
        </p:nvSpPr>
        <p:spPr>
          <a:xfrm>
            <a:off x="717549" y="935339"/>
            <a:ext cx="10756899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Arduino ist eine </a:t>
            </a:r>
            <a:r>
              <a:rPr lang="de-DE" smtClean="0">
                <a:solidFill>
                  <a:schemeClr val="tx1"/>
                </a:solidFill>
              </a:rPr>
              <a:t>_____________________ </a:t>
            </a:r>
            <a:r>
              <a:rPr lang="de-DE">
                <a:solidFill>
                  <a:schemeClr val="tx1"/>
                </a:solidFill>
              </a:rPr>
              <a:t>für elektronische Prototypenentwickelung, </a:t>
            </a:r>
          </a:p>
          <a:p>
            <a:pPr algn="ctr"/>
            <a:r>
              <a:rPr lang="de-DE">
                <a:solidFill>
                  <a:schemeClr val="tx1"/>
                </a:solidFill>
              </a:rPr>
              <a:t>die aus benutzerfreundlicher </a:t>
            </a:r>
            <a:r>
              <a:rPr lang="de-DE" b="1" smtClean="0">
                <a:solidFill>
                  <a:srgbClr val="FF0000"/>
                </a:solidFill>
              </a:rPr>
              <a:t>____</a:t>
            </a:r>
            <a:r>
              <a:rPr lang="de-DE" smtClean="0">
                <a:solidFill>
                  <a:schemeClr val="tx1"/>
                </a:solidFill>
              </a:rPr>
              <a:t>- </a:t>
            </a:r>
            <a:r>
              <a:rPr lang="de-DE">
                <a:solidFill>
                  <a:schemeClr val="tx1"/>
                </a:solidFill>
              </a:rPr>
              <a:t>und </a:t>
            </a:r>
            <a:r>
              <a:rPr lang="de-DE" b="1" smtClean="0">
                <a:solidFill>
                  <a:srgbClr val="0070C0"/>
                </a:solidFill>
              </a:rPr>
              <a:t>________</a:t>
            </a:r>
            <a:r>
              <a:rPr lang="de-DE" smtClean="0">
                <a:solidFill>
                  <a:schemeClr val="tx1"/>
                </a:solidFill>
              </a:rPr>
              <a:t> </a:t>
            </a:r>
            <a:r>
              <a:rPr lang="de-DE">
                <a:solidFill>
                  <a:schemeClr val="tx1"/>
                </a:solidFill>
              </a:rPr>
              <a:t>besteht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7" name="Abgerundetes Rechteck 36"/>
          <p:cNvSpPr/>
          <p:nvPr/>
        </p:nvSpPr>
        <p:spPr>
          <a:xfrm>
            <a:off x="717549" y="2422796"/>
            <a:ext cx="5012688" cy="36299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mtClean="0">
                <a:solidFill>
                  <a:schemeClr val="tx1"/>
                </a:solidFill>
              </a:rPr>
              <a:t>Mikrocontroller </a:t>
            </a:r>
          </a:p>
          <a:p>
            <a:pPr algn="ctr"/>
            <a:r>
              <a:rPr lang="de-DE" sz="1600" smtClean="0">
                <a:solidFill>
                  <a:schemeClr val="tx1"/>
                </a:solidFill>
              </a:rPr>
              <a:t>= _________ zur Steuerung von Sensoren, Aktoren, Modulen (</a:t>
            </a:r>
            <a:r>
              <a:rPr lang="de-DE" sz="1600">
                <a:solidFill>
                  <a:schemeClr val="tx1"/>
                </a:solidFill>
              </a:rPr>
              <a:t>idR. </a:t>
            </a:r>
            <a:r>
              <a:rPr lang="de-DE" sz="1600" smtClean="0">
                <a:solidFill>
                  <a:schemeClr val="tx1"/>
                </a:solidFill>
              </a:rPr>
              <a:t>ESP32)</a:t>
            </a:r>
            <a:endParaRPr lang="de-DE" sz="1600" dirty="0">
              <a:solidFill>
                <a:schemeClr val="tx1"/>
              </a:solidFill>
            </a:endParaRPr>
          </a:p>
        </p:txBody>
      </p:sp>
      <p:pic>
        <p:nvPicPr>
          <p:cNvPr id="41" name="Picture 2" descr="Arduino Logo PNG Transparent (1) – Brands Log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529" y="3752955"/>
            <a:ext cx="1525150" cy="152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636384" y="5278391"/>
            <a:ext cx="466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www.startpage.com/av/proxy-image?piurl=https%3A%2F%2Ftse4.mm.bing.net%2Fth%2Fid%2FOIP.TpvqpsHupWChjcrJ59ztBwHaHa%3Fpid%3DApi&amp;sp=1768303081T1a404675739948c1624ab15b793801e828586840265f6b6a0e0e3528138ebaca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73760" y="5247911"/>
            <a:ext cx="466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5"/>
              </a:rPr>
              <a:t>https://</a:t>
            </a:r>
            <a:r>
              <a:rPr lang="de-DE" sz="800" smtClean="0">
                <a:hlinkClick r:id="rId5"/>
              </a:rPr>
              <a:t>www.startpage.com/av/proxy-image?piurl=https%3A%2F%2Ftse4.mm.bing.net%2Fth%2Fid%2FOIP.Za0qPOKE3GqZYmdEAczKJQHaHa%3Fpid%3DApi&amp;sp=1768302160T595d207b0b37e35c3e338ae13f2f9e331041a5e3ddf076337ee24041064366fd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303" y="3709412"/>
            <a:ext cx="2083180" cy="1538213"/>
          </a:xfrm>
          <a:prstGeom prst="rect">
            <a:avLst/>
          </a:prstGeom>
        </p:spPr>
      </p:pic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6" name="Abgerundetes Rechteck 15"/>
          <p:cNvSpPr/>
          <p:nvPr/>
        </p:nvSpPr>
        <p:spPr>
          <a:xfrm>
            <a:off x="6461760" y="2422797"/>
            <a:ext cx="5012688" cy="362990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>
                <a:solidFill>
                  <a:schemeClr val="tx1"/>
                </a:solidFill>
              </a:rPr>
              <a:t>Arduino IDE </a:t>
            </a:r>
          </a:p>
          <a:p>
            <a:pPr algn="ctr"/>
            <a:r>
              <a:rPr lang="de-DE" sz="1600" smtClean="0">
                <a:solidFill>
                  <a:schemeClr val="tx1"/>
                </a:solidFill>
              </a:rPr>
              <a:t>= benutzerfreundliche Umgebung zum Programmieren von Arduino-Boards in Sprache C++ </a:t>
            </a:r>
            <a:endParaRPr lang="de-DE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4389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1560021" y="988681"/>
            <a:ext cx="9119062" cy="8099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/>
          <p:cNvSpPr/>
          <p:nvPr/>
        </p:nvSpPr>
        <p:spPr>
          <a:xfrm>
            <a:off x="6461760" y="2422797"/>
            <a:ext cx="5012688" cy="362990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>
                <a:solidFill>
                  <a:schemeClr val="tx1"/>
                </a:solidFill>
              </a:rPr>
              <a:t>Arduino IDE </a:t>
            </a:r>
          </a:p>
          <a:p>
            <a:pPr algn="ctr"/>
            <a:r>
              <a:rPr lang="de-DE" sz="1600" smtClean="0">
                <a:solidFill>
                  <a:schemeClr val="tx1"/>
                </a:solidFill>
              </a:rPr>
              <a:t>= benutzerfreundliche Umgebung zum Programmieren von Arduino-Boards in Sprache C++ 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717549" y="2422796"/>
            <a:ext cx="5012688" cy="36299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mtClean="0">
                <a:solidFill>
                  <a:schemeClr val="tx1"/>
                </a:solidFill>
              </a:rPr>
              <a:t>Mikrocontroller </a:t>
            </a:r>
          </a:p>
          <a:p>
            <a:pPr algn="ctr"/>
            <a:r>
              <a:rPr lang="de-DE" sz="1600" smtClean="0">
                <a:solidFill>
                  <a:schemeClr val="tx1"/>
                </a:solidFill>
              </a:rPr>
              <a:t>=Mini-PC zur Steuerung von Sensoren, Aktoren, Modulen (</a:t>
            </a:r>
            <a:r>
              <a:rPr lang="de-DE" sz="1600">
                <a:solidFill>
                  <a:schemeClr val="tx1"/>
                </a:solidFill>
              </a:rPr>
              <a:t>idR. </a:t>
            </a:r>
            <a:r>
              <a:rPr lang="de-DE" sz="1600" smtClean="0">
                <a:solidFill>
                  <a:schemeClr val="tx1"/>
                </a:solidFill>
              </a:rPr>
              <a:t>ESP32)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Was ist Arduino?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cxnSp>
        <p:nvCxnSpPr>
          <p:cNvPr id="33" name="Gerade Verbindung mit Pfeil 32"/>
          <p:cNvCxnSpPr>
            <a:stCxn id="15" idx="2"/>
          </p:cNvCxnSpPr>
          <p:nvPr/>
        </p:nvCxnSpPr>
        <p:spPr>
          <a:xfrm flipH="1">
            <a:off x="3223893" y="1798653"/>
            <a:ext cx="2895659" cy="6241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15" idx="2"/>
          </p:cNvCxnSpPr>
          <p:nvPr/>
        </p:nvCxnSpPr>
        <p:spPr>
          <a:xfrm>
            <a:off x="6119552" y="1798653"/>
            <a:ext cx="2848552" cy="6241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bgerundetes Rechteck 34"/>
          <p:cNvSpPr/>
          <p:nvPr/>
        </p:nvSpPr>
        <p:spPr>
          <a:xfrm>
            <a:off x="717549" y="935339"/>
            <a:ext cx="10756899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tx1"/>
                </a:solidFill>
              </a:rPr>
              <a:t>Arduino ist eine Open-Source-Plattform für elektronische Prototypenentwickelung, </a:t>
            </a:r>
          </a:p>
          <a:p>
            <a:pPr algn="ctr"/>
            <a:r>
              <a:rPr lang="de-DE">
                <a:solidFill>
                  <a:schemeClr val="tx1"/>
                </a:solidFill>
              </a:rPr>
              <a:t>die aus benutzerfreundlicher </a:t>
            </a:r>
            <a:r>
              <a:rPr lang="de-DE" b="1">
                <a:solidFill>
                  <a:srgbClr val="FF0000"/>
                </a:solidFill>
              </a:rPr>
              <a:t>Hard</a:t>
            </a:r>
            <a:r>
              <a:rPr lang="de-DE">
                <a:solidFill>
                  <a:schemeClr val="tx1"/>
                </a:solidFill>
              </a:rPr>
              <a:t>- und </a:t>
            </a:r>
            <a:r>
              <a:rPr lang="de-DE" b="1">
                <a:solidFill>
                  <a:srgbClr val="0070C0"/>
                </a:solidFill>
              </a:rPr>
              <a:t>Software</a:t>
            </a:r>
            <a:r>
              <a:rPr lang="de-DE">
                <a:solidFill>
                  <a:schemeClr val="tx1"/>
                </a:solidFill>
              </a:rPr>
              <a:t> besteht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73760" y="5247911"/>
            <a:ext cx="466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3"/>
              </a:rPr>
              <a:t>https://</a:t>
            </a:r>
            <a:r>
              <a:rPr lang="de-DE" sz="800" smtClean="0">
                <a:hlinkClick r:id="rId3"/>
              </a:rPr>
              <a:t>www.startpage.com/av/proxy-image?piurl=https%3A%2F%2Ftse4.mm.bing.net%2Fth%2Fid%2FOIP.Za0qPOKE3GqZYmdEAczKJQHaHa%3Fpid%3DApi&amp;sp=1768302160T595d207b0b37e35c3e338ae13f2f9e331041a5e3ddf076337ee24041064366fd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40" name="Grafik 3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303" y="3709412"/>
            <a:ext cx="2083180" cy="1538213"/>
          </a:xfrm>
          <a:prstGeom prst="rect">
            <a:avLst/>
          </a:prstGeom>
        </p:spPr>
      </p:pic>
      <p:pic>
        <p:nvPicPr>
          <p:cNvPr id="41" name="Picture 2" descr="Arduino Logo PNG Transparent (1) – Brands Log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529" y="3722475"/>
            <a:ext cx="1525150" cy="152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636384" y="5247911"/>
            <a:ext cx="4663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6"/>
              </a:rPr>
              <a:t>https://</a:t>
            </a:r>
            <a:r>
              <a:rPr lang="de-DE" sz="800" smtClean="0">
                <a:hlinkClick r:id="rId6"/>
              </a:rPr>
              <a:t>www.startpage.com/av/proxy-image?piurl=https%3A%2F%2Ftse4.mm.bing.net%2Fth%2Fid%2FOIP.TpvqpsHupWChjcrJ59ztBwHaHa%3Fpid%3DApi&amp;sp=1768303081T1a404675739948c1624ab15b793801e828586840265f6b6a0e0e3528138ebaca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0032302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ist ein ESP32 aufgebaut</a:t>
            </a:r>
            <a:r>
              <a:rPr lang="de-DE" b="1" smtClean="0">
                <a:sym typeface="Wingdings" panose="05000000000000000000" pitchFamily="2" charset="2"/>
              </a:rPr>
              <a:t>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757" y="1204602"/>
            <a:ext cx="8316486" cy="4448796"/>
          </a:xfrm>
          <a:prstGeom prst="rect">
            <a:avLst/>
          </a:prstGeom>
        </p:spPr>
      </p:pic>
      <p:sp>
        <p:nvSpPr>
          <p:cNvPr id="7" name="Abgerundetes Rechteck 6"/>
          <p:cNvSpPr/>
          <p:nvPr/>
        </p:nvSpPr>
        <p:spPr>
          <a:xfrm>
            <a:off x="9692638" y="983447"/>
            <a:ext cx="1925403" cy="510189"/>
          </a:xfrm>
          <a:prstGeom prst="roundRect">
            <a:avLst/>
          </a:prstGeom>
          <a:solidFill>
            <a:srgbClr val="BE1C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smtClean="0">
                <a:solidFill>
                  <a:schemeClr val="tx1"/>
                </a:solidFill>
              </a:rPr>
              <a:t>???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6" name="Abgerundetes Rechteck 35"/>
          <p:cNvSpPr/>
          <p:nvPr/>
        </p:nvSpPr>
        <p:spPr>
          <a:xfrm>
            <a:off x="9692638" y="1589438"/>
            <a:ext cx="1925403" cy="510189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smtClean="0">
                <a:solidFill>
                  <a:schemeClr val="bg1"/>
                </a:solidFill>
              </a:rPr>
              <a:t>???</a:t>
            </a:r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141325" y="5545156"/>
            <a:ext cx="2785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www.startpage.com/av/proxy-image?piurl=https%3A%2F%2Ftse4.mm.bing.net%2Fth%2Fid%2FOIP.GV4hSS9xJ1fpoy_J89zCvwHaFW%3Fpid%3DApi&amp;sp=1768308471T9a52e8848aad3a741cd4834280859d74f16e8902e7816397e6963256a4f58cd9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56" name="Grafik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190" y="5577863"/>
            <a:ext cx="1368000" cy="610338"/>
          </a:xfrm>
          <a:prstGeom prst="rect">
            <a:avLst/>
          </a:prstGeom>
        </p:spPr>
      </p:pic>
      <p:pic>
        <p:nvPicPr>
          <p:cNvPr id="57" name="Grafik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50" y="5586255"/>
            <a:ext cx="1368000" cy="624634"/>
          </a:xfrm>
          <a:prstGeom prst="rect">
            <a:avLst/>
          </a:prstGeom>
        </p:spPr>
      </p:pic>
      <p:pic>
        <p:nvPicPr>
          <p:cNvPr id="58" name="Grafik 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710" y="5892298"/>
            <a:ext cx="1368000" cy="306347"/>
          </a:xfrm>
          <a:prstGeom prst="rect">
            <a:avLst/>
          </a:prstGeom>
        </p:spPr>
      </p:pic>
      <p:pic>
        <p:nvPicPr>
          <p:cNvPr id="59" name="Grafik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4243" y="3224153"/>
            <a:ext cx="1363798" cy="2650400"/>
          </a:xfrm>
          <a:prstGeom prst="rect">
            <a:avLst/>
          </a:prstGeom>
        </p:spPr>
      </p:pic>
      <p:pic>
        <p:nvPicPr>
          <p:cNvPr id="60" name="Grafik 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4243" y="5881854"/>
            <a:ext cx="1368000" cy="306347"/>
          </a:xfrm>
          <a:prstGeom prst="rect">
            <a:avLst/>
          </a:prstGeom>
        </p:spPr>
      </p:pic>
      <p:pic>
        <p:nvPicPr>
          <p:cNvPr id="61" name="Grafik 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550" y="983447"/>
            <a:ext cx="1852930" cy="2555766"/>
          </a:xfrm>
          <a:prstGeom prst="rect">
            <a:avLst/>
          </a:prstGeom>
        </p:spPr>
      </p:pic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0327569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ist ein ESP32 aufgebaut</a:t>
            </a:r>
            <a:r>
              <a:rPr lang="de-DE" b="1" smtClean="0">
                <a:sym typeface="Wingdings" panose="05000000000000000000" pitchFamily="2" charset="2"/>
              </a:rPr>
              <a:t>? 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757" y="1204602"/>
            <a:ext cx="8316486" cy="4448796"/>
          </a:xfrm>
          <a:prstGeom prst="rect">
            <a:avLst/>
          </a:prstGeom>
        </p:spPr>
      </p:pic>
      <p:sp>
        <p:nvSpPr>
          <p:cNvPr id="7" name="Abgerundetes Rechteck 6"/>
          <p:cNvSpPr/>
          <p:nvPr/>
        </p:nvSpPr>
        <p:spPr>
          <a:xfrm>
            <a:off x="9692638" y="983447"/>
            <a:ext cx="1925403" cy="510189"/>
          </a:xfrm>
          <a:prstGeom prst="roundRect">
            <a:avLst/>
          </a:prstGeom>
          <a:solidFill>
            <a:srgbClr val="BE1C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smtClean="0">
                <a:solidFill>
                  <a:schemeClr val="tx1"/>
                </a:solidFill>
              </a:rPr>
              <a:t>Stromversorgung (3,3V/5V)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36" name="Abgerundetes Rechteck 35"/>
          <p:cNvSpPr/>
          <p:nvPr/>
        </p:nvSpPr>
        <p:spPr>
          <a:xfrm>
            <a:off x="9692638" y="1589438"/>
            <a:ext cx="1925403" cy="510189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smtClean="0">
                <a:solidFill>
                  <a:schemeClr val="bg1"/>
                </a:solidFill>
              </a:rPr>
              <a:t>Masse (Ground)</a:t>
            </a:r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141325" y="5545156"/>
            <a:ext cx="2785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www.startpage.com/av/proxy-image?piurl=https%3A%2F%2Ftse4.mm.bing.net%2Fth%2Fid%2FOIP.GV4hSS9xJ1fpoy_J89zCvwHaFW%3Fpid%3DApi&amp;sp=1768308471T9a52e8848aad3a741cd4834280859d74f16e8902e7816397e6963256a4f58cd9</a:t>
            </a:r>
            <a:r>
              <a:rPr lang="de-DE" sz="800" smtClean="0"/>
              <a:t> </a:t>
            </a:r>
            <a:endParaRPr lang="de-DE" sz="800" dirty="0"/>
          </a:p>
        </p:txBody>
      </p:sp>
      <p:pic>
        <p:nvPicPr>
          <p:cNvPr id="56" name="Grafik 5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190" y="5577863"/>
            <a:ext cx="1368000" cy="610338"/>
          </a:xfrm>
          <a:prstGeom prst="rect">
            <a:avLst/>
          </a:prstGeom>
        </p:spPr>
      </p:pic>
      <p:pic>
        <p:nvPicPr>
          <p:cNvPr id="57" name="Grafik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50" y="5586255"/>
            <a:ext cx="1368000" cy="624634"/>
          </a:xfrm>
          <a:prstGeom prst="rect">
            <a:avLst/>
          </a:prstGeom>
        </p:spPr>
      </p:pic>
      <p:pic>
        <p:nvPicPr>
          <p:cNvPr id="58" name="Grafik 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710" y="5892298"/>
            <a:ext cx="1368000" cy="306347"/>
          </a:xfrm>
          <a:prstGeom prst="rect">
            <a:avLst/>
          </a:prstGeom>
        </p:spPr>
      </p:pic>
      <p:pic>
        <p:nvPicPr>
          <p:cNvPr id="59" name="Grafik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4243" y="3224153"/>
            <a:ext cx="1363798" cy="2650400"/>
          </a:xfrm>
          <a:prstGeom prst="rect">
            <a:avLst/>
          </a:prstGeom>
        </p:spPr>
      </p:pic>
      <p:pic>
        <p:nvPicPr>
          <p:cNvPr id="60" name="Grafik 5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4243" y="5881854"/>
            <a:ext cx="1368000" cy="306347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550" y="983447"/>
            <a:ext cx="1852930" cy="2555766"/>
          </a:xfrm>
          <a:prstGeom prst="rect">
            <a:avLst/>
          </a:prstGeom>
        </p:spPr>
      </p:pic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084439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ist Arduino IDE aufgebaut</a:t>
            </a:r>
            <a:r>
              <a:rPr lang="de-DE" b="1" smtClean="0">
                <a:sym typeface="Wingdings" panose="05000000000000000000" pitchFamily="2" charset="2"/>
              </a:rPr>
              <a:t>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79AE577-67CB-4F5A-E660-A330CE577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9525" y="1505247"/>
            <a:ext cx="6092924" cy="45346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feld 13"/>
          <p:cNvSpPr txBox="1"/>
          <p:nvPr/>
        </p:nvSpPr>
        <p:spPr>
          <a:xfrm>
            <a:off x="706369" y="1888890"/>
            <a:ext cx="203130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_________ </a:t>
            </a:r>
            <a:r>
              <a:rPr lang="de-DE" sz="1200" dirty="0" smtClean="0"/>
              <a:t>(Check-Button)</a:t>
            </a:r>
            <a:endParaRPr lang="de-DE" sz="1200" dirty="0"/>
          </a:p>
        </p:txBody>
      </p:sp>
      <p:sp>
        <p:nvSpPr>
          <p:cNvPr id="15" name="Textfeld 14"/>
          <p:cNvSpPr txBox="1"/>
          <p:nvPr/>
        </p:nvSpPr>
        <p:spPr>
          <a:xfrm>
            <a:off x="706368" y="2402012"/>
            <a:ext cx="1996519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_________ </a:t>
            </a:r>
            <a:r>
              <a:rPr lang="de-DE" sz="1200" dirty="0" smtClean="0"/>
              <a:t>(Flash-Button)</a:t>
            </a:r>
            <a:endParaRPr lang="de-DE" sz="1200" dirty="0"/>
          </a:p>
        </p:txBody>
      </p:sp>
      <p:sp>
        <p:nvSpPr>
          <p:cNvPr id="16" name="Textfeld 15"/>
          <p:cNvSpPr txBox="1"/>
          <p:nvPr/>
        </p:nvSpPr>
        <p:spPr>
          <a:xfrm>
            <a:off x="9783116" y="4238963"/>
            <a:ext cx="127785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Ausgabe </a:t>
            </a:r>
          </a:p>
          <a:p>
            <a:r>
              <a:rPr lang="de-DE" sz="1200" dirty="0" smtClean="0"/>
              <a:t>(Serial-Monitor)</a:t>
            </a:r>
            <a:endParaRPr lang="de-DE" sz="1200" dirty="0"/>
          </a:p>
        </p:txBody>
      </p:sp>
      <p:sp>
        <p:nvSpPr>
          <p:cNvPr id="18" name="Textfeld 17"/>
          <p:cNvSpPr txBox="1"/>
          <p:nvPr/>
        </p:nvSpPr>
        <p:spPr>
          <a:xfrm>
            <a:off x="3215481" y="1052372"/>
            <a:ext cx="404066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>
                <a:sym typeface="Wingdings" panose="05000000000000000000" pitchFamily="2" charset="2"/>
              </a:rPr>
              <a:t> _____- (z.B. ESP32) und ____-Auswahl (z.B. COM5)</a:t>
            </a:r>
            <a:endParaRPr lang="de-DE" sz="1200" dirty="0"/>
          </a:p>
        </p:txBody>
      </p:sp>
      <p:sp>
        <p:nvSpPr>
          <p:cNvPr id="19" name="Textfeld 18"/>
          <p:cNvSpPr txBox="1"/>
          <p:nvPr/>
        </p:nvSpPr>
        <p:spPr>
          <a:xfrm>
            <a:off x="717550" y="3042653"/>
            <a:ext cx="164973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Bibliothekenmanager</a:t>
            </a:r>
            <a:endParaRPr lang="de-DE" sz="1200" dirty="0"/>
          </a:p>
        </p:txBody>
      </p:sp>
      <p:sp>
        <p:nvSpPr>
          <p:cNvPr id="20" name="Textfeld 19"/>
          <p:cNvSpPr txBox="1"/>
          <p:nvPr/>
        </p:nvSpPr>
        <p:spPr>
          <a:xfrm>
            <a:off x="717550" y="3857314"/>
            <a:ext cx="691208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_____</a:t>
            </a:r>
            <a:endParaRPr lang="de-DE" sz="1200" dirty="0"/>
          </a:p>
        </p:txBody>
      </p:sp>
      <p:sp>
        <p:nvSpPr>
          <p:cNvPr id="21" name="Textfeld 20"/>
          <p:cNvSpPr txBox="1"/>
          <p:nvPr/>
        </p:nvSpPr>
        <p:spPr>
          <a:xfrm>
            <a:off x="717551" y="994158"/>
            <a:ext cx="232029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File-Manager (</a:t>
            </a:r>
            <a:r>
              <a:rPr lang="de-DE" sz="1200" dirty="0" smtClean="0"/>
              <a:t>eigene </a:t>
            </a:r>
            <a:r>
              <a:rPr lang="de-DE" sz="1200" dirty="0"/>
              <a:t>S</a:t>
            </a:r>
            <a:r>
              <a:rPr lang="de-DE" sz="1200" dirty="0" smtClean="0"/>
              <a:t>kripte, aber auch </a:t>
            </a:r>
            <a:r>
              <a:rPr lang="de-DE" sz="1200" dirty="0"/>
              <a:t>B</a:t>
            </a:r>
            <a:r>
              <a:rPr lang="de-DE" sz="1200" dirty="0" smtClean="0"/>
              <a:t>eispielskripte)</a:t>
            </a:r>
            <a:endParaRPr lang="de-DE" sz="1200" dirty="0"/>
          </a:p>
        </p:txBody>
      </p:sp>
      <p:sp>
        <p:nvSpPr>
          <p:cNvPr id="22" name="Rechteck 21"/>
          <p:cNvSpPr/>
          <p:nvPr/>
        </p:nvSpPr>
        <p:spPr>
          <a:xfrm>
            <a:off x="3564659" y="2401947"/>
            <a:ext cx="5662882" cy="202571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 Verbindung mit Pfeil 22"/>
          <p:cNvCxnSpPr>
            <a:stCxn id="17" idx="1"/>
            <a:endCxn id="13" idx="3"/>
          </p:cNvCxnSpPr>
          <p:nvPr/>
        </p:nvCxnSpPr>
        <p:spPr>
          <a:xfrm flipH="1" flipV="1">
            <a:off x="9312449" y="3772563"/>
            <a:ext cx="511201" cy="2579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/>
          <p:cNvSpPr/>
          <p:nvPr/>
        </p:nvSpPr>
        <p:spPr>
          <a:xfrm>
            <a:off x="3275548" y="1907392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3564659" y="1908375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/>
          <p:cNvSpPr/>
          <p:nvPr/>
        </p:nvSpPr>
        <p:spPr>
          <a:xfrm>
            <a:off x="3266312" y="3052813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/>
          <p:cNvSpPr/>
          <p:nvPr/>
        </p:nvSpPr>
        <p:spPr>
          <a:xfrm>
            <a:off x="3275548" y="3859322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/>
          <p:cNvSpPr/>
          <p:nvPr/>
        </p:nvSpPr>
        <p:spPr>
          <a:xfrm>
            <a:off x="3238435" y="1737459"/>
            <a:ext cx="252000" cy="10800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4466324" y="1728643"/>
            <a:ext cx="484779" cy="14400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/>
          <p:cNvSpPr/>
          <p:nvPr/>
        </p:nvSpPr>
        <p:spPr>
          <a:xfrm>
            <a:off x="8980977" y="1924444"/>
            <a:ext cx="246564" cy="22468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1" name="Gerade Verbindung mit Pfeil 30"/>
          <p:cNvCxnSpPr>
            <a:stCxn id="20" idx="3"/>
            <a:endCxn id="27" idx="1"/>
          </p:cNvCxnSpPr>
          <p:nvPr/>
        </p:nvCxnSpPr>
        <p:spPr>
          <a:xfrm flipV="1">
            <a:off x="1408758" y="3989857"/>
            <a:ext cx="1866790" cy="5957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19" idx="3"/>
            <a:endCxn id="26" idx="1"/>
          </p:cNvCxnSpPr>
          <p:nvPr/>
        </p:nvCxnSpPr>
        <p:spPr>
          <a:xfrm>
            <a:off x="2367280" y="3181153"/>
            <a:ext cx="899032" cy="219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15" idx="3"/>
            <a:endCxn id="25" idx="2"/>
          </p:cNvCxnSpPr>
          <p:nvPr/>
        </p:nvCxnSpPr>
        <p:spPr>
          <a:xfrm flipV="1">
            <a:off x="2702887" y="2169444"/>
            <a:ext cx="987552" cy="371068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14" idx="3"/>
            <a:endCxn id="24" idx="1"/>
          </p:cNvCxnSpPr>
          <p:nvPr/>
        </p:nvCxnSpPr>
        <p:spPr>
          <a:xfrm>
            <a:off x="2737676" y="2027390"/>
            <a:ext cx="537872" cy="10537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>
            <a:stCxn id="21" idx="2"/>
            <a:endCxn id="28" idx="0"/>
          </p:cNvCxnSpPr>
          <p:nvPr/>
        </p:nvCxnSpPr>
        <p:spPr>
          <a:xfrm>
            <a:off x="1877696" y="1455823"/>
            <a:ext cx="1486739" cy="281636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18" idx="2"/>
            <a:endCxn id="29" idx="0"/>
          </p:cNvCxnSpPr>
          <p:nvPr/>
        </p:nvCxnSpPr>
        <p:spPr>
          <a:xfrm flipH="1">
            <a:off x="4708714" y="1329371"/>
            <a:ext cx="527099" cy="399272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>
            <a:stCxn id="16" idx="0"/>
            <a:endCxn id="30" idx="3"/>
          </p:cNvCxnSpPr>
          <p:nvPr/>
        </p:nvCxnSpPr>
        <p:spPr>
          <a:xfrm flipH="1" flipV="1">
            <a:off x="9227541" y="2036784"/>
            <a:ext cx="1194501" cy="2202179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/>
          <p:cNvSpPr/>
          <p:nvPr/>
        </p:nvSpPr>
        <p:spPr>
          <a:xfrm>
            <a:off x="3564659" y="4695068"/>
            <a:ext cx="5662882" cy="1175412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9" name="Gerade Verbindung mit Pfeil 38"/>
          <p:cNvCxnSpPr>
            <a:stCxn id="16" idx="2"/>
            <a:endCxn id="38" idx="3"/>
          </p:cNvCxnSpPr>
          <p:nvPr/>
        </p:nvCxnSpPr>
        <p:spPr>
          <a:xfrm flipH="1">
            <a:off x="9227541" y="4700628"/>
            <a:ext cx="1194501" cy="582146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9823650" y="3544309"/>
            <a:ext cx="162340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Codefenster (Editorbereich)</a:t>
            </a:r>
            <a:endParaRPr lang="de-DE" sz="1200" dirty="0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219525" y="6030169"/>
            <a:ext cx="542544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4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6450350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ist Arduino IDE aufgebaut</a:t>
            </a:r>
            <a:r>
              <a:rPr lang="de-DE" b="1" smtClean="0">
                <a:sym typeface="Wingdings" panose="05000000000000000000" pitchFamily="2" charset="2"/>
              </a:rPr>
              <a:t>?  Lösung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79AE577-67CB-4F5A-E660-A330CE577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9525" y="1505247"/>
            <a:ext cx="6092924" cy="453463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feld 13"/>
          <p:cNvSpPr txBox="1"/>
          <p:nvPr/>
        </p:nvSpPr>
        <p:spPr>
          <a:xfrm>
            <a:off x="706369" y="1888890"/>
            <a:ext cx="203130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Überprüfen </a:t>
            </a:r>
            <a:r>
              <a:rPr lang="de-DE" sz="1200" dirty="0" smtClean="0"/>
              <a:t>(Check-Button)</a:t>
            </a:r>
            <a:endParaRPr lang="de-DE" sz="1200" dirty="0"/>
          </a:p>
        </p:txBody>
      </p:sp>
      <p:sp>
        <p:nvSpPr>
          <p:cNvPr id="15" name="Textfeld 14"/>
          <p:cNvSpPr txBox="1"/>
          <p:nvPr/>
        </p:nvSpPr>
        <p:spPr>
          <a:xfrm>
            <a:off x="706368" y="2402012"/>
            <a:ext cx="1996519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Hochladen </a:t>
            </a:r>
            <a:r>
              <a:rPr lang="de-DE" sz="1200" dirty="0" smtClean="0"/>
              <a:t>(Flash-Button)</a:t>
            </a:r>
            <a:endParaRPr lang="de-DE" sz="1200" dirty="0"/>
          </a:p>
        </p:txBody>
      </p:sp>
      <p:sp>
        <p:nvSpPr>
          <p:cNvPr id="16" name="Textfeld 15"/>
          <p:cNvSpPr txBox="1"/>
          <p:nvPr/>
        </p:nvSpPr>
        <p:spPr>
          <a:xfrm>
            <a:off x="9783116" y="4238963"/>
            <a:ext cx="127785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Ausgabe </a:t>
            </a:r>
          </a:p>
          <a:p>
            <a:r>
              <a:rPr lang="de-DE" sz="1200" dirty="0" smtClean="0"/>
              <a:t>(Serial-Monitor)</a:t>
            </a:r>
            <a:endParaRPr lang="de-DE" sz="1200" dirty="0"/>
          </a:p>
        </p:txBody>
      </p:sp>
      <p:sp>
        <p:nvSpPr>
          <p:cNvPr id="18" name="Textfeld 17"/>
          <p:cNvSpPr txBox="1"/>
          <p:nvPr/>
        </p:nvSpPr>
        <p:spPr>
          <a:xfrm>
            <a:off x="3215481" y="1052372"/>
            <a:ext cx="404066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>
                <a:sym typeface="Wingdings" panose="05000000000000000000" pitchFamily="2" charset="2"/>
              </a:rPr>
              <a:t> Board- (z.B. ESP32) und Port-Auswahl (z.B. COM5)</a:t>
            </a:r>
            <a:endParaRPr lang="de-DE" sz="1200" dirty="0"/>
          </a:p>
        </p:txBody>
      </p:sp>
      <p:sp>
        <p:nvSpPr>
          <p:cNvPr id="19" name="Textfeld 18"/>
          <p:cNvSpPr txBox="1"/>
          <p:nvPr/>
        </p:nvSpPr>
        <p:spPr>
          <a:xfrm>
            <a:off x="717550" y="3042653"/>
            <a:ext cx="164973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err="1" smtClean="0"/>
              <a:t>Bibliothekenmanager</a:t>
            </a:r>
            <a:endParaRPr lang="de-DE" sz="1200" dirty="0"/>
          </a:p>
        </p:txBody>
      </p:sp>
      <p:sp>
        <p:nvSpPr>
          <p:cNvPr id="20" name="Textfeld 19"/>
          <p:cNvSpPr txBox="1"/>
          <p:nvPr/>
        </p:nvSpPr>
        <p:spPr>
          <a:xfrm>
            <a:off x="717550" y="3857314"/>
            <a:ext cx="65365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Suche</a:t>
            </a:r>
            <a:endParaRPr lang="de-DE" sz="1200" dirty="0"/>
          </a:p>
        </p:txBody>
      </p:sp>
      <p:sp>
        <p:nvSpPr>
          <p:cNvPr id="21" name="Textfeld 20"/>
          <p:cNvSpPr txBox="1"/>
          <p:nvPr/>
        </p:nvSpPr>
        <p:spPr>
          <a:xfrm>
            <a:off x="717551" y="994158"/>
            <a:ext cx="232029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smtClean="0"/>
              <a:t>File-Manager (</a:t>
            </a:r>
            <a:r>
              <a:rPr lang="de-DE" sz="1200" dirty="0" smtClean="0"/>
              <a:t>eigene </a:t>
            </a:r>
            <a:r>
              <a:rPr lang="de-DE" sz="1200" dirty="0"/>
              <a:t>S</a:t>
            </a:r>
            <a:r>
              <a:rPr lang="de-DE" sz="1200" dirty="0" smtClean="0"/>
              <a:t>kripte, aber auch </a:t>
            </a:r>
            <a:r>
              <a:rPr lang="de-DE" sz="1200" dirty="0"/>
              <a:t>B</a:t>
            </a:r>
            <a:r>
              <a:rPr lang="de-DE" sz="1200" dirty="0" smtClean="0"/>
              <a:t>eispielskripte)</a:t>
            </a:r>
            <a:endParaRPr lang="de-DE" sz="1200" dirty="0"/>
          </a:p>
        </p:txBody>
      </p:sp>
      <p:sp>
        <p:nvSpPr>
          <p:cNvPr id="22" name="Rechteck 21"/>
          <p:cNvSpPr/>
          <p:nvPr/>
        </p:nvSpPr>
        <p:spPr>
          <a:xfrm>
            <a:off x="3564659" y="2401947"/>
            <a:ext cx="5662882" cy="202571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 Verbindung mit Pfeil 22"/>
          <p:cNvCxnSpPr>
            <a:stCxn id="17" idx="1"/>
            <a:endCxn id="13" idx="3"/>
          </p:cNvCxnSpPr>
          <p:nvPr/>
        </p:nvCxnSpPr>
        <p:spPr>
          <a:xfrm flipH="1" flipV="1">
            <a:off x="9312449" y="3772563"/>
            <a:ext cx="511201" cy="2579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/>
          <p:cNvSpPr/>
          <p:nvPr/>
        </p:nvSpPr>
        <p:spPr>
          <a:xfrm>
            <a:off x="3275548" y="1907392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3564659" y="1908375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/>
          <p:cNvSpPr/>
          <p:nvPr/>
        </p:nvSpPr>
        <p:spPr>
          <a:xfrm>
            <a:off x="3266312" y="3052813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/>
          <p:cNvSpPr/>
          <p:nvPr/>
        </p:nvSpPr>
        <p:spPr>
          <a:xfrm>
            <a:off x="3275548" y="3859322"/>
            <a:ext cx="251560" cy="261069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/>
          <p:cNvSpPr/>
          <p:nvPr/>
        </p:nvSpPr>
        <p:spPr>
          <a:xfrm>
            <a:off x="3238435" y="1737459"/>
            <a:ext cx="252000" cy="10800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4466324" y="1728643"/>
            <a:ext cx="484779" cy="14400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/>
          <p:cNvSpPr/>
          <p:nvPr/>
        </p:nvSpPr>
        <p:spPr>
          <a:xfrm>
            <a:off x="8980977" y="1924444"/>
            <a:ext cx="246564" cy="224680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1" name="Gerade Verbindung mit Pfeil 30"/>
          <p:cNvCxnSpPr>
            <a:stCxn id="20" idx="3"/>
            <a:endCxn id="27" idx="1"/>
          </p:cNvCxnSpPr>
          <p:nvPr/>
        </p:nvCxnSpPr>
        <p:spPr>
          <a:xfrm flipV="1">
            <a:off x="1408758" y="3989857"/>
            <a:ext cx="1866790" cy="5957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19" idx="3"/>
            <a:endCxn id="26" idx="1"/>
          </p:cNvCxnSpPr>
          <p:nvPr/>
        </p:nvCxnSpPr>
        <p:spPr>
          <a:xfrm>
            <a:off x="2367280" y="3181153"/>
            <a:ext cx="899032" cy="219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15" idx="3"/>
            <a:endCxn id="25" idx="2"/>
          </p:cNvCxnSpPr>
          <p:nvPr/>
        </p:nvCxnSpPr>
        <p:spPr>
          <a:xfrm flipV="1">
            <a:off x="2702887" y="2169444"/>
            <a:ext cx="987552" cy="371068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14" idx="3"/>
            <a:endCxn id="24" idx="1"/>
          </p:cNvCxnSpPr>
          <p:nvPr/>
        </p:nvCxnSpPr>
        <p:spPr>
          <a:xfrm>
            <a:off x="2737676" y="2027390"/>
            <a:ext cx="537872" cy="10537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>
            <a:stCxn id="21" idx="2"/>
            <a:endCxn id="28" idx="0"/>
          </p:cNvCxnSpPr>
          <p:nvPr/>
        </p:nvCxnSpPr>
        <p:spPr>
          <a:xfrm>
            <a:off x="1877696" y="1455823"/>
            <a:ext cx="1486739" cy="281636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18" idx="2"/>
            <a:endCxn id="29" idx="0"/>
          </p:cNvCxnSpPr>
          <p:nvPr/>
        </p:nvCxnSpPr>
        <p:spPr>
          <a:xfrm flipH="1">
            <a:off x="4708714" y="1329371"/>
            <a:ext cx="527099" cy="399272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>
            <a:stCxn id="16" idx="0"/>
            <a:endCxn id="30" idx="3"/>
          </p:cNvCxnSpPr>
          <p:nvPr/>
        </p:nvCxnSpPr>
        <p:spPr>
          <a:xfrm flipH="1" flipV="1">
            <a:off x="9227541" y="2036784"/>
            <a:ext cx="1194501" cy="2202179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/>
          <p:cNvSpPr/>
          <p:nvPr/>
        </p:nvSpPr>
        <p:spPr>
          <a:xfrm>
            <a:off x="3564659" y="4695068"/>
            <a:ext cx="5662882" cy="1175412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9" name="Gerade Verbindung mit Pfeil 38"/>
          <p:cNvCxnSpPr>
            <a:stCxn id="16" idx="2"/>
            <a:endCxn id="38" idx="3"/>
          </p:cNvCxnSpPr>
          <p:nvPr/>
        </p:nvCxnSpPr>
        <p:spPr>
          <a:xfrm flipH="1">
            <a:off x="9227541" y="4700628"/>
            <a:ext cx="1194501" cy="582146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9823650" y="3544309"/>
            <a:ext cx="162340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Codefenster (Editorbereich)</a:t>
            </a:r>
            <a:endParaRPr lang="de-DE" sz="1200" dirty="0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219525" y="6030169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4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6494367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596" y="0"/>
            <a:ext cx="5777403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Erste Schritte – Blinkbeispiel 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9</a:t>
            </a:fld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78" y="990600"/>
            <a:ext cx="4876800" cy="4876800"/>
          </a:xfrm>
          <a:prstGeom prst="rect">
            <a:avLst/>
          </a:prstGeom>
        </p:spPr>
      </p:pic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096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717551" y="890031"/>
            <a:ext cx="43156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Materialliste für einmalige Durchführung Blinkbeispiel Aufgabe 1/2/3:</a:t>
            </a:r>
          </a:p>
          <a:p>
            <a:endParaRPr lang="de-DE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3"/>
              </a:rPr>
              <a:t>LED</a:t>
            </a:r>
            <a:r>
              <a:rPr lang="de-DE" smtClean="0"/>
              <a:t> x 1/2/5 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4"/>
              </a:rPr>
              <a:t>Bread-Board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5"/>
              </a:rPr>
              <a:t>Jumper-Kabel</a:t>
            </a:r>
            <a:r>
              <a:rPr lang="de-DE" smtClean="0"/>
              <a:t> (Male-Male)</a:t>
            </a:r>
          </a:p>
          <a:p>
            <a:r>
              <a:rPr lang="de-DE" smtClean="0"/>
              <a:t>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6"/>
              </a:rPr>
              <a:t>Mikrocontroller</a:t>
            </a:r>
            <a:r>
              <a:rPr lang="de-DE" smtClean="0"/>
              <a:t> (ESP32) x 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7"/>
              </a:rPr>
              <a:t>Widerstand </a:t>
            </a:r>
            <a:r>
              <a:rPr lang="de-DE" smtClean="0"/>
              <a:t>220 Ohm x 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Computer mit </a:t>
            </a:r>
            <a:r>
              <a:rPr lang="de-DE" smtClean="0">
                <a:hlinkClick r:id="rId8"/>
              </a:rPr>
              <a:t>Arduino IDE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USB-A zu USB-C Kabel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0" y="4437602"/>
            <a:ext cx="2118370" cy="125617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1887" y="878674"/>
            <a:ext cx="647790" cy="60015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7920" y="3749577"/>
            <a:ext cx="2077336" cy="174958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0187" y="16020"/>
            <a:ext cx="2570890" cy="2122753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010187" y="2152968"/>
            <a:ext cx="3020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3"/>
              </a:rPr>
              <a:t>https://asset.conrad.com/media10/isa/160267/c1/-/</a:t>
            </a:r>
            <a:r>
              <a:rPr lang="de-DE" sz="800" smtClean="0">
                <a:hlinkClick r:id="rId13"/>
              </a:rPr>
              <a:t>de/002885952PI00/image.jpg?x=1440&amp;y=1440&amp;format=jpg&amp;ex=1440&amp;ey=1440&amp;align=center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718327" y="5441517"/>
            <a:ext cx="376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4"/>
              </a:rPr>
              <a:t>https://</a:t>
            </a:r>
            <a:r>
              <a:rPr lang="de-DE" sz="800" smtClean="0">
                <a:hlinkClick r:id="rId14"/>
              </a:rPr>
              <a:t>www.az-delivery.de/cdn/shop/products/jumper-wire-kabel-40-stk-je-20-cm-m2m-male-to-male-kompatibel-mit-arduino-und-raspberry-pi-breadboard-140806.jpg?v=1679398754&amp;width=1200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873421" y="4068470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5"/>
              </a:rPr>
              <a:t>https://cdn-reichelt.de/bilder/web/artikel_ws/B400%2F%21WIDMET.jpg?type=Product</a:t>
            </a:r>
            <a:r>
              <a:rPr lang="de-DE" sz="800" smtClean="0">
                <a:hlinkClick r:id="rId15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869680" y="5678443"/>
            <a:ext cx="2868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6"/>
              </a:rPr>
              <a:t>https://</a:t>
            </a:r>
            <a:r>
              <a:rPr lang="de-DE" sz="800" smtClean="0">
                <a:hlinkClick r:id="rId16"/>
              </a:rPr>
              <a:t>www.roboter-bausatz.de/media/image/d8/f3/0e/RBS18335_600x600.jpg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951888" y="1478833"/>
            <a:ext cx="2494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7"/>
              </a:rPr>
              <a:t>https://</a:t>
            </a:r>
            <a:r>
              <a:rPr lang="de-DE" sz="800" smtClean="0">
                <a:hlinkClick r:id="rId17"/>
              </a:rPr>
              <a:t>www.arduino.cc/wiki/static/arduino-app-76bd27c4ce7246825aceb8efe2871f7a.svg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15362" name="Picture 2" descr="Widerstand, Metallschicht, 220 Ohm, 0207, 0,6 W, 1%"/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8" t="20154" b="19401"/>
          <a:stretch/>
        </p:blipFill>
        <p:spPr bwMode="auto">
          <a:xfrm>
            <a:off x="7876101" y="2853518"/>
            <a:ext cx="1535927" cy="12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27736" y="1921345"/>
            <a:ext cx="2022608" cy="1337532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330010" y="3290695"/>
            <a:ext cx="33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0"/>
              </a:rPr>
              <a:t>https://cdn-reichelt.de/resize/600%2F-/web/xxl_ws/D800%2FS036.png?type=ProductXxl&amp;resize=600%252F-</a:t>
            </a:r>
            <a:r>
              <a:rPr lang="de-DE" sz="800" smtClean="0">
                <a:hlinkClick r:id="rId20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23095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(1)?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43" name="Textfeld 42"/>
          <p:cNvSpPr txBox="1"/>
          <p:nvPr/>
        </p:nvSpPr>
        <p:spPr>
          <a:xfrm>
            <a:off x="717548" y="4004416"/>
            <a:ext cx="1044829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mtClean="0"/>
              <a:t>Ohne Widerstand würde zu ____ Strom fließen, was die LED und den GPIO-Pin kaputt macht.</a:t>
            </a:r>
          </a:p>
          <a:p>
            <a:endParaRPr lang="de-DE" smtClean="0"/>
          </a:p>
          <a:p>
            <a:r>
              <a:rPr lang="de-DE" smtClean="0"/>
              <a:t>100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sehr ____</a:t>
            </a:r>
          </a:p>
          <a:p>
            <a:r>
              <a:rPr lang="de-DE" smtClean="0">
                <a:sym typeface="Wingdings" panose="05000000000000000000" pitchFamily="2" charset="2"/>
              </a:rPr>
              <a:t>220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optimal</a:t>
            </a:r>
          </a:p>
          <a:p>
            <a:r>
              <a:rPr lang="de-DE" smtClean="0">
                <a:sym typeface="Wingdings" panose="05000000000000000000" pitchFamily="2" charset="2"/>
              </a:rPr>
              <a:t>330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etwas _______</a:t>
            </a:r>
          </a:p>
          <a:p>
            <a:r>
              <a:rPr lang="de-DE" smtClean="0">
                <a:sym typeface="Wingdings" panose="05000000000000000000" pitchFamily="2" charset="2"/>
              </a:rPr>
              <a:t>1 k</a:t>
            </a:r>
            <a:r>
              <a:rPr lang="el-GR"/>
              <a:t>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sehr ______</a:t>
            </a:r>
            <a:endParaRPr lang="de-DE"/>
          </a:p>
        </p:txBody>
      </p:sp>
      <p:sp>
        <p:nvSpPr>
          <p:cNvPr id="45" name="Textfeld 44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1. </a:t>
            </a:r>
            <a:r>
              <a:rPr lang="de-DE"/>
              <a:t>Ziel ist es, eine LED im Sekundentakt ein- und </a:t>
            </a:r>
            <a:r>
              <a:rPr lang="de-DE" smtClean="0"/>
              <a:t>auszuschalten.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717549" y="2319140"/>
                <a:ext cx="622173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_____)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|&gt;|</a:t>
                </a:r>
                <a:r>
                  <a:rPr lang="de-DE" smtClean="0"/>
                  <a:t> ── GND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        (___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___</a:t>
                </a:r>
                <a:endParaRPr lang="de-DE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2319140"/>
                <a:ext cx="6221731" cy="646331"/>
              </a:xfrm>
              <a:prstGeom prst="rect">
                <a:avLst/>
              </a:prstGeom>
              <a:blipFill>
                <a:blip r:embed="rId3"/>
                <a:stretch>
                  <a:fillRect l="-882" t="-4717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321" y="752400"/>
            <a:ext cx="3017519" cy="301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313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(1)?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43" name="Textfeld 42"/>
          <p:cNvSpPr txBox="1"/>
          <p:nvPr/>
        </p:nvSpPr>
        <p:spPr>
          <a:xfrm>
            <a:off x="717549" y="4003200"/>
            <a:ext cx="10756899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mtClean="0"/>
              <a:t>Ohne Widerstand würde zu viel Strom fließen, was die LED und den GPIO-Pin kaputt macht.</a:t>
            </a:r>
          </a:p>
          <a:p>
            <a:endParaRPr lang="de-DE" smtClean="0"/>
          </a:p>
          <a:p>
            <a:r>
              <a:rPr lang="de-DE" smtClean="0"/>
              <a:t>100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sehr hell</a:t>
            </a:r>
          </a:p>
          <a:p>
            <a:r>
              <a:rPr lang="de-DE" smtClean="0">
                <a:sym typeface="Wingdings" panose="05000000000000000000" pitchFamily="2" charset="2"/>
              </a:rPr>
              <a:t>220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optimal</a:t>
            </a:r>
          </a:p>
          <a:p>
            <a:r>
              <a:rPr lang="de-DE" smtClean="0">
                <a:sym typeface="Wingdings" panose="05000000000000000000" pitchFamily="2" charset="2"/>
              </a:rPr>
              <a:t>330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etwas dunkler</a:t>
            </a:r>
          </a:p>
          <a:p>
            <a:r>
              <a:rPr lang="de-DE" smtClean="0">
                <a:sym typeface="Wingdings" panose="05000000000000000000" pitchFamily="2" charset="2"/>
              </a:rPr>
              <a:t>1 k</a:t>
            </a:r>
            <a:r>
              <a:rPr lang="el-GR"/>
              <a:t> </a:t>
            </a:r>
            <a:r>
              <a:rPr lang="el-GR" smtClean="0"/>
              <a:t>Ω</a:t>
            </a:r>
            <a:r>
              <a:rPr lang="de-DE" smtClean="0"/>
              <a:t> 	</a:t>
            </a:r>
            <a:r>
              <a:rPr lang="de-DE" smtClean="0">
                <a:sym typeface="Wingdings" panose="05000000000000000000" pitchFamily="2" charset="2"/>
              </a:rPr>
              <a:t> 	sehr dunkel</a:t>
            </a:r>
            <a:endParaRPr lang="de-DE"/>
          </a:p>
        </p:txBody>
      </p:sp>
      <p:sp>
        <p:nvSpPr>
          <p:cNvPr id="45" name="Textfeld 44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1. </a:t>
            </a:r>
            <a:r>
              <a:rPr lang="de-DE"/>
              <a:t>Ziel ist es, eine LED im Sekundentakt ein- und </a:t>
            </a:r>
            <a:r>
              <a:rPr lang="de-DE" smtClean="0"/>
              <a:t>auszuschalten.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717549" y="2319140"/>
                <a:ext cx="622173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GPIO23)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|&gt;|</a:t>
                </a:r>
                <a:r>
                  <a:rPr lang="de-DE" smtClean="0"/>
                  <a:t> ── GND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LED</a:t>
                </a:r>
                <a:endParaRPr lang="de-DE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2319140"/>
                <a:ext cx="6221731" cy="646331"/>
              </a:xfrm>
              <a:prstGeom prst="rect">
                <a:avLst/>
              </a:prstGeom>
              <a:blipFill>
                <a:blip r:embed="rId3"/>
                <a:stretch>
                  <a:fillRect l="-882" t="-4717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680959" y="3584199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457301" y="578940"/>
            <a:ext cx="2240805" cy="379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0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(1)?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717550" y="1108800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1. Ziel ist es, eine LED im Sekundentakt ein- und auszuschalten.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046" y="1590416"/>
            <a:ext cx="5175297" cy="434898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044046" y="5939405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806" y="1654032"/>
            <a:ext cx="3853873" cy="385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778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(1)?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717550" y="1108800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1. Ziel ist es, eine LED im Sekundentakt ein- und auszuschalten.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3"/>
          <a:srcRect l="1258" t="571" r="1439"/>
          <a:stretch/>
        </p:blipFill>
        <p:spPr>
          <a:xfrm>
            <a:off x="6049009" y="1706880"/>
            <a:ext cx="5195569" cy="428407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049009" y="5990956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806" y="1654032"/>
            <a:ext cx="3853873" cy="385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641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(2)?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r>
              <a:rPr lang="de-DE" smtClean="0"/>
              <a:t>. Ziel ist es zwei LED‘s abwechselnd jeweils 3 Sekunden blinken zu lassen.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hteck 13"/>
              <p:cNvSpPr/>
              <p:nvPr/>
            </p:nvSpPr>
            <p:spPr>
              <a:xfrm>
                <a:off x="717549" y="3039541"/>
                <a:ext cx="6221731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______)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___</a:t>
                </a:r>
                <a:r>
                  <a:rPr lang="de-DE" smtClean="0"/>
                  <a:t> ── ___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	    (____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 ___</a:t>
                </a:r>
              </a:p>
              <a:p>
                <a:endParaRPr lang="de-DE" smtClean="0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</a:t>
                </a:r>
                <a:r>
                  <a:rPr lang="de-DE" smtClean="0"/>
                  <a:t>(z</a:t>
                </a:r>
                <a:r>
                  <a:rPr lang="de-DE"/>
                  <a:t>. B. </a:t>
                </a:r>
                <a:r>
                  <a:rPr lang="de-DE" smtClean="0"/>
                  <a:t>______)  </a:t>
                </a:r>
                <a:r>
                  <a:rPr lang="de-DE"/>
                  <a:t>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___</a:t>
                </a:r>
                <a:r>
                  <a:rPr lang="de-DE" smtClean="0"/>
                  <a:t> </a:t>
                </a:r>
                <a:r>
                  <a:rPr lang="de-DE"/>
                  <a:t>── </a:t>
                </a:r>
                <a:r>
                  <a:rPr lang="de-DE" smtClean="0"/>
                  <a:t>___</a:t>
                </a:r>
                <a:endParaRPr lang="de-DE"/>
              </a:p>
              <a:p>
                <a:r>
                  <a:rPr lang="de-DE"/>
                  <a:t>						</a:t>
                </a:r>
                <a:r>
                  <a:rPr lang="de-DE" smtClean="0"/>
                  <a:t>    (____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 ___</a:t>
                </a:r>
                <a:endParaRPr lang="de-DE"/>
              </a:p>
            </p:txBody>
          </p:sp>
        </mc:Choice>
        <mc:Fallback xmlns="">
          <p:sp>
            <p:nvSpPr>
              <p:cNvPr id="14" name="Rechteck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3039541"/>
                <a:ext cx="6221731" cy="1477328"/>
              </a:xfrm>
              <a:prstGeom prst="rect">
                <a:avLst/>
              </a:prstGeom>
              <a:blipFill>
                <a:blip r:embed="rId4"/>
                <a:stretch>
                  <a:fillRect l="-882" t="-2479" b="-57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635" y="1837645"/>
            <a:ext cx="3881120" cy="38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59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(2)?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r>
              <a:rPr lang="de-DE" smtClean="0"/>
              <a:t>. Ziel ist es zwei LED‘s abwechselnd jeweils 3 Sekunden blinken zu lassen.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717549" y="3039541"/>
                <a:ext cx="6221731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GPIO23)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|&gt;|</a:t>
                </a:r>
                <a:r>
                  <a:rPr lang="de-DE" smtClean="0"/>
                  <a:t> ── GND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LED</a:t>
                </a:r>
              </a:p>
              <a:p>
                <a:endParaRPr lang="de-DE" smtClean="0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</a:t>
                </a:r>
                <a:r>
                  <a:rPr lang="de-DE" smtClean="0"/>
                  <a:t>(z</a:t>
                </a:r>
                <a:r>
                  <a:rPr lang="de-DE"/>
                  <a:t>. B. GPIO25)  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</a:t>
                </a:r>
                <a:r>
                  <a:rPr lang="de-DE" smtClean="0"/>
                  <a:t>    (</a:t>
                </a:r>
                <a:r>
                  <a:rPr lang="de-DE"/>
                  <a:t>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LED</a:t>
                </a:r>
                <a:endParaRPr lang="de-DE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3039541"/>
                <a:ext cx="6221731" cy="1477328"/>
              </a:xfrm>
              <a:prstGeom prst="rect">
                <a:avLst/>
              </a:prstGeom>
              <a:blipFill>
                <a:blip r:embed="rId3"/>
                <a:stretch>
                  <a:fillRect l="-882" t="-2479" b="-57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857075" y="5286166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570831" y="1545107"/>
            <a:ext cx="3027304" cy="445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078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(2)?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r>
              <a:rPr lang="de-DE" smtClean="0"/>
              <a:t>. Ziel ist es zwei LED‘s abwechselnd jeweils 3 Sekunden blinken zu lassen.</a:t>
            </a:r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263011" y="5995722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11" y="1587597"/>
            <a:ext cx="4638550" cy="4408125"/>
          </a:xfrm>
          <a:prstGeom prst="rect">
            <a:avLst/>
          </a:prstGeom>
        </p:spPr>
      </p:pic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806" y="1654032"/>
            <a:ext cx="3853873" cy="385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352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(2)?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r>
              <a:rPr lang="de-DE" smtClean="0"/>
              <a:t>. Ziel ist es zwei LED‘s abwechselnd jeweils 3 Sekunden blinken zu lassen.</a:t>
            </a:r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3"/>
          <a:srcRect t="903"/>
          <a:stretch/>
        </p:blipFill>
        <p:spPr>
          <a:xfrm>
            <a:off x="6269246" y="1667063"/>
            <a:ext cx="4668745" cy="436531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263011" y="5995722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806" y="1926825"/>
            <a:ext cx="3853873" cy="385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542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(3)?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3. Ziel ist es, dass das Licht von fünf LED‘s vor und zurück läuft.</a:t>
            </a:r>
            <a:endParaRPr lang="de-DE"/>
          </a:p>
        </p:txBody>
      </p:sp>
      <p:sp>
        <p:nvSpPr>
          <p:cNvPr id="18" name="Rechteck 17"/>
          <p:cNvSpPr/>
          <p:nvPr/>
        </p:nvSpPr>
        <p:spPr>
          <a:xfrm>
            <a:off x="3033582" y="5813963"/>
            <a:ext cx="591186" cy="227261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717549" y="1869898"/>
            <a:ext cx="62217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mtClean="0">
                <a:solidFill>
                  <a:srgbClr val="FFC000"/>
                </a:solidFill>
              </a:rPr>
              <a:t>________</a:t>
            </a:r>
            <a:r>
              <a:rPr lang="de-DE" smtClean="0"/>
              <a:t> (___ _____)  </a:t>
            </a:r>
            <a:r>
              <a:rPr lang="de-DE"/>
              <a:t>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 smtClean="0"/>
              <a:t>── </a:t>
            </a:r>
            <a:r>
              <a:rPr lang="de-DE" smtClean="0">
                <a:solidFill>
                  <a:srgbClr val="00B050"/>
                </a:solidFill>
              </a:rPr>
              <a:t>___</a:t>
            </a:r>
            <a:r>
              <a:rPr lang="de-DE" smtClean="0"/>
              <a:t> ── ___</a:t>
            </a:r>
          </a:p>
          <a:p>
            <a:r>
              <a:rPr lang="de-DE"/>
              <a:t>	</a:t>
            </a:r>
            <a:r>
              <a:rPr lang="de-DE" smtClean="0"/>
              <a:t>					 (____)       ___</a:t>
            </a:r>
          </a:p>
          <a:p>
            <a:endParaRPr lang="de-DE" smtClean="0"/>
          </a:p>
          <a:p>
            <a:r>
              <a:rPr lang="de-DE">
                <a:solidFill>
                  <a:srgbClr val="FFC000"/>
                </a:solidFill>
              </a:rPr>
              <a:t>________</a:t>
            </a:r>
            <a:r>
              <a:rPr lang="de-DE"/>
              <a:t> (___ _____)  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/>
              <a:t>── </a:t>
            </a:r>
            <a:r>
              <a:rPr lang="de-DE">
                <a:solidFill>
                  <a:srgbClr val="00B050"/>
                </a:solidFill>
              </a:rPr>
              <a:t>___</a:t>
            </a:r>
            <a:r>
              <a:rPr lang="de-DE"/>
              <a:t> ── ___</a:t>
            </a:r>
          </a:p>
          <a:p>
            <a:r>
              <a:rPr lang="de-DE"/>
              <a:t>						 (____)       ___</a:t>
            </a:r>
          </a:p>
          <a:p>
            <a:endParaRPr lang="de-DE"/>
          </a:p>
          <a:p>
            <a:r>
              <a:rPr lang="de-DE">
                <a:solidFill>
                  <a:srgbClr val="FFC000"/>
                </a:solidFill>
              </a:rPr>
              <a:t>________</a:t>
            </a:r>
            <a:r>
              <a:rPr lang="de-DE"/>
              <a:t> (___ _____)  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/>
              <a:t>── </a:t>
            </a:r>
            <a:r>
              <a:rPr lang="de-DE">
                <a:solidFill>
                  <a:srgbClr val="00B050"/>
                </a:solidFill>
              </a:rPr>
              <a:t>___</a:t>
            </a:r>
            <a:r>
              <a:rPr lang="de-DE"/>
              <a:t> ── ___</a:t>
            </a:r>
          </a:p>
          <a:p>
            <a:r>
              <a:rPr lang="de-DE"/>
              <a:t>						 (____)       ___</a:t>
            </a:r>
          </a:p>
          <a:p>
            <a:endParaRPr lang="de-DE" smtClean="0"/>
          </a:p>
          <a:p>
            <a:r>
              <a:rPr lang="de-DE">
                <a:solidFill>
                  <a:srgbClr val="FFC000"/>
                </a:solidFill>
              </a:rPr>
              <a:t>________</a:t>
            </a:r>
            <a:r>
              <a:rPr lang="de-DE"/>
              <a:t> (___ _____)  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/>
              <a:t>── </a:t>
            </a:r>
            <a:r>
              <a:rPr lang="de-DE">
                <a:solidFill>
                  <a:srgbClr val="00B050"/>
                </a:solidFill>
              </a:rPr>
              <a:t>___</a:t>
            </a:r>
            <a:r>
              <a:rPr lang="de-DE"/>
              <a:t> ── ___</a:t>
            </a:r>
          </a:p>
          <a:p>
            <a:r>
              <a:rPr lang="de-DE"/>
              <a:t>						 (____)       ___</a:t>
            </a:r>
          </a:p>
          <a:p>
            <a:endParaRPr lang="de-DE"/>
          </a:p>
          <a:p>
            <a:r>
              <a:rPr lang="de-DE">
                <a:solidFill>
                  <a:srgbClr val="FFC000"/>
                </a:solidFill>
              </a:rPr>
              <a:t>________</a:t>
            </a:r>
            <a:r>
              <a:rPr lang="de-DE"/>
              <a:t> (___ _____)  ── </a:t>
            </a:r>
            <a:r>
              <a:rPr lang="de-DE">
                <a:solidFill>
                  <a:schemeClr val="accent6"/>
                </a:solidFill>
              </a:rPr>
              <a:t>_____ </a:t>
            </a:r>
            <a:r>
              <a:rPr lang="de-DE"/>
              <a:t>── </a:t>
            </a:r>
            <a:r>
              <a:rPr lang="de-DE">
                <a:solidFill>
                  <a:srgbClr val="00B050"/>
                </a:solidFill>
              </a:rPr>
              <a:t>___</a:t>
            </a:r>
            <a:r>
              <a:rPr lang="de-DE"/>
              <a:t> ── ___</a:t>
            </a:r>
          </a:p>
          <a:p>
            <a:r>
              <a:rPr lang="de-DE"/>
              <a:t>						 (____)       ___</a:t>
            </a: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635" y="1837645"/>
            <a:ext cx="3881120" cy="38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462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verschaltet (3)?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7" name="Textfeld 6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3. Ziel ist es, dass das Licht von fünf LED‘s vor und zurück läuft.</a:t>
            </a:r>
            <a:endParaRPr lang="de-DE"/>
          </a:p>
        </p:txBody>
      </p:sp>
      <p:sp>
        <p:nvSpPr>
          <p:cNvPr id="18" name="Rechteck 17"/>
          <p:cNvSpPr/>
          <p:nvPr/>
        </p:nvSpPr>
        <p:spPr>
          <a:xfrm>
            <a:off x="3033582" y="5813963"/>
            <a:ext cx="591186" cy="227261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/>
              <p:cNvSpPr/>
              <p:nvPr/>
            </p:nvSpPr>
            <p:spPr>
              <a:xfrm>
                <a:off x="717549" y="1869898"/>
                <a:ext cx="6221731" cy="3970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mtClean="0">
                    <a:solidFill>
                      <a:srgbClr val="FFC000"/>
                    </a:solidFill>
                  </a:rPr>
                  <a:t>GPIO-Pin</a:t>
                </a:r>
                <a:r>
                  <a:rPr lang="de-DE" smtClean="0"/>
                  <a:t> (z</a:t>
                </a:r>
                <a:r>
                  <a:rPr lang="de-DE"/>
                  <a:t>. B. </a:t>
                </a:r>
                <a:r>
                  <a:rPr lang="de-DE" smtClean="0"/>
                  <a:t>GPIO23)  </a:t>
                </a:r>
                <a:r>
                  <a:rPr lang="de-DE"/>
                  <a:t>── </a:t>
                </a:r>
                <a:r>
                  <a:rPr lang="de-DE" smtClean="0">
                    <a:solidFill>
                      <a:schemeClr val="accent6"/>
                    </a:solidFill>
                  </a:rPr>
                  <a:t>[ Rfix ]</a:t>
                </a:r>
                <a:r>
                  <a:rPr lang="de-DE">
                    <a:solidFill>
                      <a:schemeClr val="accent6"/>
                    </a:solidFill>
                  </a:rPr>
                  <a:t> </a:t>
                </a:r>
                <a:r>
                  <a:rPr lang="de-DE" smtClean="0"/>
                  <a:t>── </a:t>
                </a:r>
                <a:r>
                  <a:rPr lang="de-DE" smtClean="0">
                    <a:solidFill>
                      <a:srgbClr val="00B050"/>
                    </a:solidFill>
                  </a:rPr>
                  <a:t>|&gt;|</a:t>
                </a:r>
                <a:r>
                  <a:rPr lang="de-DE" smtClean="0"/>
                  <a:t> ── GND</a:t>
                </a:r>
              </a:p>
              <a:p>
                <a:r>
                  <a:rPr lang="de-DE"/>
                  <a:t>	</a:t>
                </a:r>
                <a:r>
                  <a:rPr lang="de-DE" smtClean="0"/>
                  <a:t>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mtClean="0"/>
                  <a:t>     LED</a:t>
                </a:r>
              </a:p>
              <a:p>
                <a:endParaRPr lang="de-DE" smtClean="0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</a:t>
                </a:r>
                <a:r>
                  <a:rPr lang="de-DE" smtClean="0"/>
                  <a:t>(z</a:t>
                </a:r>
                <a:r>
                  <a:rPr lang="de-DE"/>
                  <a:t>. B. GPIO25)  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</a:t>
                </a:r>
                <a:r>
                  <a:rPr lang="de-DE" smtClean="0"/>
                  <a:t>    (</a:t>
                </a:r>
                <a:r>
                  <a:rPr lang="de-DE"/>
                  <a:t>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LED</a:t>
                </a:r>
              </a:p>
              <a:p>
                <a:endParaRPr lang="de-DE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(z. B. </a:t>
                </a:r>
                <a:r>
                  <a:rPr lang="de-DE" smtClean="0"/>
                  <a:t>GPIO26)  </a:t>
                </a:r>
                <a:r>
                  <a:rPr lang="de-DE"/>
                  <a:t>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LED</a:t>
                </a:r>
              </a:p>
              <a:p>
                <a:endParaRPr lang="de-DE" smtClean="0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(z. B. </a:t>
                </a:r>
                <a:r>
                  <a:rPr lang="de-DE" smtClean="0"/>
                  <a:t>GPIO27)  </a:t>
                </a:r>
                <a:r>
                  <a:rPr lang="de-DE"/>
                  <a:t>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LED</a:t>
                </a:r>
              </a:p>
              <a:p>
                <a:endParaRPr lang="de-DE"/>
              </a:p>
              <a:p>
                <a:r>
                  <a:rPr lang="de-DE">
                    <a:solidFill>
                      <a:srgbClr val="FFC000"/>
                    </a:solidFill>
                  </a:rPr>
                  <a:t>GPIO-Pin</a:t>
                </a:r>
                <a:r>
                  <a:rPr lang="de-DE"/>
                  <a:t> (z. B. </a:t>
                </a:r>
                <a:r>
                  <a:rPr lang="de-DE" smtClean="0"/>
                  <a:t>GPIO32)  </a:t>
                </a:r>
                <a:r>
                  <a:rPr lang="de-DE"/>
                  <a:t>── </a:t>
                </a:r>
                <a:r>
                  <a:rPr lang="de-DE">
                    <a:solidFill>
                      <a:schemeClr val="accent6"/>
                    </a:solidFill>
                  </a:rPr>
                  <a:t>[ Rfix ] </a:t>
                </a:r>
                <a:r>
                  <a:rPr lang="de-DE"/>
                  <a:t>── </a:t>
                </a:r>
                <a:r>
                  <a:rPr lang="de-DE">
                    <a:solidFill>
                      <a:srgbClr val="00B050"/>
                    </a:solidFill>
                  </a:rPr>
                  <a:t>|&gt;|</a:t>
                </a:r>
                <a:r>
                  <a:rPr lang="de-DE"/>
                  <a:t> ── GND</a:t>
                </a:r>
              </a:p>
              <a:p>
                <a:r>
                  <a:rPr lang="de-DE"/>
                  <a:t>						    (220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/>
                  <a:t>     </a:t>
                </a:r>
                <a:r>
                  <a:rPr lang="de-DE" smtClean="0"/>
                  <a:t>LED</a:t>
                </a:r>
                <a:endParaRPr lang="de-DE"/>
              </a:p>
            </p:txBody>
          </p:sp>
        </mc:Choice>
        <mc:Fallback xmlns="">
          <p:sp>
            <p:nvSpPr>
              <p:cNvPr id="9" name="Rechtec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49" y="1869898"/>
                <a:ext cx="6221731" cy="3970318"/>
              </a:xfrm>
              <a:prstGeom prst="rect">
                <a:avLst/>
              </a:prstGeom>
              <a:blipFill>
                <a:blip r:embed="rId3"/>
                <a:stretch>
                  <a:fillRect l="-882" t="-922" b="-15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775719" y="5989660"/>
            <a:ext cx="44157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719" y="1678290"/>
            <a:ext cx="2534004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688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(3)?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>
          <a:xfrm>
            <a:off x="663835" y="6734720"/>
            <a:ext cx="296898" cy="258563"/>
          </a:xfrm>
        </p:spPr>
        <p:txBody>
          <a:bodyPr/>
          <a:lstStyle/>
          <a:p>
            <a:fld id="{93869C99-C634-47CD-B208-CB16ACE119EE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27" name="Textfeld 26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3. Ziel ist es, dass das Licht von fünf LED‘s vor und zurück läuft.</a:t>
            </a:r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177" y="1529298"/>
            <a:ext cx="7091271" cy="4523401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383177" y="6064178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33" y="2357821"/>
            <a:ext cx="2866354" cy="286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78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eine LED programmiert (3)?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22</a:t>
            </a:fld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800" y="1529298"/>
            <a:ext cx="7159012" cy="4523401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717549" y="1134383"/>
            <a:ext cx="1075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3. Ziel ist es, dass das Licht von fünf LED‘s vor und zurück läuft.</a:t>
            </a:r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383177" y="6064178"/>
            <a:ext cx="54254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33" y="2357821"/>
            <a:ext cx="2866354" cy="286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12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4577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99f41258-1f02-46b6-b230-447d6494c4cb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1621</Words>
  <Application>Microsoft Office PowerPoint</Application>
  <PresentationFormat>Breitbild</PresentationFormat>
  <Paragraphs>233</Paragraphs>
  <Slides>23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23</vt:i4>
      </vt:variant>
    </vt:vector>
  </HeadingPairs>
  <TitlesOfParts>
    <vt:vector size="34" baseType="lpstr">
      <vt:lpstr>Arial</vt:lpstr>
      <vt:lpstr>Calibri</vt:lpstr>
      <vt:lpstr>Cambria Math</vt:lpstr>
      <vt:lpstr>Symbol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Arduino</vt:lpstr>
      <vt:lpstr>Einführung</vt:lpstr>
      <vt:lpstr>Was ist Arduino? </vt:lpstr>
      <vt:lpstr>Was ist Arduino?  Lösung: </vt:lpstr>
      <vt:lpstr>Wie ist ein ESP32 aufgebaut? </vt:lpstr>
      <vt:lpstr>Wie ist ein ESP32 aufgebaut?  Lösung:</vt:lpstr>
      <vt:lpstr>Wie ist Arduino IDE aufgebaut? </vt:lpstr>
      <vt:lpstr>Wie ist Arduino IDE aufgebaut?  Lösung </vt:lpstr>
      <vt:lpstr>Erste Schritte – Blinkbeispiel </vt:lpstr>
      <vt:lpstr>PowerPoint-Präsentation</vt:lpstr>
      <vt:lpstr>Wie wird eine LED verschaltet (1)?</vt:lpstr>
      <vt:lpstr>Wie wird eine LED verschaltet (1)?  Lösung:</vt:lpstr>
      <vt:lpstr>Wie wird eine LED programmiert (1)? </vt:lpstr>
      <vt:lpstr>Wie wird eine LED programmiert (1)?  Lösung:</vt:lpstr>
      <vt:lpstr>Wie wird eine LED verschaltet (2)? </vt:lpstr>
      <vt:lpstr>Wie wird eine LED verschaltet (2)?  Lösung:</vt:lpstr>
      <vt:lpstr>Wie wird eine LED programmiert (2)? </vt:lpstr>
      <vt:lpstr>Wie wird eine LED programmiert (2)?  Lösung:</vt:lpstr>
      <vt:lpstr>Wie wird eine LED verschaltet (3)? </vt:lpstr>
      <vt:lpstr>Wie wird eine LED verschaltet (3)?  Lösung: </vt:lpstr>
      <vt:lpstr>Wie wird eine LED programmiert (3)? </vt:lpstr>
      <vt:lpstr>Wie wird eine LED programmiert (3)?  Lösung: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343</cp:revision>
  <dcterms:created xsi:type="dcterms:W3CDTF">2019-01-10T16:04:56Z</dcterms:created>
  <dcterms:modified xsi:type="dcterms:W3CDTF">2026-02-25T07:49:05Z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