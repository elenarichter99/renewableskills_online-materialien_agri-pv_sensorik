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19"/>
  </p:notesMasterIdLst>
  <p:sldIdLst>
    <p:sldId id="367" r:id="rId9"/>
    <p:sldId id="397" r:id="rId10"/>
    <p:sldId id="395" r:id="rId11"/>
    <p:sldId id="396" r:id="rId12"/>
    <p:sldId id="398" r:id="rId13"/>
    <p:sldId id="399" r:id="rId14"/>
    <p:sldId id="391" r:id="rId15"/>
    <p:sldId id="393" r:id="rId16"/>
    <p:sldId id="388" r:id="rId17"/>
    <p:sldId id="3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3577" autoAdjust="0"/>
  </p:normalViewPr>
  <p:slideViewPr>
    <p:cSldViewPr snapToGrid="0" showGuides="1">
      <p:cViewPr>
        <p:scale>
          <a:sx n="125" d="100"/>
          <a:sy n="125" d="100"/>
        </p:scale>
        <p:origin x="24" y="-684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86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999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978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40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55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3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706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66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ichelt.de/de/de/shop/produkt/widerstand_kohleschicht_4_7_kohm_0207_250_mw_5_-1425#open-modal-image-big-slider" TargetMode="External"/><Relationship Id="rId13" Type="http://schemas.openxmlformats.org/officeDocument/2006/relationships/image" Target="../media/image13.png"/><Relationship Id="rId18" Type="http://schemas.openxmlformats.org/officeDocument/2006/relationships/hyperlink" Target="https://cdn-reichelt.de/resize/600%2F-/web/xxl_ws/B400%2F%21WID1_4W.png?type=ProductXxl&amp;resize=600%252F-&amp;" TargetMode="External"/><Relationship Id="rId26" Type="http://schemas.openxmlformats.org/officeDocument/2006/relationships/hyperlink" Target="https://cdn-reichelt.de/bilder/web/artikel_ws/I200%2FINTENSO_3411450_01.jpg?type=Product&amp;" TargetMode="External"/><Relationship Id="rId3" Type="http://schemas.openxmlformats.org/officeDocument/2006/relationships/image" Target="../media/image11.png"/><Relationship Id="rId21" Type="http://schemas.openxmlformats.org/officeDocument/2006/relationships/image" Target="../media/image15.png"/><Relationship Id="rId7" Type="http://schemas.openxmlformats.org/officeDocument/2006/relationships/hyperlink" Target="https://www.roboter-bausatz.de/p/esp32-dev-board-32d-mit-cp2102-usb-c-wlan-bluetooth-iot-modul" TargetMode="External"/><Relationship Id="rId12" Type="http://schemas.openxmlformats.org/officeDocument/2006/relationships/image" Target="../media/image12.png"/><Relationship Id="rId17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20" Type="http://schemas.openxmlformats.org/officeDocument/2006/relationships/hyperlink" Target="https://www.arduino.cc/wiki/static/arduino-app-76bd27c4ce7246825aceb8efe2871f7a.sv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z-delivery.de/products/40-stk-jumper-wire-male-to-male-20-zentimeter" TargetMode="External"/><Relationship Id="rId11" Type="http://schemas.openxmlformats.org/officeDocument/2006/relationships/hyperlink" Target="https://www.reichelt.de/de/de/shop/produkt/sdhc-speicherkarte_4gb_intenso_class_10-126581" TargetMode="External"/><Relationship Id="rId24" Type="http://schemas.openxmlformats.org/officeDocument/2006/relationships/hyperlink" Target="https://cdn-reichelt.de/bilder/web/artikel_ws/A300%2FDEBO_MICROSD2_01.jpg?type=Product&amp;" TargetMode="External"/><Relationship Id="rId5" Type="http://schemas.openxmlformats.org/officeDocument/2006/relationships/hyperlink" Target="https://www.conrad.de/de/p/tru-components-steckplatine-bus-stripe-ausklappbar-polzahl-gesamt-400-l-x-b-82-5-cm-x-54-6-mm-1-st-2885952.html" TargetMode="External"/><Relationship Id="rId15" Type="http://schemas.openxmlformats.org/officeDocument/2006/relationships/hyperlink" Target="https://www.az-delivery.de/cdn/shop/products/dht22-am2302-temperatursensor-und-luftfeuchtigkeitssensor-853336.jpg?v=1679398452&amp;width=1200" TargetMode="External"/><Relationship Id="rId23" Type="http://schemas.openxmlformats.org/officeDocument/2006/relationships/image" Target="../media/image17.png"/><Relationship Id="rId10" Type="http://schemas.openxmlformats.org/officeDocument/2006/relationships/hyperlink" Target="https://www.reichelt.de/de/de/shop/produkt/entwicklerboards_-_breakout-board_fuer_microsd-karten-266045?PROVID=2788" TargetMode="External"/><Relationship Id="rId19" Type="http://schemas.openxmlformats.org/officeDocument/2006/relationships/hyperlink" Target="https://www.roboter-bausatz.de/media/image/d8/f3/0e/RBS18335_600x600.jpg" TargetMode="External"/><Relationship Id="rId4" Type="http://schemas.openxmlformats.org/officeDocument/2006/relationships/hyperlink" Target="https://www.az-delivery.de/products/dht22" TargetMode="External"/><Relationship Id="rId9" Type="http://schemas.openxmlformats.org/officeDocument/2006/relationships/hyperlink" Target="https://www.arduino.cc/en/software/" TargetMode="External"/><Relationship Id="rId14" Type="http://schemas.openxmlformats.org/officeDocument/2006/relationships/image" Target="../media/image14.png"/><Relationship Id="rId22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wokwi.com/parts/wokwi-microsd-car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8800" b="1" smtClean="0"/>
              <a:t>Messwerte speichern</a:t>
            </a:r>
            <a:r>
              <a:rPr lang="en-US" sz="16600" b="1" smtClean="0"/>
              <a:t> </a:t>
            </a:r>
            <a:r>
              <a:rPr lang="en-US" sz="6000" b="1" smtClean="0"/>
              <a:t>SD-Karte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9" y="0"/>
            <a:ext cx="5974079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             SD-Karte am Beispiel DHT22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89956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3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verschaltet,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 smtClean="0">
                <a:solidFill>
                  <a:srgbClr val="FF0000"/>
                </a:solidFill>
              </a:rPr>
              <a:t>(3.3 </a:t>
            </a:r>
            <a:r>
              <a:rPr lang="de-DE">
                <a:solidFill>
                  <a:srgbClr val="FF0000"/>
                </a:solidFill>
              </a:rPr>
              <a:t>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))</a:t>
            </a:r>
            <a:endParaRPr lang="de-DE"/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___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___  (SD)</a:t>
            </a:r>
          </a:p>
          <a:p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946" y="1436365"/>
            <a:ext cx="4074622" cy="407462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17550" y="5690183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154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wird ein SD-Kartenmodul verschaltet,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(DHT22)</a:t>
            </a:r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GPIO5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GPIO18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GPIO23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GPIO19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</a:t>
            </a:r>
            <a:r>
              <a:rPr lang="de-DE" smtClean="0">
                <a:solidFill>
                  <a:srgbClr val="FFC000"/>
                </a:solidFill>
              </a:rPr>
              <a:t>GND</a:t>
            </a:r>
            <a:r>
              <a:rPr lang="de-DE" smtClean="0"/>
              <a:t>  (SD)</a:t>
            </a:r>
          </a:p>
          <a:p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978732" y="5287423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Textfeld 11"/>
          <p:cNvSpPr txBox="1"/>
          <p:nvPr/>
        </p:nvSpPr>
        <p:spPr>
          <a:xfrm>
            <a:off x="717550" y="5690183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32" y="1275563"/>
            <a:ext cx="2133898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473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programmiert,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480495"/>
            <a:ext cx="2351619" cy="235161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536213" y="608251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213" y="1357453"/>
            <a:ext cx="7659169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721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wird ein SD-Kartenmodul programmiert,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480495"/>
            <a:ext cx="2351619" cy="235161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536213" y="608251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213" y="1376505"/>
            <a:ext cx="7811590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813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                 SD-Karte am     Beispiel DHT22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/>
          <a:srcRect l="3627"/>
          <a:stretch/>
        </p:blipFill>
        <p:spPr>
          <a:xfrm>
            <a:off x="4015047" y="3557068"/>
            <a:ext cx="2477626" cy="2122753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9901" y="309135"/>
            <a:ext cx="41507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zum Speichern von Messwerten am Beispiel eines DHT22: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DHT22</a:t>
            </a:r>
            <a:r>
              <a:rPr lang="de-DE" smtClean="0"/>
              <a:t> x 1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Jumper-Kabel</a:t>
            </a:r>
            <a:r>
              <a:rPr lang="de-DE" smtClean="0"/>
              <a:t> (Male-Male)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Mikrocontroller</a:t>
            </a:r>
            <a:r>
              <a:rPr lang="de-DE" smtClean="0"/>
              <a:t> (ESP32)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8"/>
              </a:rPr>
              <a:t>Widerstand </a:t>
            </a:r>
            <a:r>
              <a:rPr lang="de-DE" smtClean="0"/>
              <a:t>4.7 Kohm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9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0"/>
              </a:rPr>
              <a:t>SD-Kartenmodul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1"/>
              </a:rPr>
              <a:t>SD-Karte x1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(ggf. Speicherkartenlesegerät)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/>
          </a:p>
          <a:p>
            <a:r>
              <a:rPr lang="de-DE" u="sng" smtClean="0"/>
              <a:t>Hinweis:</a:t>
            </a:r>
          </a:p>
          <a:p>
            <a:endParaRPr lang="de-DE" u="sng" smtClean="0"/>
          </a:p>
          <a:p>
            <a:r>
              <a:rPr lang="de-DE" b="1" smtClean="0"/>
              <a:t>SD-Karte muss formatiert                werden </a:t>
            </a:r>
            <a:r>
              <a:rPr lang="de-DE" b="1" smtClean="0">
                <a:sym typeface="Wingdings" panose="05000000000000000000" pitchFamily="2" charset="2"/>
              </a:rPr>
              <a:t> </a:t>
            </a:r>
            <a:r>
              <a:rPr lang="de-DE" b="1"/>
              <a:t>FAT16- </a:t>
            </a:r>
            <a:r>
              <a:rPr lang="de-DE" b="1" smtClean="0"/>
              <a:t>oder FAT32</a:t>
            </a:r>
          </a:p>
          <a:p>
            <a:r>
              <a:rPr lang="de-DE" b="1" smtClean="0"/>
              <a:t>(Programmempfehlung:                     SD </a:t>
            </a:r>
            <a:r>
              <a:rPr lang="de-DE" b="1"/>
              <a:t>Card </a:t>
            </a:r>
            <a:r>
              <a:rPr lang="de-DE" b="1" smtClean="0"/>
              <a:t>Formatter)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3365" y="201877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0728" y="314902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0234" y="764691"/>
            <a:ext cx="2077336" cy="174958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657927" y="3032958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</a:t>
            </a:r>
            <a:r>
              <a:rPr lang="de-DE" sz="800" smtClean="0">
                <a:hlinkClick r:id="rId15"/>
              </a:rPr>
              <a:t>www.az-delivery.de/cdn/shop/products/dht22-am2302-temperatursensor-und-luftfeuchtigkeitssensor-853336.jpg?v=1679398452&amp;width=1200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921783" y="5684852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https://asset.conrad.com/media10/isa/160267/c1/-/</a:t>
            </a:r>
            <a:r>
              <a:rPr lang="de-DE" sz="800" smtClean="0">
                <a:hlinkClick r:id="rId16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820641" y="2456631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39492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https://cdn-reichelt.de/resize/600%2F-/web/xxl_ws/B400%2F%21WID1_4W.png?type=ProductXxl&amp;resize=600%252F-</a:t>
            </a:r>
            <a:r>
              <a:rPr lang="de-DE" sz="800" smtClean="0">
                <a:hlinkClick r:id="rId18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1425635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9"/>
              </a:rPr>
              <a:t>https://</a:t>
            </a:r>
            <a:r>
              <a:rPr lang="de-DE" sz="800" smtClean="0">
                <a:hlinkClick r:id="rId19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950728" y="921505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</a:t>
            </a:r>
            <a:r>
              <a:rPr lang="de-DE" sz="800" smtClean="0">
                <a:hlinkClick r:id="rId20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3365" y="2759420"/>
            <a:ext cx="1550734" cy="1188101"/>
          </a:xfrm>
          <a:prstGeom prst="rect">
            <a:avLst/>
          </a:prstGeom>
        </p:spPr>
      </p:pic>
      <p:pic>
        <p:nvPicPr>
          <p:cNvPr id="1026" name="Picture 2" descr="DHT22 AM2302 Temperatursensor und Luftfeuchtigkeitssensor - AZ-Delivery"/>
          <p:cNvPicPr>
            <a:picLocks noChangeAspect="1" noChangeArrowheads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79" y="2095873"/>
            <a:ext cx="948240" cy="9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52791" y="3553210"/>
            <a:ext cx="1990737" cy="150260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52791" y="50507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4"/>
              </a:rPr>
              <a:t>https://cdn-reichelt.de/bilder/web/artikel_ws/A300%2FDEBO_MICROSD2_01.jpg?type=Product</a:t>
            </a:r>
            <a:r>
              <a:rPr lang="de-DE" sz="800" smtClean="0">
                <a:hlinkClick r:id="rId24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06861" y="4679076"/>
            <a:ext cx="804008" cy="1065434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406862" y="5743026"/>
            <a:ext cx="2380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6"/>
              </a:rPr>
              <a:t>https://cdn-reichelt.de/bilder/web/artikel_ws/I200%2FINTENSO_3411450_01.jpg?type=Product</a:t>
            </a:r>
            <a:r>
              <a:rPr lang="de-DE" sz="800" smtClean="0">
                <a:hlinkClick r:id="rId26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2771211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11" y="877931"/>
            <a:ext cx="4876800" cy="4876800"/>
          </a:xfrm>
          <a:prstGeom prst="rect">
            <a:avLst/>
          </a:prstGeom>
        </p:spPr>
      </p:pic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286" y="6052699"/>
            <a:ext cx="7200000" cy="360000"/>
          </a:xfrm>
        </p:spPr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6614160" y="766449"/>
            <a:ext cx="5062451" cy="513726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717551" y="482420"/>
            <a:ext cx="106459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des Speicherns </a:t>
            </a:r>
            <a:r>
              <a:rPr lang="de-DE" u="sng"/>
              <a:t>von </a:t>
            </a:r>
            <a:r>
              <a:rPr lang="de-DE" u="sng" smtClean="0"/>
              <a:t>DHT22-Messwerten: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 (Folie 4 oberer Teil)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verschaltung der SD-Karte vornehmen (Folie 4 unterer Teil)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zur Speicherung der DHT22-Messwerte auf SD-Karte auf ESP flashen (ARDUINO) (Folie 6)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etwa 10 Messwerte in Konsole printen lassen und auf SD-Karte speichern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in Konsole geprintete Messwerte merken (Foto)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SD-Karte </a:t>
            </a:r>
            <a:r>
              <a:rPr lang="de-DE"/>
              <a:t>in </a:t>
            </a:r>
            <a:r>
              <a:rPr lang="de-DE" smtClean="0"/>
              <a:t>SD-Kartensteckplatz </a:t>
            </a:r>
            <a:r>
              <a:rPr lang="de-DE"/>
              <a:t>oder -leser des Computers </a:t>
            </a:r>
            <a:r>
              <a:rPr lang="de-DE" smtClean="0"/>
              <a:t>einsetzen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CSV-Datei auf SD-Karte öffnen 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Prüfen ob geprintete Messwerte mit Messwerten in CSV-Datei übereinstimmen</a:t>
            </a:r>
          </a:p>
          <a:p>
            <a:pPr marL="342900" indent="-342900">
              <a:buFont typeface="+mj-lt"/>
              <a:buAutoNum type="arabicPeriod"/>
            </a:pPr>
            <a:endParaRPr lang="de-DE"/>
          </a:p>
          <a:p>
            <a:r>
              <a:rPr lang="de-DE" smtClean="0"/>
              <a:t>(Wenn gewünscht,  kann das Vorgehen auch erst in </a:t>
            </a:r>
            <a:r>
              <a:rPr lang="de-DE" smtClean="0">
                <a:hlinkClick r:id="rId4"/>
              </a:rPr>
              <a:t>Wokwi</a:t>
            </a:r>
            <a:r>
              <a:rPr lang="de-DE" smtClean="0"/>
              <a:t> getestet werden.)</a:t>
            </a:r>
          </a:p>
        </p:txBody>
      </p:sp>
    </p:spTree>
    <p:extLst>
      <p:ext uri="{BB962C8B-B14F-4D97-AF65-F5344CB8AC3E}">
        <p14:creationId xmlns:p14="http://schemas.microsoft.com/office/powerpoint/2010/main" val="648111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dcmitype/"/>
    <ds:schemaRef ds:uri="99f41258-1f02-46b6-b230-447d6494c4cb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834</Words>
  <Application>Microsoft Office PowerPoint</Application>
  <PresentationFormat>Breitbild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10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Messwerte speichern SD-Karte</vt:lpstr>
      <vt:lpstr>Anwendung              SD-Karte am Beispiel DHT22</vt:lpstr>
      <vt:lpstr>Wie wird ein SD-Kartenmodul verschaltet, um DHT22-Messwerte zu speichern? </vt:lpstr>
      <vt:lpstr>Wie wird ein SD-Kartenmodul verschaltet, um DHT22-Messwerte zu speichern?  Lösung: </vt:lpstr>
      <vt:lpstr>Wie wird ein SD-Kartenmodul programmiert, um DHT22-Messwerte zu speichern? </vt:lpstr>
      <vt:lpstr>Wie wird ein SD-Kartenmodul programmiert, um DHT22-Messwerte zu speichern?  Lösung:</vt:lpstr>
      <vt:lpstr>Praxistest                  SD-Karte am     Beispiel DHT22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326</cp:revision>
  <dcterms:created xsi:type="dcterms:W3CDTF">2019-01-10T16:04:56Z</dcterms:created>
  <dcterms:modified xsi:type="dcterms:W3CDTF">2026-02-25T09:56:34Z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