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4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3" r:id="rId5"/>
    <p:sldMasterId id="2147483678" r:id="rId6"/>
    <p:sldMasterId id="2147483688" r:id="rId7"/>
    <p:sldMasterId id="2147483693" r:id="rId8"/>
  </p:sldMasterIdLst>
  <p:notesMasterIdLst>
    <p:notesMasterId r:id="rId25"/>
  </p:notesMasterIdLst>
  <p:sldIdLst>
    <p:sldId id="416" r:id="rId9"/>
    <p:sldId id="433" r:id="rId10"/>
    <p:sldId id="392" r:id="rId11"/>
    <p:sldId id="419" r:id="rId12"/>
    <p:sldId id="422" r:id="rId13"/>
    <p:sldId id="423" r:id="rId14"/>
    <p:sldId id="424" r:id="rId15"/>
    <p:sldId id="425" r:id="rId16"/>
    <p:sldId id="426" r:id="rId17"/>
    <p:sldId id="427" r:id="rId18"/>
    <p:sldId id="428" r:id="rId19"/>
    <p:sldId id="429" r:id="rId20"/>
    <p:sldId id="430" r:id="rId21"/>
    <p:sldId id="431" r:id="rId22"/>
    <p:sldId id="432" r:id="rId23"/>
    <p:sldId id="41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ichter, Elena" initials="RE" lastIdx="1" clrIdx="0">
    <p:extLst>
      <p:ext uri="{19B8F6BF-5375-455C-9EA6-DF929625EA0E}">
        <p15:presenceInfo xmlns:p15="http://schemas.microsoft.com/office/powerpoint/2012/main" userId="S-1-5-21-2252779649-2432209404-4072682936-2848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613"/>
    <a:srgbClr val="E6AF00"/>
    <a:srgbClr val="FF7373"/>
    <a:srgbClr val="AAC9B2"/>
    <a:srgbClr val="00964E"/>
    <a:srgbClr val="F5B5B5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0465" autoAdjust="0"/>
  </p:normalViewPr>
  <p:slideViewPr>
    <p:cSldViewPr snapToGrid="0" showGuides="1">
      <p:cViewPr varScale="1">
        <p:scale>
          <a:sx n="66" d="100"/>
          <a:sy n="66" d="100"/>
        </p:scale>
        <p:origin x="894" y="72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viewProps" Target="view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8991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7929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5383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87953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30566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34207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410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Skript: LDR_1_2_Luecken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45483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LDR_1_2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36253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LDR_1_2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4272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LDR_1_2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4064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LDR_3_Luecken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35186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LDR_3</a:t>
            </a:r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8945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9718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5765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0330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575106C-3CD7-FE4D-97C8-190DE4ECDE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470EED4F-3BF2-0241-A831-A9A96AFFE9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705" y="1498600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AA6AD5-C75F-0846-B79B-823B288EFF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295" y="1510821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0406942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7943244-8079-C343-9249-D13695A8447F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004A059-65DF-B340-AD61-079AA36765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88F6906-E0DF-3A4F-A375-7B9D3F4EA13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000" y="225000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79D9D2-52F2-0247-AF3C-3AA30091C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525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25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958379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3869C99-C634-47CD-B208-CB16ACE119EE}" type="slidenum">
              <a:rPr lang="de-DE"/>
              <a:pPr/>
              <a:t>‹Nr.›</a:t>
            </a:fld>
            <a:endParaRPr lang="de-DE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80000" y="360000"/>
            <a:ext cx="8803200" cy="360000"/>
          </a:xfrm>
        </p:spPr>
        <p:txBody>
          <a:bodyPr tIns="72000"/>
          <a:lstStyle>
            <a:lvl1pPr>
              <a:defRPr sz="1000" b="1"/>
            </a:lvl1pPr>
            <a:lvl2pPr>
              <a:defRPr sz="1000" b="1"/>
            </a:lvl2pPr>
            <a:lvl3pPr>
              <a:defRPr sz="1000" b="1"/>
            </a:lvl3pPr>
            <a:lvl4pPr>
              <a:defRPr sz="1000" b="1"/>
            </a:lvl4pPr>
            <a:lvl5pPr>
              <a:defRPr sz="1000" b="1"/>
            </a:lvl5pPr>
          </a:lstStyle>
          <a:p>
            <a:pPr lvl="0"/>
            <a:r>
              <a:rPr lang="de-DE" dirty="0"/>
              <a:t>Hier steht das Thema oder das Kapitel</a:t>
            </a:r>
          </a:p>
        </p:txBody>
      </p:sp>
    </p:spTree>
    <p:extLst>
      <p:ext uri="{BB962C8B-B14F-4D97-AF65-F5344CB8AC3E}">
        <p14:creationId xmlns:p14="http://schemas.microsoft.com/office/powerpoint/2010/main" val="863682870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w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.wm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22EEA21B-970F-3640-8788-C21A9CC415C6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09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4" r:id="rId4"/>
    <p:sldLayoutId id="2147483699" r:id="rId5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0FFBE0-85A9-954B-8F08-37999726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4276" y="318185"/>
            <a:ext cx="1961041" cy="55418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 anchor="ctr"/>
          <a:lstStyle/>
          <a:p>
            <a:pPr algn="ctr"/>
            <a:r>
              <a:rPr lang="en-US" sz="9600" b="1"/>
              <a:t>LDR in Wokwi</a:t>
            </a:r>
            <a:br>
              <a:rPr lang="en-US" sz="9600" b="1"/>
            </a:br>
            <a:r>
              <a:rPr lang="de-DE" sz="4800"/>
              <a:t>Simulation einer Lichtmessung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348226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75" y="775392"/>
            <a:ext cx="5307216" cy="53072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840" y="0"/>
            <a:ext cx="5598159" cy="6858000"/>
          </a:xfrm>
        </p:spPr>
        <p:txBody>
          <a:bodyPr anchor="ctr">
            <a:normAutofit/>
          </a:bodyPr>
          <a:lstStyle/>
          <a:p>
            <a:pPr algn="l"/>
            <a:r>
              <a:rPr lang="de-DE" sz="4800" b="1" smtClean="0"/>
              <a:t>Funktionsweise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 dirty="0"/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639216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717548" y="1700077"/>
            <a:ext cx="10321754" cy="75880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48" y="1944852"/>
            <a:ext cx="6531149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smtClean="0"/>
              <a:t>LDR (Light Dependent Resistor) = ____________ Widerstand:</a:t>
            </a:r>
            <a:br>
              <a:rPr lang="de-DE" b="0" smtClean="0"/>
            </a:br>
            <a:endParaRPr lang="de-DE" b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ein </a:t>
            </a:r>
            <a:r>
              <a:rPr lang="de-DE" b="1" smtClean="0"/>
              <a:t>LDR? </a:t>
            </a:r>
            <a:endParaRPr lang="de-DE" b="1" dirty="0"/>
          </a:p>
        </p:txBody>
      </p:sp>
      <p:sp>
        <p:nvSpPr>
          <p:cNvPr id="13" name="Inhaltsplatzhalter 2"/>
          <p:cNvSpPr>
            <a:spLocks noGrp="1"/>
          </p:cNvSpPr>
          <p:nvPr>
            <p:ph idx="1"/>
          </p:nvPr>
        </p:nvSpPr>
        <p:spPr>
          <a:xfrm>
            <a:off x="4594243" y="3153104"/>
            <a:ext cx="4850784" cy="2424063"/>
          </a:xfrm>
          <a:noFill/>
          <a:ln>
            <a:noFill/>
          </a:ln>
        </p:spPr>
        <p:txBody>
          <a:bodyPr lIns="180000">
            <a:noAutofit/>
          </a:bodyPr>
          <a:lstStyle/>
          <a:p>
            <a:pPr marL="0" indent="0" algn="ctr">
              <a:buNone/>
            </a:pPr>
            <a:r>
              <a:rPr lang="de-DE" b="0" smtClean="0"/>
              <a:t>Licht besteht aus Photonen. </a:t>
            </a:r>
          </a:p>
          <a:p>
            <a:pPr marL="0" indent="0" algn="ctr">
              <a:buNone/>
            </a:pPr>
            <a:endParaRPr lang="de-DE" b="0" smtClean="0"/>
          </a:p>
          <a:p>
            <a:pPr marL="0" indent="0" algn="ctr">
              <a:buNone/>
            </a:pPr>
            <a:r>
              <a:rPr lang="de-DE" b="0" smtClean="0"/>
              <a:t>Photonen treffen auf LDR und geben _______ an Eletronen ab.</a:t>
            </a:r>
          </a:p>
          <a:p>
            <a:pPr marL="0" indent="0" algn="ctr">
              <a:buNone/>
            </a:pPr>
            <a:endParaRPr lang="de-DE" b="0" smtClean="0"/>
          </a:p>
          <a:p>
            <a:pPr marL="0" indent="0" algn="ctr">
              <a:buNone/>
            </a:pPr>
            <a:r>
              <a:rPr lang="de-DE" b="0" smtClean="0"/>
              <a:t>Dies führt zu einer _______ Leifähigkeit, </a:t>
            </a:r>
          </a:p>
          <a:p>
            <a:pPr marL="0" indent="0" algn="ctr">
              <a:buNone/>
            </a:pPr>
            <a:r>
              <a:rPr lang="de-DE" b="0"/>
              <a:t>w</a:t>
            </a:r>
            <a:r>
              <a:rPr lang="de-DE" b="0" smtClean="0"/>
              <a:t>as wiederum in einem _________ Widerstand resultiert. </a:t>
            </a:r>
            <a:r>
              <a:rPr lang="de-DE" sz="1800" b="0"/>
              <a:t/>
            </a:r>
            <a:br>
              <a:rPr lang="de-DE" sz="1800" b="0"/>
            </a:br>
            <a:endParaRPr lang="de-DE" sz="1800" b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1" name="Inhaltsplatzhalter 2"/>
          <p:cNvSpPr txBox="1">
            <a:spLocks/>
          </p:cNvSpPr>
          <p:nvPr/>
        </p:nvSpPr>
        <p:spPr>
          <a:xfrm>
            <a:off x="7392072" y="1803353"/>
            <a:ext cx="4090689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/>
              <a:t>v</a:t>
            </a:r>
            <a:r>
              <a:rPr lang="de-DE" b="0" smtClean="0"/>
              <a:t>iel Licht     </a:t>
            </a:r>
            <a:r>
              <a:rPr lang="de-DE" b="0" smtClean="0">
                <a:sym typeface="Wingdings" panose="05000000000000000000" pitchFamily="2" charset="2"/>
              </a:rPr>
              <a:t> _____ Widerstand</a:t>
            </a:r>
          </a:p>
          <a:p>
            <a:r>
              <a:rPr lang="de-DE" b="0">
                <a:sym typeface="Wingdings" panose="05000000000000000000" pitchFamily="2" charset="2"/>
              </a:rPr>
              <a:t>w</a:t>
            </a:r>
            <a:r>
              <a:rPr lang="de-DE" b="0" smtClean="0">
                <a:sym typeface="Wingdings" panose="05000000000000000000" pitchFamily="2" charset="2"/>
              </a:rPr>
              <a:t>enig Licht  _____ Widerstand</a:t>
            </a:r>
            <a:r>
              <a:rPr lang="de-DE" b="0" smtClean="0"/>
              <a:t/>
            </a:r>
            <a:br>
              <a:rPr lang="de-DE" b="0" smtClean="0"/>
            </a:br>
            <a:endParaRPr lang="de-DE" b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609" y="2714397"/>
            <a:ext cx="3301479" cy="3301479"/>
          </a:xfrm>
          <a:prstGeom prst="rect">
            <a:avLst/>
          </a:prstGeom>
        </p:spPr>
      </p:pic>
      <p:sp>
        <p:nvSpPr>
          <p:cNvPr id="17" name="Inhaltsplatzhalter 2"/>
          <p:cNvSpPr txBox="1">
            <a:spLocks/>
          </p:cNvSpPr>
          <p:nvPr/>
        </p:nvSpPr>
        <p:spPr>
          <a:xfrm>
            <a:off x="457977" y="1087501"/>
            <a:ext cx="10456634" cy="357059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Gemessen wird die Spannung, die vom _________ abhängt.</a:t>
            </a:r>
          </a:p>
          <a:p>
            <a:pPr algn="ctr"/>
            <a:r>
              <a:rPr lang="de-DE" b="0" smtClean="0"/>
              <a:t/>
            </a:r>
            <a:br>
              <a:rPr lang="de-DE" b="0" smtClean="0"/>
            </a:br>
            <a:endParaRPr lang="de-DE" b="0"/>
          </a:p>
        </p:txBody>
      </p:sp>
    </p:spTree>
    <p:extLst>
      <p:ext uri="{BB962C8B-B14F-4D97-AF65-F5344CB8AC3E}">
        <p14:creationId xmlns:p14="http://schemas.microsoft.com/office/powerpoint/2010/main" val="60348365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717548" y="1700077"/>
            <a:ext cx="10321754" cy="75880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48" y="1944852"/>
            <a:ext cx="6531149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 smtClean="0"/>
              <a:t>LDR (Light Dependent Resistor) = lichtabhängiger Widerstand:</a:t>
            </a:r>
            <a:br>
              <a:rPr lang="de-DE" b="0" smtClean="0"/>
            </a:br>
            <a:endParaRPr lang="de-DE" b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ein </a:t>
            </a:r>
            <a:r>
              <a:rPr lang="de-DE" b="1" smtClean="0"/>
              <a:t>LDR?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  <p:sp>
        <p:nvSpPr>
          <p:cNvPr id="13" name="Inhaltsplatzhalter 2"/>
          <p:cNvSpPr>
            <a:spLocks noGrp="1"/>
          </p:cNvSpPr>
          <p:nvPr>
            <p:ph idx="1"/>
          </p:nvPr>
        </p:nvSpPr>
        <p:spPr>
          <a:xfrm>
            <a:off x="4594243" y="3153104"/>
            <a:ext cx="4850784" cy="2424063"/>
          </a:xfrm>
          <a:noFill/>
          <a:ln>
            <a:noFill/>
          </a:ln>
        </p:spPr>
        <p:txBody>
          <a:bodyPr lIns="180000">
            <a:noAutofit/>
          </a:bodyPr>
          <a:lstStyle/>
          <a:p>
            <a:pPr marL="0" indent="0" algn="ctr">
              <a:buNone/>
            </a:pPr>
            <a:r>
              <a:rPr lang="de-DE" b="0" smtClean="0"/>
              <a:t>Licht besteht aus Photonen. </a:t>
            </a:r>
          </a:p>
          <a:p>
            <a:pPr marL="0" indent="0" algn="ctr">
              <a:buNone/>
            </a:pPr>
            <a:endParaRPr lang="de-DE" b="0" smtClean="0"/>
          </a:p>
          <a:p>
            <a:pPr marL="0" indent="0" algn="ctr">
              <a:buNone/>
            </a:pPr>
            <a:r>
              <a:rPr lang="de-DE" b="0" smtClean="0"/>
              <a:t>Photonen treffen auf LDR und geben Energie an Eletronen ab.</a:t>
            </a:r>
          </a:p>
          <a:p>
            <a:pPr marL="0" indent="0" algn="ctr">
              <a:buNone/>
            </a:pPr>
            <a:endParaRPr lang="de-DE" b="0" smtClean="0"/>
          </a:p>
          <a:p>
            <a:pPr marL="0" indent="0" algn="ctr">
              <a:buNone/>
            </a:pPr>
            <a:r>
              <a:rPr lang="de-DE" b="0" smtClean="0"/>
              <a:t>Dies führt zu einer höheren Leifähigkeit, </a:t>
            </a:r>
          </a:p>
          <a:p>
            <a:pPr marL="0" indent="0" algn="ctr">
              <a:buNone/>
            </a:pPr>
            <a:r>
              <a:rPr lang="de-DE" b="0"/>
              <a:t>w</a:t>
            </a:r>
            <a:r>
              <a:rPr lang="de-DE" b="0" smtClean="0"/>
              <a:t>as wiederum in einem geringeren Widerstand resultiert. </a:t>
            </a:r>
            <a:r>
              <a:rPr lang="de-DE" sz="1800" b="0"/>
              <a:t/>
            </a:r>
            <a:br>
              <a:rPr lang="de-DE" sz="1800" b="0"/>
            </a:br>
            <a:endParaRPr lang="de-DE" sz="1800" b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1" name="Inhaltsplatzhalter 2"/>
          <p:cNvSpPr txBox="1">
            <a:spLocks/>
          </p:cNvSpPr>
          <p:nvPr/>
        </p:nvSpPr>
        <p:spPr>
          <a:xfrm>
            <a:off x="7392072" y="1803353"/>
            <a:ext cx="4090689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0"/>
              <a:t>v</a:t>
            </a:r>
            <a:r>
              <a:rPr lang="de-DE" b="0" smtClean="0"/>
              <a:t>iel Licht     </a:t>
            </a:r>
            <a:r>
              <a:rPr lang="de-DE" b="0" smtClean="0">
                <a:sym typeface="Wingdings" panose="05000000000000000000" pitchFamily="2" charset="2"/>
              </a:rPr>
              <a:t> wenig Widerstand</a:t>
            </a:r>
          </a:p>
          <a:p>
            <a:r>
              <a:rPr lang="de-DE" b="0">
                <a:sym typeface="Wingdings" panose="05000000000000000000" pitchFamily="2" charset="2"/>
              </a:rPr>
              <a:t>w</a:t>
            </a:r>
            <a:r>
              <a:rPr lang="de-DE" b="0" smtClean="0">
                <a:sym typeface="Wingdings" panose="05000000000000000000" pitchFamily="2" charset="2"/>
              </a:rPr>
              <a:t>enig Licht  viel Widerstand</a:t>
            </a:r>
            <a:r>
              <a:rPr lang="de-DE" b="0" smtClean="0"/>
              <a:t/>
            </a:r>
            <a:br>
              <a:rPr lang="de-DE" b="0" smtClean="0"/>
            </a:br>
            <a:endParaRPr lang="de-DE" b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609" y="2714397"/>
            <a:ext cx="3301479" cy="3301479"/>
          </a:xfrm>
          <a:prstGeom prst="rect">
            <a:avLst/>
          </a:prstGeom>
        </p:spPr>
      </p:pic>
      <p:sp>
        <p:nvSpPr>
          <p:cNvPr id="17" name="Inhaltsplatzhalter 2"/>
          <p:cNvSpPr txBox="1">
            <a:spLocks/>
          </p:cNvSpPr>
          <p:nvPr/>
        </p:nvSpPr>
        <p:spPr>
          <a:xfrm>
            <a:off x="457977" y="1087501"/>
            <a:ext cx="10456634" cy="357059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Gemessen wird die Spannung, die vom Widerstand abhängt.</a:t>
            </a:r>
          </a:p>
          <a:p>
            <a:pPr algn="ctr"/>
            <a:r>
              <a:rPr lang="de-DE" b="0" smtClean="0"/>
              <a:t/>
            </a:r>
            <a:br>
              <a:rPr lang="de-DE" b="0" smtClean="0"/>
            </a:br>
            <a:endParaRPr lang="de-DE" b="0"/>
          </a:p>
        </p:txBody>
      </p:sp>
    </p:spTree>
    <p:extLst>
      <p:ext uri="{BB962C8B-B14F-4D97-AF65-F5344CB8AC3E}">
        <p14:creationId xmlns:p14="http://schemas.microsoft.com/office/powerpoint/2010/main" val="1603955338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717548" y="1108800"/>
            <a:ext cx="10321754" cy="75880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48" y="1218717"/>
            <a:ext cx="10321754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Wokwi ist ein frei zugänglicher Online-Simulator für Elektronik und Mikrocontroller, mit dem Schaltungen und Code virtuell gebaut, programmiert und getestet werden kann</a:t>
            </a:r>
            <a:br>
              <a:rPr lang="de-DE" b="0" smtClean="0"/>
            </a:br>
            <a:endParaRPr lang="de-DE" b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</a:t>
            </a:r>
            <a:r>
              <a:rPr lang="de-DE" b="1" smtClean="0"/>
              <a:t>Wokwi? (1)</a:t>
            </a:r>
            <a:endParaRPr lang="de-DE" b="1" dirty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779" y="2211993"/>
            <a:ext cx="7081521" cy="3648394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2557779" y="2659380"/>
            <a:ext cx="3538220" cy="32010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/>
          <p:cNvSpPr/>
          <p:nvPr/>
        </p:nvSpPr>
        <p:spPr>
          <a:xfrm>
            <a:off x="6101080" y="2659380"/>
            <a:ext cx="3538220" cy="3201007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/>
          <p:cNvSpPr txBox="1"/>
          <p:nvPr/>
        </p:nvSpPr>
        <p:spPr>
          <a:xfrm rot="16200000">
            <a:off x="1195896" y="4075217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>
                <a:solidFill>
                  <a:srgbClr val="FF0000"/>
                </a:solidFill>
              </a:rPr>
              <a:t>______________</a:t>
            </a:r>
            <a:endParaRPr lang="de-DE">
              <a:solidFill>
                <a:srgbClr val="FF0000"/>
              </a:solidFill>
            </a:endParaRPr>
          </a:p>
        </p:txBody>
      </p:sp>
      <p:sp>
        <p:nvSpPr>
          <p:cNvPr id="18" name="Textfeld 17"/>
          <p:cNvSpPr txBox="1"/>
          <p:nvPr/>
        </p:nvSpPr>
        <p:spPr>
          <a:xfrm rot="16200000">
            <a:off x="9088914" y="40752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>
                <a:solidFill>
                  <a:srgbClr val="0070C0"/>
                </a:solidFill>
              </a:rPr>
              <a:t>____________</a:t>
            </a:r>
            <a:endParaRPr lang="de-DE">
              <a:solidFill>
                <a:srgbClr val="0070C0"/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2557779" y="586038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5473339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717548" y="1108800"/>
            <a:ext cx="10321754" cy="75880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717548" y="1218717"/>
            <a:ext cx="10321754" cy="538968"/>
          </a:xfrm>
          <a:prstGeom prst="rect">
            <a:avLst/>
          </a:prstGeom>
          <a:noFill/>
          <a:ln>
            <a:noFill/>
          </a:ln>
        </p:spPr>
        <p:txBody>
          <a:bodyPr vert="horz" lIns="18000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7000"/>
              </a:lnSpc>
              <a:spcBef>
                <a:spcPts val="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07000"/>
              </a:lnSpc>
              <a:spcBef>
                <a:spcPts val="0"/>
              </a:spcBef>
              <a:spcAft>
                <a:spcPts val="425"/>
              </a:spcAft>
              <a:buFont typeface="Work Sans" panose="00000500000000000000" pitchFamily="2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smtClean="0"/>
              <a:t>Wokwi ist ein frei zugänglicher Online-Simulator für Elektronik und Mikrocontroller, mit dem Schaltungen und Code virtuell gebaut, programmiert und getestet werden kann</a:t>
            </a:r>
            <a:br>
              <a:rPr lang="de-DE" b="0" smtClean="0"/>
            </a:br>
            <a:endParaRPr lang="de-DE" b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Wie funktioniert </a:t>
            </a:r>
            <a:r>
              <a:rPr lang="de-DE" b="1" smtClean="0"/>
              <a:t>Wokwi? (1)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  <p:sp>
        <p:nvSpPr>
          <p:cNvPr id="1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779" y="2211993"/>
            <a:ext cx="7081521" cy="3648394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2557779" y="2659380"/>
            <a:ext cx="3538220" cy="32010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/>
          <p:cNvSpPr/>
          <p:nvPr/>
        </p:nvSpPr>
        <p:spPr>
          <a:xfrm>
            <a:off x="6101080" y="2659380"/>
            <a:ext cx="3538220" cy="3201007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/>
          <p:cNvSpPr txBox="1"/>
          <p:nvPr/>
        </p:nvSpPr>
        <p:spPr>
          <a:xfrm rot="16200000">
            <a:off x="952238" y="4075217"/>
            <a:ext cx="24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>
                <a:solidFill>
                  <a:srgbClr val="FF0000"/>
                </a:solidFill>
              </a:rPr>
              <a:t>PROGRAMMIERUNG</a:t>
            </a:r>
            <a:endParaRPr lang="de-DE">
              <a:solidFill>
                <a:srgbClr val="FF0000"/>
              </a:solidFill>
            </a:endParaRPr>
          </a:p>
        </p:txBody>
      </p:sp>
      <p:sp>
        <p:nvSpPr>
          <p:cNvPr id="18" name="Textfeld 17"/>
          <p:cNvSpPr txBox="1"/>
          <p:nvPr/>
        </p:nvSpPr>
        <p:spPr>
          <a:xfrm rot="16200000">
            <a:off x="8917936" y="4075217"/>
            <a:ext cx="2065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>
                <a:solidFill>
                  <a:srgbClr val="0070C0"/>
                </a:solidFill>
              </a:rPr>
              <a:t>VERSCHALTUNG</a:t>
            </a:r>
            <a:endParaRPr lang="de-DE">
              <a:solidFill>
                <a:srgbClr val="0070C0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2557779" y="586038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403475778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5688" y="0"/>
            <a:ext cx="6996311" cy="6858000"/>
          </a:xfrm>
        </p:spPr>
        <p:txBody>
          <a:bodyPr anchor="ctr">
            <a:normAutofit/>
          </a:bodyPr>
          <a:lstStyle/>
          <a:p>
            <a:r>
              <a:rPr lang="de-DE" sz="4800" b="1" smtClean="0"/>
              <a:t>Simulation LDR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7</a:t>
            </a:fld>
            <a:endParaRPr lang="de-DE" dirty="0"/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326" y="1443615"/>
            <a:ext cx="3970770" cy="39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745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(1)?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 smtClean="0"/>
              <a:t>1. Ziel ist es die Messwerte des LDR‘s auszulesen.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 rotWithShape="1">
          <a:blip r:embed="rId3"/>
          <a:srcRect l="42967"/>
          <a:stretch/>
        </p:blipFill>
        <p:spPr>
          <a:xfrm>
            <a:off x="5270500" y="1710000"/>
            <a:ext cx="6127908" cy="432720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601835"/>
            <a:ext cx="4410691" cy="254353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145365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270500" y="6037200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3760236312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(1)?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/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 smtClean="0"/>
              <a:t>1. Ziel ist es die Messwerte des LDR‘s auszulesen.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 rotWithShape="1">
          <a:blip r:embed="rId3"/>
          <a:srcRect l="42620"/>
          <a:stretch/>
        </p:blipFill>
        <p:spPr>
          <a:xfrm>
            <a:off x="5473700" y="1710852"/>
            <a:ext cx="4869843" cy="4327998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622138"/>
            <a:ext cx="4439270" cy="250542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473700" y="6033654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13284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213038135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(2)?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/>
              <a:t>2</a:t>
            </a:r>
            <a:r>
              <a:rPr lang="de-DE" b="1" smtClean="0"/>
              <a:t>. Ziel ist es die Lichtstärke zu regeln und entsprechende Messwerte des LDR‘s auszulesen.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 rotWithShape="1">
          <a:blip r:embed="rId3"/>
          <a:srcRect l="43311"/>
          <a:stretch/>
        </p:blipFill>
        <p:spPr>
          <a:xfrm>
            <a:off x="5549900" y="1880755"/>
            <a:ext cx="4621970" cy="4210049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622138"/>
            <a:ext cx="4439270" cy="250542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13284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549900" y="6022336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186839609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(2)?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/>
              <a:t>2</a:t>
            </a:r>
            <a:r>
              <a:rPr lang="de-DE" b="1" smtClean="0"/>
              <a:t>. Ziel ist es die Lichtstärke zu regeln und entsprechende Messwerte des LDR‘s auszulesen.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 rotWithShape="1">
          <a:blip r:embed="rId3"/>
          <a:srcRect l="43014"/>
          <a:stretch/>
        </p:blipFill>
        <p:spPr>
          <a:xfrm>
            <a:off x="5676900" y="2222500"/>
            <a:ext cx="3406144" cy="3815315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622138"/>
            <a:ext cx="4439270" cy="250542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132847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676900" y="6037815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105664301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(3)?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 smtClean="0"/>
              <a:t>3. Ziel ist es die Lichtstärke zu regeln und entsprechende Messwerte des LDR‘s auf einem Bildschirm auszugeben.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 rotWithShape="1">
          <a:blip r:embed="rId3"/>
          <a:srcRect l="32130"/>
          <a:stretch/>
        </p:blipFill>
        <p:spPr>
          <a:xfrm>
            <a:off x="4229100" y="2142000"/>
            <a:ext cx="7090440" cy="381600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443353"/>
            <a:ext cx="3511550" cy="321329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229100" y="5973830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656646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335729566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Wie wird </a:t>
            </a:r>
            <a:r>
              <a:rPr lang="de-DE" b="1" smtClean="0"/>
              <a:t>ein LDR </a:t>
            </a:r>
            <a:r>
              <a:rPr lang="de-DE" b="1"/>
              <a:t>verschaltet </a:t>
            </a:r>
            <a:r>
              <a:rPr lang="de-DE" b="1" smtClean="0"/>
              <a:t>und programmiert (3)?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br>
              <a:rPr lang="de-DE" b="1" smtClean="0"/>
            </a:br>
            <a:r>
              <a:rPr lang="de-DE" b="1"/>
              <a:t/>
            </a:r>
            <a:br>
              <a:rPr lang="de-DE" b="1"/>
            </a:br>
            <a:r>
              <a:rPr lang="de-DE" b="1"/>
              <a:t>3. Ziel ist es die Lichtstärke zu regeln und entsprechende Messwerte des LDR‘s auf einem Bildschirm auszugeben.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11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 rotWithShape="1">
          <a:blip r:embed="rId3"/>
          <a:srcRect l="32045"/>
          <a:stretch/>
        </p:blipFill>
        <p:spPr>
          <a:xfrm>
            <a:off x="4216400" y="2142682"/>
            <a:ext cx="7113707" cy="381600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2454715"/>
            <a:ext cx="3498850" cy="319193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229100" y="5973830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17550" y="5646648"/>
            <a:ext cx="27583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370525540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14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935055" cy="6858000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Nächste Schritte</a:t>
            </a:r>
            <a:endParaRPr lang="de-DE" sz="4800" b="1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961" y="990600"/>
            <a:ext cx="4876800" cy="4876800"/>
          </a:xfrm>
          <a:prstGeom prst="rect">
            <a:avLst/>
          </a:prstGeom>
        </p:spPr>
      </p:pic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205785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15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Du möchtest nun wissen wie Messwerte gespeichert werden?</a:t>
            </a:r>
            <a:endParaRPr lang="de-DE" b="1" dirty="0"/>
          </a:p>
        </p:txBody>
      </p:sp>
      <p:sp>
        <p:nvSpPr>
          <p:cNvPr id="2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7" name="Textfeld 6"/>
          <p:cNvSpPr txBox="1"/>
          <p:nvPr/>
        </p:nvSpPr>
        <p:spPr>
          <a:xfrm>
            <a:off x="717550" y="5612416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Dann fahre mit der folgenden Einheit fort: </a:t>
            </a:r>
          </a:p>
          <a:p>
            <a:pPr algn="ctr"/>
            <a:r>
              <a:rPr lang="de-DE" b="1" smtClean="0"/>
              <a:t>2.5_Messwerte_speichern</a:t>
            </a:r>
            <a:endParaRPr lang="de-DE" b="1" smtClean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9" y="922208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269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870" y="3379869"/>
            <a:ext cx="11186808" cy="1783223"/>
          </a:xfrm>
        </p:spPr>
        <p:txBody>
          <a:bodyPr/>
          <a:lstStyle/>
          <a:p>
            <a:pPr algn="ctr"/>
            <a:r>
              <a:rPr lang="en-US" sz="3600" b="1" dirty="0" err="1"/>
              <a:t>Vielen</a:t>
            </a:r>
            <a:r>
              <a:rPr lang="en-US" sz="3600" b="1" dirty="0"/>
              <a:t> Dank für die </a:t>
            </a:r>
            <a:r>
              <a:rPr lang="en-US" sz="3600" b="1" dirty="0" err="1"/>
              <a:t>Aufmerksamkeit</a:t>
            </a:r>
            <a:r>
              <a:rPr lang="en-US" sz="3600" b="1" dirty="0"/>
              <a:t>!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1986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HTWK_Praesentation_16-9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8501C412-F393-B646-9B96-1DF6D2826D91}"/>
    </a:ext>
  </a:extLst>
</a:theme>
</file>

<file path=ppt/theme/theme2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3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4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5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DA79B272C4D3C4887957B2C2A69604C" ma:contentTypeVersion="2" ma:contentTypeDescription="Ein neues Dokument erstellen." ma:contentTypeScope="" ma:versionID="a8f11939e8f693b5e60eead0cd42f230">
  <xsd:schema xmlns:xsd="http://www.w3.org/2001/XMLSchema" xmlns:xs="http://www.w3.org/2001/XMLSchema" xmlns:p="http://schemas.microsoft.com/office/2006/metadata/properties" xmlns:ns2="99f41258-1f02-46b6-b230-447d6494c4cb" targetNamespace="http://schemas.microsoft.com/office/2006/metadata/properties" ma:root="true" ma:fieldsID="be05fa88f11a9855f776efdf4611a3d7" ns2:_="">
    <xsd:import namespace="99f41258-1f02-46b6-b230-447d6494c4c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f41258-1f02-46b6-b230-447d6494c4c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F333B2F-1563-4DC4-B635-64824C2FC3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9f41258-1f02-46b6-b230-447d6494c4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9AF071-B304-4F0F-8459-AC4D742E5C60}">
  <ds:schemaRefs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openxmlformats.org/package/2006/metadata/core-properties"/>
    <ds:schemaRef ds:uri="99f41258-1f02-46b6-b230-447d6494c4cb"/>
    <ds:schemaRef ds:uri="http://schemas.microsoft.com/office/2006/metadata/properties"/>
    <ds:schemaRef ds:uri="http://schemas.microsoft.com/office/infopath/2007/PartnerControl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E15DEB7-8D29-4EC4-857C-8778EFE709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801</Words>
  <Application>Microsoft Office PowerPoint</Application>
  <PresentationFormat>Breitbild</PresentationFormat>
  <Paragraphs>112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16</vt:i4>
      </vt:variant>
    </vt:vector>
  </HeadingPairs>
  <TitlesOfParts>
    <vt:vector size="25" baseType="lpstr">
      <vt:lpstr>Arial</vt:lpstr>
      <vt:lpstr>Calibri</vt:lpstr>
      <vt:lpstr>Wingdings</vt:lpstr>
      <vt:lpstr>Work Sans</vt:lpstr>
      <vt:lpstr>HTWK_Praesentation_16-9</vt:lpstr>
      <vt:lpstr>HTWK Magenta</vt:lpstr>
      <vt:lpstr>HTWK Grün</vt:lpstr>
      <vt:lpstr>HTWK Cyan</vt:lpstr>
      <vt:lpstr>HTWK Blau</vt:lpstr>
      <vt:lpstr>LDR in Wokwi Simulation einer Lichtmessung</vt:lpstr>
      <vt:lpstr>Funktionsweise</vt:lpstr>
      <vt:lpstr>Wie funktioniert ein LDR? </vt:lpstr>
      <vt:lpstr>Wie funktioniert ein LDR?  Lösung: </vt:lpstr>
      <vt:lpstr>Wie funktioniert Wokwi? (1)</vt:lpstr>
      <vt:lpstr>Wie funktioniert Wokwi? (1)  Lösung: </vt:lpstr>
      <vt:lpstr>Simulation LDR</vt:lpstr>
      <vt:lpstr>Wie wird ein LDR verschaltet und programmiert (1)?   1. Ziel ist es die Messwerte des LDR‘s auszulesen.</vt:lpstr>
      <vt:lpstr>Wie wird ein LDR verschaltet und programmiert (1)?  Lösung:  1. Ziel ist es die Messwerte des LDR‘s auszulesen.</vt:lpstr>
      <vt:lpstr>Wie wird ein LDR verschaltet und programmiert (2)?   2. Ziel ist es die Lichtstärke zu regeln und entsprechende Messwerte des LDR‘s auszulesen.</vt:lpstr>
      <vt:lpstr>Wie wird ein LDR verschaltet und programmiert (2)?  Lösung:   2. Ziel ist es die Lichtstärke zu regeln und entsprechende Messwerte des LDR‘s auszulesen.</vt:lpstr>
      <vt:lpstr>Wie wird ein LDR verschaltet und programmiert (3)?   3. Ziel ist es die Lichtstärke zu regeln und entsprechende Messwerte des LDR‘s auf einem Bildschirm auszugeben.</vt:lpstr>
      <vt:lpstr>Wie wird ein LDR verschaltet und programmiert (3)?  Lösung:   3. Ziel ist es die Lichtstärke zu regeln und entsprechende Messwerte des LDR‘s auf einem Bildschirm auszugeben.</vt:lpstr>
      <vt:lpstr>Nächste Schritte</vt:lpstr>
      <vt:lpstr>Du möchtest nun wissen wie Messwerte gespeichert werden?</vt:lpstr>
      <vt:lpstr>Vielen Dank für die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Richter, Elena</cp:lastModifiedBy>
  <cp:revision>330</cp:revision>
  <dcterms:created xsi:type="dcterms:W3CDTF">2019-01-10T16:04:56Z</dcterms:created>
  <dcterms:modified xsi:type="dcterms:W3CDTF">2026-04-13T08:30:44Z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0x0101005DA79B272C4D3C4887957B2C2A69604C</vt:lpwstr>
  </property>
</Properties>
</file>