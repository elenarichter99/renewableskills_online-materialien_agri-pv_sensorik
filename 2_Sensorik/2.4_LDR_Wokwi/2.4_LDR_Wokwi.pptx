
<file path=[Content_Types].xml><?xml version="1.0" encoding="utf-8"?>
<Types xmlns="http://schemas.openxmlformats.org/package/2006/content-types">
  <Default Extension="png" ContentType="image/png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tiff" ContentType="image/tiff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4.xml" ContentType="application/vnd.openxmlformats-officedocument.them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3" r:id="rId5"/>
    <p:sldMasterId id="2147483678" r:id="rId6"/>
    <p:sldMasterId id="2147483688" r:id="rId7"/>
    <p:sldMasterId id="2147483693" r:id="rId8"/>
  </p:sldMasterIdLst>
  <p:notesMasterIdLst>
    <p:notesMasterId r:id="rId25"/>
  </p:notesMasterIdLst>
  <p:sldIdLst>
    <p:sldId id="416" r:id="rId9"/>
    <p:sldId id="433" r:id="rId10"/>
    <p:sldId id="392" r:id="rId11"/>
    <p:sldId id="419" r:id="rId12"/>
    <p:sldId id="422" r:id="rId13"/>
    <p:sldId id="423" r:id="rId14"/>
    <p:sldId id="424" r:id="rId15"/>
    <p:sldId id="425" r:id="rId16"/>
    <p:sldId id="426" r:id="rId17"/>
    <p:sldId id="427" r:id="rId18"/>
    <p:sldId id="428" r:id="rId19"/>
    <p:sldId id="429" r:id="rId20"/>
    <p:sldId id="430" r:id="rId21"/>
    <p:sldId id="431" r:id="rId22"/>
    <p:sldId id="432" r:id="rId23"/>
    <p:sldId id="415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867" userDrawn="1">
          <p15:clr>
            <a:srgbClr val="A4A3A4"/>
          </p15:clr>
        </p15:guide>
        <p15:guide id="4" orient="horz" pos="229" userDrawn="1">
          <p15:clr>
            <a:srgbClr val="A4A3A4"/>
          </p15:clr>
        </p15:guide>
        <p15:guide id="5" orient="horz" pos="680" userDrawn="1">
          <p15:clr>
            <a:srgbClr val="A4A3A4"/>
          </p15:clr>
        </p15:guide>
        <p15:guide id="6" orient="horz" pos="914" userDrawn="1">
          <p15:clr>
            <a:srgbClr val="A4A3A4"/>
          </p15:clr>
        </p15:guide>
        <p15:guide id="7" orient="horz" pos="4121" userDrawn="1">
          <p15:clr>
            <a:srgbClr val="A4A3A4"/>
          </p15:clr>
        </p15:guide>
        <p15:guide id="8" orient="horz" pos="945" userDrawn="1">
          <p15:clr>
            <a:srgbClr val="A4A3A4"/>
          </p15:clr>
        </p15:guide>
        <p15:guide id="9" pos="452" userDrawn="1">
          <p15:clr>
            <a:srgbClr val="A4A3A4"/>
          </p15:clr>
        </p15:guide>
        <p15:guide id="10" pos="7231" userDrawn="1">
          <p15:clr>
            <a:srgbClr val="A4A3A4"/>
          </p15:clr>
        </p15:guide>
        <p15:guide id="11" pos="3932" userDrawn="1">
          <p15:clr>
            <a:srgbClr val="A4A3A4"/>
          </p15:clr>
        </p15:guide>
        <p15:guide id="12" pos="374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ichter, Elena" initials="RE" lastIdx="1" clrIdx="0">
    <p:extLst>
      <p:ext uri="{19B8F6BF-5375-455C-9EA6-DF929625EA0E}">
        <p15:presenceInfo xmlns:p15="http://schemas.microsoft.com/office/powerpoint/2012/main" userId="S-1-5-21-2252779649-2432209404-4072682936-2848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613"/>
    <a:srgbClr val="E6AF00"/>
    <a:srgbClr val="FF7373"/>
    <a:srgbClr val="AAC9B2"/>
    <a:srgbClr val="00964E"/>
    <a:srgbClr val="F5B5B5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Designformatvorlage 1 - Akz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0465" autoAdjust="0"/>
  </p:normalViewPr>
  <p:slideViewPr>
    <p:cSldViewPr snapToGrid="0" showGuides="1">
      <p:cViewPr varScale="1">
        <p:scale>
          <a:sx n="66" d="100"/>
          <a:sy n="66" d="100"/>
        </p:scale>
        <p:origin x="894" y="72"/>
      </p:cViewPr>
      <p:guideLst>
        <p:guide orient="horz" pos="2160"/>
        <p:guide pos="3840"/>
        <p:guide orient="horz" pos="3867"/>
        <p:guide orient="horz" pos="229"/>
        <p:guide orient="horz" pos="680"/>
        <p:guide orient="horz" pos="914"/>
        <p:guide orient="horz" pos="4121"/>
        <p:guide orient="horz" pos="945"/>
        <p:guide pos="452"/>
        <p:guide pos="7231"/>
        <p:guide pos="3932"/>
        <p:guide pos="3748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slide" Target="slides/slide1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viewProps" Target="viewProps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8B6593-098D-4382-9647-35487FA190B4}" type="datetimeFigureOut">
              <a:rPr lang="de-DE" smtClean="0"/>
              <a:t>14.04.2026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03A5D1-80BE-4AF1-A18B-8D2CA75BFDA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26543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89912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7929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53831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87953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30566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34207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4100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mtClean="0"/>
              <a:t>Skript: LDR_1_2_Luecken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45483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mtClean="0"/>
              <a:t>Skript: LDR_1_2</a:t>
            </a:r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36253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mtClean="0"/>
              <a:t>Skript: LDR_1_2</a:t>
            </a:r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54272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mtClean="0"/>
              <a:t>Skript: LDR_1_2</a:t>
            </a:r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40644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mtClean="0"/>
              <a:t>Skript: LDR_3_Luecken</a:t>
            </a:r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35186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mtClean="0"/>
              <a:t>Skript: LDR_3</a:t>
            </a:r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89451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97188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>
              <a:sym typeface="Wingdings" panose="05000000000000000000" pitchFamily="2" charset="2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57650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03304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5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5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 smtClean="0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 smtClean="0"/>
              <a:t>Bild auf Platzhalter ziehen oder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575106C-3CD7-FE4D-97C8-190DE4ECDEC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470EED4F-3BF2-0241-A831-A9A96AFFE9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5705" y="1498600"/>
            <a:ext cx="864000" cy="2804400"/>
          </a:xfrm>
          <a:solidFill>
            <a:schemeClr val="accent1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EAAA6AD5-C75F-0846-B79B-823B288EFFD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2295" y="1510821"/>
            <a:ext cx="864000" cy="2804400"/>
          </a:xfrm>
          <a:solidFill>
            <a:schemeClr val="accent1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404069422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77943244-8079-C343-9249-D13695A8447F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3004A059-65DF-B340-AD61-079AA36765F4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488F6906-E0DF-3A4F-A375-7B9D3F4EA13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6000" y="225000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 smtClean="0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3479D9D2-52F2-0247-AF3C-3AA30091C9A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40836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65258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 smtClean="0"/>
              <a:t>Mastertextformat bearbeiten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3252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 smtClean="0"/>
              <a:t>Mastertextformat bearbeiten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 smtClean="0"/>
              <a:t>Bild auf Platzhalter ziehen oder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19583798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3869C99-C634-47CD-B208-CB16ACE119EE}" type="slidenum">
              <a:rPr lang="de-DE"/>
              <a:pPr/>
              <a:t>‹Nr.›</a:t>
            </a:fld>
            <a:endParaRPr lang="de-DE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2" hasCustomPrompt="1"/>
          </p:nvPr>
        </p:nvSpPr>
        <p:spPr>
          <a:xfrm>
            <a:off x="480000" y="360000"/>
            <a:ext cx="8803200" cy="360000"/>
          </a:xfrm>
        </p:spPr>
        <p:txBody>
          <a:bodyPr tIns="72000"/>
          <a:lstStyle>
            <a:lvl1pPr>
              <a:defRPr sz="1000" b="1"/>
            </a:lvl1pPr>
            <a:lvl2pPr>
              <a:defRPr sz="1000" b="1"/>
            </a:lvl2pPr>
            <a:lvl3pPr>
              <a:defRPr sz="1000" b="1"/>
            </a:lvl3pPr>
            <a:lvl4pPr>
              <a:defRPr sz="1000" b="1"/>
            </a:lvl4pPr>
            <a:lvl5pPr>
              <a:defRPr sz="1000" b="1"/>
            </a:lvl5pPr>
          </a:lstStyle>
          <a:p>
            <a:pPr lvl="0"/>
            <a:r>
              <a:rPr lang="de-DE" dirty="0"/>
              <a:t>Hier steht das Thema oder das Kapitel</a:t>
            </a:r>
          </a:p>
        </p:txBody>
      </p:sp>
    </p:spTree>
    <p:extLst>
      <p:ext uri="{BB962C8B-B14F-4D97-AF65-F5344CB8AC3E}">
        <p14:creationId xmlns:p14="http://schemas.microsoft.com/office/powerpoint/2010/main" val="863682870"/>
      </p:ext>
    </p:extLst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6AC28FB-499D-1849-BB5A-4F591E328D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F2D1C116-76C7-2248-9B28-093803C439D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0295" y="1497600"/>
            <a:ext cx="864000" cy="2804400"/>
          </a:xfrm>
          <a:solidFill>
            <a:schemeClr val="accent2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357D0EB7-C39F-6D4A-A3C7-303DC7C8CC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27705" y="1497600"/>
            <a:ext cx="864000" cy="2804400"/>
          </a:xfrm>
          <a:solidFill>
            <a:schemeClr val="accent2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26614562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42174EAA-6533-1245-B1A2-E6E16AF28528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  <a:solidFill>
            <a:schemeClr val="accent2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DA5B3661-9CFB-FB40-B406-C44AAF2F6672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6CE9E062-1775-864A-90AB-4D742F8105B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997D15C1-C7AC-7A4D-8A57-9FDCE7B970D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40836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0063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7241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3886932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A622DFD-BA6C-284F-9623-ED074C94A27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F3E97099-16DC-FB42-BC6A-1770FEA02C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5579" y="1497600"/>
            <a:ext cx="864000" cy="2804400"/>
          </a:xfrm>
          <a:solidFill>
            <a:schemeClr val="accent3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A25C51E1-4750-2945-85F5-2DB74E12410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2421" y="1497600"/>
            <a:ext cx="864000" cy="2804400"/>
          </a:xfrm>
          <a:solidFill>
            <a:schemeClr val="accent3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413082249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D9301872-D993-6045-BA77-C2A4043FA6B1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  <a:solidFill>
            <a:schemeClr val="accent3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C774AA1D-ECDF-CB41-A570-3B4444D2BBF9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F9149E62-8F23-A64A-AB86-461836AFA42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CE926752-3C17-B642-9FCE-11E041587E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26706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04221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7076564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942C24D-DF7B-5744-BA14-C2D4B5049F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E29E83A8-566C-B64B-BC0B-C9D0D2A3F37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4211" y="1497600"/>
            <a:ext cx="864000" cy="2804400"/>
          </a:xfrm>
          <a:solidFill>
            <a:schemeClr val="accent5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5B73649C-D81F-1743-8227-99DDA6EF1F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23789" y="1497600"/>
            <a:ext cx="864000" cy="2804400"/>
          </a:xfrm>
          <a:solidFill>
            <a:schemeClr val="accent5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83602339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B30AFB43-4D8B-DB47-8F90-D120B798617A}"/>
              </a:ext>
            </a:extLst>
          </p:cNvPr>
          <p:cNvGrpSpPr/>
          <p:nvPr userDrawn="1"/>
        </p:nvGrpSpPr>
        <p:grpSpPr>
          <a:xfrm>
            <a:off x="1975200" y="1069975"/>
            <a:ext cx="8243887" cy="5788025"/>
            <a:chOff x="455613" y="533400"/>
            <a:chExt cx="8243887" cy="5788025"/>
          </a:xfrm>
          <a:solidFill>
            <a:schemeClr val="accent5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36734F59-8635-D44A-BA87-6B7074A8EE33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5E062F0B-6D27-F54A-90C2-2339910483A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30BE5F75-8B1B-6A4C-B19E-CA01BCB614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38426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30272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81845918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F187481-CEE0-E244-8D19-C6D3BF17E1D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8F3AA80C-8F3E-4448-BA17-C530AE93C3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08505" y="1497600"/>
            <a:ext cx="864000" cy="2804400"/>
          </a:xfrm>
          <a:solidFill>
            <a:schemeClr val="accent6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A7EA0E5A-7CE1-B542-A43B-F1A4A933F3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919495" y="1485648"/>
            <a:ext cx="864000" cy="2804400"/>
          </a:xfrm>
          <a:solidFill>
            <a:schemeClr val="accent6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91635854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FA1D36DE-01A5-9342-ADB5-21326DEA0306}"/>
              </a:ext>
            </a:extLst>
          </p:cNvPr>
          <p:cNvGrpSpPr/>
          <p:nvPr userDrawn="1"/>
        </p:nvGrpSpPr>
        <p:grpSpPr>
          <a:xfrm>
            <a:off x="1975200" y="1069975"/>
            <a:ext cx="8243887" cy="5788025"/>
            <a:chOff x="455613" y="533400"/>
            <a:chExt cx="8243887" cy="5788025"/>
          </a:xfrm>
          <a:solidFill>
            <a:schemeClr val="accent6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D258094-06EC-7A4A-A554-EFD3FBB518A4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432C1932-A302-9D42-981A-17F9E3A1707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7DCCB39A-DB2B-5543-8C44-8F9D49BAEA9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24105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823165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5820127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w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.wmf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.wmf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1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.w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7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.wmf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22EEA21B-970F-3640-8788-C21A9CC415C6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809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4" r:id="rId4"/>
    <p:sldLayoutId id="2147483699" r:id="rId5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1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31321676-94A1-7044-A81A-D8AF84667CD5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42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1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39AA27C4-5879-AA48-9BFE-A4EA45310329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355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5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7E49E5BC-3D57-D44A-B305-C0E3893B5411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425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946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6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60324984-8636-8D46-ADB9-D5CB3101D43E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108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F0FFBE0-85A9-954B-8F08-379997260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4276" y="318185"/>
            <a:ext cx="1961041" cy="554182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EFFC43F-6DA3-1A1D-6175-58D40ACE97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6857999"/>
          </a:xfrm>
        </p:spPr>
        <p:txBody>
          <a:bodyPr anchor="ctr"/>
          <a:lstStyle/>
          <a:p>
            <a:pPr algn="ctr"/>
            <a:r>
              <a:rPr lang="en-US" sz="9600" b="1"/>
              <a:t>LDR in Wokwi</a:t>
            </a:r>
            <a:br>
              <a:rPr lang="en-US" sz="9600" b="1"/>
            </a:br>
            <a:r>
              <a:rPr lang="de-DE" sz="4800"/>
              <a:t>Simulation einer Lichtmessung</a:t>
            </a:r>
            <a:endParaRPr lang="en-US" sz="4800" b="1" dirty="0"/>
          </a:p>
        </p:txBody>
      </p:sp>
    </p:spTree>
    <p:extLst>
      <p:ext uri="{BB962C8B-B14F-4D97-AF65-F5344CB8AC3E}">
        <p14:creationId xmlns:p14="http://schemas.microsoft.com/office/powerpoint/2010/main" val="3482267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875" y="775392"/>
            <a:ext cx="5307216" cy="530721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3840" y="0"/>
            <a:ext cx="5598159" cy="6858000"/>
          </a:xfrm>
        </p:spPr>
        <p:txBody>
          <a:bodyPr anchor="ctr">
            <a:normAutofit/>
          </a:bodyPr>
          <a:lstStyle/>
          <a:p>
            <a:pPr algn="l"/>
            <a:r>
              <a:rPr lang="de-DE" sz="4800" b="1" smtClean="0"/>
              <a:t>Funktionsweise</a:t>
            </a:r>
            <a:endParaRPr lang="de-DE" sz="4800" b="1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2E2EBB-E035-44E5-E10B-431C8375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</a:t>
            </a:fld>
            <a:endParaRPr lang="de-DE" dirty="0"/>
          </a:p>
        </p:txBody>
      </p:sp>
      <p:sp>
        <p:nvSpPr>
          <p:cNvPr id="7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639216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bgerundetes Rechteck 14"/>
          <p:cNvSpPr/>
          <p:nvPr/>
        </p:nvSpPr>
        <p:spPr>
          <a:xfrm>
            <a:off x="717548" y="1700077"/>
            <a:ext cx="10321754" cy="75880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3</a:t>
            </a:fld>
            <a:endParaRPr lang="de-DE"/>
          </a:p>
        </p:txBody>
      </p:sp>
      <p:sp>
        <p:nvSpPr>
          <p:cNvPr id="8" name="Inhaltsplatzhalter 2"/>
          <p:cNvSpPr txBox="1">
            <a:spLocks/>
          </p:cNvSpPr>
          <p:nvPr/>
        </p:nvSpPr>
        <p:spPr>
          <a:xfrm>
            <a:off x="717548" y="1944852"/>
            <a:ext cx="6531149" cy="538968"/>
          </a:xfrm>
          <a:prstGeom prst="rect">
            <a:avLst/>
          </a:prstGeom>
          <a:noFill/>
          <a:ln>
            <a:noFill/>
          </a:ln>
        </p:spPr>
        <p:txBody>
          <a:bodyPr vert="horz" lIns="18000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b="0" smtClean="0"/>
              <a:t>LDR (Light Dependent Resistor) = ____________ Widerstand:</a:t>
            </a:r>
            <a:br>
              <a:rPr lang="de-DE" b="0" smtClean="0"/>
            </a:br>
            <a:endParaRPr lang="de-DE" b="0"/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/>
              <a:t>Wie funktioniert ein </a:t>
            </a:r>
            <a:r>
              <a:rPr lang="de-DE" b="1" smtClean="0"/>
              <a:t>LDR? </a:t>
            </a:r>
            <a:endParaRPr lang="de-DE" b="1" dirty="0"/>
          </a:p>
        </p:txBody>
      </p:sp>
      <p:sp>
        <p:nvSpPr>
          <p:cNvPr id="13" name="Inhaltsplatzhalter 2"/>
          <p:cNvSpPr>
            <a:spLocks noGrp="1"/>
          </p:cNvSpPr>
          <p:nvPr>
            <p:ph idx="1"/>
          </p:nvPr>
        </p:nvSpPr>
        <p:spPr>
          <a:xfrm>
            <a:off x="4594243" y="3153104"/>
            <a:ext cx="4850784" cy="2424063"/>
          </a:xfrm>
          <a:noFill/>
          <a:ln>
            <a:noFill/>
          </a:ln>
        </p:spPr>
        <p:txBody>
          <a:bodyPr lIns="180000">
            <a:noAutofit/>
          </a:bodyPr>
          <a:lstStyle/>
          <a:p>
            <a:pPr marL="0" indent="0" algn="ctr">
              <a:buNone/>
            </a:pPr>
            <a:r>
              <a:rPr lang="de-DE" b="0" smtClean="0"/>
              <a:t>Licht besteht aus Photonen. </a:t>
            </a:r>
          </a:p>
          <a:p>
            <a:pPr marL="0" indent="0" algn="ctr">
              <a:buNone/>
            </a:pPr>
            <a:endParaRPr lang="de-DE" b="0" smtClean="0"/>
          </a:p>
          <a:p>
            <a:pPr marL="0" indent="0" algn="ctr">
              <a:buNone/>
            </a:pPr>
            <a:r>
              <a:rPr lang="de-DE" b="0" smtClean="0"/>
              <a:t>Photonen treffen auf LDR und geben _______ an Eletronen ab.</a:t>
            </a:r>
          </a:p>
          <a:p>
            <a:pPr marL="0" indent="0" algn="ctr">
              <a:buNone/>
            </a:pPr>
            <a:endParaRPr lang="de-DE" b="0" smtClean="0"/>
          </a:p>
          <a:p>
            <a:pPr marL="0" indent="0" algn="ctr">
              <a:buNone/>
            </a:pPr>
            <a:r>
              <a:rPr lang="de-DE" b="0" smtClean="0"/>
              <a:t>Dies führt zu einer _______ Leifähigkeit, </a:t>
            </a:r>
          </a:p>
          <a:p>
            <a:pPr marL="0" indent="0" algn="ctr">
              <a:buNone/>
            </a:pPr>
            <a:r>
              <a:rPr lang="de-DE" b="0"/>
              <a:t>w</a:t>
            </a:r>
            <a:r>
              <a:rPr lang="de-DE" b="0" smtClean="0"/>
              <a:t>as wiederum in einem _________ Widerstand resultiert. </a:t>
            </a:r>
            <a:r>
              <a:rPr lang="de-DE" sz="1800" b="0"/>
              <a:t/>
            </a:r>
            <a:br>
              <a:rPr lang="de-DE" sz="1800" b="0"/>
            </a:br>
            <a:endParaRPr lang="de-DE" sz="1800" b="0"/>
          </a:p>
        </p:txBody>
      </p:sp>
      <p:sp>
        <p:nvSpPr>
          <p:cNvPr id="16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sp>
        <p:nvSpPr>
          <p:cNvPr id="11" name="Inhaltsplatzhalter 2"/>
          <p:cNvSpPr txBox="1">
            <a:spLocks/>
          </p:cNvSpPr>
          <p:nvPr/>
        </p:nvSpPr>
        <p:spPr>
          <a:xfrm>
            <a:off x="7392072" y="1803353"/>
            <a:ext cx="4090689" cy="538968"/>
          </a:xfrm>
          <a:prstGeom prst="rect">
            <a:avLst/>
          </a:prstGeom>
          <a:noFill/>
          <a:ln>
            <a:noFill/>
          </a:ln>
        </p:spPr>
        <p:txBody>
          <a:bodyPr vert="horz" lIns="18000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b="0"/>
              <a:t>v</a:t>
            </a:r>
            <a:r>
              <a:rPr lang="de-DE" b="0" smtClean="0"/>
              <a:t>iel Licht     </a:t>
            </a:r>
            <a:r>
              <a:rPr lang="de-DE" b="0" smtClean="0">
                <a:sym typeface="Wingdings" panose="05000000000000000000" pitchFamily="2" charset="2"/>
              </a:rPr>
              <a:t> _____ Widerstand</a:t>
            </a:r>
          </a:p>
          <a:p>
            <a:r>
              <a:rPr lang="de-DE" b="0">
                <a:sym typeface="Wingdings" panose="05000000000000000000" pitchFamily="2" charset="2"/>
              </a:rPr>
              <a:t>w</a:t>
            </a:r>
            <a:r>
              <a:rPr lang="de-DE" b="0" smtClean="0">
                <a:sym typeface="Wingdings" panose="05000000000000000000" pitchFamily="2" charset="2"/>
              </a:rPr>
              <a:t>enig Licht  _____ Widerstand</a:t>
            </a:r>
            <a:r>
              <a:rPr lang="de-DE" b="0" smtClean="0"/>
              <a:t/>
            </a:r>
            <a:br>
              <a:rPr lang="de-DE" b="0" smtClean="0"/>
            </a:br>
            <a:endParaRPr lang="de-DE" b="0"/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7609" y="2714397"/>
            <a:ext cx="3301479" cy="3301479"/>
          </a:xfrm>
          <a:prstGeom prst="rect">
            <a:avLst/>
          </a:prstGeom>
        </p:spPr>
      </p:pic>
      <p:sp>
        <p:nvSpPr>
          <p:cNvPr id="17" name="Inhaltsplatzhalter 2"/>
          <p:cNvSpPr txBox="1">
            <a:spLocks/>
          </p:cNvSpPr>
          <p:nvPr/>
        </p:nvSpPr>
        <p:spPr>
          <a:xfrm>
            <a:off x="457977" y="1087501"/>
            <a:ext cx="10456634" cy="357059"/>
          </a:xfrm>
          <a:prstGeom prst="rect">
            <a:avLst/>
          </a:prstGeom>
          <a:noFill/>
          <a:ln>
            <a:noFill/>
          </a:ln>
        </p:spPr>
        <p:txBody>
          <a:bodyPr vert="horz" lIns="18000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b="0" smtClean="0"/>
              <a:t>Gemessen wird die Spannung, die vom _________ abhängt.</a:t>
            </a:r>
          </a:p>
          <a:p>
            <a:pPr algn="ctr"/>
            <a:r>
              <a:rPr lang="de-DE" b="0" smtClean="0"/>
              <a:t/>
            </a:r>
            <a:br>
              <a:rPr lang="de-DE" b="0" smtClean="0"/>
            </a:br>
            <a:endParaRPr lang="de-DE" b="0"/>
          </a:p>
        </p:txBody>
      </p:sp>
    </p:spTree>
    <p:extLst>
      <p:ext uri="{BB962C8B-B14F-4D97-AF65-F5344CB8AC3E}">
        <p14:creationId xmlns:p14="http://schemas.microsoft.com/office/powerpoint/2010/main" val="603483655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bgerundetes Rechteck 14"/>
          <p:cNvSpPr/>
          <p:nvPr/>
        </p:nvSpPr>
        <p:spPr>
          <a:xfrm>
            <a:off x="717548" y="1700077"/>
            <a:ext cx="10321754" cy="75880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4</a:t>
            </a:fld>
            <a:endParaRPr lang="de-DE"/>
          </a:p>
        </p:txBody>
      </p:sp>
      <p:sp>
        <p:nvSpPr>
          <p:cNvPr id="8" name="Inhaltsplatzhalter 2"/>
          <p:cNvSpPr txBox="1">
            <a:spLocks/>
          </p:cNvSpPr>
          <p:nvPr/>
        </p:nvSpPr>
        <p:spPr>
          <a:xfrm>
            <a:off x="717548" y="1944852"/>
            <a:ext cx="6531149" cy="538968"/>
          </a:xfrm>
          <a:prstGeom prst="rect">
            <a:avLst/>
          </a:prstGeom>
          <a:noFill/>
          <a:ln>
            <a:noFill/>
          </a:ln>
        </p:spPr>
        <p:txBody>
          <a:bodyPr vert="horz" lIns="18000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b="0" smtClean="0"/>
              <a:t>LDR (Light Dependent Resistor) = lichtabhängiger Widerstand:</a:t>
            </a:r>
            <a:br>
              <a:rPr lang="de-DE" b="0" smtClean="0"/>
            </a:br>
            <a:endParaRPr lang="de-DE" b="0"/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/>
              <a:t>Wie funktioniert ein </a:t>
            </a:r>
            <a:r>
              <a:rPr lang="de-DE" b="1" smtClean="0"/>
              <a:t>LDR?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r>
              <a:rPr lang="de-DE" b="1" smtClean="0"/>
              <a:t> </a:t>
            </a:r>
            <a:endParaRPr lang="de-DE" b="1" dirty="0"/>
          </a:p>
        </p:txBody>
      </p:sp>
      <p:sp>
        <p:nvSpPr>
          <p:cNvPr id="13" name="Inhaltsplatzhalter 2"/>
          <p:cNvSpPr>
            <a:spLocks noGrp="1"/>
          </p:cNvSpPr>
          <p:nvPr>
            <p:ph idx="1"/>
          </p:nvPr>
        </p:nvSpPr>
        <p:spPr>
          <a:xfrm>
            <a:off x="4594243" y="3153104"/>
            <a:ext cx="4850784" cy="2424063"/>
          </a:xfrm>
          <a:noFill/>
          <a:ln>
            <a:noFill/>
          </a:ln>
        </p:spPr>
        <p:txBody>
          <a:bodyPr lIns="180000">
            <a:noAutofit/>
          </a:bodyPr>
          <a:lstStyle/>
          <a:p>
            <a:pPr marL="0" indent="0" algn="ctr">
              <a:buNone/>
            </a:pPr>
            <a:r>
              <a:rPr lang="de-DE" b="0" smtClean="0"/>
              <a:t>Licht besteht aus Photonen. </a:t>
            </a:r>
          </a:p>
          <a:p>
            <a:pPr marL="0" indent="0" algn="ctr">
              <a:buNone/>
            </a:pPr>
            <a:endParaRPr lang="de-DE" b="0" smtClean="0"/>
          </a:p>
          <a:p>
            <a:pPr marL="0" indent="0" algn="ctr">
              <a:buNone/>
            </a:pPr>
            <a:r>
              <a:rPr lang="de-DE" b="0" smtClean="0"/>
              <a:t>Photonen treffen auf LDR und geben Energie an Eletronen ab.</a:t>
            </a:r>
          </a:p>
          <a:p>
            <a:pPr marL="0" indent="0" algn="ctr">
              <a:buNone/>
            </a:pPr>
            <a:endParaRPr lang="de-DE" b="0" smtClean="0"/>
          </a:p>
          <a:p>
            <a:pPr marL="0" indent="0" algn="ctr">
              <a:buNone/>
            </a:pPr>
            <a:r>
              <a:rPr lang="de-DE" b="0" smtClean="0"/>
              <a:t>Dies führt zu einer höheren Leifähigkeit, </a:t>
            </a:r>
          </a:p>
          <a:p>
            <a:pPr marL="0" indent="0" algn="ctr">
              <a:buNone/>
            </a:pPr>
            <a:r>
              <a:rPr lang="de-DE" b="0"/>
              <a:t>w</a:t>
            </a:r>
            <a:r>
              <a:rPr lang="de-DE" b="0" smtClean="0"/>
              <a:t>as wiederum in einem geringeren Widerstand resultiert. </a:t>
            </a:r>
            <a:r>
              <a:rPr lang="de-DE" sz="1800" b="0"/>
              <a:t/>
            </a:r>
            <a:br>
              <a:rPr lang="de-DE" sz="1800" b="0"/>
            </a:br>
            <a:endParaRPr lang="de-DE" sz="1800" b="0"/>
          </a:p>
        </p:txBody>
      </p:sp>
      <p:sp>
        <p:nvSpPr>
          <p:cNvPr id="16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sp>
        <p:nvSpPr>
          <p:cNvPr id="11" name="Inhaltsplatzhalter 2"/>
          <p:cNvSpPr txBox="1">
            <a:spLocks/>
          </p:cNvSpPr>
          <p:nvPr/>
        </p:nvSpPr>
        <p:spPr>
          <a:xfrm>
            <a:off x="7392072" y="1803353"/>
            <a:ext cx="4090689" cy="538968"/>
          </a:xfrm>
          <a:prstGeom prst="rect">
            <a:avLst/>
          </a:prstGeom>
          <a:noFill/>
          <a:ln>
            <a:noFill/>
          </a:ln>
        </p:spPr>
        <p:txBody>
          <a:bodyPr vert="horz" lIns="18000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b="0"/>
              <a:t>v</a:t>
            </a:r>
            <a:r>
              <a:rPr lang="de-DE" b="0" smtClean="0"/>
              <a:t>iel Licht     </a:t>
            </a:r>
            <a:r>
              <a:rPr lang="de-DE" b="0" smtClean="0">
                <a:sym typeface="Wingdings" panose="05000000000000000000" pitchFamily="2" charset="2"/>
              </a:rPr>
              <a:t> wenig Widerstand</a:t>
            </a:r>
          </a:p>
          <a:p>
            <a:r>
              <a:rPr lang="de-DE" b="0">
                <a:sym typeface="Wingdings" panose="05000000000000000000" pitchFamily="2" charset="2"/>
              </a:rPr>
              <a:t>w</a:t>
            </a:r>
            <a:r>
              <a:rPr lang="de-DE" b="0" smtClean="0">
                <a:sym typeface="Wingdings" panose="05000000000000000000" pitchFamily="2" charset="2"/>
              </a:rPr>
              <a:t>enig Licht  viel Widerstand</a:t>
            </a:r>
            <a:r>
              <a:rPr lang="de-DE" b="0" smtClean="0"/>
              <a:t/>
            </a:r>
            <a:br>
              <a:rPr lang="de-DE" b="0" smtClean="0"/>
            </a:br>
            <a:endParaRPr lang="de-DE" b="0"/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7609" y="2714397"/>
            <a:ext cx="3301479" cy="3301479"/>
          </a:xfrm>
          <a:prstGeom prst="rect">
            <a:avLst/>
          </a:prstGeom>
        </p:spPr>
      </p:pic>
      <p:sp>
        <p:nvSpPr>
          <p:cNvPr id="17" name="Inhaltsplatzhalter 2"/>
          <p:cNvSpPr txBox="1">
            <a:spLocks/>
          </p:cNvSpPr>
          <p:nvPr/>
        </p:nvSpPr>
        <p:spPr>
          <a:xfrm>
            <a:off x="457977" y="1087501"/>
            <a:ext cx="10456634" cy="357059"/>
          </a:xfrm>
          <a:prstGeom prst="rect">
            <a:avLst/>
          </a:prstGeom>
          <a:noFill/>
          <a:ln>
            <a:noFill/>
          </a:ln>
        </p:spPr>
        <p:txBody>
          <a:bodyPr vert="horz" lIns="18000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b="0" smtClean="0"/>
              <a:t>Gemessen wird die Spannung, die vom Widerstand abhängt.</a:t>
            </a:r>
          </a:p>
          <a:p>
            <a:pPr algn="ctr"/>
            <a:r>
              <a:rPr lang="de-DE" b="0" smtClean="0"/>
              <a:t/>
            </a:r>
            <a:br>
              <a:rPr lang="de-DE" b="0" smtClean="0"/>
            </a:br>
            <a:endParaRPr lang="de-DE" b="0"/>
          </a:p>
        </p:txBody>
      </p:sp>
    </p:spTree>
    <p:extLst>
      <p:ext uri="{BB962C8B-B14F-4D97-AF65-F5344CB8AC3E}">
        <p14:creationId xmlns:p14="http://schemas.microsoft.com/office/powerpoint/2010/main" val="1603955338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bgerundetes Rechteck 14"/>
          <p:cNvSpPr/>
          <p:nvPr/>
        </p:nvSpPr>
        <p:spPr>
          <a:xfrm>
            <a:off x="717548" y="1108800"/>
            <a:ext cx="10321754" cy="75880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5</a:t>
            </a:fld>
            <a:endParaRPr lang="de-DE"/>
          </a:p>
        </p:txBody>
      </p:sp>
      <p:sp>
        <p:nvSpPr>
          <p:cNvPr id="8" name="Inhaltsplatzhalter 2"/>
          <p:cNvSpPr txBox="1">
            <a:spLocks/>
          </p:cNvSpPr>
          <p:nvPr/>
        </p:nvSpPr>
        <p:spPr>
          <a:xfrm>
            <a:off x="717548" y="1218717"/>
            <a:ext cx="10321754" cy="538968"/>
          </a:xfrm>
          <a:prstGeom prst="rect">
            <a:avLst/>
          </a:prstGeom>
          <a:noFill/>
          <a:ln>
            <a:noFill/>
          </a:ln>
        </p:spPr>
        <p:txBody>
          <a:bodyPr vert="horz" lIns="18000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b="0" smtClean="0"/>
              <a:t>Wokwi ist ein frei zugänglicher Online-Simulator für Elektronik und Mikrocontroller, mit dem Schaltungen und Code virtuell gebaut, programmiert und getestet werden kann</a:t>
            </a:r>
            <a:br>
              <a:rPr lang="de-DE" b="0" smtClean="0"/>
            </a:br>
            <a:endParaRPr lang="de-DE" b="0"/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/>
              <a:t>Wie funktioniert </a:t>
            </a:r>
            <a:r>
              <a:rPr lang="de-DE" b="1" smtClean="0"/>
              <a:t>Wokwi? (1)</a:t>
            </a:r>
            <a:endParaRPr lang="de-DE" b="1" dirty="0"/>
          </a:p>
        </p:txBody>
      </p:sp>
      <p:sp>
        <p:nvSpPr>
          <p:cNvPr id="16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7779" y="2211993"/>
            <a:ext cx="7081521" cy="3648394"/>
          </a:xfrm>
          <a:prstGeom prst="rect">
            <a:avLst/>
          </a:prstGeom>
        </p:spPr>
      </p:pic>
      <p:sp>
        <p:nvSpPr>
          <p:cNvPr id="6" name="Rechteck 5"/>
          <p:cNvSpPr/>
          <p:nvPr/>
        </p:nvSpPr>
        <p:spPr>
          <a:xfrm>
            <a:off x="2557779" y="2659380"/>
            <a:ext cx="3538220" cy="320100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/>
          <p:cNvSpPr/>
          <p:nvPr/>
        </p:nvSpPr>
        <p:spPr>
          <a:xfrm>
            <a:off x="6101080" y="2659380"/>
            <a:ext cx="3538220" cy="3201007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/>
          <p:cNvSpPr txBox="1"/>
          <p:nvPr/>
        </p:nvSpPr>
        <p:spPr>
          <a:xfrm rot="16200000">
            <a:off x="1195896" y="4075217"/>
            <a:ext cx="1980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mtClean="0">
                <a:solidFill>
                  <a:srgbClr val="FF0000"/>
                </a:solidFill>
              </a:rPr>
              <a:t>______________</a:t>
            </a:r>
            <a:endParaRPr lang="de-DE">
              <a:solidFill>
                <a:srgbClr val="FF0000"/>
              </a:solidFill>
            </a:endParaRPr>
          </a:p>
        </p:txBody>
      </p:sp>
      <p:sp>
        <p:nvSpPr>
          <p:cNvPr id="18" name="Textfeld 17"/>
          <p:cNvSpPr txBox="1"/>
          <p:nvPr/>
        </p:nvSpPr>
        <p:spPr>
          <a:xfrm rot="16200000">
            <a:off x="9088914" y="4075217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mtClean="0">
                <a:solidFill>
                  <a:srgbClr val="0070C0"/>
                </a:solidFill>
              </a:rPr>
              <a:t>____________</a:t>
            </a:r>
            <a:endParaRPr lang="de-DE">
              <a:solidFill>
                <a:srgbClr val="0070C0"/>
              </a:solidFill>
            </a:endParaRP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2557779" y="5860387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</p:spTree>
    <p:extLst>
      <p:ext uri="{BB962C8B-B14F-4D97-AF65-F5344CB8AC3E}">
        <p14:creationId xmlns:p14="http://schemas.microsoft.com/office/powerpoint/2010/main" val="54733390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bgerundetes Rechteck 14"/>
          <p:cNvSpPr/>
          <p:nvPr/>
        </p:nvSpPr>
        <p:spPr>
          <a:xfrm>
            <a:off x="717548" y="1108800"/>
            <a:ext cx="10321754" cy="75880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6</a:t>
            </a:fld>
            <a:endParaRPr lang="de-DE"/>
          </a:p>
        </p:txBody>
      </p:sp>
      <p:sp>
        <p:nvSpPr>
          <p:cNvPr id="8" name="Inhaltsplatzhalter 2"/>
          <p:cNvSpPr txBox="1">
            <a:spLocks/>
          </p:cNvSpPr>
          <p:nvPr/>
        </p:nvSpPr>
        <p:spPr>
          <a:xfrm>
            <a:off x="717548" y="1218717"/>
            <a:ext cx="10321754" cy="538968"/>
          </a:xfrm>
          <a:prstGeom prst="rect">
            <a:avLst/>
          </a:prstGeom>
          <a:noFill/>
          <a:ln>
            <a:noFill/>
          </a:ln>
        </p:spPr>
        <p:txBody>
          <a:bodyPr vert="horz" lIns="18000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b="0" smtClean="0"/>
              <a:t>Wokwi ist ein frei zugänglicher Online-Simulator für Elektronik und Mikrocontroller, mit dem Schaltungen und Code virtuell gebaut, programmiert und getestet werden kann</a:t>
            </a:r>
            <a:br>
              <a:rPr lang="de-DE" b="0" smtClean="0"/>
            </a:br>
            <a:endParaRPr lang="de-DE" b="0"/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/>
              <a:t>Wie funktioniert </a:t>
            </a:r>
            <a:r>
              <a:rPr lang="de-DE" b="1" smtClean="0"/>
              <a:t>Wokwi? (1)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r>
              <a:rPr lang="de-DE" b="1" smtClean="0"/>
              <a:t> </a:t>
            </a:r>
            <a:endParaRPr lang="de-DE" b="1" dirty="0"/>
          </a:p>
        </p:txBody>
      </p:sp>
      <p:sp>
        <p:nvSpPr>
          <p:cNvPr id="16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7779" y="2211993"/>
            <a:ext cx="7081521" cy="3648394"/>
          </a:xfrm>
          <a:prstGeom prst="rect">
            <a:avLst/>
          </a:prstGeom>
        </p:spPr>
      </p:pic>
      <p:sp>
        <p:nvSpPr>
          <p:cNvPr id="6" name="Rechteck 5"/>
          <p:cNvSpPr/>
          <p:nvPr/>
        </p:nvSpPr>
        <p:spPr>
          <a:xfrm>
            <a:off x="2557779" y="2659380"/>
            <a:ext cx="3538220" cy="320100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/>
          <p:cNvSpPr/>
          <p:nvPr/>
        </p:nvSpPr>
        <p:spPr>
          <a:xfrm>
            <a:off x="6101080" y="2659380"/>
            <a:ext cx="3538220" cy="3201007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/>
          <p:cNvSpPr txBox="1"/>
          <p:nvPr/>
        </p:nvSpPr>
        <p:spPr>
          <a:xfrm rot="16200000">
            <a:off x="952238" y="4075217"/>
            <a:ext cx="24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mtClean="0">
                <a:solidFill>
                  <a:srgbClr val="FF0000"/>
                </a:solidFill>
              </a:rPr>
              <a:t>PROGRAMMIERUNG</a:t>
            </a:r>
            <a:endParaRPr lang="de-DE">
              <a:solidFill>
                <a:srgbClr val="FF0000"/>
              </a:solidFill>
            </a:endParaRPr>
          </a:p>
        </p:txBody>
      </p:sp>
      <p:sp>
        <p:nvSpPr>
          <p:cNvPr id="18" name="Textfeld 17"/>
          <p:cNvSpPr txBox="1"/>
          <p:nvPr/>
        </p:nvSpPr>
        <p:spPr>
          <a:xfrm rot="16200000">
            <a:off x="8917936" y="4075217"/>
            <a:ext cx="2065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mtClean="0">
                <a:solidFill>
                  <a:srgbClr val="0070C0"/>
                </a:solidFill>
              </a:rPr>
              <a:t>VERSCHALTUNG</a:t>
            </a:r>
            <a:endParaRPr lang="de-DE">
              <a:solidFill>
                <a:srgbClr val="0070C0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2557779" y="5860387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</p:spTree>
    <p:extLst>
      <p:ext uri="{BB962C8B-B14F-4D97-AF65-F5344CB8AC3E}">
        <p14:creationId xmlns:p14="http://schemas.microsoft.com/office/powerpoint/2010/main" val="403475778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5688" y="0"/>
            <a:ext cx="6996311" cy="6858000"/>
          </a:xfrm>
        </p:spPr>
        <p:txBody>
          <a:bodyPr anchor="ctr">
            <a:normAutofit/>
          </a:bodyPr>
          <a:lstStyle/>
          <a:p>
            <a:r>
              <a:rPr lang="de-DE" sz="4800" b="1" smtClean="0"/>
              <a:t>Simulation LDR</a:t>
            </a:r>
            <a:endParaRPr lang="de-DE" sz="4800" b="1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2E2EBB-E035-44E5-E10B-431C8375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7</a:t>
            </a:fld>
            <a:endParaRPr lang="de-DE" dirty="0"/>
          </a:p>
        </p:txBody>
      </p:sp>
      <p:sp>
        <p:nvSpPr>
          <p:cNvPr id="7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326" y="1443615"/>
            <a:ext cx="3970770" cy="397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7459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Wie wird </a:t>
            </a:r>
            <a:r>
              <a:rPr lang="de-DE" b="1" smtClean="0"/>
              <a:t>ein LDR </a:t>
            </a:r>
            <a:r>
              <a:rPr lang="de-DE" b="1"/>
              <a:t>verschaltet </a:t>
            </a:r>
            <a:r>
              <a:rPr lang="de-DE" b="1" smtClean="0"/>
              <a:t>und programmiert (1)? </a:t>
            </a:r>
            <a:br>
              <a:rPr lang="de-DE" b="1" smtClean="0"/>
            </a:br>
            <a:r>
              <a:rPr lang="de-DE" b="1"/>
              <a:t/>
            </a:r>
            <a:br>
              <a:rPr lang="de-DE" b="1"/>
            </a:br>
            <a:r>
              <a:rPr lang="de-DE" b="1" smtClean="0"/>
              <a:t>1. Ziel ist es die Messwerte des LDR‘s auszulesen.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8</a:t>
            </a:fld>
            <a:endParaRPr lang="de-DE"/>
          </a:p>
        </p:txBody>
      </p:sp>
      <p:sp>
        <p:nvSpPr>
          <p:cNvPr id="11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 rotWithShape="1">
          <a:blip r:embed="rId3"/>
          <a:srcRect l="42967"/>
          <a:stretch/>
        </p:blipFill>
        <p:spPr>
          <a:xfrm>
            <a:off x="5270500" y="1710000"/>
            <a:ext cx="6127908" cy="4327200"/>
          </a:xfrm>
          <a:prstGeom prst="rect">
            <a:avLst/>
          </a:prstGeom>
        </p:spPr>
      </p:pic>
      <p:pic>
        <p:nvPicPr>
          <p:cNvPr id="3" name="Grafik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2601835"/>
            <a:ext cx="4410691" cy="254353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717550" y="5145365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5270500" y="6037200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</p:spTree>
    <p:extLst>
      <p:ext uri="{BB962C8B-B14F-4D97-AF65-F5344CB8AC3E}">
        <p14:creationId xmlns:p14="http://schemas.microsoft.com/office/powerpoint/2010/main" val="3760236312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Wie wird </a:t>
            </a:r>
            <a:r>
              <a:rPr lang="de-DE" b="1" smtClean="0"/>
              <a:t>ein LDR </a:t>
            </a:r>
            <a:r>
              <a:rPr lang="de-DE" b="1"/>
              <a:t>verschaltet </a:t>
            </a:r>
            <a:r>
              <a:rPr lang="de-DE" b="1" smtClean="0"/>
              <a:t>und programmiert (1)?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r>
              <a:rPr lang="de-DE" b="1" smtClean="0"/>
              <a:t/>
            </a:r>
            <a:br>
              <a:rPr lang="de-DE" b="1" smtClean="0"/>
            </a:br>
            <a:r>
              <a:rPr lang="de-DE" b="1"/>
              <a:t/>
            </a:r>
            <a:br>
              <a:rPr lang="de-DE" b="1"/>
            </a:br>
            <a:r>
              <a:rPr lang="de-DE" b="1" smtClean="0"/>
              <a:t>1. Ziel ist es die Messwerte des LDR‘s auszulesen.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9</a:t>
            </a:fld>
            <a:endParaRPr lang="de-DE"/>
          </a:p>
        </p:txBody>
      </p:sp>
      <p:sp>
        <p:nvSpPr>
          <p:cNvPr id="11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 rotWithShape="1">
          <a:blip r:embed="rId3"/>
          <a:srcRect l="42620"/>
          <a:stretch/>
        </p:blipFill>
        <p:spPr>
          <a:xfrm>
            <a:off x="5473700" y="1710852"/>
            <a:ext cx="4869843" cy="4327998"/>
          </a:xfrm>
          <a:prstGeom prst="rect">
            <a:avLst/>
          </a:prstGeom>
        </p:spPr>
      </p:pic>
      <p:pic>
        <p:nvPicPr>
          <p:cNvPr id="3" name="Grafik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2622138"/>
            <a:ext cx="4439270" cy="2505425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5473700" y="6033654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717550" y="5132847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</p:spTree>
    <p:extLst>
      <p:ext uri="{BB962C8B-B14F-4D97-AF65-F5344CB8AC3E}">
        <p14:creationId xmlns:p14="http://schemas.microsoft.com/office/powerpoint/2010/main" val="2130381355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Wie wird </a:t>
            </a:r>
            <a:r>
              <a:rPr lang="de-DE" b="1" smtClean="0"/>
              <a:t>ein LDR </a:t>
            </a:r>
            <a:r>
              <a:rPr lang="de-DE" b="1"/>
              <a:t>verschaltet </a:t>
            </a:r>
            <a:r>
              <a:rPr lang="de-DE" b="1" smtClean="0"/>
              <a:t>und programmiert (2)? </a:t>
            </a:r>
            <a:br>
              <a:rPr lang="de-DE" b="1" smtClean="0"/>
            </a:br>
            <a:r>
              <a:rPr lang="de-DE" b="1"/>
              <a:t/>
            </a:r>
            <a:br>
              <a:rPr lang="de-DE" b="1"/>
            </a:br>
            <a:r>
              <a:rPr lang="de-DE" b="1"/>
              <a:t>2</a:t>
            </a:r>
            <a:r>
              <a:rPr lang="de-DE" b="1" smtClean="0"/>
              <a:t>. Ziel ist es die Lichtstärke zu regeln und entsprechende Messwerte des LDR‘s auszulesen.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10</a:t>
            </a:fld>
            <a:endParaRPr lang="de-DE"/>
          </a:p>
        </p:txBody>
      </p:sp>
      <p:sp>
        <p:nvSpPr>
          <p:cNvPr id="11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 rotWithShape="1">
          <a:blip r:embed="rId3"/>
          <a:srcRect l="43311"/>
          <a:stretch/>
        </p:blipFill>
        <p:spPr>
          <a:xfrm>
            <a:off x="5549900" y="1880755"/>
            <a:ext cx="4621970" cy="4210049"/>
          </a:xfrm>
          <a:prstGeom prst="rect">
            <a:avLst/>
          </a:prstGeom>
        </p:spPr>
      </p:pic>
      <p:pic>
        <p:nvPicPr>
          <p:cNvPr id="6" name="Grafik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2622138"/>
            <a:ext cx="4439270" cy="2505425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717550" y="5132847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5549900" y="6022336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</p:spTree>
    <p:extLst>
      <p:ext uri="{BB962C8B-B14F-4D97-AF65-F5344CB8AC3E}">
        <p14:creationId xmlns:p14="http://schemas.microsoft.com/office/powerpoint/2010/main" val="1868396090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Wie wird </a:t>
            </a:r>
            <a:r>
              <a:rPr lang="de-DE" b="1" smtClean="0"/>
              <a:t>ein LDR </a:t>
            </a:r>
            <a:r>
              <a:rPr lang="de-DE" b="1"/>
              <a:t>verschaltet </a:t>
            </a:r>
            <a:r>
              <a:rPr lang="de-DE" b="1" smtClean="0"/>
              <a:t>und programmiert (2)?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r>
              <a:rPr lang="de-DE" b="1" smtClean="0"/>
              <a:t> </a:t>
            </a:r>
            <a:br>
              <a:rPr lang="de-DE" b="1" smtClean="0"/>
            </a:br>
            <a:r>
              <a:rPr lang="de-DE" b="1"/>
              <a:t/>
            </a:r>
            <a:br>
              <a:rPr lang="de-DE" b="1"/>
            </a:br>
            <a:r>
              <a:rPr lang="de-DE" b="1"/>
              <a:t>2</a:t>
            </a:r>
            <a:r>
              <a:rPr lang="de-DE" b="1" smtClean="0"/>
              <a:t>. Ziel ist es die Lichtstärke zu regeln und entsprechende Messwerte des LDR‘s auszulesen.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11</a:t>
            </a:fld>
            <a:endParaRPr lang="de-DE"/>
          </a:p>
        </p:txBody>
      </p:sp>
      <p:sp>
        <p:nvSpPr>
          <p:cNvPr id="11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 rotWithShape="1">
          <a:blip r:embed="rId3"/>
          <a:srcRect l="43014"/>
          <a:stretch/>
        </p:blipFill>
        <p:spPr>
          <a:xfrm>
            <a:off x="5676900" y="2222500"/>
            <a:ext cx="3406144" cy="3815315"/>
          </a:xfrm>
          <a:prstGeom prst="rect">
            <a:avLst/>
          </a:prstGeom>
        </p:spPr>
      </p:pic>
      <p:pic>
        <p:nvPicPr>
          <p:cNvPr id="6" name="Grafik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2622138"/>
            <a:ext cx="4439270" cy="2505425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717550" y="5132847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5676900" y="6037815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</p:spTree>
    <p:extLst>
      <p:ext uri="{BB962C8B-B14F-4D97-AF65-F5344CB8AC3E}">
        <p14:creationId xmlns:p14="http://schemas.microsoft.com/office/powerpoint/2010/main" val="1056643015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Wie wird </a:t>
            </a:r>
            <a:r>
              <a:rPr lang="de-DE" b="1" smtClean="0"/>
              <a:t>ein LDR </a:t>
            </a:r>
            <a:r>
              <a:rPr lang="de-DE" b="1"/>
              <a:t>verschaltet </a:t>
            </a:r>
            <a:r>
              <a:rPr lang="de-DE" b="1" smtClean="0"/>
              <a:t>und programmiert (3)? </a:t>
            </a:r>
            <a:br>
              <a:rPr lang="de-DE" b="1" smtClean="0"/>
            </a:br>
            <a:r>
              <a:rPr lang="de-DE" b="1"/>
              <a:t/>
            </a:r>
            <a:br>
              <a:rPr lang="de-DE" b="1"/>
            </a:br>
            <a:r>
              <a:rPr lang="de-DE" b="1" smtClean="0"/>
              <a:t>3. Ziel ist es die Lichtstärke zu regeln und entsprechende Messwerte des LDR‘s auf einem Bildschirm auszugeben.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12</a:t>
            </a:fld>
            <a:endParaRPr lang="de-DE"/>
          </a:p>
        </p:txBody>
      </p:sp>
      <p:sp>
        <p:nvSpPr>
          <p:cNvPr id="11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4" name="Grafik 3"/>
          <p:cNvPicPr>
            <a:picLocks noChangeAspect="1"/>
          </p:cNvPicPr>
          <p:nvPr/>
        </p:nvPicPr>
        <p:blipFill rotWithShape="1">
          <a:blip r:embed="rId3"/>
          <a:srcRect l="32130"/>
          <a:stretch/>
        </p:blipFill>
        <p:spPr>
          <a:xfrm>
            <a:off x="4229100" y="2142000"/>
            <a:ext cx="7090440" cy="381600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4229100" y="5973830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717550" y="5656646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 rotWithShape="1">
          <a:blip r:embed="rId4"/>
          <a:srcRect t="134"/>
          <a:stretch/>
        </p:blipFill>
        <p:spPr>
          <a:xfrm>
            <a:off x="717550" y="2524102"/>
            <a:ext cx="3404507" cy="3132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295666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Wie wird </a:t>
            </a:r>
            <a:r>
              <a:rPr lang="de-DE" b="1" smtClean="0"/>
              <a:t>ein LDR </a:t>
            </a:r>
            <a:r>
              <a:rPr lang="de-DE" b="1"/>
              <a:t>verschaltet </a:t>
            </a:r>
            <a:r>
              <a:rPr lang="de-DE" b="1" smtClean="0"/>
              <a:t>und programmiert (3)?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r>
              <a:rPr lang="de-DE" b="1" smtClean="0"/>
              <a:t> </a:t>
            </a:r>
            <a:br>
              <a:rPr lang="de-DE" b="1" smtClean="0"/>
            </a:br>
            <a:r>
              <a:rPr lang="de-DE" b="1"/>
              <a:t/>
            </a:r>
            <a:br>
              <a:rPr lang="de-DE" b="1"/>
            </a:br>
            <a:r>
              <a:rPr lang="de-DE" b="1"/>
              <a:t>3. Ziel ist es die Lichtstärke zu regeln und entsprechende Messwerte des LDR‘s auf einem Bildschirm auszugeben.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13</a:t>
            </a:fld>
            <a:endParaRPr lang="de-DE"/>
          </a:p>
        </p:txBody>
      </p:sp>
      <p:sp>
        <p:nvSpPr>
          <p:cNvPr id="11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4" name="Grafik 3"/>
          <p:cNvPicPr>
            <a:picLocks noChangeAspect="1"/>
          </p:cNvPicPr>
          <p:nvPr/>
        </p:nvPicPr>
        <p:blipFill rotWithShape="1">
          <a:blip r:embed="rId3"/>
          <a:srcRect l="32045"/>
          <a:stretch/>
        </p:blipFill>
        <p:spPr>
          <a:xfrm>
            <a:off x="4216400" y="2142682"/>
            <a:ext cx="7113707" cy="381600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4229100" y="5973830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717550" y="5646648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2496457"/>
            <a:ext cx="3431557" cy="3150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55403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AEE2298-899D-CB1B-27E3-7CE1B7930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14</a:t>
            </a:fld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6935055" cy="6858000"/>
          </a:xfrm>
        </p:spPr>
        <p:txBody>
          <a:bodyPr anchor="ctr">
            <a:normAutofit/>
          </a:bodyPr>
          <a:lstStyle/>
          <a:p>
            <a:pPr algn="ctr"/>
            <a:r>
              <a:rPr lang="de-DE" sz="4800" b="1" smtClean="0"/>
              <a:t>Nächste Schritte</a:t>
            </a:r>
            <a:endParaRPr lang="de-DE" sz="4800" b="1" dirty="0"/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6961" y="990600"/>
            <a:ext cx="4876800" cy="4876800"/>
          </a:xfrm>
          <a:prstGeom prst="rect">
            <a:avLst/>
          </a:prstGeom>
        </p:spPr>
      </p:pic>
      <p:sp>
        <p:nvSpPr>
          <p:cNvPr id="7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205785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955B9B9-1511-E1C7-6954-5FA801429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15</a:t>
            </a:fld>
            <a:endParaRPr lang="de-DE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Du möchtest nun wissen wie Messwerte gespeichert werden?</a:t>
            </a:r>
            <a:endParaRPr lang="de-DE" b="1" dirty="0"/>
          </a:p>
        </p:txBody>
      </p:sp>
      <p:sp>
        <p:nvSpPr>
          <p:cNvPr id="20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sp>
        <p:nvSpPr>
          <p:cNvPr id="7" name="Textfeld 6"/>
          <p:cNvSpPr txBox="1"/>
          <p:nvPr/>
        </p:nvSpPr>
        <p:spPr>
          <a:xfrm>
            <a:off x="717550" y="5612416"/>
            <a:ext cx="10756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smtClean="0"/>
              <a:t>Dann fahre mit der folgenden Einheit fort: </a:t>
            </a:r>
          </a:p>
          <a:p>
            <a:pPr algn="ctr"/>
            <a:r>
              <a:rPr lang="de-DE" b="1" smtClean="0"/>
              <a:t>2.5_Messwerte_speichern</a:t>
            </a:r>
          </a:p>
        </p:txBody>
      </p:sp>
      <p:pic>
        <p:nvPicPr>
          <p:cNvPr id="4" name="Grafik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9" y="922208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269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0000">
        <p:fade/>
      </p:transition>
    </mc:Choice>
    <mc:Fallback xmlns="">
      <p:transition spd="med" advTm="3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EFFC43F-6DA3-1A1D-6175-58D40ACE97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2870" y="3379869"/>
            <a:ext cx="11186808" cy="1783223"/>
          </a:xfrm>
        </p:spPr>
        <p:txBody>
          <a:bodyPr/>
          <a:lstStyle/>
          <a:p>
            <a:pPr algn="ctr"/>
            <a:r>
              <a:rPr lang="en-US" sz="3600" b="1" dirty="0" err="1"/>
              <a:t>Vielen</a:t>
            </a:r>
            <a:r>
              <a:rPr lang="en-US" sz="3600" b="1" dirty="0"/>
              <a:t> Dank für die </a:t>
            </a:r>
            <a:r>
              <a:rPr lang="en-US" sz="3600" b="1" dirty="0" err="1"/>
              <a:t>Aufmerksamkeit</a:t>
            </a:r>
            <a:r>
              <a:rPr lang="en-US" sz="3600" b="1" dirty="0"/>
              <a:t>!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C0E8C82-2AF8-4F05-F328-ECE8C526D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1986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000">
        <p:fade/>
      </p:transition>
    </mc:Choice>
    <mc:Fallback xmlns="">
      <p:transition spd="med" advTm="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HTWK_Praesentation_16-9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8501C412-F393-B646-9B96-1DF6D2826D91}"/>
    </a:ext>
  </a:extLst>
</a:theme>
</file>

<file path=ppt/theme/theme2.xml><?xml version="1.0" encoding="utf-8"?>
<a:theme xmlns:a="http://schemas.openxmlformats.org/drawingml/2006/main" name="HTWK Magenta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EFED7CB0-8CF4-D44F-9260-9E79D17BFAAA}"/>
    </a:ext>
  </a:extLst>
</a:theme>
</file>

<file path=ppt/theme/theme3.xml><?xml version="1.0" encoding="utf-8"?>
<a:theme xmlns:a="http://schemas.openxmlformats.org/drawingml/2006/main" name="HTWK Grün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E391D94D-EE63-D349-B7DE-98ADF560723F}"/>
    </a:ext>
  </a:extLst>
</a:theme>
</file>

<file path=ppt/theme/theme4.xml><?xml version="1.0" encoding="utf-8"?>
<a:theme xmlns:a="http://schemas.openxmlformats.org/drawingml/2006/main" name="HTWK Cyan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A51D0A69-4D8E-524F-9B0E-CEBB36F378F6}"/>
    </a:ext>
  </a:extLst>
</a:theme>
</file>

<file path=ppt/theme/theme5.xml><?xml version="1.0" encoding="utf-8"?>
<a:theme xmlns:a="http://schemas.openxmlformats.org/drawingml/2006/main" name="HTWK Blau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9DD5615B-4FDE-C14E-84FA-48ACAD4DD175}"/>
    </a:ext>
  </a:extLst>
</a:theme>
</file>

<file path=ppt/theme/theme6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DA79B272C4D3C4887957B2C2A69604C" ma:contentTypeVersion="2" ma:contentTypeDescription="Ein neues Dokument erstellen." ma:contentTypeScope="" ma:versionID="a8f11939e8f693b5e60eead0cd42f230">
  <xsd:schema xmlns:xsd="http://www.w3.org/2001/XMLSchema" xmlns:xs="http://www.w3.org/2001/XMLSchema" xmlns:p="http://schemas.microsoft.com/office/2006/metadata/properties" xmlns:ns2="99f41258-1f02-46b6-b230-447d6494c4cb" targetNamespace="http://schemas.microsoft.com/office/2006/metadata/properties" ma:root="true" ma:fieldsID="be05fa88f11a9855f776efdf4611a3d7" ns2:_="">
    <xsd:import namespace="99f41258-1f02-46b6-b230-447d6494c4c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f41258-1f02-46b6-b230-447d6494c4c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E15DEB7-8D29-4EC4-857C-8778EFE7092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D9AF071-B304-4F0F-8459-AC4D742E5C60}">
  <ds:schemaRefs>
    <ds:schemaRef ds:uri="http://purl.org/dc/terms/"/>
    <ds:schemaRef ds:uri="http://purl.org/dc/elements/1.1/"/>
    <ds:schemaRef ds:uri="http://www.w3.org/XML/1998/namespace"/>
    <ds:schemaRef ds:uri="http://schemas.microsoft.com/office/2006/documentManagement/types"/>
    <ds:schemaRef ds:uri="http://schemas.microsoft.com/office/2006/metadata/properti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99f41258-1f02-46b6-b230-447d6494c4cb"/>
  </ds:schemaRefs>
</ds:datastoreItem>
</file>

<file path=customXml/itemProps3.xml><?xml version="1.0" encoding="utf-8"?>
<ds:datastoreItem xmlns:ds="http://schemas.openxmlformats.org/officeDocument/2006/customXml" ds:itemID="{DF333B2F-1563-4DC4-B635-64824C2FC33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9f41258-1f02-46b6-b230-447d6494c4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HTWK_Praesentation_16-9.potx</Template>
  <TotalTime>0</TotalTime>
  <Words>801</Words>
  <Application>Microsoft Office PowerPoint</Application>
  <PresentationFormat>Breitbild</PresentationFormat>
  <Paragraphs>112</Paragraphs>
  <Slides>16</Slides>
  <Notes>16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5</vt:i4>
      </vt:variant>
      <vt:variant>
        <vt:lpstr>Folientitel</vt:lpstr>
      </vt:variant>
      <vt:variant>
        <vt:i4>16</vt:i4>
      </vt:variant>
    </vt:vector>
  </HeadingPairs>
  <TitlesOfParts>
    <vt:vector size="25" baseType="lpstr">
      <vt:lpstr>Arial</vt:lpstr>
      <vt:lpstr>Calibri</vt:lpstr>
      <vt:lpstr>Wingdings</vt:lpstr>
      <vt:lpstr>Work Sans</vt:lpstr>
      <vt:lpstr>HTWK_Praesentation_16-9</vt:lpstr>
      <vt:lpstr>HTWK Magenta</vt:lpstr>
      <vt:lpstr>HTWK Grün</vt:lpstr>
      <vt:lpstr>HTWK Cyan</vt:lpstr>
      <vt:lpstr>HTWK Blau</vt:lpstr>
      <vt:lpstr>LDR in Wokwi Simulation einer Lichtmessung</vt:lpstr>
      <vt:lpstr>Funktionsweise</vt:lpstr>
      <vt:lpstr>Wie funktioniert ein LDR? </vt:lpstr>
      <vt:lpstr>Wie funktioniert ein LDR?  Lösung: </vt:lpstr>
      <vt:lpstr>Wie funktioniert Wokwi? (1)</vt:lpstr>
      <vt:lpstr>Wie funktioniert Wokwi? (1)  Lösung: </vt:lpstr>
      <vt:lpstr>Simulation LDR</vt:lpstr>
      <vt:lpstr>Wie wird ein LDR verschaltet und programmiert (1)?   1. Ziel ist es die Messwerte des LDR‘s auszulesen.</vt:lpstr>
      <vt:lpstr>Wie wird ein LDR verschaltet und programmiert (1)?  Lösung:  1. Ziel ist es die Messwerte des LDR‘s auszulesen.</vt:lpstr>
      <vt:lpstr>Wie wird ein LDR verschaltet und programmiert (2)?   2. Ziel ist es die Lichtstärke zu regeln und entsprechende Messwerte des LDR‘s auszulesen.</vt:lpstr>
      <vt:lpstr>Wie wird ein LDR verschaltet und programmiert (2)?  Lösung:   2. Ziel ist es die Lichtstärke zu regeln und entsprechende Messwerte des LDR‘s auszulesen.</vt:lpstr>
      <vt:lpstr>Wie wird ein LDR verschaltet und programmiert (3)?   3. Ziel ist es die Lichtstärke zu regeln und entsprechende Messwerte des LDR‘s auf einem Bildschirm auszugeben.</vt:lpstr>
      <vt:lpstr>Wie wird ein LDR verschaltet und programmiert (3)?  Lösung:   3. Ziel ist es die Lichtstärke zu regeln und entsprechende Messwerte des LDR‘s auf einem Bildschirm auszugeben.</vt:lpstr>
      <vt:lpstr>Nächste Schritte</vt:lpstr>
      <vt:lpstr>Du möchtest nun wissen wie Messwerte gespeichert werden?</vt:lpstr>
      <vt:lpstr>Vielen Dank für die Aufmerksamkeit!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Präsentation</dc:title>
  <dc:creator>Paulin Alter</dc:creator>
  <cp:lastModifiedBy>Richter, Elena</cp:lastModifiedBy>
  <cp:revision>331</cp:revision>
  <dcterms:created xsi:type="dcterms:W3CDTF">2019-01-10T16:04:56Z</dcterms:created>
  <dcterms:modified xsi:type="dcterms:W3CDTF">2026-04-14T11:56:09Z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0x0101005DA79B272C4D3C4887957B2C2A69604C</vt:lpwstr>
  </property>
</Properties>
</file>