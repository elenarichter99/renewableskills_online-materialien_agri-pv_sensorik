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25"/>
  </p:notesMasterIdLst>
  <p:sldIdLst>
    <p:sldId id="416" r:id="rId9"/>
    <p:sldId id="433" r:id="rId10"/>
    <p:sldId id="392" r:id="rId11"/>
    <p:sldId id="419" r:id="rId12"/>
    <p:sldId id="422" r:id="rId13"/>
    <p:sldId id="423" r:id="rId14"/>
    <p:sldId id="424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2" r:id="rId23"/>
    <p:sldId id="41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613"/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0465" autoAdjust="0"/>
  </p:normalViewPr>
  <p:slideViewPr>
    <p:cSldViewPr snapToGrid="0" showGuides="1">
      <p:cViewPr>
        <p:scale>
          <a:sx n="75" d="100"/>
          <a:sy n="75" d="100"/>
        </p:scale>
        <p:origin x="534" y="-180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10.03.2026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8991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7929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538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795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056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4207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410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LDR_1_2_Luecken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4548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3625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5427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LDR_1_2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4064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LDR_3_Luecken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5186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LDR_3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945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71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b="0" dirty="0">
              <a:sym typeface="Wingdings" panose="05000000000000000000" pitchFamily="2" charset="2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5765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3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863682870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9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9600" b="1"/>
              <a:t>LDR in Wokwi</a:t>
            </a:r>
            <a:br>
              <a:rPr lang="en-US" sz="9600" b="1"/>
            </a:br>
            <a:r>
              <a:rPr lang="de-DE" sz="4800"/>
              <a:t>Simulation einer Lichtmessung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4822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63921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700077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944852"/>
            <a:ext cx="653114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LDR (Light Dependent Resistor) = ____________ Widerstand: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</a:t>
            </a:r>
            <a:r>
              <a:rPr lang="de-DE" b="1" smtClean="0"/>
              <a:t>LDR?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4594243" y="3153104"/>
            <a:ext cx="4850784" cy="2424063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b="0" smtClean="0"/>
              <a:t>Licht besteht aus Photonen. 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Photonen treffen auf LDR und geben _______ an Eletronen ab.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Dies führt zu einer _______ Leifähigkeit, </a:t>
            </a:r>
          </a:p>
          <a:p>
            <a:pPr marL="0" indent="0" algn="ctr">
              <a:buNone/>
            </a:pPr>
            <a:r>
              <a:rPr lang="de-DE" b="0"/>
              <a:t>w</a:t>
            </a:r>
            <a:r>
              <a:rPr lang="de-DE" b="0" smtClean="0"/>
              <a:t>as wiederum in einem _________ Widerstand resultiert. 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1" name="Inhaltsplatzhalter 2"/>
          <p:cNvSpPr txBox="1">
            <a:spLocks/>
          </p:cNvSpPr>
          <p:nvPr/>
        </p:nvSpPr>
        <p:spPr>
          <a:xfrm>
            <a:off x="7392072" y="1803353"/>
            <a:ext cx="409068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/>
              <a:t>v</a:t>
            </a:r>
            <a:r>
              <a:rPr lang="de-DE" b="0" smtClean="0"/>
              <a:t>iel Licht     </a:t>
            </a:r>
            <a:r>
              <a:rPr lang="de-DE" b="0" smtClean="0">
                <a:sym typeface="Wingdings" panose="05000000000000000000" pitchFamily="2" charset="2"/>
              </a:rPr>
              <a:t> _____ Widerstand</a:t>
            </a:r>
          </a:p>
          <a:p>
            <a:r>
              <a:rPr lang="de-DE" b="0">
                <a:sym typeface="Wingdings" panose="05000000000000000000" pitchFamily="2" charset="2"/>
              </a:rPr>
              <a:t>w</a:t>
            </a:r>
            <a:r>
              <a:rPr lang="de-DE" b="0" smtClean="0">
                <a:sym typeface="Wingdings" panose="05000000000000000000" pitchFamily="2" charset="2"/>
              </a:rPr>
              <a:t>enig Licht  _____ Widerstand</a:t>
            </a:r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09" y="2714397"/>
            <a:ext cx="3301479" cy="3301479"/>
          </a:xfrm>
          <a:prstGeom prst="rect">
            <a:avLst/>
          </a:prstGeom>
        </p:spPr>
      </p:pic>
      <p:sp>
        <p:nvSpPr>
          <p:cNvPr id="17" name="Inhaltsplatzhalter 2"/>
          <p:cNvSpPr txBox="1">
            <a:spLocks/>
          </p:cNvSpPr>
          <p:nvPr/>
        </p:nvSpPr>
        <p:spPr>
          <a:xfrm>
            <a:off x="457977" y="1087501"/>
            <a:ext cx="10456634" cy="357059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Gemessen wird die Spannung, die vom _________ abhängt.</a:t>
            </a:r>
          </a:p>
          <a:p>
            <a:pPr algn="ctr"/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603483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700077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944852"/>
            <a:ext cx="653114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smtClean="0"/>
              <a:t>LDR (Light Dependent Resistor) = lichtabhängiger Widerstand: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ein </a:t>
            </a:r>
            <a:r>
              <a:rPr lang="de-DE" b="1" smtClean="0"/>
              <a:t>LDR?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13" name="Inhaltsplatzhalter 2"/>
          <p:cNvSpPr>
            <a:spLocks noGrp="1"/>
          </p:cNvSpPr>
          <p:nvPr>
            <p:ph idx="1"/>
          </p:nvPr>
        </p:nvSpPr>
        <p:spPr>
          <a:xfrm>
            <a:off x="4594243" y="3153104"/>
            <a:ext cx="4850784" cy="2424063"/>
          </a:xfrm>
          <a:noFill/>
          <a:ln>
            <a:noFill/>
          </a:ln>
        </p:spPr>
        <p:txBody>
          <a:bodyPr lIns="180000">
            <a:noAutofit/>
          </a:bodyPr>
          <a:lstStyle/>
          <a:p>
            <a:pPr marL="0" indent="0" algn="ctr">
              <a:buNone/>
            </a:pPr>
            <a:r>
              <a:rPr lang="de-DE" b="0" smtClean="0"/>
              <a:t>Licht besteht aus Photonen. 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Photonen treffen auf LDR und geben Energie an Eletronen ab.</a:t>
            </a:r>
          </a:p>
          <a:p>
            <a:pPr marL="0" indent="0" algn="ctr">
              <a:buNone/>
            </a:pPr>
            <a:endParaRPr lang="de-DE" b="0" smtClean="0"/>
          </a:p>
          <a:p>
            <a:pPr marL="0" indent="0" algn="ctr">
              <a:buNone/>
            </a:pPr>
            <a:r>
              <a:rPr lang="de-DE" b="0" smtClean="0"/>
              <a:t>Dies führt zu einer höheren Leifähigkeit, </a:t>
            </a:r>
          </a:p>
          <a:p>
            <a:pPr marL="0" indent="0" algn="ctr">
              <a:buNone/>
            </a:pPr>
            <a:r>
              <a:rPr lang="de-DE" b="0"/>
              <a:t>w</a:t>
            </a:r>
            <a:r>
              <a:rPr lang="de-DE" b="0" smtClean="0"/>
              <a:t>as wiederum in einem geringeren Widerstand resultiert. </a:t>
            </a:r>
            <a:r>
              <a:rPr lang="de-DE" sz="1800" b="0"/>
              <a:t/>
            </a:r>
            <a:br>
              <a:rPr lang="de-DE" sz="1800" b="0"/>
            </a:br>
            <a:endParaRPr lang="de-DE" sz="1800" b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1" name="Inhaltsplatzhalter 2"/>
          <p:cNvSpPr txBox="1">
            <a:spLocks/>
          </p:cNvSpPr>
          <p:nvPr/>
        </p:nvSpPr>
        <p:spPr>
          <a:xfrm>
            <a:off x="7392072" y="1803353"/>
            <a:ext cx="4090689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/>
              <a:t>v</a:t>
            </a:r>
            <a:r>
              <a:rPr lang="de-DE" b="0" smtClean="0"/>
              <a:t>iel Licht     </a:t>
            </a:r>
            <a:r>
              <a:rPr lang="de-DE" b="0" smtClean="0">
                <a:sym typeface="Wingdings" panose="05000000000000000000" pitchFamily="2" charset="2"/>
              </a:rPr>
              <a:t> wenig Widerstand</a:t>
            </a:r>
          </a:p>
          <a:p>
            <a:r>
              <a:rPr lang="de-DE" b="0">
                <a:sym typeface="Wingdings" panose="05000000000000000000" pitchFamily="2" charset="2"/>
              </a:rPr>
              <a:t>w</a:t>
            </a:r>
            <a:r>
              <a:rPr lang="de-DE" b="0" smtClean="0">
                <a:sym typeface="Wingdings" panose="05000000000000000000" pitchFamily="2" charset="2"/>
              </a:rPr>
              <a:t>enig Licht  viel Widerstand</a:t>
            </a:r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09" y="2714397"/>
            <a:ext cx="3301479" cy="3301479"/>
          </a:xfrm>
          <a:prstGeom prst="rect">
            <a:avLst/>
          </a:prstGeom>
        </p:spPr>
      </p:pic>
      <p:sp>
        <p:nvSpPr>
          <p:cNvPr id="17" name="Inhaltsplatzhalter 2"/>
          <p:cNvSpPr txBox="1">
            <a:spLocks/>
          </p:cNvSpPr>
          <p:nvPr/>
        </p:nvSpPr>
        <p:spPr>
          <a:xfrm>
            <a:off x="457977" y="1087501"/>
            <a:ext cx="10456634" cy="357059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Gemessen wird die Spannung, die vom Widerstand abhängt.</a:t>
            </a:r>
          </a:p>
          <a:p>
            <a:pPr algn="ctr"/>
            <a:r>
              <a:rPr lang="de-DE" b="0" smtClean="0"/>
              <a:t/>
            </a:r>
            <a:br>
              <a:rPr lang="de-DE" b="0" smtClean="0"/>
            </a:br>
            <a:endParaRPr lang="de-DE" b="0"/>
          </a:p>
        </p:txBody>
      </p:sp>
    </p:spTree>
    <p:extLst>
      <p:ext uri="{BB962C8B-B14F-4D97-AF65-F5344CB8AC3E}">
        <p14:creationId xmlns:p14="http://schemas.microsoft.com/office/powerpoint/2010/main" val="160395533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108800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218717"/>
            <a:ext cx="10321754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Wokwi ist ein frei zugänglicher Online-Simulator für Elektronik und Mikrocontroller, mit dem Schaltungen und Code virtuell gebaut, programmiert und getestet werden kann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</a:t>
            </a:r>
            <a:r>
              <a:rPr lang="de-DE" b="1" smtClean="0"/>
              <a:t>Wokwi? (1)</a:t>
            </a:r>
            <a:endParaRPr lang="de-DE" b="1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779" y="2211993"/>
            <a:ext cx="7081521" cy="3648394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2557779" y="2659380"/>
            <a:ext cx="3538220" cy="3201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6101080" y="2659380"/>
            <a:ext cx="3538220" cy="32010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 rot="16200000">
            <a:off x="1195896" y="4075217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______________</a:t>
            </a:r>
            <a:endParaRPr lang="de-DE">
              <a:solidFill>
                <a:srgbClr val="FF0000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 rot="16200000">
            <a:off x="9088914" y="40752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0070C0"/>
                </a:solidFill>
              </a:rPr>
              <a:t>____________</a:t>
            </a:r>
            <a:endParaRPr lang="de-DE">
              <a:solidFill>
                <a:srgbClr val="0070C0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2557779" y="5860387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547333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bgerundetes Rechteck 14"/>
          <p:cNvSpPr/>
          <p:nvPr/>
        </p:nvSpPr>
        <p:spPr>
          <a:xfrm>
            <a:off x="717548" y="1108800"/>
            <a:ext cx="10321754" cy="7588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8" name="Inhaltsplatzhalter 2"/>
          <p:cNvSpPr txBox="1">
            <a:spLocks/>
          </p:cNvSpPr>
          <p:nvPr/>
        </p:nvSpPr>
        <p:spPr>
          <a:xfrm>
            <a:off x="717548" y="1218717"/>
            <a:ext cx="10321754" cy="538968"/>
          </a:xfrm>
          <a:prstGeom prst="rect">
            <a:avLst/>
          </a:prstGeom>
          <a:noFill/>
          <a:ln>
            <a:noFill/>
          </a:ln>
        </p:spPr>
        <p:txBody>
          <a:bodyPr vert="horz" lIns="18000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7000"/>
              </a:lnSpc>
              <a:spcBef>
                <a:spcPts val="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07000"/>
              </a:lnSpc>
              <a:spcBef>
                <a:spcPts val="0"/>
              </a:spcBef>
              <a:spcAft>
                <a:spcPts val="425"/>
              </a:spcAft>
              <a:buFont typeface="Work Sans" panose="00000500000000000000" pitchFamily="2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b="0" smtClean="0"/>
              <a:t>Wokwi ist ein frei zugänglicher Online-Simulator für Elektronik und Mikrocontroller, mit dem Schaltungen und Code virtuell gebaut, programmiert und getestet werden kann</a:t>
            </a:r>
            <a:br>
              <a:rPr lang="de-DE" b="0" smtClean="0"/>
            </a:br>
            <a:endParaRPr lang="de-DE" b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/>
              <a:t>Wie funktioniert </a:t>
            </a:r>
            <a:r>
              <a:rPr lang="de-DE" b="1" smtClean="0"/>
              <a:t>Wokwi? (1)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779" y="2211993"/>
            <a:ext cx="7081521" cy="3648394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2557779" y="2659380"/>
            <a:ext cx="3538220" cy="32010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6101080" y="2659380"/>
            <a:ext cx="3538220" cy="320100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/>
          <p:cNvSpPr txBox="1"/>
          <p:nvPr/>
        </p:nvSpPr>
        <p:spPr>
          <a:xfrm rot="16200000">
            <a:off x="952238" y="4075217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PROGRAMMIERUNG</a:t>
            </a:r>
            <a:endParaRPr lang="de-DE">
              <a:solidFill>
                <a:srgbClr val="FF0000"/>
              </a:solidFill>
            </a:endParaRPr>
          </a:p>
        </p:txBody>
      </p:sp>
      <p:sp>
        <p:nvSpPr>
          <p:cNvPr id="18" name="Textfeld 17"/>
          <p:cNvSpPr txBox="1"/>
          <p:nvPr/>
        </p:nvSpPr>
        <p:spPr>
          <a:xfrm rot="16200000">
            <a:off x="8917936" y="4075217"/>
            <a:ext cx="2065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>
                <a:solidFill>
                  <a:srgbClr val="0070C0"/>
                </a:solidFill>
              </a:rPr>
              <a:t>VERSCHALTUNG</a:t>
            </a:r>
            <a:endParaRPr lang="de-DE">
              <a:solidFill>
                <a:srgbClr val="0070C0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2557779" y="5860387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4034757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688" y="0"/>
            <a:ext cx="6996311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Simulation LDR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7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32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4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(1)?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1. Ziel ist es die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l="42967"/>
          <a:stretch/>
        </p:blipFill>
        <p:spPr>
          <a:xfrm>
            <a:off x="5270500" y="1710000"/>
            <a:ext cx="6127908" cy="43272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601835"/>
            <a:ext cx="4410691" cy="254353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145365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270500" y="6037200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7602363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(1)?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/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1. Ziel ist es die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l="42620"/>
          <a:stretch/>
        </p:blipFill>
        <p:spPr>
          <a:xfrm>
            <a:off x="5473700" y="1710852"/>
            <a:ext cx="4869843" cy="4327998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622138"/>
            <a:ext cx="4439270" cy="25054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473700" y="6033654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132847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1303813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(2)?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2</a:t>
            </a:r>
            <a:r>
              <a:rPr lang="de-DE" b="1" smtClean="0"/>
              <a:t>. Ziel ist es die Lichtstärke zu regeln und entsprechende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3"/>
          <a:srcRect l="43311"/>
          <a:stretch/>
        </p:blipFill>
        <p:spPr>
          <a:xfrm>
            <a:off x="5549900" y="1880755"/>
            <a:ext cx="4621970" cy="4210049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622138"/>
            <a:ext cx="4439270" cy="25054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132847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549900" y="602233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8683960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(2)?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2</a:t>
            </a:r>
            <a:r>
              <a:rPr lang="de-DE" b="1" smtClean="0"/>
              <a:t>. Ziel ist es die Lichtstärke zu regeln und entsprechende Messwerte des LDR‘s auszulesen.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3"/>
          <a:srcRect l="43014"/>
          <a:stretch/>
        </p:blipFill>
        <p:spPr>
          <a:xfrm>
            <a:off x="5676900" y="2222500"/>
            <a:ext cx="3406144" cy="3815315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622138"/>
            <a:ext cx="4439270" cy="250542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132847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676900" y="6037815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10566430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(3)?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 smtClean="0"/>
              <a:t>3. Ziel ist es die Lichtstärke zu regeln und entsprechende Messwerte des LDR‘s auf einem Bildschirm auszugeben.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32130"/>
          <a:stretch/>
        </p:blipFill>
        <p:spPr>
          <a:xfrm>
            <a:off x="4229100" y="2142000"/>
            <a:ext cx="7090440" cy="38160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443353"/>
            <a:ext cx="3511550" cy="321329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229100" y="5973830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65664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35729566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/>
              <a:t>Wie wird </a:t>
            </a:r>
            <a:r>
              <a:rPr lang="de-DE" b="1" smtClean="0"/>
              <a:t>ein LDR </a:t>
            </a:r>
            <a:r>
              <a:rPr lang="de-DE" b="1"/>
              <a:t>verschaltet </a:t>
            </a:r>
            <a:r>
              <a:rPr lang="de-DE" b="1" smtClean="0"/>
              <a:t>und programmiert (3)?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br>
              <a:rPr lang="de-DE" b="1" smtClean="0"/>
            </a:br>
            <a:r>
              <a:rPr lang="de-DE" b="1"/>
              <a:t/>
            </a:r>
            <a:br>
              <a:rPr lang="de-DE" b="1"/>
            </a:br>
            <a:r>
              <a:rPr lang="de-DE" b="1"/>
              <a:t>3. Ziel ist es die Lichtstärke zu regeln und entsprechende Messwerte des LDR‘s auf einem Bildschirm auszugeben.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3"/>
          <a:srcRect l="32045"/>
          <a:stretch/>
        </p:blipFill>
        <p:spPr>
          <a:xfrm>
            <a:off x="4216400" y="2142682"/>
            <a:ext cx="7113707" cy="38160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2454715"/>
            <a:ext cx="3498850" cy="3191933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229100" y="5973830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5646648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370525540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EE2298-899D-CB1B-27E3-7CE1B793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14</a:t>
            </a:fld>
            <a:endParaRPr lang="de-DE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6935055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4800" b="1" smtClean="0"/>
              <a:t>Nächste Schritte</a:t>
            </a:r>
            <a:endParaRPr lang="de-DE" sz="4800" b="1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961" y="990600"/>
            <a:ext cx="4876800" cy="4876800"/>
          </a:xfrm>
          <a:prstGeom prst="rect">
            <a:avLst/>
          </a:prstGeom>
        </p:spPr>
      </p:pic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05785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955B9B9-1511-E1C7-6954-5FA801429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15</a:t>
            </a:fld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D7E1087D-8347-0B74-6215-478E20181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Du möchtest nun wissen wie Messwerte gespeichert werden?</a:t>
            </a:r>
            <a:endParaRPr lang="de-DE" b="1" dirty="0"/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7" name="Textfeld 6"/>
          <p:cNvSpPr txBox="1"/>
          <p:nvPr/>
        </p:nvSpPr>
        <p:spPr>
          <a:xfrm>
            <a:off x="717550" y="5612416"/>
            <a:ext cx="10756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smtClean="0"/>
              <a:t>Dann fahre mit der folgenden Einheit fort: </a:t>
            </a:r>
          </a:p>
          <a:p>
            <a:pPr algn="ctr"/>
            <a:r>
              <a:rPr lang="de-DE" b="1" smtClean="0"/>
              <a:t>Messwerte speichern(3)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922208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269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000">
        <p:fade/>
      </p:transition>
    </mc:Choice>
    <mc:Fallback xmlns="">
      <p:transition spd="med" advTm="30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1986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99f41258-1f02-46b6-b230-447d6494c4cb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803</Words>
  <Application>Microsoft Office PowerPoint</Application>
  <PresentationFormat>Breitbild</PresentationFormat>
  <Paragraphs>112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16</vt:i4>
      </vt:variant>
    </vt:vector>
  </HeadingPairs>
  <TitlesOfParts>
    <vt:vector size="25" baseType="lpstr">
      <vt:lpstr>Arial</vt:lpstr>
      <vt:lpstr>Calibri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LDR in Wokwi Simulation einer Lichtmessung</vt:lpstr>
      <vt:lpstr>Funktionsweise</vt:lpstr>
      <vt:lpstr>Wie funktioniert ein LDR? </vt:lpstr>
      <vt:lpstr>Wie funktioniert ein LDR?  Lösung: </vt:lpstr>
      <vt:lpstr>Wie funktioniert Wokwi? (1)</vt:lpstr>
      <vt:lpstr>Wie funktioniert Wokwi? (1)  Lösung: </vt:lpstr>
      <vt:lpstr>Simulation LDR</vt:lpstr>
      <vt:lpstr>Wie wird ein LDR verschaltet und programmiert (1)?   1. Ziel ist es die Messwerte des LDR‘s auszulesen.</vt:lpstr>
      <vt:lpstr>Wie wird ein LDR verschaltet und programmiert (1)?  Lösung:  1. Ziel ist es die Messwerte des LDR‘s auszulesen.</vt:lpstr>
      <vt:lpstr>Wie wird ein LDR verschaltet und programmiert (2)?   2. Ziel ist es die Lichtstärke zu regeln und entsprechende Messwerte des LDR‘s auszulesen.</vt:lpstr>
      <vt:lpstr>Wie wird ein LDR verschaltet und programmiert (2)?  Lösung:   2. Ziel ist es die Lichtstärke zu regeln und entsprechende Messwerte des LDR‘s auszulesen.</vt:lpstr>
      <vt:lpstr>Wie wird ein LDR verschaltet und programmiert (3)?   3. Ziel ist es die Lichtstärke zu regeln und entsprechende Messwerte des LDR‘s auf einem Bildschirm auszugeben.</vt:lpstr>
      <vt:lpstr>Wie wird ein LDR verschaltet und programmiert (3)?  Lösung:   3. Ziel ist es die Lichtstärke zu regeln und entsprechende Messwerte des LDR‘s auf einem Bildschirm auszugeben.</vt:lpstr>
      <vt:lpstr>Nächste Schritte</vt:lpstr>
      <vt:lpstr>Du möchtest nun wissen wie Messwerte gespeichert werden?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329</cp:revision>
  <dcterms:created xsi:type="dcterms:W3CDTF">2019-01-10T16:04:56Z</dcterms:created>
  <dcterms:modified xsi:type="dcterms:W3CDTF">2026-03-10T12:00:29Z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