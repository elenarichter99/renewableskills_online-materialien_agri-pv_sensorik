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30"/>
  </p:notesMasterIdLst>
  <p:sldIdLst>
    <p:sldId id="367" r:id="rId9"/>
    <p:sldId id="390" r:id="rId10"/>
    <p:sldId id="362" r:id="rId11"/>
    <p:sldId id="369" r:id="rId12"/>
    <p:sldId id="344" r:id="rId13"/>
    <p:sldId id="371" r:id="rId14"/>
    <p:sldId id="372" r:id="rId15"/>
    <p:sldId id="373" r:id="rId16"/>
    <p:sldId id="345" r:id="rId17"/>
    <p:sldId id="375" r:id="rId18"/>
    <p:sldId id="382" r:id="rId19"/>
    <p:sldId id="383" r:id="rId20"/>
    <p:sldId id="392" r:id="rId21"/>
    <p:sldId id="384" r:id="rId22"/>
    <p:sldId id="389" r:id="rId23"/>
    <p:sldId id="385" r:id="rId24"/>
    <p:sldId id="386" r:id="rId25"/>
    <p:sldId id="391" r:id="rId26"/>
    <p:sldId id="358" r:id="rId27"/>
    <p:sldId id="388" r:id="rId28"/>
    <p:sldId id="366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ichter, Elena" initials="RE" lastIdx="1" clrIdx="0">
    <p:extLst>
      <p:ext uri="{19B8F6BF-5375-455C-9EA6-DF929625EA0E}">
        <p15:presenceInfo xmlns:p15="http://schemas.microsoft.com/office/powerpoint/2012/main" userId="S-1-5-21-2252779649-2432209404-4072682936-284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AF00"/>
    <a:srgbClr val="FF7373"/>
    <a:srgbClr val="AAC9B2"/>
    <a:srgbClr val="00964E"/>
    <a:srgbClr val="F5B5B5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85814" autoAdjust="0"/>
  </p:normalViewPr>
  <p:slideViewPr>
    <p:cSldViewPr snapToGrid="0" showGuides="1">
      <p:cViewPr varScale="1">
        <p:scale>
          <a:sx n="63" d="100"/>
          <a:sy n="63" d="100"/>
        </p:scale>
        <p:origin x="1014" y="60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Master" Target="slideMasters/slideMaster5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10.03.2026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3748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29410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Temperaturfühler = Temperatursensor = Wärmesensor = Wärmefühler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61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Temperaturfühler = Temperatursensor = Wärmesensor = Wärmefühler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634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50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8674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79981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1132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6538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2326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126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95260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9978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1673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1667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Skript: NTC_Luecken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91949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NTC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68392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23352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927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49667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582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3869C99-C634-47CD-B208-CB16ACE119EE}" type="slidenum">
              <a:rPr lang="de-DE"/>
              <a:pPr/>
              <a:t>‹Nr.›</a:t>
            </a:fld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80000" y="360000"/>
            <a:ext cx="8803200" cy="360000"/>
          </a:xfrm>
        </p:spPr>
        <p:txBody>
          <a:bodyPr tIns="72000"/>
          <a:lstStyle>
            <a:lvl1pPr>
              <a:defRPr sz="1000" b="1"/>
            </a:lvl1pPr>
            <a:lvl2pPr>
              <a:defRPr sz="1000" b="1"/>
            </a:lvl2pPr>
            <a:lvl3pPr>
              <a:defRPr sz="1000" b="1"/>
            </a:lvl3pPr>
            <a:lvl4pPr>
              <a:defRPr sz="1000" b="1"/>
            </a:lvl4pPr>
            <a:lvl5pPr>
              <a:defRPr sz="1000" b="1"/>
            </a:lvl5pPr>
          </a:lstStyle>
          <a:p>
            <a:pPr lvl="0"/>
            <a:r>
              <a:rPr lang="de-DE" dirty="0"/>
              <a:t>Hier steht das Thema oder das Kapitel</a:t>
            </a:r>
          </a:p>
        </p:txBody>
      </p:sp>
    </p:spTree>
    <p:extLst>
      <p:ext uri="{BB962C8B-B14F-4D97-AF65-F5344CB8AC3E}">
        <p14:creationId xmlns:p14="http://schemas.microsoft.com/office/powerpoint/2010/main" val="1449046576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  <p:sldLayoutId id="2147483698" r:id="rId5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rn-wissen.de/wiki/images/d/d6/Schaltzeichen_ntcptc.PN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rn-wissen.de/wiki/images/d/d6/Schaltzeichen_ntcptc.P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rn-wissen.de/wiki/images/d/d6/Schaltzeichen_ntcptc.P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rn-wissen.de/wiki/images/d/d6/Schaltzeichen_ntcptc.PNG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startpage.com/av/proxy-image?piurl=https%3A%2F%2Fwww.elektrotechnik-fachbuch.de%2Fimg%2FKalt_und_Heissleiter.gif&amp;sp=1767796783T05f73c1a8073f256ef2546e02e5ec1d380cd5e7cdac181386177771b10a0106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startpage.com/av/proxy-image?piurl=https%3A%2F%2Fwww.elektrotechnik-fachbuch.de%2Fimg%2FKalt_und_Heissleiter.gif&amp;sp=1767796783T05f73c1a8073f256ef2546e02e5ec1d380cd5e7cdac181386177771b10a01064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rduino.cc/en/software/" TargetMode="External"/><Relationship Id="rId13" Type="http://schemas.openxmlformats.org/officeDocument/2006/relationships/image" Target="../media/image21.png"/><Relationship Id="rId18" Type="http://schemas.openxmlformats.org/officeDocument/2006/relationships/hyperlink" Target="https://cdn-reichelt.de/bilder/web/artikel_ws/B400%2F%21WID1_4W.jpg?type=Product&amp;" TargetMode="External"/><Relationship Id="rId3" Type="http://schemas.openxmlformats.org/officeDocument/2006/relationships/hyperlink" Target="https://www.reichelt.de/de/de/shop/produkt/ntc_thermistor_5_kohm_0_2_-151254" TargetMode="External"/><Relationship Id="rId7" Type="http://schemas.openxmlformats.org/officeDocument/2006/relationships/hyperlink" Target="https://www.reichelt.de/de/de/shop/produkt/widerstand_kohleschicht_10_kohm_0207_250_mw_5_-1338" TargetMode="External"/><Relationship Id="rId12" Type="http://schemas.openxmlformats.org/officeDocument/2006/relationships/image" Target="../media/image20.png"/><Relationship Id="rId17" Type="http://schemas.openxmlformats.org/officeDocument/2006/relationships/hyperlink" Target="https://www.az-delivery.de/cdn/shop/products/jumper-wire-kabel-40-stk-je-20-cm-m2m-male-to-male-kompatibel-mit-arduino-und-raspberry-pi-breadboard-140806.jpg?v=1679398754&amp;width=1200" TargetMode="External"/><Relationship Id="rId2" Type="http://schemas.openxmlformats.org/officeDocument/2006/relationships/notesSlide" Target="../notesSlides/notesSlide19.xml"/><Relationship Id="rId16" Type="http://schemas.openxmlformats.org/officeDocument/2006/relationships/hyperlink" Target="https://asset.conrad.com/media10/isa/160267/c1/-/de/002885952PI00/image.jpg?x=1440&amp;y=1440&amp;format=jpg&amp;ex=1440&amp;ey=1440&amp;align=center" TargetMode="External"/><Relationship Id="rId20" Type="http://schemas.openxmlformats.org/officeDocument/2006/relationships/hyperlink" Target="https://www.arduino.cc/wiki/static/arduino-app-76bd27c4ce7246825aceb8efe2871f7a.svg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roboter-bausatz.de/p/esp32-dev-board-32d-mit-cp2102-usb-c-wlan-bluetooth-iot-modul" TargetMode="External"/><Relationship Id="rId11" Type="http://schemas.openxmlformats.org/officeDocument/2006/relationships/image" Target="../media/image19.png"/><Relationship Id="rId5" Type="http://schemas.openxmlformats.org/officeDocument/2006/relationships/hyperlink" Target="https://www.az-delivery.de/products/40-stk-jumper-wire-male-to-male-20-zentimeter" TargetMode="External"/><Relationship Id="rId15" Type="http://schemas.openxmlformats.org/officeDocument/2006/relationships/hyperlink" Target="https://cdn-reichelt.de/bilder/web/artikel_ws/B400%2FGAX.jpg?type=Product&amp;" TargetMode="External"/><Relationship Id="rId10" Type="http://schemas.openxmlformats.org/officeDocument/2006/relationships/image" Target="../media/image18.png"/><Relationship Id="rId19" Type="http://schemas.openxmlformats.org/officeDocument/2006/relationships/hyperlink" Target="https://www.roboter-bausatz.de/media/image/d8/f3/0e/RBS18335_600x600.jpg" TargetMode="External"/><Relationship Id="rId4" Type="http://schemas.openxmlformats.org/officeDocument/2006/relationships/hyperlink" Target="https://www.conrad.de/de/p/tru-components-steckplatine-bus-stripe-ausklappbar-polzahl-gesamt-400-l-x-b-82-5-cm-x-54-6-mm-1-st-2885952.html" TargetMode="External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4276" y="318185"/>
            <a:ext cx="1961041" cy="55418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8800" b="1" smtClean="0"/>
              <a:t>Temperatursensoren</a:t>
            </a:r>
            <a:r>
              <a:rPr lang="en-US" sz="16600" b="1" smtClean="0"/>
              <a:t> </a:t>
            </a:r>
            <a:r>
              <a:rPr lang="en-US" sz="6000" b="1" smtClean="0"/>
              <a:t>NTC und PTC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2458642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5" y="775392"/>
            <a:ext cx="5307216" cy="53072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840" y="0"/>
            <a:ext cx="5598159" cy="6858000"/>
          </a:xfrm>
        </p:spPr>
        <p:txBody>
          <a:bodyPr anchor="ctr">
            <a:normAutofit/>
          </a:bodyPr>
          <a:lstStyle/>
          <a:p>
            <a:pPr algn="l"/>
            <a:r>
              <a:rPr lang="de-DE" sz="4800" b="1" smtClean="0"/>
              <a:t>Funktionsweise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27076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717550" y="2358109"/>
            <a:ext cx="9757410" cy="2885948"/>
          </a:xfrm>
          <a:solidFill>
            <a:schemeClr val="bg1"/>
          </a:solidFill>
          <a:ln>
            <a:noFill/>
          </a:ln>
        </p:spPr>
        <p:txBody>
          <a:bodyPr lIns="180000"/>
          <a:lstStyle/>
          <a:p>
            <a:endParaRPr lang="de-DE" sz="900" b="0" smtClean="0"/>
          </a:p>
          <a:p>
            <a:r>
              <a:rPr lang="de-DE" b="0" smtClean="0"/>
              <a:t>Temperaturfühler sind ___________ Bauelemente.</a:t>
            </a:r>
          </a:p>
          <a:p>
            <a:endParaRPr lang="de-DE" b="0" smtClean="0"/>
          </a:p>
          <a:p>
            <a:r>
              <a:rPr lang="de-DE" b="0" smtClean="0"/>
              <a:t>Bei NTC- und PTC-Sensoren wird die ________ gemessen.</a:t>
            </a:r>
          </a:p>
          <a:p>
            <a:endParaRPr lang="de-DE" b="0" smtClean="0"/>
          </a:p>
          <a:p>
            <a:r>
              <a:rPr lang="de-DE" b="0" smtClean="0"/>
              <a:t>Aus der ________ wird der Widerstand berechnet (Spannungsteilerregel).</a:t>
            </a:r>
          </a:p>
          <a:p>
            <a:endParaRPr lang="de-DE" b="0" smtClean="0"/>
          </a:p>
          <a:p>
            <a:r>
              <a:rPr lang="de-DE" b="0"/>
              <a:t>Aus dem </a:t>
            </a:r>
            <a:r>
              <a:rPr lang="de-DE" b="0" smtClean="0"/>
              <a:t>____________________ </a:t>
            </a:r>
            <a:r>
              <a:rPr lang="de-DE" b="0"/>
              <a:t>Widerstand wird anschließend die Temperatur </a:t>
            </a:r>
            <a:r>
              <a:rPr lang="de-DE" b="0" smtClean="0"/>
              <a:t>bestimmt.</a:t>
            </a:r>
          </a:p>
          <a:p>
            <a:endParaRPr lang="de-DE" sz="900" b="0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Temperatursensoren (Temperaturfühler)?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9" name="Nach links gekrümmter Pfeil 8"/>
          <p:cNvSpPr/>
          <p:nvPr/>
        </p:nvSpPr>
        <p:spPr>
          <a:xfrm rot="19484842">
            <a:off x="6634479" y="1736689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2" name="Nach links gekrümmter Pfeil 11"/>
          <p:cNvSpPr/>
          <p:nvPr/>
        </p:nvSpPr>
        <p:spPr>
          <a:xfrm rot="19484842">
            <a:off x="8238680" y="2454929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3" name="Nach links gekrümmter Pfeil 12"/>
          <p:cNvSpPr/>
          <p:nvPr/>
        </p:nvSpPr>
        <p:spPr>
          <a:xfrm rot="19484842">
            <a:off x="9842875" y="2964427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33964019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717550" y="2357520"/>
            <a:ext cx="9798050" cy="2514341"/>
          </a:xfrm>
          <a:solidFill>
            <a:schemeClr val="bg1"/>
          </a:solidFill>
          <a:ln>
            <a:noFill/>
          </a:ln>
        </p:spPr>
        <p:txBody>
          <a:bodyPr lIns="180000"/>
          <a:lstStyle/>
          <a:p>
            <a:endParaRPr lang="de-DE" sz="900" b="0" smtClean="0"/>
          </a:p>
          <a:p>
            <a:r>
              <a:rPr lang="de-DE" b="0" smtClean="0"/>
              <a:t>Temperaturfühler sind elektrische Bauelemente.</a:t>
            </a:r>
          </a:p>
          <a:p>
            <a:endParaRPr lang="de-DE" b="0" smtClean="0"/>
          </a:p>
          <a:p>
            <a:r>
              <a:rPr lang="de-DE" b="0" smtClean="0"/>
              <a:t>Bei NTC- und PTC-Sensoren wird die Spannung gemessen.</a:t>
            </a:r>
          </a:p>
          <a:p>
            <a:endParaRPr lang="de-DE" b="0" smtClean="0"/>
          </a:p>
          <a:p>
            <a:r>
              <a:rPr lang="de-DE" b="0" smtClean="0"/>
              <a:t>Aus der Spannung wird der Widerstand berechnet (Spannungsteilerregel).</a:t>
            </a:r>
          </a:p>
          <a:p>
            <a:endParaRPr lang="de-DE" b="0" smtClean="0"/>
          </a:p>
          <a:p>
            <a:r>
              <a:rPr lang="de-DE" b="0"/>
              <a:t>Aus dem </a:t>
            </a:r>
            <a:r>
              <a:rPr lang="de-DE" b="0" smtClean="0"/>
              <a:t>temperaturabhängigen </a:t>
            </a:r>
            <a:r>
              <a:rPr lang="de-DE" b="0"/>
              <a:t>Widerstand wird anschließend die Temperatur </a:t>
            </a:r>
            <a:r>
              <a:rPr lang="de-DE" b="0" smtClean="0"/>
              <a:t>bestimmt.</a:t>
            </a:r>
          </a:p>
          <a:p>
            <a:endParaRPr lang="de-DE" sz="900" b="0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Temperatursensoren?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10" name="Nach links gekrümmter Pfeil 9"/>
          <p:cNvSpPr/>
          <p:nvPr/>
        </p:nvSpPr>
        <p:spPr>
          <a:xfrm rot="19484842">
            <a:off x="6634479" y="1736689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2" name="Nach links gekrümmter Pfeil 11"/>
          <p:cNvSpPr/>
          <p:nvPr/>
        </p:nvSpPr>
        <p:spPr>
          <a:xfrm rot="19484842">
            <a:off x="8238680" y="2454929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3" name="Nach links gekrümmter Pfeil 12"/>
          <p:cNvSpPr/>
          <p:nvPr/>
        </p:nvSpPr>
        <p:spPr>
          <a:xfrm rot="19484842">
            <a:off x="9842875" y="2964427"/>
            <a:ext cx="1341120" cy="1432560"/>
          </a:xfrm>
          <a:prstGeom prst="curvedLef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05000637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1174314" y="1155209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r>
              <a:rPr lang="de-DE" dirty="0" smtClean="0"/>
              <a:t>= Heißleiter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Widerstand sinkt mit steigender Temperatur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________ </a:t>
            </a:r>
            <a:r>
              <a:rPr lang="de-DE" dirty="0"/>
              <a:t>Temperaturkoeffizient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/>
              <a:t>Englisches Akronym: </a:t>
            </a:r>
            <a:r>
              <a:rPr lang="de-DE" dirty="0" smtClean="0"/>
              <a:t>NTC</a:t>
            </a:r>
          </a:p>
        </p:txBody>
      </p:sp>
      <p:sp>
        <p:nvSpPr>
          <p:cNvPr id="9" name="Rechteck 8"/>
          <p:cNvSpPr/>
          <p:nvPr/>
        </p:nvSpPr>
        <p:spPr>
          <a:xfrm>
            <a:off x="1174312" y="2883660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Arbeitsweise basiert auf Halbleiterphysik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____ freie Ladungsträger bei höherer Temperatur</a:t>
            </a:r>
            <a:endParaRPr lang="de-DE" dirty="0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Erhöhte _____________</a:t>
            </a:r>
            <a:endParaRPr lang="de-DE" dirty="0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Verringerter Widerstand 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NTC-Sensoren?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5</a:t>
            </a:fld>
            <a:endParaRPr lang="de-DE"/>
          </a:p>
        </p:txBody>
      </p:sp>
      <p:pic>
        <p:nvPicPr>
          <p:cNvPr id="13" name="Picture 2" descr="https://rn-wissen.de/wiki/images/d/d6/Schaltzeichen_ntcptc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9" b="52050"/>
          <a:stretch/>
        </p:blipFill>
        <p:spPr bwMode="auto">
          <a:xfrm>
            <a:off x="7077983" y="2339159"/>
            <a:ext cx="3546838" cy="18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077983" y="4138971"/>
            <a:ext cx="4230097" cy="218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rn-wissen.de/wiki/images/d/d6/Schaltzeichen_ntcptc.PNG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7" name="Rechteck 16"/>
          <p:cNvSpPr/>
          <p:nvPr/>
        </p:nvSpPr>
        <p:spPr>
          <a:xfrm>
            <a:off x="1174314" y="4596122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Material</a:t>
            </a:r>
            <a:r>
              <a:rPr lang="de-DE" smtClean="0"/>
              <a:t>: Halbleiter</a:t>
            </a:r>
            <a:endParaRPr lang="de-DE" dirty="0"/>
          </a:p>
        </p:txBody>
      </p:sp>
      <p:sp>
        <p:nvSpPr>
          <p:cNvPr id="18" name="Rechteck 17"/>
          <p:cNvSpPr/>
          <p:nvPr/>
        </p:nvSpPr>
        <p:spPr>
          <a:xfrm>
            <a:off x="1174314" y="5208583"/>
            <a:ext cx="4699577" cy="646331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Anwendung: </a:t>
            </a:r>
            <a:r>
              <a:rPr lang="de-DE" smtClean="0"/>
              <a:t>Präzise Temperaturmessung </a:t>
            </a:r>
            <a:r>
              <a:rPr lang="de-DE" dirty="0" smtClean="0"/>
              <a:t>(z.B. Thermometer)</a:t>
            </a:r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6" name="Abgerundetes Rechteck 15"/>
          <p:cNvSpPr/>
          <p:nvPr/>
        </p:nvSpPr>
        <p:spPr>
          <a:xfrm>
            <a:off x="1174314" y="1155209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bgerundetes Rechteck 18"/>
          <p:cNvSpPr/>
          <p:nvPr/>
        </p:nvSpPr>
        <p:spPr>
          <a:xfrm>
            <a:off x="1174313" y="2871027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bgerundetes Rechteck 19"/>
          <p:cNvSpPr/>
          <p:nvPr/>
        </p:nvSpPr>
        <p:spPr>
          <a:xfrm>
            <a:off x="1174313" y="4596122"/>
            <a:ext cx="4699577" cy="369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bgerundetes Rechteck 20"/>
          <p:cNvSpPr/>
          <p:nvPr/>
        </p:nvSpPr>
        <p:spPr>
          <a:xfrm>
            <a:off x="1174312" y="5208582"/>
            <a:ext cx="4699577" cy="646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864079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174314" y="4596122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Material</a:t>
            </a:r>
            <a:r>
              <a:rPr lang="de-DE" smtClean="0"/>
              <a:t>: Halbleiter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>
          <a:xfrm>
            <a:off x="1174314" y="1155209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r>
              <a:rPr lang="de-DE" dirty="0" smtClean="0"/>
              <a:t>= Heißleiter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Widerstand sinkt mit steigender Temperatur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/>
              <a:t>Negativer Temperaturkoeffizient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/>
              <a:t>Englisches Akronym: </a:t>
            </a:r>
            <a:r>
              <a:rPr lang="de-DE" dirty="0" smtClean="0"/>
              <a:t>NTC</a:t>
            </a:r>
          </a:p>
        </p:txBody>
      </p:sp>
      <p:sp>
        <p:nvSpPr>
          <p:cNvPr id="9" name="Rechteck 8"/>
          <p:cNvSpPr/>
          <p:nvPr/>
        </p:nvSpPr>
        <p:spPr>
          <a:xfrm>
            <a:off x="1174314" y="2875666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Arbeitsweise basiert auf Halbleiterphysik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/>
              <a:t>Mehr freie Ladungsträger bei höherer Temperatur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Erhöhte </a:t>
            </a:r>
            <a:r>
              <a:rPr lang="de-DE" dirty="0" smtClean="0"/>
              <a:t>Leitfähigkeit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Verringerter Widerstand </a:t>
            </a:r>
            <a:endParaRPr lang="de-DE" dirty="0"/>
          </a:p>
        </p:txBody>
      </p:sp>
      <p:sp>
        <p:nvSpPr>
          <p:cNvPr id="12" name="Rechteck 11"/>
          <p:cNvSpPr/>
          <p:nvPr/>
        </p:nvSpPr>
        <p:spPr>
          <a:xfrm>
            <a:off x="1174314" y="5208583"/>
            <a:ext cx="4699577" cy="646331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Anwendung: </a:t>
            </a:r>
            <a:r>
              <a:rPr lang="de-DE" smtClean="0"/>
              <a:t>Präzise Temperaturmessung </a:t>
            </a:r>
            <a:r>
              <a:rPr lang="de-DE" dirty="0" smtClean="0"/>
              <a:t>(z.B. Thermometer)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NTC-Sensoren?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6</a:t>
            </a:fld>
            <a:endParaRPr lang="de-DE"/>
          </a:p>
        </p:txBody>
      </p:sp>
      <p:pic>
        <p:nvPicPr>
          <p:cNvPr id="13" name="Picture 2" descr="https://rn-wissen.de/wiki/images/d/d6/Schaltzeichen_ntcptc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9" b="52050"/>
          <a:stretch/>
        </p:blipFill>
        <p:spPr bwMode="auto">
          <a:xfrm>
            <a:off x="7077983" y="2339159"/>
            <a:ext cx="3546838" cy="18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077983" y="4138971"/>
            <a:ext cx="4230097" cy="218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rn-wissen.de/wiki/images/d/d6/Schaltzeichen_ntcptc.PNG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3" name="Abgerundetes Rechteck 2"/>
          <p:cNvSpPr/>
          <p:nvPr/>
        </p:nvSpPr>
        <p:spPr>
          <a:xfrm>
            <a:off x="1174314" y="1155209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16"/>
          <p:cNvSpPr/>
          <p:nvPr/>
        </p:nvSpPr>
        <p:spPr>
          <a:xfrm>
            <a:off x="1174313" y="2871027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bgerundetes Rechteck 17"/>
          <p:cNvSpPr/>
          <p:nvPr/>
        </p:nvSpPr>
        <p:spPr>
          <a:xfrm>
            <a:off x="1174313" y="4596122"/>
            <a:ext cx="4699577" cy="369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bgerundetes Rechteck 18"/>
          <p:cNvSpPr/>
          <p:nvPr/>
        </p:nvSpPr>
        <p:spPr>
          <a:xfrm>
            <a:off x="1174312" y="5208582"/>
            <a:ext cx="4699577" cy="646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9291644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174314" y="4596122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Material</a:t>
            </a:r>
            <a:r>
              <a:rPr lang="de-DE" smtClean="0"/>
              <a:t>: Metalle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>
          <a:xfrm>
            <a:off x="1174314" y="1155209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r>
              <a:rPr lang="de-DE" smtClean="0"/>
              <a:t>= Kaltleiter</a:t>
            </a:r>
            <a:endParaRPr lang="de-DE" dirty="0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Widerstand sinkt mit steigender Temperatur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_____ </a:t>
            </a:r>
            <a:r>
              <a:rPr lang="de-DE" dirty="0"/>
              <a:t>Temperaturkoeffizient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/>
              <a:t>Englisches Akronym: </a:t>
            </a:r>
            <a:r>
              <a:rPr lang="de-DE" dirty="0" smtClean="0"/>
              <a:t>NTC</a:t>
            </a:r>
          </a:p>
        </p:txBody>
      </p:sp>
      <p:sp>
        <p:nvSpPr>
          <p:cNvPr id="9" name="Rechteck 8"/>
          <p:cNvSpPr/>
          <p:nvPr/>
        </p:nvSpPr>
        <p:spPr>
          <a:xfrm>
            <a:off x="1174314" y="2875666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Arbeitsweise basiert auf Halbleiterphysik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________ Beweglichkeit der Ladungsträger bei </a:t>
            </a:r>
            <a:r>
              <a:rPr lang="de-DE"/>
              <a:t>höherer Temperatur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Verringerte _____________</a:t>
            </a:r>
            <a:endParaRPr lang="de-DE" dirty="0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Erhöhter </a:t>
            </a:r>
            <a:r>
              <a:rPr lang="de-DE" dirty="0" smtClean="0"/>
              <a:t>Widerstand </a:t>
            </a:r>
            <a:endParaRPr lang="de-DE" dirty="0"/>
          </a:p>
        </p:txBody>
      </p:sp>
      <p:sp>
        <p:nvSpPr>
          <p:cNvPr id="12" name="Rechteck 11"/>
          <p:cNvSpPr/>
          <p:nvPr/>
        </p:nvSpPr>
        <p:spPr>
          <a:xfrm>
            <a:off x="1174314" y="5208583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Anwendung</a:t>
            </a:r>
            <a:r>
              <a:rPr lang="de-DE" smtClean="0"/>
              <a:t>: Temperaturregelung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PTC-Sensoren?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3" name="Picture 2" descr="https://rn-wissen.de/wiki/images/d/d6/Schaltzeichen_ntcptc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966"/>
          <a:stretch/>
        </p:blipFill>
        <p:spPr bwMode="auto">
          <a:xfrm>
            <a:off x="7077983" y="2236782"/>
            <a:ext cx="3546838" cy="2120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077983" y="4138971"/>
            <a:ext cx="4230097" cy="218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rn-wissen.de/wiki/images/d/d6/Schaltzeichen_ntcptc.PNG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7" name="Abgerundetes Rechteck 16"/>
          <p:cNvSpPr/>
          <p:nvPr/>
        </p:nvSpPr>
        <p:spPr>
          <a:xfrm>
            <a:off x="1174314" y="1155209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bgerundetes Rechteck 17"/>
          <p:cNvSpPr/>
          <p:nvPr/>
        </p:nvSpPr>
        <p:spPr>
          <a:xfrm>
            <a:off x="1174313" y="2871027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bgerundetes Rechteck 18"/>
          <p:cNvSpPr/>
          <p:nvPr/>
        </p:nvSpPr>
        <p:spPr>
          <a:xfrm>
            <a:off x="1174313" y="4596122"/>
            <a:ext cx="4699577" cy="369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bgerundetes Rechteck 19"/>
          <p:cNvSpPr/>
          <p:nvPr/>
        </p:nvSpPr>
        <p:spPr>
          <a:xfrm>
            <a:off x="1174312" y="5208582"/>
            <a:ext cx="4699577" cy="3794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679592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174314" y="4596122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Material</a:t>
            </a:r>
            <a:r>
              <a:rPr lang="de-DE" smtClean="0"/>
              <a:t>: Metalle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>
          <a:xfrm>
            <a:off x="1174314" y="1155209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r>
              <a:rPr lang="de-DE" smtClean="0"/>
              <a:t>= Kaltleiter</a:t>
            </a:r>
            <a:endParaRPr lang="de-DE" dirty="0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Widerstand steigt </a:t>
            </a:r>
            <a:r>
              <a:rPr lang="de-DE" dirty="0" smtClean="0"/>
              <a:t>mit steigender Temperatur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positiver </a:t>
            </a:r>
            <a:r>
              <a:rPr lang="de-DE" dirty="0"/>
              <a:t>Temperaturkoeffizient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/>
              <a:t>Englisches Akronym</a:t>
            </a:r>
            <a:r>
              <a:rPr lang="de-DE"/>
              <a:t>: </a:t>
            </a:r>
            <a:r>
              <a:rPr lang="de-DE" dirty="0"/>
              <a:t>P</a:t>
            </a:r>
            <a:r>
              <a:rPr lang="de-DE" smtClean="0"/>
              <a:t>TC</a:t>
            </a:r>
            <a:endParaRPr lang="de-DE" dirty="0" smtClean="0"/>
          </a:p>
        </p:txBody>
      </p:sp>
      <p:sp>
        <p:nvSpPr>
          <p:cNvPr id="9" name="Rechteck 8"/>
          <p:cNvSpPr/>
          <p:nvPr/>
        </p:nvSpPr>
        <p:spPr>
          <a:xfrm>
            <a:off x="1174314" y="2875666"/>
            <a:ext cx="4699577" cy="1477328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Arbeitsweise basiert auf Halbleiterphysik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Geringere Beweglichkeit der Ladungsträger bei </a:t>
            </a:r>
            <a:r>
              <a:rPr lang="de-DE"/>
              <a:t>höherer Temperatur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Verringerte </a:t>
            </a:r>
            <a:r>
              <a:rPr lang="de-DE" dirty="0" smtClean="0"/>
              <a:t>Leitfähigkeit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Erhöhter </a:t>
            </a:r>
            <a:r>
              <a:rPr lang="de-DE" dirty="0" smtClean="0"/>
              <a:t>Widerstand </a:t>
            </a:r>
            <a:endParaRPr lang="de-DE" dirty="0"/>
          </a:p>
        </p:txBody>
      </p:sp>
      <p:sp>
        <p:nvSpPr>
          <p:cNvPr id="12" name="Rechteck 11"/>
          <p:cNvSpPr/>
          <p:nvPr/>
        </p:nvSpPr>
        <p:spPr>
          <a:xfrm>
            <a:off x="1174314" y="5208583"/>
            <a:ext cx="4699577" cy="369332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dirty="0" smtClean="0"/>
              <a:t>Anwendung</a:t>
            </a:r>
            <a:r>
              <a:rPr lang="de-DE" smtClean="0"/>
              <a:t>: Temperaturregelung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funktionieren PTC-Sensoren?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3074" name="Picture 2" descr="https://rn-wissen.de/wiki/images/d/d6/Schaltzeichen_ntcptc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966"/>
          <a:stretch/>
        </p:blipFill>
        <p:spPr bwMode="auto">
          <a:xfrm>
            <a:off x="7077983" y="2236782"/>
            <a:ext cx="3546838" cy="2120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077983" y="4138971"/>
            <a:ext cx="4230097" cy="218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rn-wissen.de/wiki/images/d/d6/Schaltzeichen_ntcptc.PNG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4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6" name="Abgerundetes Rechteck 15"/>
          <p:cNvSpPr/>
          <p:nvPr/>
        </p:nvSpPr>
        <p:spPr>
          <a:xfrm>
            <a:off x="1174314" y="1155209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16"/>
          <p:cNvSpPr/>
          <p:nvPr/>
        </p:nvSpPr>
        <p:spPr>
          <a:xfrm>
            <a:off x="1174313" y="2871027"/>
            <a:ext cx="4699577" cy="147732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bgerundetes Rechteck 17"/>
          <p:cNvSpPr/>
          <p:nvPr/>
        </p:nvSpPr>
        <p:spPr>
          <a:xfrm>
            <a:off x="1174313" y="4596122"/>
            <a:ext cx="4699577" cy="36933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bgerundetes Rechteck 18"/>
          <p:cNvSpPr/>
          <p:nvPr/>
        </p:nvSpPr>
        <p:spPr>
          <a:xfrm>
            <a:off x="1174312" y="5208582"/>
            <a:ext cx="4699577" cy="3794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760683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Kurve gehört zu welchem Sensor?</a:t>
            </a:r>
            <a:endParaRPr lang="de-DE" b="1" dirty="0"/>
          </a:p>
        </p:txBody>
      </p:sp>
      <p:pic>
        <p:nvPicPr>
          <p:cNvPr id="5122" name="Picture 2" descr="Elektrotechnik Fachbuch – Grundlagen der Elektrotechnik – 4 Elektrische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4015" y="1206774"/>
            <a:ext cx="5983967" cy="4095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3104015" y="5302468"/>
            <a:ext cx="5983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www.startpage.com/av/proxy-image?piurl=https%3A%2F%2Fwww.elektrotechnik-fachbuch.de%2Fimg%2FKalt_und_Heissleiter.gif&amp;sp=1767796783T05f73c1a8073f256ef2546e02e5ec1d380cd5e7cdac181386177771b10a01064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9" name="Rechteck 8"/>
          <p:cNvSpPr/>
          <p:nvPr/>
        </p:nvSpPr>
        <p:spPr>
          <a:xfrm rot="2372274">
            <a:off x="6109832" y="1831225"/>
            <a:ext cx="1126671" cy="6792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/>
          <p:cNvSpPr/>
          <p:nvPr/>
        </p:nvSpPr>
        <p:spPr>
          <a:xfrm>
            <a:off x="7287986" y="3254621"/>
            <a:ext cx="1126671" cy="783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/>
          <p:cNvSpPr/>
          <p:nvPr/>
        </p:nvSpPr>
        <p:spPr>
          <a:xfrm>
            <a:off x="5568043" y="1796143"/>
            <a:ext cx="996043" cy="83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/>
          <p:cNvSpPr/>
          <p:nvPr/>
        </p:nvSpPr>
        <p:spPr>
          <a:xfrm rot="5761018">
            <a:off x="6586020" y="3186987"/>
            <a:ext cx="1126671" cy="6792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14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26531928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Kurve gehört zu welchem Sensor?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pic>
        <p:nvPicPr>
          <p:cNvPr id="5122" name="Picture 2" descr="Elektrotechnik Fachbuch – Grundlagen der Elektrotechnik – 4 Elektrische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4015" y="1206774"/>
            <a:ext cx="5983967" cy="4095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3104015" y="5302468"/>
            <a:ext cx="5983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www.startpage.com/av/proxy-image?piurl=https%3A%2F%2Fwww.elektrotechnik-fachbuch.de%2Fimg%2FKalt_und_Heissleiter.gif&amp;sp=1767796783T05f73c1a8073f256ef2546e02e5ec1d380cd5e7cdac181386177771b10a01064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520165849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/>
          <p:cNvSpPr/>
          <p:nvPr/>
        </p:nvSpPr>
        <p:spPr>
          <a:xfrm>
            <a:off x="709237" y="1478132"/>
            <a:ext cx="3301662" cy="111543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berechnet sich die Temperatur bei NTC-Sensoren</a:t>
            </a:r>
            <a:r>
              <a:rPr lang="de-DE" b="1" smtClean="0">
                <a:sym typeface="Wingdings" panose="05000000000000000000" pitchFamily="2" charset="2"/>
              </a:rPr>
              <a:t>?</a:t>
            </a:r>
            <a:endParaRPr lang="de-DE" b="1" dirty="0"/>
          </a:p>
        </p:txBody>
      </p:sp>
      <p:sp>
        <p:nvSpPr>
          <p:cNvPr id="3" name="Textfeld 2"/>
          <p:cNvSpPr txBox="1"/>
          <p:nvPr/>
        </p:nvSpPr>
        <p:spPr>
          <a:xfrm>
            <a:off x="717550" y="1108800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Beta-Formel: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/>
              <p:cNvSpPr txBox="1"/>
              <p:nvPr/>
            </p:nvSpPr>
            <p:spPr>
              <a:xfrm>
                <a:off x="717550" y="1581713"/>
                <a:ext cx="3301662" cy="9380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(</m:t>
                          </m:r>
                          <m:f>
                            <m:f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 </m:t>
                          </m:r>
                          <m:f>
                            <m:f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9" name="Textfeld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0" y="1581713"/>
                <a:ext cx="3301662" cy="9380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/>
          <p:cNvSpPr txBox="1"/>
          <p:nvPr/>
        </p:nvSpPr>
        <p:spPr>
          <a:xfrm>
            <a:off x="788670" y="3581532"/>
            <a:ext cx="2483372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u="sng"/>
              <a:t>g</a:t>
            </a:r>
            <a:r>
              <a:rPr lang="de-DE" u="sng" smtClean="0"/>
              <a:t>eg.:</a:t>
            </a:r>
          </a:p>
          <a:p>
            <a:endParaRPr lang="de-DE"/>
          </a:p>
          <a:p>
            <a:r>
              <a:rPr lang="de-DE" smtClean="0"/>
              <a:t>B = 4069 K</a:t>
            </a:r>
          </a:p>
          <a:p>
            <a:r>
              <a:rPr lang="de-DE" smtClean="0"/>
              <a:t>R0 = 5000 </a:t>
            </a:r>
            <a:r>
              <a:rPr lang="el-GR" smtClean="0"/>
              <a:t>Ω</a:t>
            </a:r>
            <a:endParaRPr lang="de-DE" smtClean="0"/>
          </a:p>
          <a:p>
            <a:r>
              <a:rPr lang="de-DE" smtClean="0"/>
              <a:t>R(T) = 5500 </a:t>
            </a:r>
            <a:r>
              <a:rPr lang="el-GR"/>
              <a:t>Ω</a:t>
            </a:r>
            <a:endParaRPr lang="de-DE"/>
          </a:p>
          <a:p>
            <a:r>
              <a:rPr lang="de-DE" smtClean="0">
                <a:sym typeface="Wingdings" panose="05000000000000000000" pitchFamily="2" charset="2"/>
              </a:rPr>
              <a:t>T0 = 25 °C = 298,15 K</a:t>
            </a:r>
          </a:p>
        </p:txBody>
      </p:sp>
      <p:sp>
        <p:nvSpPr>
          <p:cNvPr id="14" name="Textfeld 13"/>
          <p:cNvSpPr txBox="1"/>
          <p:nvPr/>
        </p:nvSpPr>
        <p:spPr>
          <a:xfrm>
            <a:off x="3739521" y="3577263"/>
            <a:ext cx="684803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u="sng" smtClean="0"/>
              <a:t>ges.:</a:t>
            </a:r>
          </a:p>
          <a:p>
            <a:endParaRPr lang="de-DE"/>
          </a:p>
          <a:p>
            <a:r>
              <a:rPr lang="de-DE" smtClean="0"/>
              <a:t>T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smtClean="0">
              <a:sym typeface="Wingdings" panose="05000000000000000000" pitchFamily="2" charset="2"/>
            </a:endParaRPr>
          </a:p>
          <a:p>
            <a:endParaRPr lang="de-DE" smtClean="0"/>
          </a:p>
          <a:p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4154152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bgerundetes Rechteck 21"/>
          <p:cNvSpPr/>
          <p:nvPr/>
        </p:nvSpPr>
        <p:spPr>
          <a:xfrm>
            <a:off x="4837748" y="1336518"/>
            <a:ext cx="3744537" cy="149812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bgerundetes Rechteck 20"/>
          <p:cNvSpPr/>
          <p:nvPr/>
        </p:nvSpPr>
        <p:spPr>
          <a:xfrm>
            <a:off x="709237" y="1478132"/>
            <a:ext cx="3301662" cy="1115439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berechnet sich die Temperatur bei NTC-Sensoren?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3" name="Textfeld 2"/>
          <p:cNvSpPr txBox="1"/>
          <p:nvPr/>
        </p:nvSpPr>
        <p:spPr>
          <a:xfrm>
            <a:off x="717550" y="1108800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Beta-Formel: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/>
              <p:cNvSpPr txBox="1"/>
              <p:nvPr/>
            </p:nvSpPr>
            <p:spPr>
              <a:xfrm>
                <a:off x="717550" y="1581713"/>
                <a:ext cx="3301662" cy="9380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(</m:t>
                          </m:r>
                          <m:f>
                            <m:f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 </m:t>
                          </m:r>
                          <m:f>
                            <m:f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9" name="Textfeld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0" y="1581713"/>
                <a:ext cx="3301662" cy="9380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/>
              <p:cNvSpPr txBox="1"/>
              <p:nvPr/>
            </p:nvSpPr>
            <p:spPr>
              <a:xfrm>
                <a:off x="4829436" y="1336518"/>
                <a:ext cx="3752850" cy="14284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func>
                            <m:func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32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  <m:d>
                                        <m:dPr>
                                          <m:ctrlPr>
                                            <a:rPr lang="de-DE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de-DE" sz="32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  <m:r>
                                        <a:rPr lang="de-DE" sz="3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f>
                            <m:f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num>
                            <m:den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den>
                      </m:f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2" name="Textfeld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9436" y="1336518"/>
                <a:ext cx="3752850" cy="14284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feil nach rechts 3"/>
          <p:cNvSpPr/>
          <p:nvPr/>
        </p:nvSpPr>
        <p:spPr>
          <a:xfrm>
            <a:off x="4097130" y="1883080"/>
            <a:ext cx="654388" cy="3352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/>
          <p:cNvSpPr txBox="1"/>
          <p:nvPr/>
        </p:nvSpPr>
        <p:spPr>
          <a:xfrm>
            <a:off x="788670" y="3581532"/>
            <a:ext cx="2483372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u="sng"/>
              <a:t>g</a:t>
            </a:r>
            <a:r>
              <a:rPr lang="de-DE" u="sng" smtClean="0"/>
              <a:t>eg.:</a:t>
            </a:r>
          </a:p>
          <a:p>
            <a:endParaRPr lang="de-DE"/>
          </a:p>
          <a:p>
            <a:r>
              <a:rPr lang="de-DE" smtClean="0"/>
              <a:t>B = 4069 K</a:t>
            </a:r>
          </a:p>
          <a:p>
            <a:r>
              <a:rPr lang="de-DE" smtClean="0"/>
              <a:t>R0 = 5000 </a:t>
            </a:r>
            <a:r>
              <a:rPr lang="el-GR" smtClean="0"/>
              <a:t>Ω</a:t>
            </a:r>
            <a:endParaRPr lang="de-DE" smtClean="0"/>
          </a:p>
          <a:p>
            <a:r>
              <a:rPr lang="de-DE" smtClean="0"/>
              <a:t>R(T) = 5500 </a:t>
            </a:r>
            <a:r>
              <a:rPr lang="el-GR"/>
              <a:t>Ω</a:t>
            </a:r>
            <a:endParaRPr lang="de-DE"/>
          </a:p>
          <a:p>
            <a:r>
              <a:rPr lang="de-DE" smtClean="0">
                <a:sym typeface="Wingdings" panose="05000000000000000000" pitchFamily="2" charset="2"/>
              </a:rPr>
              <a:t>T0 = 25 °C = 298,15 K</a:t>
            </a:r>
          </a:p>
        </p:txBody>
      </p:sp>
      <p:sp>
        <p:nvSpPr>
          <p:cNvPr id="14" name="Textfeld 13"/>
          <p:cNvSpPr txBox="1"/>
          <p:nvPr/>
        </p:nvSpPr>
        <p:spPr>
          <a:xfrm>
            <a:off x="3739521" y="3577263"/>
            <a:ext cx="68480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u="sng" smtClean="0"/>
              <a:t>ges.:</a:t>
            </a:r>
          </a:p>
          <a:p>
            <a:endParaRPr lang="de-DE"/>
          </a:p>
          <a:p>
            <a:r>
              <a:rPr lang="de-DE" smtClean="0"/>
              <a:t>T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smtClean="0">
              <a:sym typeface="Wingdings" panose="05000000000000000000" pitchFamily="2" charset="2"/>
            </a:endParaRPr>
          </a:p>
          <a:p>
            <a:endParaRPr lang="de-DE" smtClean="0"/>
          </a:p>
          <a:p>
            <a:endParaRPr lang="de-DE"/>
          </a:p>
        </p:txBody>
      </p:sp>
      <p:sp>
        <p:nvSpPr>
          <p:cNvPr id="15" name="Textfeld 14"/>
          <p:cNvSpPr txBox="1"/>
          <p:nvPr/>
        </p:nvSpPr>
        <p:spPr>
          <a:xfrm>
            <a:off x="6021058" y="3577264"/>
            <a:ext cx="267156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u="sng" smtClean="0"/>
              <a:t>Lsg.:</a:t>
            </a:r>
          </a:p>
          <a:p>
            <a:endParaRPr lang="de-DE"/>
          </a:p>
          <a:p>
            <a:r>
              <a:rPr lang="de-DE" smtClean="0"/>
              <a:t>T = 296,08 K = 22,93 °C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smtClean="0">
              <a:sym typeface="Wingdings" panose="05000000000000000000" pitchFamily="2" charset="2"/>
            </a:endParaRPr>
          </a:p>
          <a:p>
            <a:endParaRPr lang="de-DE" smtClean="0"/>
          </a:p>
          <a:p>
            <a:endParaRPr lang="de-DE"/>
          </a:p>
          <a:p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49230039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8619" y="0"/>
            <a:ext cx="6853380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Anwendung            NTC-Sensor</a:t>
            </a:r>
            <a:endParaRPr lang="de-DE" sz="4800" b="1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13</a:t>
            </a:fld>
            <a:endParaRPr lang="de-DE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1" y="1347932"/>
            <a:ext cx="4168485" cy="416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001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 NTC-Sensor verschaltet?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2411094" y="1425954"/>
            <a:ext cx="7369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___ </a:t>
            </a:r>
            <a:r>
              <a:rPr lang="de-DE" smtClean="0"/>
              <a:t>── </a:t>
            </a:r>
            <a:r>
              <a:rPr lang="de-DE">
                <a:solidFill>
                  <a:schemeClr val="accent6"/>
                </a:solidFill>
              </a:rPr>
              <a:t>[ Rfix </a:t>
            </a:r>
            <a:r>
              <a:rPr lang="de-DE" smtClean="0">
                <a:solidFill>
                  <a:schemeClr val="accent6"/>
                </a:solidFill>
              </a:rPr>
              <a:t>] </a:t>
            </a:r>
            <a:r>
              <a:rPr lang="de-DE" smtClean="0"/>
              <a:t>── </a:t>
            </a:r>
            <a:r>
              <a:rPr lang="de-DE">
                <a:solidFill>
                  <a:srgbClr val="FFC000"/>
                </a:solidFill>
              </a:rPr>
              <a:t>GPIO-Pin</a:t>
            </a:r>
            <a:r>
              <a:rPr lang="de-DE"/>
              <a:t> </a:t>
            </a:r>
            <a:r>
              <a:rPr lang="de-DE" smtClean="0"/>
              <a:t>(ADC, </a:t>
            </a:r>
            <a:r>
              <a:rPr lang="de-DE"/>
              <a:t>z. B. </a:t>
            </a:r>
            <a:r>
              <a:rPr lang="de-DE" smtClean="0"/>
              <a:t>_____) ── </a:t>
            </a:r>
            <a:r>
              <a:rPr lang="de-DE" smtClean="0">
                <a:solidFill>
                  <a:schemeClr val="bg2"/>
                </a:solidFill>
              </a:rPr>
              <a:t>___</a:t>
            </a:r>
            <a:r>
              <a:rPr lang="de-DE" smtClean="0"/>
              <a:t> ── GND</a:t>
            </a:r>
          </a:p>
          <a:p>
            <a:r>
              <a:rPr lang="de-DE"/>
              <a:t>           </a:t>
            </a:r>
            <a:r>
              <a:rPr lang="de-DE" smtClean="0"/>
              <a:t>z.B</a:t>
            </a:r>
            <a:r>
              <a:rPr lang="de-DE"/>
              <a:t>. </a:t>
            </a:r>
            <a:r>
              <a:rPr lang="de-DE" smtClean="0"/>
              <a:t>____</a:t>
            </a:r>
            <a:endParaRPr lang="de-DE"/>
          </a:p>
        </p:txBody>
      </p:sp>
      <p:sp>
        <p:nvSpPr>
          <p:cNvPr id="9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3" name="Grafik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688" y="2101383"/>
            <a:ext cx="4074622" cy="407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27706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 NTC-Sensor verschaltet?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966" y="2072285"/>
            <a:ext cx="3060065" cy="3937388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565966" y="6009673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4" name="Rechteck 13"/>
          <p:cNvSpPr/>
          <p:nvPr/>
        </p:nvSpPr>
        <p:spPr>
          <a:xfrm>
            <a:off x="2411093" y="1425600"/>
            <a:ext cx="7369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3.3V </a:t>
            </a:r>
            <a:r>
              <a:rPr lang="de-DE" smtClean="0"/>
              <a:t>── </a:t>
            </a:r>
            <a:r>
              <a:rPr lang="de-DE">
                <a:solidFill>
                  <a:schemeClr val="accent6"/>
                </a:solidFill>
              </a:rPr>
              <a:t>[ Rfix </a:t>
            </a:r>
            <a:r>
              <a:rPr lang="de-DE" smtClean="0">
                <a:solidFill>
                  <a:schemeClr val="accent6"/>
                </a:solidFill>
              </a:rPr>
              <a:t>] </a:t>
            </a:r>
            <a:r>
              <a:rPr lang="de-DE" smtClean="0"/>
              <a:t>── </a:t>
            </a:r>
            <a:r>
              <a:rPr lang="de-DE">
                <a:solidFill>
                  <a:srgbClr val="FFC000"/>
                </a:solidFill>
              </a:rPr>
              <a:t>GPIO-Pin</a:t>
            </a:r>
            <a:r>
              <a:rPr lang="de-DE"/>
              <a:t> </a:t>
            </a:r>
            <a:r>
              <a:rPr lang="de-DE" smtClean="0"/>
              <a:t>(ADC, </a:t>
            </a:r>
            <a:r>
              <a:rPr lang="de-DE"/>
              <a:t>z. B. </a:t>
            </a:r>
            <a:r>
              <a:rPr lang="de-DE" smtClean="0"/>
              <a:t>GPIO34) ── </a:t>
            </a:r>
            <a:r>
              <a:rPr lang="de-DE" smtClean="0">
                <a:solidFill>
                  <a:schemeClr val="bg2"/>
                </a:solidFill>
              </a:rPr>
              <a:t>NTC</a:t>
            </a:r>
            <a:r>
              <a:rPr lang="de-DE" smtClean="0"/>
              <a:t> ── GND</a:t>
            </a:r>
          </a:p>
          <a:p>
            <a:r>
              <a:rPr lang="de-DE"/>
              <a:t>           </a:t>
            </a:r>
            <a:r>
              <a:rPr lang="de-DE" smtClean="0"/>
              <a:t>z.B</a:t>
            </a:r>
            <a:r>
              <a:rPr lang="de-DE"/>
              <a:t>. 10 </a:t>
            </a:r>
            <a:r>
              <a:rPr lang="de-DE" smtClean="0"/>
              <a:t>kΩ</a:t>
            </a:r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67041144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/>
          <p:cNvSpPr/>
          <p:nvPr/>
        </p:nvSpPr>
        <p:spPr>
          <a:xfrm>
            <a:off x="7392687" y="4238625"/>
            <a:ext cx="884537" cy="200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 NTC-Sensor programmiert?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1151657"/>
            <a:ext cx="4760153" cy="2466000"/>
          </a:xfrm>
          <a:prstGeom prst="rect">
            <a:avLst/>
          </a:prstGeom>
        </p:spPr>
      </p:pic>
      <p:pic>
        <p:nvPicPr>
          <p:cNvPr id="4" name="Grafik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989" y="2154411"/>
            <a:ext cx="5594907" cy="381960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888989" y="5974011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363148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2615848297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1851660" y="1785828"/>
            <a:ext cx="213360" cy="1641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/>
          <p:cNvSpPr/>
          <p:nvPr/>
        </p:nvSpPr>
        <p:spPr>
          <a:xfrm>
            <a:off x="2842260" y="1950024"/>
            <a:ext cx="556260" cy="1835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/>
          <p:cNvSpPr/>
          <p:nvPr/>
        </p:nvSpPr>
        <p:spPr>
          <a:xfrm>
            <a:off x="3032760" y="2152211"/>
            <a:ext cx="495300" cy="1835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/>
          <p:cNvSpPr/>
          <p:nvPr/>
        </p:nvSpPr>
        <p:spPr>
          <a:xfrm>
            <a:off x="3139440" y="2356007"/>
            <a:ext cx="327660" cy="164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2678430" y="2502845"/>
            <a:ext cx="461010" cy="193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/>
          <p:cNvSpPr/>
          <p:nvPr/>
        </p:nvSpPr>
        <p:spPr>
          <a:xfrm>
            <a:off x="2049163" y="2695999"/>
            <a:ext cx="370187" cy="171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/>
          <p:cNvSpPr/>
          <p:nvPr/>
        </p:nvSpPr>
        <p:spPr>
          <a:xfrm>
            <a:off x="2039638" y="2895600"/>
            <a:ext cx="217788" cy="16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7392687" y="4238625"/>
            <a:ext cx="884537" cy="200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9469137" y="2976562"/>
            <a:ext cx="468000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 NTC-Sensor programmiert?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363148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2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1167311"/>
            <a:ext cx="4696279" cy="2464469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1074057" y="2438244"/>
            <a:ext cx="1494972" cy="343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/>
          <p:cNvSpPr txBox="1"/>
          <p:nvPr/>
        </p:nvSpPr>
        <p:spPr>
          <a:xfrm>
            <a:off x="697663" y="4117046"/>
            <a:ext cx="24003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smtClean="0">
                <a:solidFill>
                  <a:srgbClr val="FF0000"/>
                </a:solidFill>
              </a:rPr>
              <a:t>ACHTUNG: </a:t>
            </a:r>
          </a:p>
          <a:p>
            <a:r>
              <a:rPr lang="de-DE" sz="1400" smtClean="0">
                <a:solidFill>
                  <a:srgbClr val="FF0000"/>
                </a:solidFill>
              </a:rPr>
              <a:t>Werte sind abhängig von vorhandenem Sensor; B-Wert muss (wenn nicht von Hersteller angegeben) bei von Folie 12 abweichenden gegebenen Werten neu berechnet werden</a:t>
            </a:r>
            <a:endParaRPr lang="de-DE" sz="1400">
              <a:solidFill>
                <a:srgbClr val="FF0000"/>
              </a:solidFill>
            </a:endParaRPr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989" y="2155675"/>
            <a:ext cx="5607941" cy="3818336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888989" y="5974011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243233489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873" y="0"/>
            <a:ext cx="6687126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Praxistest                  NTC-Sensor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18</a:t>
            </a:fld>
            <a:endParaRPr lang="de-DE" dirty="0"/>
          </a:p>
        </p:txBody>
      </p:sp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443615"/>
            <a:ext cx="3970770" cy="39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677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717550" y="1041592"/>
            <a:ext cx="44735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Materialliste für Test eines NTC-Sensors:</a:t>
            </a:r>
          </a:p>
          <a:p>
            <a:endParaRPr lang="de-DE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3"/>
              </a:rPr>
              <a:t>NTC-Sensor</a:t>
            </a:r>
            <a:r>
              <a:rPr lang="de-DE" smtClean="0"/>
              <a:t> x 1 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4"/>
              </a:rPr>
              <a:t>Bread-Board</a:t>
            </a:r>
            <a:r>
              <a:rPr lang="de-DE" smtClean="0"/>
              <a:t> x 1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5"/>
              </a:rPr>
              <a:t>Jumper-Kabel</a:t>
            </a:r>
            <a:r>
              <a:rPr lang="de-DE" smtClean="0"/>
              <a:t> (Male-Male)</a:t>
            </a:r>
          </a:p>
          <a:p>
            <a:r>
              <a:rPr lang="de-DE" smtClean="0"/>
              <a:t>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6"/>
              </a:rPr>
              <a:t>Mikrocontroller</a:t>
            </a:r>
            <a:r>
              <a:rPr lang="de-DE" smtClean="0"/>
              <a:t> (ESP32) x1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7"/>
              </a:rPr>
              <a:t>Widerstand </a:t>
            </a:r>
            <a:r>
              <a:rPr lang="de-DE" smtClean="0"/>
              <a:t>10 Kohm x 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Computer mit </a:t>
            </a:r>
            <a:r>
              <a:rPr lang="de-DE" smtClean="0">
                <a:hlinkClick r:id="rId8"/>
              </a:rPr>
              <a:t>Arduino IDE</a:t>
            </a: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USB-A zu USB-C Kabel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5533" y="4492104"/>
            <a:ext cx="2118370" cy="1256176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 rotWithShape="1">
          <a:blip r:embed="rId10"/>
          <a:srcRect l="24859" b="11623"/>
          <a:stretch/>
        </p:blipFill>
        <p:spPr>
          <a:xfrm>
            <a:off x="7438624" y="2851563"/>
            <a:ext cx="1727200" cy="1278137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16991" y="392625"/>
            <a:ext cx="647790" cy="600159"/>
          </a:xfrm>
          <a:prstGeom prst="rect">
            <a:avLst/>
          </a:prstGeom>
        </p:spPr>
      </p:pic>
      <p:pic>
        <p:nvPicPr>
          <p:cNvPr id="7" name="Grafik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36638" y="3741413"/>
            <a:ext cx="2077336" cy="174958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04560" y="52362"/>
            <a:ext cx="2570890" cy="2122753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50462" y="1877948"/>
            <a:ext cx="3229426" cy="685896"/>
          </a:xfrm>
          <a:prstGeom prst="rect">
            <a:avLst/>
          </a:prstGeom>
        </p:spPr>
      </p:pic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301960" y="2350356"/>
            <a:ext cx="2965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5"/>
              </a:rPr>
              <a:t>https://cdn-reichelt.de/bilder/web/artikel_ws/B400%2FGAX.jpg?type=Product</a:t>
            </a:r>
            <a:r>
              <a:rPr lang="de-DE" sz="800" smtClean="0">
                <a:hlinkClick r:id="rId15"/>
              </a:rPr>
              <a:t>&amp;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703212" y="2175115"/>
            <a:ext cx="34422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6"/>
              </a:rPr>
              <a:t>https://asset.conrad.com/media10/isa/160267/c1/-/</a:t>
            </a:r>
            <a:r>
              <a:rPr lang="de-DE" sz="800" smtClean="0">
                <a:hlinkClick r:id="rId16"/>
              </a:rPr>
              <a:t>de/002885952PI00/image.jpg?x=1440&amp;y=1440&amp;format=jpg&amp;ex=1440&amp;ey=1440&amp;align=center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307045" y="5433353"/>
            <a:ext cx="3762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7"/>
              </a:rPr>
              <a:t>https://</a:t>
            </a:r>
            <a:r>
              <a:rPr lang="de-DE" sz="800" smtClean="0">
                <a:hlinkClick r:id="rId17"/>
              </a:rPr>
              <a:t>www.az-delivery.de/cdn/shop/products/jumper-wire-kabel-40-stk-je-20-cm-m2m-male-to-male-kompatibel-mit-arduino-und-raspberry-pi-breadboard-140806.jpg?v=1679398754&amp;width=1200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438625" y="4094970"/>
            <a:ext cx="2597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8"/>
              </a:rPr>
              <a:t>https://cdn-reichelt.de/bilder/web/artikel_ws/B400%2F%21WID1_4W.jpg?type=Product</a:t>
            </a:r>
            <a:r>
              <a:rPr lang="de-DE" sz="800" smtClean="0">
                <a:hlinkClick r:id="rId18"/>
              </a:rPr>
              <a:t>&amp;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873840" y="5712098"/>
            <a:ext cx="2868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9"/>
              </a:rPr>
              <a:t>https://</a:t>
            </a:r>
            <a:r>
              <a:rPr lang="de-DE" sz="800" smtClean="0">
                <a:hlinkClick r:id="rId19"/>
              </a:rPr>
              <a:t>www.roboter-bausatz.de/media/image/d8/f3/0e/RBS18335_600x600.jpg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616991" y="999228"/>
            <a:ext cx="2965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20"/>
              </a:rPr>
              <a:t>https://</a:t>
            </a:r>
            <a:r>
              <a:rPr lang="de-DE" sz="800" smtClean="0">
                <a:hlinkClick r:id="rId20"/>
              </a:rPr>
              <a:t>www.arduino.cc/wiki/static/arduino-app-76bd27c4ce7246825aceb8efe2871f7a.svg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8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41853504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286" y="6052699"/>
            <a:ext cx="7200000" cy="360000"/>
          </a:xfrm>
        </p:spPr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 rotWithShape="1">
          <a:blip r:embed="rId3"/>
          <a:srcRect t="9571"/>
          <a:stretch/>
        </p:blipFill>
        <p:spPr>
          <a:xfrm>
            <a:off x="7876458" y="312996"/>
            <a:ext cx="3083560" cy="2646230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1" y="3252020"/>
            <a:ext cx="3098634" cy="2867885"/>
          </a:xfrm>
          <a:prstGeom prst="rect">
            <a:avLst/>
          </a:prstGeom>
        </p:spPr>
      </p:pic>
      <p:sp>
        <p:nvSpPr>
          <p:cNvPr id="7" name="Foliennummernplatzhalt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868921" y="2955901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868920" y="6119905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3" name="Pfeil nach rechts 12"/>
          <p:cNvSpPr/>
          <p:nvPr/>
        </p:nvSpPr>
        <p:spPr>
          <a:xfrm rot="20647912">
            <a:off x="6017046" y="1753425"/>
            <a:ext cx="1845325" cy="3602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Pfeil nach rechts 13"/>
          <p:cNvSpPr/>
          <p:nvPr/>
        </p:nvSpPr>
        <p:spPr>
          <a:xfrm rot="1788130">
            <a:off x="5913279" y="3054772"/>
            <a:ext cx="1845325" cy="3602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/>
          <p:cNvSpPr txBox="1"/>
          <p:nvPr/>
        </p:nvSpPr>
        <p:spPr>
          <a:xfrm>
            <a:off x="717551" y="632188"/>
            <a:ext cx="591185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smtClean="0"/>
              <a:t>Vorgehen zum Test eines DHT22:</a:t>
            </a:r>
          </a:p>
          <a:p>
            <a:endParaRPr lang="de-DE" smtClean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Verschaltung des DHT22 vornehmen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Programmcode des DHT22 auf ESP flashen (ARDUINO)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 </a:t>
            </a:r>
            <a:r>
              <a:rPr lang="de-DE"/>
              <a:t>: </a:t>
            </a:r>
            <a:r>
              <a:rPr lang="de-DE" smtClean="0"/>
              <a:t>DHT22 mit Hand für etwa 10 Sekunden umschließen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DHT22 loslassen für etwa 10 Sekunden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smtClean="0"/>
              <a:t>Schritt</a:t>
            </a:r>
            <a:r>
              <a:rPr lang="de-DE"/>
              <a:t>: </a:t>
            </a:r>
            <a:r>
              <a:rPr lang="de-DE" smtClean="0"/>
              <a:t>Schritt 3 und 4 insgesamt 3 mal       wiederholen</a:t>
            </a:r>
          </a:p>
          <a:p>
            <a:endParaRPr lang="de-DE" smtClean="0"/>
          </a:p>
          <a:p>
            <a:r>
              <a:rPr lang="de-DE" u="sng" smtClean="0"/>
              <a:t>Auswertung des Tests eines NTC-Sensors:</a:t>
            </a:r>
          </a:p>
          <a:p>
            <a:endParaRPr lang="de-DE"/>
          </a:p>
          <a:p>
            <a:r>
              <a:rPr lang="de-DE" smtClean="0"/>
              <a:t>Steigt und sinkt die Temperatur wie vorgesehen?</a:t>
            </a:r>
          </a:p>
          <a:p>
            <a:r>
              <a:rPr lang="de-DE"/>
              <a:t>Steigt und sinkt die </a:t>
            </a:r>
            <a:r>
              <a:rPr lang="de-DE" smtClean="0"/>
              <a:t>relative Luftfeuchte </a:t>
            </a:r>
            <a:r>
              <a:rPr lang="de-DE"/>
              <a:t>wie vorgesehen</a:t>
            </a:r>
            <a:r>
              <a:rPr lang="de-DE" smtClean="0"/>
              <a:t>?</a:t>
            </a:r>
          </a:p>
          <a:p>
            <a:r>
              <a:rPr lang="de-DE" smtClean="0"/>
              <a:t>Sind die Temperatur- und Luftfeuchteänderungen bei Wiederholung des Schrittes 3 und 4 stabil?</a:t>
            </a:r>
          </a:p>
          <a:p>
            <a:r>
              <a:rPr lang="de-DE" smtClean="0"/>
              <a:t>Was ist die Differenz zwischen der maximal und der minimal gemessenen Temperatur und Luftfeuchte?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811131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4577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a8f11939e8f693b5e60eead0cd42f230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e05fa88f11a9855f776efdf4611a3d7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F333B2F-1563-4DC4-B635-64824C2FC3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9AF071-B304-4F0F-8459-AC4D742E5C60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99f41258-1f02-46b6-b230-447d6494c4cb"/>
    <ds:schemaRef ds:uri="http://www.w3.org/XML/1998/namespac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E15DEB7-8D29-4EC4-857C-8778EFE709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1224</Words>
  <Application>Microsoft Office PowerPoint</Application>
  <PresentationFormat>Breitbild</PresentationFormat>
  <Paragraphs>224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21</vt:i4>
      </vt:variant>
    </vt:vector>
  </HeadingPairs>
  <TitlesOfParts>
    <vt:vector size="32" baseType="lpstr">
      <vt:lpstr>Arial</vt:lpstr>
      <vt:lpstr>Calibri</vt:lpstr>
      <vt:lpstr>Cambria Math</vt:lpstr>
      <vt:lpstr>Symbol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Temperatursensoren NTC und PTC</vt:lpstr>
      <vt:lpstr>Funktionsweise</vt:lpstr>
      <vt:lpstr>Wie funktionieren Temperatursensoren (Temperaturfühler)?</vt:lpstr>
      <vt:lpstr>Wie funktionieren Temperatursensoren?  Lösung:</vt:lpstr>
      <vt:lpstr>Wie funktionieren NTC-Sensoren? </vt:lpstr>
      <vt:lpstr>Wie funktionieren NTC-Sensoren?  Lösung:</vt:lpstr>
      <vt:lpstr>Wie funktionieren PTC-Sensoren? </vt:lpstr>
      <vt:lpstr>Wie funktionieren PTC-Sensoren?  Lösung:</vt:lpstr>
      <vt:lpstr>Welche Kurve gehört zu welchem Sensor?</vt:lpstr>
      <vt:lpstr>Welche Kurve gehört zu welchem Sensor?  Lösung:</vt:lpstr>
      <vt:lpstr>Wie berechnet sich die Temperatur bei NTC-Sensoren?</vt:lpstr>
      <vt:lpstr>Wie berechnet sich die Temperatur bei NTC-Sensoren? Lösung:</vt:lpstr>
      <vt:lpstr>Anwendung            NTC-Sensor</vt:lpstr>
      <vt:lpstr>Wie wird ein NTC-Sensor verschaltet? </vt:lpstr>
      <vt:lpstr>Wie wird ein NTC-Sensor verschaltet?  Lösung: </vt:lpstr>
      <vt:lpstr>Wie wird ein NTC-Sensor programmiert? </vt:lpstr>
      <vt:lpstr>Wie wird ein NTC-Sensor programmiert?  Lösung:</vt:lpstr>
      <vt:lpstr>Praxistest                  NTC-Sensor</vt:lpstr>
      <vt:lpstr>PowerPoint-Präsentation</vt:lpstr>
      <vt:lpstr>PowerPoint-Präsentation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308</cp:revision>
  <dcterms:created xsi:type="dcterms:W3CDTF">2019-01-10T16:04:56Z</dcterms:created>
  <dcterms:modified xsi:type="dcterms:W3CDTF">2026-03-10T12:01:35Z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