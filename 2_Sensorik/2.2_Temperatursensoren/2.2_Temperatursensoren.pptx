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tiff" ContentType="image/tiff"/>
  <Default Extension="gif" ContentType="image/gif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  <p:sldMasterId id="2147483673" r:id="rId5"/>
    <p:sldMasterId id="2147483678" r:id="rId6"/>
    <p:sldMasterId id="2147483688" r:id="rId7"/>
    <p:sldMasterId id="2147483693" r:id="rId8"/>
  </p:sldMasterIdLst>
  <p:notesMasterIdLst>
    <p:notesMasterId r:id="rId30"/>
  </p:notesMasterIdLst>
  <p:sldIdLst>
    <p:sldId id="367" r:id="rId9"/>
    <p:sldId id="390" r:id="rId10"/>
    <p:sldId id="362" r:id="rId11"/>
    <p:sldId id="369" r:id="rId12"/>
    <p:sldId id="344" r:id="rId13"/>
    <p:sldId id="371" r:id="rId14"/>
    <p:sldId id="372" r:id="rId15"/>
    <p:sldId id="373" r:id="rId16"/>
    <p:sldId id="345" r:id="rId17"/>
    <p:sldId id="375" r:id="rId18"/>
    <p:sldId id="382" r:id="rId19"/>
    <p:sldId id="383" r:id="rId20"/>
    <p:sldId id="392" r:id="rId21"/>
    <p:sldId id="384" r:id="rId22"/>
    <p:sldId id="389" r:id="rId23"/>
    <p:sldId id="385" r:id="rId24"/>
    <p:sldId id="386" r:id="rId25"/>
    <p:sldId id="391" r:id="rId26"/>
    <p:sldId id="358" r:id="rId27"/>
    <p:sldId id="388" r:id="rId28"/>
    <p:sldId id="366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3867" userDrawn="1">
          <p15:clr>
            <a:srgbClr val="A4A3A4"/>
          </p15:clr>
        </p15:guide>
        <p15:guide id="4" orient="horz" pos="229" userDrawn="1">
          <p15:clr>
            <a:srgbClr val="A4A3A4"/>
          </p15:clr>
        </p15:guide>
        <p15:guide id="5" orient="horz" pos="680" userDrawn="1">
          <p15:clr>
            <a:srgbClr val="A4A3A4"/>
          </p15:clr>
        </p15:guide>
        <p15:guide id="6" orient="horz" pos="914" userDrawn="1">
          <p15:clr>
            <a:srgbClr val="A4A3A4"/>
          </p15:clr>
        </p15:guide>
        <p15:guide id="7" orient="horz" pos="4121" userDrawn="1">
          <p15:clr>
            <a:srgbClr val="A4A3A4"/>
          </p15:clr>
        </p15:guide>
        <p15:guide id="8" orient="horz" pos="945" userDrawn="1">
          <p15:clr>
            <a:srgbClr val="A4A3A4"/>
          </p15:clr>
        </p15:guide>
        <p15:guide id="9" pos="452" userDrawn="1">
          <p15:clr>
            <a:srgbClr val="A4A3A4"/>
          </p15:clr>
        </p15:guide>
        <p15:guide id="10" pos="7231" userDrawn="1">
          <p15:clr>
            <a:srgbClr val="A4A3A4"/>
          </p15:clr>
        </p15:guide>
        <p15:guide id="11" pos="3932" userDrawn="1">
          <p15:clr>
            <a:srgbClr val="A4A3A4"/>
          </p15:clr>
        </p15:guide>
        <p15:guide id="12" pos="374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ichter, Elena" initials="RE" lastIdx="1" clrIdx="0">
    <p:extLst>
      <p:ext uri="{19B8F6BF-5375-455C-9EA6-DF929625EA0E}">
        <p15:presenceInfo xmlns:p15="http://schemas.microsoft.com/office/powerpoint/2012/main" userId="S-1-5-21-2252779649-2432209404-4072682936-284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AF00"/>
    <a:srgbClr val="FF7373"/>
    <a:srgbClr val="AAC9B2"/>
    <a:srgbClr val="00964E"/>
    <a:srgbClr val="F5B5B5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Designformatvorlage 1 - Akz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Designformatvorlage 1 - Akz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99" autoAdjust="0"/>
    <p:restoredTop sz="85814" autoAdjust="0"/>
  </p:normalViewPr>
  <p:slideViewPr>
    <p:cSldViewPr snapToGrid="0" showGuides="1">
      <p:cViewPr varScale="1">
        <p:scale>
          <a:sx n="63" d="100"/>
          <a:sy n="63" d="100"/>
        </p:scale>
        <p:origin x="1014" y="66"/>
      </p:cViewPr>
      <p:guideLst>
        <p:guide orient="horz" pos="2160"/>
        <p:guide pos="3840"/>
        <p:guide orient="horz" pos="3867"/>
        <p:guide orient="horz" pos="229"/>
        <p:guide orient="horz" pos="680"/>
        <p:guide orient="horz" pos="914"/>
        <p:guide orient="horz" pos="4121"/>
        <p:guide orient="horz" pos="945"/>
        <p:guide pos="452"/>
        <p:guide pos="7231"/>
        <p:guide pos="3932"/>
        <p:guide pos="3748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" Type="http://schemas.openxmlformats.org/officeDocument/2006/relationships/customXml" Target="../customXml/item3.xml"/><Relationship Id="rId21" Type="http://schemas.openxmlformats.org/officeDocument/2006/relationships/slide" Target="slides/slide13.xml"/><Relationship Id="rId34" Type="http://schemas.openxmlformats.org/officeDocument/2006/relationships/theme" Target="theme/theme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Master" Target="slideMasters/slideMaster5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593-098D-4382-9647-35487FA190B4}" type="datetimeFigureOut">
              <a:rPr lang="de-DE" smtClean="0"/>
              <a:t>13.04.2026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3A5D1-80BE-4AF1-A18B-8D2CA75BFDA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26543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237486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929410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Temperaturfühler = Temperatursensor = Wärmesensor = Wärmefühler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84617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 smtClean="0"/>
              <a:t>Temperaturfühler = Temperatursensor = Wärmesensor = Wärmefühler</a:t>
            </a:r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676341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5047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9867445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879981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3113295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276538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4232643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381262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9526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799781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4167395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16670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smtClean="0"/>
              <a:t>Skript: NTC_Luecken</a:t>
            </a:r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791949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DE" smtClean="0"/>
              <a:t>Skript: NTC</a:t>
            </a:r>
          </a:p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68392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2E0887-BE0C-4C59-B8F7-4CAEF3FAD2DB}" type="slidenum">
              <a:rPr lang="de-DE" smtClean="0"/>
              <a:t>18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2335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19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349270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 smtClean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64966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03A5D1-80BE-4AF1-A18B-8D2CA75BFDA7}" type="slidenum">
              <a:rPr lang="de-DE" smtClean="0"/>
              <a:t>21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5824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575106C-3CD7-FE4D-97C8-190DE4ECDEC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470EED4F-3BF2-0241-A831-A9A96AFFE9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705" y="1498600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EAAA6AD5-C75F-0846-B79B-823B288EFFD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295" y="1510821"/>
            <a:ext cx="864000" cy="2804400"/>
          </a:xfrm>
          <a:solidFill>
            <a:schemeClr val="accent1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04069422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77943244-8079-C343-9249-D13695A8447F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004A059-65DF-B340-AD61-079AA36765F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88F6906-E0DF-3A4F-A375-7B9D3F4EA1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6000" y="225000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479D9D2-52F2-0247-AF3C-3AA30091C9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65258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232525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 smtClean="0"/>
              <a:t>Mastertextformat bearbeiten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 smtClean="0"/>
              <a:t>Bild auf Platzhalter ziehen oder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01958379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dirty="0"/>
              <a:t>Textmasterformat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93869C99-C634-47CD-B208-CB16ACE119EE}" type="slidenum">
              <a:rPr lang="de-DE"/>
              <a:pPr/>
              <a:t>‹Nr.›</a:t>
            </a:fld>
            <a:endParaRPr lang="de-DE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80000" y="360000"/>
            <a:ext cx="8803200" cy="360000"/>
          </a:xfrm>
        </p:spPr>
        <p:txBody>
          <a:bodyPr tIns="72000"/>
          <a:lstStyle>
            <a:lvl1pPr>
              <a:defRPr sz="1000" b="1"/>
            </a:lvl1pPr>
            <a:lvl2pPr>
              <a:defRPr sz="1000" b="1"/>
            </a:lvl2pPr>
            <a:lvl3pPr>
              <a:defRPr sz="1000" b="1"/>
            </a:lvl3pPr>
            <a:lvl4pPr>
              <a:defRPr sz="1000" b="1"/>
            </a:lvl4pPr>
            <a:lvl5pPr>
              <a:defRPr sz="1000" b="1"/>
            </a:lvl5pPr>
          </a:lstStyle>
          <a:p>
            <a:pPr lvl="0"/>
            <a:r>
              <a:rPr lang="de-DE" dirty="0"/>
              <a:t>Hier steht das Thema oder das Kapitel</a:t>
            </a:r>
          </a:p>
        </p:txBody>
      </p:sp>
    </p:spTree>
    <p:extLst>
      <p:ext uri="{BB962C8B-B14F-4D97-AF65-F5344CB8AC3E}">
        <p14:creationId xmlns:p14="http://schemas.microsoft.com/office/powerpoint/2010/main" val="1449046576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6AC28FB-499D-1849-BB5A-4F591E328D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2D1C116-76C7-2248-9B28-093803C439D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029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357D0EB7-C39F-6D4A-A3C7-303DC7C8CC5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7705" y="1497600"/>
            <a:ext cx="864000" cy="2804400"/>
          </a:xfrm>
          <a:solidFill>
            <a:schemeClr val="accent2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26614562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42174EAA-6533-1245-B1A2-E6E16AF28528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2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DA5B3661-9CFB-FB40-B406-C44AAF2F66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CE9E062-1775-864A-90AB-4D742F8105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997D15C1-C7AC-7A4D-8A57-9FDCE7B970D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40836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0063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72418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43886932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CA622DFD-BA6C-284F-9623-ED074C94A27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F3E97099-16DC-FB42-BC6A-1770FEA02C1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15579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25C51E1-4750-2945-85F5-2DB74E12410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12421" y="1497600"/>
            <a:ext cx="864000" cy="2804400"/>
          </a:xfrm>
          <a:solidFill>
            <a:schemeClr val="accent3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41308224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D9301872-D993-6045-BA77-C2A4043FA6B1}"/>
              </a:ext>
            </a:extLst>
          </p:cNvPr>
          <p:cNvGrpSpPr/>
          <p:nvPr userDrawn="1"/>
        </p:nvGrpSpPr>
        <p:grpSpPr>
          <a:xfrm>
            <a:off x="1974056" y="1069975"/>
            <a:ext cx="8243887" cy="5788025"/>
            <a:chOff x="455613" y="533400"/>
            <a:chExt cx="8243887" cy="5788025"/>
          </a:xfrm>
          <a:solidFill>
            <a:schemeClr val="accent3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C774AA1D-ECDF-CB41-A570-3B4444D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F9149E62-8F23-A64A-AB86-461836AFA42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CE926752-3C17-B642-9FCE-11E041587E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826706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704221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7076564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9942C24D-DF7B-5744-BA14-C2D4B5049F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E29E83A8-566C-B64B-BC0B-C9D0D2A3F37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04211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5B73649C-D81F-1743-8227-99DDA6EF1F4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923789" y="1497600"/>
            <a:ext cx="864000" cy="2804400"/>
          </a:xfrm>
          <a:solidFill>
            <a:schemeClr val="accent5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83602339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B30AFB43-4D8B-DB47-8F90-D120B798617A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5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36734F59-8635-D44A-BA87-6B7074A8EE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5E062F0B-6D27-F54A-90C2-2339910483A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30BE5F75-8B1B-6A4C-B19E-CA01BCB6141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8384266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30272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681845918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002" y="4845080"/>
            <a:ext cx="10271997" cy="1290608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30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16" name="Bildplatzhalter 15">
            <a:extLst>
              <a:ext uri="{FF2B5EF4-FFF2-40B4-BE49-F238E27FC236}">
                <a16:creationId xmlns:a16="http://schemas.microsoft.com/office/drawing/2014/main" id="{ABD0A9EC-9FD7-4222-9E83-3F5E6A446F20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60000" y="1144800"/>
            <a:ext cx="10272000" cy="3510000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FF187481-CEE0-E244-8D19-C6D3BF17E1D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  <p:sp>
        <p:nvSpPr>
          <p:cNvPr id="10" name="Textplatzhalter 12">
            <a:extLst>
              <a:ext uri="{FF2B5EF4-FFF2-40B4-BE49-F238E27FC236}">
                <a16:creationId xmlns:a16="http://schemas.microsoft.com/office/drawing/2014/main" id="{8F3AA80C-8F3E-4448-BA17-C530AE93C32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08505" y="1497600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  <p:sp>
        <p:nvSpPr>
          <p:cNvPr id="11" name="Textplatzhalter 12">
            <a:extLst>
              <a:ext uri="{FF2B5EF4-FFF2-40B4-BE49-F238E27FC236}">
                <a16:creationId xmlns:a16="http://schemas.microsoft.com/office/drawing/2014/main" id="{A7EA0E5A-7CE1-B542-A43B-F1A4A933F34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19495" y="1485648"/>
            <a:ext cx="864000" cy="2804400"/>
          </a:xfrm>
          <a:solidFill>
            <a:schemeClr val="accent6"/>
          </a:solidFill>
        </p:spPr>
        <p:txBody>
          <a:bodyPr/>
          <a:lstStyle>
            <a:lvl1pPr>
              <a:defRPr sz="100" b="0">
                <a:solidFill>
                  <a:srgbClr val="FFFF00"/>
                </a:solidFill>
              </a:defRPr>
            </a:lvl1pPr>
          </a:lstStyle>
          <a:p>
            <a:pPr lvl="0"/>
            <a:r>
              <a:rPr lang="de-DE" dirty="0"/>
              <a:t>..</a:t>
            </a:r>
          </a:p>
        </p:txBody>
      </p:sp>
    </p:spTree>
    <p:extLst>
      <p:ext uri="{BB962C8B-B14F-4D97-AF65-F5344CB8AC3E}">
        <p14:creationId xmlns:p14="http://schemas.microsoft.com/office/powerpoint/2010/main" val="391635854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foli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FA1D36DE-01A5-9342-ADB5-21326DEA0306}"/>
              </a:ext>
            </a:extLst>
          </p:cNvPr>
          <p:cNvGrpSpPr/>
          <p:nvPr userDrawn="1"/>
        </p:nvGrpSpPr>
        <p:grpSpPr>
          <a:xfrm>
            <a:off x="1975200" y="1069975"/>
            <a:ext cx="8243887" cy="5788025"/>
            <a:chOff x="455613" y="533400"/>
            <a:chExt cx="8243887" cy="5788025"/>
          </a:xfrm>
          <a:solidFill>
            <a:schemeClr val="accent6"/>
          </a:solidFill>
        </p:grpSpPr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1D258094-06EC-7A4A-A554-EFD3FBB51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613" y="533400"/>
              <a:ext cx="3340100" cy="5788025"/>
            </a:xfrm>
            <a:custGeom>
              <a:avLst/>
              <a:gdLst>
                <a:gd name="T0" fmla="*/ 0 w 3503"/>
                <a:gd name="T1" fmla="*/ 470 h 6066"/>
                <a:gd name="T2" fmla="*/ 0 w 3503"/>
                <a:gd name="T3" fmla="*/ 470 h 6066"/>
                <a:gd name="T4" fmla="*/ 1189 w 3503"/>
                <a:gd name="T5" fmla="*/ 6066 h 6066"/>
                <a:gd name="T6" fmla="*/ 3503 w 3503"/>
                <a:gd name="T7" fmla="*/ 6066 h 6066"/>
                <a:gd name="T8" fmla="*/ 2214 w 3503"/>
                <a:gd name="T9" fmla="*/ 0 h 6066"/>
                <a:gd name="T10" fmla="*/ 0 w 3503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3" h="6066">
                  <a:moveTo>
                    <a:pt x="0" y="470"/>
                  </a:moveTo>
                  <a:lnTo>
                    <a:pt x="0" y="470"/>
                  </a:lnTo>
                  <a:lnTo>
                    <a:pt x="1189" y="6066"/>
                  </a:lnTo>
                  <a:lnTo>
                    <a:pt x="3503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32C1932-A302-9D42-981A-17F9E3A1707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9400" y="533400"/>
              <a:ext cx="3340100" cy="5788025"/>
            </a:xfrm>
            <a:custGeom>
              <a:avLst/>
              <a:gdLst>
                <a:gd name="T0" fmla="*/ 0 w 3504"/>
                <a:gd name="T1" fmla="*/ 470 h 6066"/>
                <a:gd name="T2" fmla="*/ 0 w 3504"/>
                <a:gd name="T3" fmla="*/ 470 h 6066"/>
                <a:gd name="T4" fmla="*/ 1190 w 3504"/>
                <a:gd name="T5" fmla="*/ 6066 h 6066"/>
                <a:gd name="T6" fmla="*/ 3504 w 3504"/>
                <a:gd name="T7" fmla="*/ 6066 h 6066"/>
                <a:gd name="T8" fmla="*/ 2214 w 3504"/>
                <a:gd name="T9" fmla="*/ 0 h 6066"/>
                <a:gd name="T10" fmla="*/ 0 w 3504"/>
                <a:gd name="T11" fmla="*/ 470 h 60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504" h="6066">
                  <a:moveTo>
                    <a:pt x="0" y="470"/>
                  </a:moveTo>
                  <a:lnTo>
                    <a:pt x="0" y="470"/>
                  </a:lnTo>
                  <a:lnTo>
                    <a:pt x="1190" y="6066"/>
                  </a:lnTo>
                  <a:lnTo>
                    <a:pt x="3504" y="6066"/>
                  </a:lnTo>
                  <a:lnTo>
                    <a:pt x="2214" y="0"/>
                  </a:lnTo>
                  <a:lnTo>
                    <a:pt x="0" y="470"/>
                  </a:lnTo>
                  <a:close/>
                </a:path>
              </a:pathLst>
            </a:custGeom>
            <a:grpFill/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54315" y="2067240"/>
            <a:ext cx="9000000" cy="2358000"/>
          </a:xfrm>
        </p:spPr>
        <p:txBody>
          <a:bodyPr anchor="t" anchorCtr="0"/>
          <a:lstStyle>
            <a:lvl1pPr algn="l">
              <a:lnSpc>
                <a:spcPct val="100000"/>
              </a:lnSpc>
              <a:defRPr sz="5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0000" y="6206400"/>
            <a:ext cx="2030400" cy="360000"/>
          </a:xfrm>
          <a:prstGeom prst="rect">
            <a:avLst/>
          </a:prstGeom>
        </p:spPr>
        <p:txBody>
          <a:bodyPr lIns="0" tIns="0" rIns="0" bIns="0" anchor="b" anchorCtr="0"/>
          <a:lstStyle>
            <a:lvl1pPr>
              <a:defRPr sz="900" b="1" cap="all" spc="90" baseline="0"/>
            </a:lvl1pPr>
          </a:lstStyle>
          <a:p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/>
          <a:lstStyle>
            <a:lvl1pPr>
              <a:defRPr sz="1000"/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DCCB39A-DB2B-5543-8C44-8F9D49BAEA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0000" y="434598"/>
            <a:ext cx="2518560" cy="33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924105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60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7552" y="1445220"/>
            <a:ext cx="10756899" cy="4690468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8231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40003" y="1447200"/>
            <a:ext cx="5234448" cy="4690800"/>
          </a:xfrm>
        </p:spPr>
        <p:txBody>
          <a:bodyPr/>
          <a:lstStyle/>
          <a:p>
            <a:pPr lvl="0"/>
            <a:r>
              <a:rPr lang="de-DE"/>
              <a:t>Mastertextformat bearbeiten
Zweite Ebene
Dritte Ebene
Vierte Ebene
Fünfte Ebene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Bildplatzhalter 7">
            <a:extLst>
              <a:ext uri="{FF2B5EF4-FFF2-40B4-BE49-F238E27FC236}">
                <a16:creationId xmlns:a16="http://schemas.microsoft.com/office/drawing/2014/main" id="{D9A6F8F6-0E4C-4AD1-BF40-19A8E1937FC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17550" y="1500189"/>
            <a:ext cx="5236633" cy="4638674"/>
          </a:xfrm>
        </p:spPr>
        <p:txBody>
          <a:bodyPr anchor="ctr" anchorCtr="0"/>
          <a:lstStyle>
            <a:lvl1pPr algn="ctr">
              <a:defRPr sz="1400" b="0"/>
            </a:lvl1pPr>
          </a:lstStyle>
          <a:p>
            <a:r>
              <a:rPr lang="de-DE"/>
              <a:t>Bild durch Klicken auf Symbol hinzufügen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75820127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751" userDrawn="1">
          <p15:clr>
            <a:srgbClr val="FBAE40"/>
          </p15:clr>
        </p15:guide>
        <p15:guide id="2" pos="3931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w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.w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.wmf"/><Relationship Id="rId5" Type="http://schemas.openxmlformats.org/officeDocument/2006/relationships/theme" Target="../theme/theme3.xml"/><Relationship Id="rId4" Type="http://schemas.openxmlformats.org/officeDocument/2006/relationships/slideLayout" Target="../slideLayouts/slideLayout1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1.wmf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.wmf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22EEA21B-970F-3640-8788-C21A9CC415C6}"/>
              </a:ext>
            </a:extLst>
          </p:cNvPr>
          <p:cNvPicPr>
            <a:picLocks noChangeAspect="1"/>
          </p:cNvPicPr>
          <p:nvPr/>
        </p:nvPicPr>
        <p:blipFill>
          <a:blip r:embed="rId7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809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4" r:id="rId4"/>
    <p:sldLayoutId id="2147483698" r:id="rId5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1321676-94A1-7044-A81A-D8AF84667CD5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94203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1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1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39AA27C4-5879-AA48-9BFE-A4EA45310329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552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5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7E49E5BC-3D57-D44A-B305-C0E3893B5411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4255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feld 16">
            <a:extLst>
              <a:ext uri="{FF2B5EF4-FFF2-40B4-BE49-F238E27FC236}">
                <a16:creationId xmlns:a16="http://schemas.microsoft.com/office/drawing/2014/main" id="{473E5FEA-8EC8-4167-8CC5-8C678F2BEAB5}"/>
              </a:ext>
            </a:extLst>
          </p:cNvPr>
          <p:cNvSpPr txBox="1"/>
          <p:nvPr/>
        </p:nvSpPr>
        <p:spPr>
          <a:xfrm>
            <a:off x="1382400" y="6454198"/>
            <a:ext cx="4857600" cy="11934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>
              <a:lnSpc>
                <a:spcPts val="1100"/>
              </a:lnSpc>
            </a:pPr>
            <a:r>
              <a:rPr lang="de-DE" sz="850" dirty="0"/>
              <a:t>Hochschule für Technik, Wirtschaft und Kultur Leipzig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550" y="396946"/>
            <a:ext cx="10756899" cy="7128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552" y="1445220"/>
            <a:ext cx="10756899" cy="46904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382399" y="6205104"/>
            <a:ext cx="4857604" cy="22416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lnSpc>
                <a:spcPts val="1100"/>
              </a:lnSpc>
              <a:defRPr sz="850">
                <a:solidFill>
                  <a:schemeClr val="tx1"/>
                </a:solidFill>
              </a:defRPr>
            </a:lvl1pPr>
          </a:lstStyle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7551" y="6206400"/>
            <a:ext cx="490255" cy="36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l">
              <a:defRPr sz="1000" b="1">
                <a:solidFill>
                  <a:schemeClr val="tx1"/>
                </a:solidFill>
              </a:defRPr>
            </a:lvl1pPr>
          </a:lstStyle>
          <a:p>
            <a:fld id="{5DDB454C-C8BB-450C-A446-EA3D813FE484}" type="slidenum">
              <a:rPr lang="de-DE" smtClean="0"/>
              <a:pPr/>
              <a:t>‹Nr.›</a:t>
            </a:fld>
            <a:endParaRPr lang="de-DE" dirty="0"/>
          </a:p>
        </p:txBody>
      </p:sp>
      <p:grpSp>
        <p:nvGrpSpPr>
          <p:cNvPr id="4" name="Gruppieren 3"/>
          <p:cNvGrpSpPr/>
          <p:nvPr/>
        </p:nvGrpSpPr>
        <p:grpSpPr>
          <a:xfrm>
            <a:off x="0" y="396000"/>
            <a:ext cx="12192003" cy="712800"/>
            <a:chOff x="0" y="396000"/>
            <a:chExt cx="9144002" cy="712800"/>
          </a:xfrm>
          <a:solidFill>
            <a:schemeClr val="accent6"/>
          </a:solidFill>
        </p:grpSpPr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0D256C55-B59E-439E-82E9-BE1ECB9C3F54}"/>
                </a:ext>
              </a:extLst>
            </p:cNvPr>
            <p:cNvSpPr/>
            <p:nvPr userDrawn="1"/>
          </p:nvSpPr>
          <p:spPr>
            <a:xfrm>
              <a:off x="0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 dirty="0"/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A9106C6-A852-4621-A5E1-394E184478EA}"/>
                </a:ext>
              </a:extLst>
            </p:cNvPr>
            <p:cNvSpPr/>
            <p:nvPr userDrawn="1"/>
          </p:nvSpPr>
          <p:spPr>
            <a:xfrm>
              <a:off x="8953202" y="396000"/>
              <a:ext cx="190800" cy="7128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sz="1800"/>
            </a:p>
          </p:txBody>
        </p:sp>
      </p:grpSp>
      <p:pic>
        <p:nvPicPr>
          <p:cNvPr id="11" name="Grafik 10">
            <a:extLst>
              <a:ext uri="{FF2B5EF4-FFF2-40B4-BE49-F238E27FC236}">
                <a16:creationId xmlns:a16="http://schemas.microsoft.com/office/drawing/2014/main" id="{60324984-8636-8D46-ADB9-D5CB3101D43E}"/>
              </a:ext>
            </a:extLst>
          </p:cNvPr>
          <p:cNvPicPr>
            <a:picLocks noChangeAspect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6624" y="6284976"/>
            <a:ext cx="1137825" cy="295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1080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</p:sldLayoutIdLst>
  <p:hf hdr="0" dt="0"/>
  <p:txStyles>
    <p:titleStyle>
      <a:lvl1pPr algn="l" defTabSz="914400" rtl="0" eaLnBrk="1" latinLnBrk="0" hangingPunct="1">
        <a:lnSpc>
          <a:spcPct val="108000"/>
        </a:lnSpc>
        <a:spcBef>
          <a:spcPct val="0"/>
        </a:spcBef>
        <a:buNone/>
        <a:defRPr sz="2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b="1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07000"/>
        </a:lnSpc>
        <a:spcBef>
          <a:spcPts val="0"/>
        </a:spcBef>
        <a:buFontTx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8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36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540000" indent="-180000" algn="l" defTabSz="914400" rtl="0" eaLnBrk="1" latinLnBrk="0" hangingPunct="1">
        <a:lnSpc>
          <a:spcPct val="107000"/>
        </a:lnSpc>
        <a:spcBef>
          <a:spcPts val="0"/>
        </a:spcBef>
        <a:spcAft>
          <a:spcPts val="425"/>
        </a:spcAft>
        <a:buFont typeface="Work Sans" panose="00000500000000000000" pitchFamily="2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228" userDrawn="1">
          <p15:clr>
            <a:srgbClr val="F26B43"/>
          </p15:clr>
        </p15:guide>
        <p15:guide id="2" pos="452" userDrawn="1">
          <p15:clr>
            <a:srgbClr val="F26B43"/>
          </p15:clr>
        </p15:guide>
        <p15:guide id="3" orient="horz" pos="273" userDrawn="1">
          <p15:clr>
            <a:srgbClr val="F26B43"/>
          </p15:clr>
        </p15:guide>
        <p15:guide id="4" orient="horz" pos="3865" userDrawn="1">
          <p15:clr>
            <a:srgbClr val="F26B43"/>
          </p15:clr>
        </p15:guide>
        <p15:guide id="5" orient="horz" pos="944" userDrawn="1">
          <p15:clr>
            <a:srgbClr val="F26B43"/>
          </p15:clr>
        </p15:guide>
        <p15:guide id="6" orient="horz" pos="4117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rn-wissen.de/wiki/images/d/d6/Schaltzeichen_ntcptc.PNG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tartpage.com/av/proxy-image?piurl=https%3A%2F%2Fwww.elektrotechnik-fachbuch.de%2Fimg%2FKalt_und_Heissleiter.gif&amp;sp=1767796783T05f73c1a8073f256ef2546e02e5ec1d380cd5e7cdac181386177771b10a01064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startpage.com/av/proxy-image?piurl=https%3A%2F%2Fwww.elektrotechnik-fachbuch.de%2Fimg%2FKalt_und_Heissleiter.gif&amp;sp=1767796783T05f73c1a8073f256ef2546e02e5ec1d380cd5e7cdac181386177771b10a01064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arduino.cc/en/software/" TargetMode="External"/><Relationship Id="rId13" Type="http://schemas.openxmlformats.org/officeDocument/2006/relationships/image" Target="../media/image21.png"/><Relationship Id="rId18" Type="http://schemas.openxmlformats.org/officeDocument/2006/relationships/hyperlink" Target="https://cdn-reichelt.de/bilder/web/artikel_ws/B400%2F%21WID1_4W.jpg?type=Product&amp;" TargetMode="External"/><Relationship Id="rId3" Type="http://schemas.openxmlformats.org/officeDocument/2006/relationships/hyperlink" Target="https://www.reichelt.de/de/de/shop/produkt/ntc_thermistor_5_kohm_0_2_-151254" TargetMode="External"/><Relationship Id="rId7" Type="http://schemas.openxmlformats.org/officeDocument/2006/relationships/hyperlink" Target="https://www.reichelt.de/de/de/shop/produkt/widerstand_kohleschicht_10_kohm_0207_250_mw_5_-1338" TargetMode="External"/><Relationship Id="rId12" Type="http://schemas.openxmlformats.org/officeDocument/2006/relationships/image" Target="../media/image20.png"/><Relationship Id="rId17" Type="http://schemas.openxmlformats.org/officeDocument/2006/relationships/hyperlink" Target="https://www.az-delivery.de/cdn/shop/products/jumper-wire-kabel-40-stk-je-20-cm-m2m-male-to-male-kompatibel-mit-arduino-und-raspberry-pi-breadboard-140806.jpg?v=1679398754&amp;width=1200" TargetMode="External"/><Relationship Id="rId2" Type="http://schemas.openxmlformats.org/officeDocument/2006/relationships/notesSlide" Target="../notesSlides/notesSlide19.xml"/><Relationship Id="rId16" Type="http://schemas.openxmlformats.org/officeDocument/2006/relationships/hyperlink" Target="https://asset.conrad.com/media10/isa/160267/c1/-/de/002885952PI00/image.jpg?x=1440&amp;y=1440&amp;format=jpg&amp;ex=1440&amp;ey=1440&amp;align=center" TargetMode="External"/><Relationship Id="rId20" Type="http://schemas.openxmlformats.org/officeDocument/2006/relationships/hyperlink" Target="https://www.arduino.cc/wiki/static/arduino-app-76bd27c4ce7246825aceb8efe2871f7a.svg" TargetMode="Externa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www.roboter-bausatz.de/p/esp32-dev-board-32d-mit-cp2102-usb-c-wlan-bluetooth-iot-modul" TargetMode="External"/><Relationship Id="rId11" Type="http://schemas.openxmlformats.org/officeDocument/2006/relationships/image" Target="../media/image19.png"/><Relationship Id="rId5" Type="http://schemas.openxmlformats.org/officeDocument/2006/relationships/hyperlink" Target="https://www.az-delivery.de/products/40-stk-jumper-wire-male-to-male-20-zentimeter" TargetMode="External"/><Relationship Id="rId15" Type="http://schemas.openxmlformats.org/officeDocument/2006/relationships/hyperlink" Target="https://cdn-reichelt.de/bilder/web/artikel_ws/B400%2FGAX.jpg?type=Product&amp;" TargetMode="External"/><Relationship Id="rId10" Type="http://schemas.openxmlformats.org/officeDocument/2006/relationships/image" Target="../media/image18.png"/><Relationship Id="rId19" Type="http://schemas.openxmlformats.org/officeDocument/2006/relationships/hyperlink" Target="https://www.roboter-bausatz.de/media/image/d8/f3/0e/RBS18335_600x600.jpg" TargetMode="External"/><Relationship Id="rId4" Type="http://schemas.openxmlformats.org/officeDocument/2006/relationships/hyperlink" Target="https://www.conrad.de/de/p/tru-components-steckplatine-bus-stripe-ausklappbar-polzahl-gesamt-400-l-x-b-82-5-cm-x-54-6-mm-1-st-2885952.html" TargetMode="External"/><Relationship Id="rId9" Type="http://schemas.openxmlformats.org/officeDocument/2006/relationships/image" Target="../media/image17.png"/><Relationship Id="rId1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5" name="Grafik 4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4276" y="318185"/>
            <a:ext cx="1961041" cy="554182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2000" cy="6857999"/>
          </a:xfrm>
        </p:spPr>
        <p:txBody>
          <a:bodyPr anchor="ctr"/>
          <a:lstStyle/>
          <a:p>
            <a:pPr algn="ctr"/>
            <a:r>
              <a:rPr lang="en-US" sz="8800" b="1" smtClean="0"/>
              <a:t>Temperatursensoren</a:t>
            </a:r>
            <a:r>
              <a:rPr lang="en-US" sz="16600" b="1" smtClean="0"/>
              <a:t> </a:t>
            </a:r>
            <a:r>
              <a:rPr lang="en-US" sz="6000" b="1" smtClean="0"/>
              <a:t>NTC und PTC</a:t>
            </a:r>
            <a:endParaRPr lang="en-US" sz="9600" b="1" dirty="0"/>
          </a:p>
        </p:txBody>
      </p:sp>
    </p:spTree>
    <p:extLst>
      <p:ext uri="{BB962C8B-B14F-4D97-AF65-F5344CB8AC3E}">
        <p14:creationId xmlns:p14="http://schemas.microsoft.com/office/powerpoint/2010/main" val="24586427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875" y="775392"/>
            <a:ext cx="5307216" cy="5307216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3840" y="0"/>
            <a:ext cx="5598159" cy="6858000"/>
          </a:xfrm>
        </p:spPr>
        <p:txBody>
          <a:bodyPr anchor="ctr">
            <a:normAutofit/>
          </a:bodyPr>
          <a:lstStyle/>
          <a:p>
            <a:pPr algn="l"/>
            <a:r>
              <a:rPr lang="de-DE" sz="4800" b="1" smtClean="0"/>
              <a:t>Funktionsweise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2</a:t>
            </a:fld>
            <a:endParaRPr lang="de-DE" dirty="0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2707659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7550" y="2358109"/>
            <a:ext cx="9757410" cy="2885948"/>
          </a:xfrm>
          <a:solidFill>
            <a:schemeClr val="bg1"/>
          </a:solidFill>
          <a:ln>
            <a:noFill/>
          </a:ln>
        </p:spPr>
        <p:txBody>
          <a:bodyPr lIns="180000"/>
          <a:lstStyle/>
          <a:p>
            <a:endParaRPr lang="de-DE" sz="900" b="0" smtClean="0"/>
          </a:p>
          <a:p>
            <a:r>
              <a:rPr lang="de-DE" b="0" smtClean="0"/>
              <a:t>Temperaturfühler sind ___________ Bauelemente.</a:t>
            </a:r>
          </a:p>
          <a:p>
            <a:endParaRPr lang="de-DE" b="0" smtClean="0"/>
          </a:p>
          <a:p>
            <a:r>
              <a:rPr lang="de-DE" b="0" smtClean="0"/>
              <a:t>Bei NTC- und PTC-Sensoren wird die ________ gemessen.</a:t>
            </a:r>
          </a:p>
          <a:p>
            <a:endParaRPr lang="de-DE" b="0" smtClean="0"/>
          </a:p>
          <a:p>
            <a:r>
              <a:rPr lang="de-DE" b="0" smtClean="0"/>
              <a:t>Aus der ________ wird der Widerstand berechnet (Spannungsteilerregel).</a:t>
            </a:r>
          </a:p>
          <a:p>
            <a:endParaRPr lang="de-DE" b="0" smtClean="0"/>
          </a:p>
          <a:p>
            <a:r>
              <a:rPr lang="de-DE" b="0"/>
              <a:t>Aus dem </a:t>
            </a:r>
            <a:r>
              <a:rPr lang="de-DE" b="0" smtClean="0"/>
              <a:t>____________________ </a:t>
            </a:r>
            <a:r>
              <a:rPr lang="de-DE" b="0"/>
              <a:t>Widerstand wird anschließend die Temperatur </a:t>
            </a:r>
            <a:r>
              <a:rPr lang="de-DE" b="0" smtClean="0"/>
              <a:t>bestimmt.</a:t>
            </a:r>
          </a:p>
          <a:p>
            <a:endParaRPr lang="de-DE" sz="900" b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Temperatursensoren (Temperaturfühler)?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3</a:t>
            </a:fld>
            <a:endParaRPr lang="de-DE"/>
          </a:p>
        </p:txBody>
      </p:sp>
      <p:sp>
        <p:nvSpPr>
          <p:cNvPr id="9" name="Nach links gekrümmter Pfeil 8"/>
          <p:cNvSpPr/>
          <p:nvPr/>
        </p:nvSpPr>
        <p:spPr>
          <a:xfrm rot="19484842">
            <a:off x="6634479" y="173668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Nach links gekrümmter Pfeil 11"/>
          <p:cNvSpPr/>
          <p:nvPr/>
        </p:nvSpPr>
        <p:spPr>
          <a:xfrm rot="19484842">
            <a:off x="8238680" y="245492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Nach links gekrümmter Pfeil 12"/>
          <p:cNvSpPr/>
          <p:nvPr/>
        </p:nvSpPr>
        <p:spPr>
          <a:xfrm rot="19484842">
            <a:off x="9842875" y="2964427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0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3396401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717550" y="2357520"/>
            <a:ext cx="9798050" cy="2514341"/>
          </a:xfrm>
          <a:solidFill>
            <a:schemeClr val="bg1"/>
          </a:solidFill>
          <a:ln>
            <a:noFill/>
          </a:ln>
        </p:spPr>
        <p:txBody>
          <a:bodyPr lIns="180000"/>
          <a:lstStyle/>
          <a:p>
            <a:endParaRPr lang="de-DE" sz="900" b="0" smtClean="0"/>
          </a:p>
          <a:p>
            <a:r>
              <a:rPr lang="de-DE" b="0" smtClean="0"/>
              <a:t>Temperaturfühler sind elektrische Bauelemente.</a:t>
            </a:r>
          </a:p>
          <a:p>
            <a:endParaRPr lang="de-DE" b="0" smtClean="0"/>
          </a:p>
          <a:p>
            <a:r>
              <a:rPr lang="de-DE" b="0" smtClean="0"/>
              <a:t>Bei NTC- und PTC-Sensoren wird die Spannung gemessen.</a:t>
            </a:r>
          </a:p>
          <a:p>
            <a:endParaRPr lang="de-DE" b="0" smtClean="0"/>
          </a:p>
          <a:p>
            <a:r>
              <a:rPr lang="de-DE" b="0" smtClean="0"/>
              <a:t>Aus der Spannung wird der Widerstand berechnet (Spannungsteilerregel).</a:t>
            </a:r>
          </a:p>
          <a:p>
            <a:endParaRPr lang="de-DE" b="0" smtClean="0"/>
          </a:p>
          <a:p>
            <a:r>
              <a:rPr lang="de-DE" b="0"/>
              <a:t>Aus dem </a:t>
            </a:r>
            <a:r>
              <a:rPr lang="de-DE" b="0" smtClean="0"/>
              <a:t>temperaturabhängigen </a:t>
            </a:r>
            <a:r>
              <a:rPr lang="de-DE" b="0"/>
              <a:t>Widerstand wird anschließend die Temperatur </a:t>
            </a:r>
            <a:r>
              <a:rPr lang="de-DE" b="0" smtClean="0"/>
              <a:t>bestimmt.</a:t>
            </a:r>
          </a:p>
          <a:p>
            <a:endParaRPr lang="de-DE" sz="900" b="0" dirty="0"/>
          </a:p>
        </p:txBody>
      </p:sp>
      <p:sp>
        <p:nvSpPr>
          <p:cNvPr id="11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Temperatursensoren?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4</a:t>
            </a:fld>
            <a:endParaRPr lang="de-DE"/>
          </a:p>
        </p:txBody>
      </p:sp>
      <p:sp>
        <p:nvSpPr>
          <p:cNvPr id="10" name="Nach links gekrümmter Pfeil 9"/>
          <p:cNvSpPr/>
          <p:nvPr/>
        </p:nvSpPr>
        <p:spPr>
          <a:xfrm rot="19484842">
            <a:off x="6634479" y="173668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2" name="Nach links gekrümmter Pfeil 11"/>
          <p:cNvSpPr/>
          <p:nvPr/>
        </p:nvSpPr>
        <p:spPr>
          <a:xfrm rot="19484842">
            <a:off x="8238680" y="2454929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13" name="Nach links gekrümmter Pfeil 12"/>
          <p:cNvSpPr/>
          <p:nvPr/>
        </p:nvSpPr>
        <p:spPr>
          <a:xfrm rot="19484842">
            <a:off x="9842875" y="2964427"/>
            <a:ext cx="1341120" cy="1432560"/>
          </a:xfrm>
          <a:prstGeom prst="curvedLef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05000637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dirty="0" smtClean="0"/>
              <a:t>= Heißleiter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Widerstand sinkt 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________ </a:t>
            </a:r>
            <a:r>
              <a:rPr lang="de-DE" dirty="0"/>
              <a:t>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Akronym: </a:t>
            </a:r>
            <a:r>
              <a:rPr lang="de-DE" dirty="0" smtClean="0"/>
              <a:t>NTC</a:t>
            </a:r>
          </a:p>
        </p:txBody>
      </p:sp>
      <p:sp>
        <p:nvSpPr>
          <p:cNvPr id="9" name="Rechteck 8"/>
          <p:cNvSpPr/>
          <p:nvPr/>
        </p:nvSpPr>
        <p:spPr>
          <a:xfrm>
            <a:off x="1174312" y="2883660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 freie Ladungsträger bei höherer Temperatur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 _____________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Verringerter Widerstand 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NTC-Sensoren?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5</a:t>
            </a:fld>
            <a:endParaRPr lang="de-DE"/>
          </a:p>
        </p:txBody>
      </p:sp>
      <p:pic>
        <p:nvPicPr>
          <p:cNvPr id="13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" b="52050"/>
          <a:stretch/>
        </p:blipFill>
        <p:spPr bwMode="auto">
          <a:xfrm>
            <a:off x="7077983" y="2339159"/>
            <a:ext cx="3546838" cy="18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7" name="Rechteck 1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Halbleiter</a:t>
            </a:r>
            <a:endParaRPr lang="de-DE" dirty="0"/>
          </a:p>
        </p:txBody>
      </p:sp>
      <p:sp>
        <p:nvSpPr>
          <p:cNvPr id="18" name="Rechteck 17"/>
          <p:cNvSpPr/>
          <p:nvPr/>
        </p:nvSpPr>
        <p:spPr>
          <a:xfrm>
            <a:off x="1174314" y="5208583"/>
            <a:ext cx="4699577" cy="646331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Anwendung: </a:t>
            </a:r>
            <a:r>
              <a:rPr lang="de-DE" smtClean="0"/>
              <a:t>Präzise Temperaturmessung </a:t>
            </a:r>
            <a:r>
              <a:rPr lang="de-DE" dirty="0" smtClean="0"/>
              <a:t>(z.B. Thermometer)</a:t>
            </a:r>
            <a:endParaRPr lang="de-DE" dirty="0"/>
          </a:p>
        </p:txBody>
      </p:sp>
      <p:sp>
        <p:nvSpPr>
          <p:cNvPr id="12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bgerundetes Rechteck 19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bgerundetes Rechteck 20"/>
          <p:cNvSpPr/>
          <p:nvPr/>
        </p:nvSpPr>
        <p:spPr>
          <a:xfrm>
            <a:off x="1174312" y="5208582"/>
            <a:ext cx="4699577" cy="646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86407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Halbleiter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dirty="0" smtClean="0"/>
              <a:t>= Heißleiter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Widerstand sinkt 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Negativer 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Akronym: </a:t>
            </a:r>
            <a:r>
              <a:rPr lang="de-DE" dirty="0" smtClean="0"/>
              <a:t>NTC</a:t>
            </a:r>
          </a:p>
        </p:txBody>
      </p:sp>
      <p:sp>
        <p:nvSpPr>
          <p:cNvPr id="9" name="Rechteck 8"/>
          <p:cNvSpPr/>
          <p:nvPr/>
        </p:nvSpPr>
        <p:spPr>
          <a:xfrm>
            <a:off x="1174314" y="2875666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/>
              <a:t>Mehr freie Ladungsträger bei höherer Temperatur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 </a:t>
            </a:r>
            <a:r>
              <a:rPr lang="de-DE" dirty="0" smtClean="0"/>
              <a:t>Leitfähigkeit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Verringerter Widerstand 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1174314" y="5208583"/>
            <a:ext cx="4699577" cy="646331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Anwendung: </a:t>
            </a:r>
            <a:r>
              <a:rPr lang="de-DE" smtClean="0"/>
              <a:t>Präzise Temperaturmessung </a:t>
            </a:r>
            <a:r>
              <a:rPr lang="de-DE" dirty="0" smtClean="0"/>
              <a:t>(z.B. Thermometer)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NTC-Sensoren?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6</a:t>
            </a:fld>
            <a:endParaRPr lang="de-DE"/>
          </a:p>
        </p:txBody>
      </p:sp>
      <p:pic>
        <p:nvPicPr>
          <p:cNvPr id="13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29" b="52050"/>
          <a:stretch/>
        </p:blipFill>
        <p:spPr bwMode="auto">
          <a:xfrm>
            <a:off x="7077983" y="2339159"/>
            <a:ext cx="3546838" cy="18999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3" name="Abgerundetes Rechteck 2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2" y="5208582"/>
            <a:ext cx="4699577" cy="646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929164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Metalle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smtClean="0"/>
              <a:t>= Kaltleiter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Widerstand sinkt 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_____ </a:t>
            </a:r>
            <a:r>
              <a:rPr lang="de-DE" dirty="0"/>
              <a:t>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Akronym: </a:t>
            </a:r>
            <a:r>
              <a:rPr lang="de-DE" dirty="0" smtClean="0"/>
              <a:t>NTC</a:t>
            </a:r>
          </a:p>
        </p:txBody>
      </p:sp>
      <p:sp>
        <p:nvSpPr>
          <p:cNvPr id="9" name="Rechteck 8"/>
          <p:cNvSpPr/>
          <p:nvPr/>
        </p:nvSpPr>
        <p:spPr>
          <a:xfrm>
            <a:off x="1174314" y="2875666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________ Beweglichkeit der Ladungsträger bei </a:t>
            </a:r>
            <a:r>
              <a:rPr lang="de-DE"/>
              <a:t>höherer Temperatur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Verringerte _____________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Erhöhter </a:t>
            </a:r>
            <a:r>
              <a:rPr lang="de-DE" dirty="0" smtClean="0"/>
              <a:t>Widerstand 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1174314" y="5208583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</a:t>
            </a:r>
            <a:r>
              <a:rPr lang="de-DE" smtClean="0"/>
              <a:t>: Temperaturregelung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PTC-Sensoren?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7</a:t>
            </a:fld>
            <a:endParaRPr lang="de-DE"/>
          </a:p>
        </p:txBody>
      </p:sp>
      <p:pic>
        <p:nvPicPr>
          <p:cNvPr id="13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66"/>
          <a:stretch/>
        </p:blipFill>
        <p:spPr bwMode="auto">
          <a:xfrm>
            <a:off x="7077983" y="2236782"/>
            <a:ext cx="3546838" cy="212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7" name="Abgerundetes Rechteck 16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Abgerundetes Rechteck 19"/>
          <p:cNvSpPr/>
          <p:nvPr/>
        </p:nvSpPr>
        <p:spPr>
          <a:xfrm>
            <a:off x="1174312" y="5208582"/>
            <a:ext cx="4699577" cy="3794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8679592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1174314" y="4596122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Material</a:t>
            </a:r>
            <a:r>
              <a:rPr lang="de-DE" smtClean="0"/>
              <a:t>: Metalle</a:t>
            </a:r>
            <a:endParaRPr lang="de-DE" dirty="0"/>
          </a:p>
        </p:txBody>
      </p:sp>
      <p:sp>
        <p:nvSpPr>
          <p:cNvPr id="10" name="Rechteck 9"/>
          <p:cNvSpPr/>
          <p:nvPr/>
        </p:nvSpPr>
        <p:spPr>
          <a:xfrm>
            <a:off x="1174314" y="1155209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r>
              <a:rPr lang="de-DE" smtClean="0"/>
              <a:t>= Kaltleiter</a:t>
            </a:r>
            <a:endParaRPr lang="de-DE" dirty="0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Widerstand steigt </a:t>
            </a:r>
            <a:r>
              <a:rPr lang="de-DE" dirty="0" smtClean="0"/>
              <a:t>mit steigender Temperatur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positiver </a:t>
            </a:r>
            <a:r>
              <a:rPr lang="de-DE" dirty="0"/>
              <a:t>Temperaturkoeffizient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/>
              <a:t>Englisches Akronym</a:t>
            </a:r>
            <a:r>
              <a:rPr lang="de-DE"/>
              <a:t>: </a:t>
            </a:r>
            <a:r>
              <a:rPr lang="de-DE" dirty="0"/>
              <a:t>P</a:t>
            </a:r>
            <a:r>
              <a:rPr lang="de-DE" smtClean="0"/>
              <a:t>TC</a:t>
            </a:r>
            <a:endParaRPr lang="de-DE" dirty="0" smtClean="0"/>
          </a:p>
        </p:txBody>
      </p:sp>
      <p:sp>
        <p:nvSpPr>
          <p:cNvPr id="9" name="Rechteck 8"/>
          <p:cNvSpPr/>
          <p:nvPr/>
        </p:nvSpPr>
        <p:spPr>
          <a:xfrm>
            <a:off x="1174314" y="2875666"/>
            <a:ext cx="4699577" cy="1477328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Arbeitsweise basiert auf Halbleiterphysik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Geringere Beweglichkeit der Ladungsträger bei </a:t>
            </a:r>
            <a:r>
              <a:rPr lang="de-DE"/>
              <a:t>höherer Temperatur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Verringerte </a:t>
            </a:r>
            <a:r>
              <a:rPr lang="de-DE" dirty="0" smtClean="0"/>
              <a:t>Leitfähigkeit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Erhöhter </a:t>
            </a:r>
            <a:r>
              <a:rPr lang="de-DE" dirty="0" smtClean="0"/>
              <a:t>Widerstand </a:t>
            </a:r>
            <a:endParaRPr lang="de-DE" dirty="0"/>
          </a:p>
        </p:txBody>
      </p:sp>
      <p:sp>
        <p:nvSpPr>
          <p:cNvPr id="12" name="Rechteck 11"/>
          <p:cNvSpPr/>
          <p:nvPr/>
        </p:nvSpPr>
        <p:spPr>
          <a:xfrm>
            <a:off x="1174314" y="5208583"/>
            <a:ext cx="4699577" cy="369332"/>
          </a:xfrm>
          <a:prstGeom prst="rect">
            <a:avLst/>
          </a:prstGeom>
          <a:noFill/>
          <a:ln w="38100"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dirty="0" smtClean="0"/>
              <a:t>Anwendung</a:t>
            </a:r>
            <a:r>
              <a:rPr lang="de-DE" smtClean="0"/>
              <a:t>: Temperaturregelung</a:t>
            </a:r>
            <a:endParaRPr lang="de-DE" dirty="0"/>
          </a:p>
        </p:txBody>
      </p:sp>
      <p:sp>
        <p:nvSpPr>
          <p:cNvPr id="15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funktionieren PTC-Sensoren?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8</a:t>
            </a:fld>
            <a:endParaRPr lang="de-DE"/>
          </a:p>
        </p:txBody>
      </p:sp>
      <p:pic>
        <p:nvPicPr>
          <p:cNvPr id="3074" name="Picture 2" descr="https://rn-wissen.de/wiki/images/d/d6/Schaltzeichen_ntcptc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966"/>
          <a:stretch/>
        </p:blipFill>
        <p:spPr bwMode="auto">
          <a:xfrm>
            <a:off x="7077983" y="2236782"/>
            <a:ext cx="3546838" cy="2120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077983" y="4138971"/>
            <a:ext cx="4230097" cy="218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rn-wissen.de/wiki/images/d/d6/Schaltzeichen_ntcptc.PNG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sp>
        <p:nvSpPr>
          <p:cNvPr id="16" name="Abgerundetes Rechteck 15"/>
          <p:cNvSpPr/>
          <p:nvPr/>
        </p:nvSpPr>
        <p:spPr>
          <a:xfrm>
            <a:off x="1174314" y="1155209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Abgerundetes Rechteck 16"/>
          <p:cNvSpPr/>
          <p:nvPr/>
        </p:nvSpPr>
        <p:spPr>
          <a:xfrm>
            <a:off x="1174313" y="2871027"/>
            <a:ext cx="4699577" cy="1477328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Abgerundetes Rechteck 17"/>
          <p:cNvSpPr/>
          <p:nvPr/>
        </p:nvSpPr>
        <p:spPr>
          <a:xfrm>
            <a:off x="1174313" y="4596122"/>
            <a:ext cx="4699577" cy="369332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9" name="Abgerundetes Rechteck 18"/>
          <p:cNvSpPr/>
          <p:nvPr/>
        </p:nvSpPr>
        <p:spPr>
          <a:xfrm>
            <a:off x="1174312" y="5208582"/>
            <a:ext cx="4699577" cy="379423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760683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Kurve gehört zu welchem Sensor?</a:t>
            </a:r>
            <a:endParaRPr lang="de-DE" b="1" dirty="0"/>
          </a:p>
        </p:txBody>
      </p:sp>
      <p:pic>
        <p:nvPicPr>
          <p:cNvPr id="5122" name="Picture 2" descr="Elektrotechnik Fachbuch – Grundlagen der Elektrotechnik – 4 Elektrisch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015" y="1206774"/>
            <a:ext cx="5983967" cy="409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104015" y="5302468"/>
            <a:ext cx="598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www.startpage.com/av/proxy-image?piurl=https%3A%2F%2Fwww.elektrotechnik-fachbuch.de%2Fimg%2FKalt_und_Heissleiter.gif&amp;sp=1767796783T05f73c1a8073f256ef2546e02e5ec1d380cd5e7cdac181386177771b10a01064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9" name="Rechteck 8"/>
          <p:cNvSpPr/>
          <p:nvPr/>
        </p:nvSpPr>
        <p:spPr>
          <a:xfrm rot="2372274">
            <a:off x="6109832" y="1831225"/>
            <a:ext cx="1126671" cy="6792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7287986" y="3254621"/>
            <a:ext cx="1126671" cy="78377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5568043" y="1796143"/>
            <a:ext cx="996043" cy="83275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 rot="5761018">
            <a:off x="6586020" y="3186987"/>
            <a:ext cx="1126671" cy="6792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9</a:t>
            </a:fld>
            <a:endParaRPr lang="de-DE"/>
          </a:p>
        </p:txBody>
      </p:sp>
      <p:sp>
        <p:nvSpPr>
          <p:cNvPr id="14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4265319285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Welche Kurve gehört zu welchem Sensor?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pic>
        <p:nvPicPr>
          <p:cNvPr id="5122" name="Picture 2" descr="Elektrotechnik Fachbuch – Grundlagen der Elektrotechnik – 4 Elektrische ..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4015" y="1206774"/>
            <a:ext cx="5983967" cy="40956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3104015" y="5302468"/>
            <a:ext cx="59839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4"/>
              </a:rPr>
              <a:t>https://</a:t>
            </a:r>
            <a:r>
              <a:rPr lang="de-DE" sz="800" smtClean="0">
                <a:hlinkClick r:id="rId4"/>
              </a:rPr>
              <a:t>www.startpage.com/av/proxy-image?piurl=https%3A%2F%2Fwww.elektrotechnik-fachbuch.de%2Fimg%2FKalt_und_Heissleiter.gif&amp;sp=1767796783T05f73c1a8073f256ef2546e02e5ec1d380cd5e7cdac181386177771b10a01064</a:t>
            </a:r>
            <a:r>
              <a:rPr lang="de-DE" sz="800" smtClean="0"/>
              <a:t> </a:t>
            </a:r>
            <a:endParaRPr lang="de-DE" sz="800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10</a:t>
            </a:fld>
            <a:endParaRPr lang="de-DE"/>
          </a:p>
        </p:txBody>
      </p:sp>
      <p:sp>
        <p:nvSpPr>
          <p:cNvPr id="7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52016584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bgerundetes Rechteck 3"/>
          <p:cNvSpPr/>
          <p:nvPr/>
        </p:nvSpPr>
        <p:spPr>
          <a:xfrm>
            <a:off x="709237" y="1478132"/>
            <a:ext cx="3301662" cy="11154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berechnet sich die Temperatur bei NTC-Sensoren</a:t>
            </a:r>
            <a:r>
              <a:rPr lang="de-DE" b="1" smtClean="0">
                <a:sym typeface="Wingdings" panose="05000000000000000000" pitchFamily="2" charset="2"/>
              </a:rPr>
              <a:t>?</a:t>
            </a:r>
            <a:endParaRPr lang="de-DE" b="1" dirty="0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Beta-Formel: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/>
              <p:cNvSpPr txBox="1"/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9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feld 12"/>
          <p:cNvSpPr txBox="1"/>
          <p:nvPr/>
        </p:nvSpPr>
        <p:spPr>
          <a:xfrm>
            <a:off x="788670" y="3581532"/>
            <a:ext cx="2483372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u="sng"/>
              <a:t>g</a:t>
            </a:r>
            <a:r>
              <a:rPr lang="de-DE" u="sng" smtClean="0"/>
              <a:t>eg.:</a:t>
            </a:r>
          </a:p>
          <a:p>
            <a:endParaRPr lang="de-DE"/>
          </a:p>
          <a:p>
            <a:r>
              <a:rPr lang="de-DE" smtClean="0"/>
              <a:t>B = 4069 K</a:t>
            </a:r>
          </a:p>
          <a:p>
            <a:r>
              <a:rPr lang="de-DE" smtClean="0"/>
              <a:t>R0 = 5000 </a:t>
            </a:r>
            <a:r>
              <a:rPr lang="el-GR" smtClean="0"/>
              <a:t>Ω</a:t>
            </a:r>
            <a:endParaRPr lang="de-DE" smtClean="0"/>
          </a:p>
          <a:p>
            <a:r>
              <a:rPr lang="de-DE" smtClean="0"/>
              <a:t>R(T) = 5500 </a:t>
            </a:r>
            <a:r>
              <a:rPr lang="el-GR"/>
              <a:t>Ω</a:t>
            </a:r>
            <a:endParaRPr lang="de-DE"/>
          </a:p>
          <a:p>
            <a:r>
              <a:rPr lang="de-DE" smtClean="0">
                <a:sym typeface="Wingdings" panose="05000000000000000000" pitchFamily="2" charset="2"/>
              </a:rPr>
              <a:t>T0 = 25 °C = 298,15 K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3739521" y="3577263"/>
            <a:ext cx="684803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u="sng" smtClean="0"/>
              <a:t>ges.:</a:t>
            </a:r>
          </a:p>
          <a:p>
            <a:endParaRPr lang="de-DE"/>
          </a:p>
          <a:p>
            <a:r>
              <a:rPr lang="de-DE" smtClean="0"/>
              <a:t>T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smtClean="0">
              <a:sym typeface="Wingdings" panose="05000000000000000000" pitchFamily="2" charset="2"/>
            </a:endParaRPr>
          </a:p>
          <a:p>
            <a:endParaRPr lang="de-DE" smtClean="0"/>
          </a:p>
          <a:p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11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415415216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Abgerundetes Rechteck 21"/>
          <p:cNvSpPr/>
          <p:nvPr/>
        </p:nvSpPr>
        <p:spPr>
          <a:xfrm>
            <a:off x="4837748" y="1336518"/>
            <a:ext cx="3744537" cy="1498121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Abgerundetes Rechteck 20"/>
          <p:cNvSpPr/>
          <p:nvPr/>
        </p:nvSpPr>
        <p:spPr>
          <a:xfrm>
            <a:off x="709237" y="1478132"/>
            <a:ext cx="3301662" cy="111543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berechnet sich die Temperatur bei NTC-Sensoren?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3" name="Textfeld 2"/>
          <p:cNvSpPr txBox="1"/>
          <p:nvPr/>
        </p:nvSpPr>
        <p:spPr>
          <a:xfrm>
            <a:off x="717550" y="110880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mtClean="0"/>
              <a:t>Beta-Formel:</a:t>
            </a:r>
            <a:endParaRPr lang="de-DE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feld 8"/>
              <p:cNvSpPr txBox="1"/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sSup>
                        <m:sSupPr>
                          <m:ctrlP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𝐵</m:t>
                          </m:r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(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− 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  <m:r>
                            <a:rPr lang="de-DE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9" name="Textfeld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50" y="1581713"/>
                <a:ext cx="3301662" cy="93801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feld 11"/>
              <p:cNvSpPr txBox="1"/>
              <p:nvPr/>
            </p:nvSpPr>
            <p:spPr>
              <a:xfrm>
                <a:off x="4829436" y="1336518"/>
                <a:ext cx="3752850" cy="14284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de-DE" sz="3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num>
                        <m:den>
                          <m:func>
                            <m:func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de-DE" sz="3200" b="0" i="0" smtClean="0">
                                  <a:latin typeface="Cambria Math" panose="02040503050406030204" pitchFamily="18" charset="0"/>
                                </a:rPr>
                                <m:t>ln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de-DE" sz="3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d>
                                        <m:dPr>
                                          <m:ctrlPr>
                                            <a:rPr lang="de-DE" sz="32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de-DE" sz="3200" b="0" i="1" smtClean="0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e>
                                      </m:d>
                                    </m:num>
                                    <m:den>
                                      <m: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  <m:t>𝑅</m:t>
                                      </m:r>
                                      <m:r>
                                        <a:rPr lang="de-DE" sz="32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den>
                                  </m:f>
                                </m:e>
                              </m:d>
                            </m:e>
                          </m:func>
                          <m:r>
                            <a:rPr lang="de-DE" sz="3200" b="0" i="1" smtClean="0">
                              <a:latin typeface="Cambria Math" panose="02040503050406030204" pitchFamily="18" charset="0"/>
                            </a:rPr>
                            <m:t>+ </m:t>
                          </m:r>
                          <m:f>
                            <m:fPr>
                              <m:ctrlP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num>
                            <m:den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  <m:r>
                                <a:rPr lang="de-DE" sz="32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den>
                          </m:f>
                        </m:den>
                      </m:f>
                      <m:r>
                        <a:rPr lang="de-DE" sz="32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de-DE" sz="3200" dirty="0"/>
              </a:p>
            </p:txBody>
          </p:sp>
        </mc:Choice>
        <mc:Fallback xmlns="">
          <p:sp>
            <p:nvSpPr>
              <p:cNvPr id="12" name="Textfeld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29436" y="1336518"/>
                <a:ext cx="3752850" cy="142840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Pfeil nach rechts 3"/>
          <p:cNvSpPr/>
          <p:nvPr/>
        </p:nvSpPr>
        <p:spPr>
          <a:xfrm>
            <a:off x="4097130" y="1883080"/>
            <a:ext cx="654388" cy="33528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feld 12"/>
          <p:cNvSpPr txBox="1"/>
          <p:nvPr/>
        </p:nvSpPr>
        <p:spPr>
          <a:xfrm>
            <a:off x="788670" y="3581532"/>
            <a:ext cx="2483372" cy="1754326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de-DE" u="sng"/>
              <a:t>g</a:t>
            </a:r>
            <a:r>
              <a:rPr lang="de-DE" u="sng" smtClean="0"/>
              <a:t>eg.:</a:t>
            </a:r>
          </a:p>
          <a:p>
            <a:endParaRPr lang="de-DE"/>
          </a:p>
          <a:p>
            <a:r>
              <a:rPr lang="de-DE" smtClean="0"/>
              <a:t>B = 4069 K</a:t>
            </a:r>
          </a:p>
          <a:p>
            <a:r>
              <a:rPr lang="de-DE" smtClean="0"/>
              <a:t>R0 = 5000 </a:t>
            </a:r>
            <a:r>
              <a:rPr lang="el-GR" smtClean="0"/>
              <a:t>Ω</a:t>
            </a:r>
            <a:endParaRPr lang="de-DE" smtClean="0"/>
          </a:p>
          <a:p>
            <a:r>
              <a:rPr lang="de-DE" smtClean="0"/>
              <a:t>R(T) = 5500 </a:t>
            </a:r>
            <a:r>
              <a:rPr lang="el-GR"/>
              <a:t>Ω</a:t>
            </a:r>
            <a:endParaRPr lang="de-DE"/>
          </a:p>
          <a:p>
            <a:r>
              <a:rPr lang="de-DE" smtClean="0">
                <a:sym typeface="Wingdings" panose="05000000000000000000" pitchFamily="2" charset="2"/>
              </a:rPr>
              <a:t>T0 = 25 °C = 298,15 K</a:t>
            </a:r>
          </a:p>
        </p:txBody>
      </p:sp>
      <p:sp>
        <p:nvSpPr>
          <p:cNvPr id="14" name="Textfeld 13"/>
          <p:cNvSpPr txBox="1"/>
          <p:nvPr/>
        </p:nvSpPr>
        <p:spPr>
          <a:xfrm>
            <a:off x="3739521" y="3577263"/>
            <a:ext cx="68480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smtClean="0"/>
              <a:t>ges.:</a:t>
            </a:r>
          </a:p>
          <a:p>
            <a:endParaRPr lang="de-DE"/>
          </a:p>
          <a:p>
            <a:r>
              <a:rPr lang="de-DE" smtClean="0"/>
              <a:t>T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smtClean="0">
              <a:sym typeface="Wingdings" panose="05000000000000000000" pitchFamily="2" charset="2"/>
            </a:endParaRPr>
          </a:p>
          <a:p>
            <a:endParaRPr lang="de-DE" smtClean="0"/>
          </a:p>
          <a:p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6021058" y="3577264"/>
            <a:ext cx="2671565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u="sng" smtClean="0"/>
              <a:t>Lsg.:</a:t>
            </a:r>
          </a:p>
          <a:p>
            <a:endParaRPr lang="de-DE"/>
          </a:p>
          <a:p>
            <a:r>
              <a:rPr lang="de-DE" smtClean="0"/>
              <a:t>T = 296,08 K = 22,93 °C</a:t>
            </a:r>
            <a:endParaRPr lang="de-DE" smtClean="0">
              <a:sym typeface="Wingdings" panose="05000000000000000000" pitchFamily="2" charset="2"/>
            </a:endParaRPr>
          </a:p>
          <a:p>
            <a:endParaRPr lang="de-DE" smtClean="0">
              <a:sym typeface="Wingdings" panose="05000000000000000000" pitchFamily="2" charset="2"/>
            </a:endParaRPr>
          </a:p>
          <a:p>
            <a:endParaRPr lang="de-DE" smtClean="0"/>
          </a:p>
          <a:p>
            <a:endParaRPr lang="de-DE"/>
          </a:p>
          <a:p>
            <a:endParaRPr lang="de-DE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12</a:t>
            </a:fld>
            <a:endParaRPr lang="de-DE"/>
          </a:p>
        </p:txBody>
      </p:sp>
      <p:sp>
        <p:nvSpPr>
          <p:cNvPr id="16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2492300393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8619" y="0"/>
            <a:ext cx="6853380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Anwendung            NTC-Sensor</a:t>
            </a:r>
            <a:endParaRPr lang="de-DE" sz="4800" b="1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mtClean="0"/>
              <a:t>Prof. Dr-Ing. Mathias Rudolph, Elena Richter, Ludwig Ostertag, Fakultät ING, Industrielle Messtechnik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13</a:t>
            </a:fld>
            <a:endParaRPr lang="de-DE" dirty="0"/>
          </a:p>
        </p:txBody>
      </p:sp>
      <p:pic>
        <p:nvPicPr>
          <p:cNvPr id="10" name="Grafik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1" y="1347932"/>
            <a:ext cx="4168485" cy="41684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00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verschaltet?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14</a:t>
            </a:fld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411094" y="1425954"/>
            <a:ext cx="7369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___ </a:t>
            </a:r>
            <a:r>
              <a:rPr lang="de-DE" smtClean="0"/>
              <a:t>── </a:t>
            </a:r>
            <a:r>
              <a:rPr lang="de-DE">
                <a:solidFill>
                  <a:schemeClr val="accent6"/>
                </a:solidFill>
              </a:rPr>
              <a:t>[ Rfix </a:t>
            </a:r>
            <a:r>
              <a:rPr lang="de-DE" smtClean="0">
                <a:solidFill>
                  <a:schemeClr val="accent6"/>
                </a:solidFill>
              </a:rPr>
              <a:t>] </a:t>
            </a:r>
            <a:r>
              <a:rPr lang="de-DE" smtClean="0"/>
              <a:t>── </a:t>
            </a:r>
            <a:r>
              <a:rPr lang="de-DE">
                <a:solidFill>
                  <a:srgbClr val="FFC000"/>
                </a:solidFill>
              </a:rPr>
              <a:t>GPIO-Pin</a:t>
            </a:r>
            <a:r>
              <a:rPr lang="de-DE"/>
              <a:t> </a:t>
            </a:r>
            <a:r>
              <a:rPr lang="de-DE" smtClean="0"/>
              <a:t>(ADC, </a:t>
            </a:r>
            <a:r>
              <a:rPr lang="de-DE"/>
              <a:t>z. B. </a:t>
            </a:r>
            <a:r>
              <a:rPr lang="de-DE" smtClean="0"/>
              <a:t>_____) ── </a:t>
            </a:r>
            <a:r>
              <a:rPr lang="de-DE" smtClean="0">
                <a:solidFill>
                  <a:schemeClr val="bg2"/>
                </a:solidFill>
              </a:rPr>
              <a:t>___</a:t>
            </a:r>
            <a:r>
              <a:rPr lang="de-DE" smtClean="0"/>
              <a:t> ── GND</a:t>
            </a:r>
          </a:p>
          <a:p>
            <a:r>
              <a:rPr lang="de-DE"/>
              <a:t>           </a:t>
            </a:r>
            <a:r>
              <a:rPr lang="de-DE" smtClean="0"/>
              <a:t>z.B</a:t>
            </a:r>
            <a:r>
              <a:rPr lang="de-DE"/>
              <a:t>. </a:t>
            </a:r>
            <a:r>
              <a:rPr lang="de-DE" smtClean="0"/>
              <a:t>____</a:t>
            </a:r>
            <a:endParaRPr lang="de-DE"/>
          </a:p>
        </p:txBody>
      </p:sp>
      <p:sp>
        <p:nvSpPr>
          <p:cNvPr id="9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13" name="Grafik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58688" y="2101383"/>
            <a:ext cx="4074622" cy="407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277062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verschaltet?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r>
              <a:rPr lang="de-DE" b="1" smtClean="0"/>
              <a:t>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15</a:t>
            </a:fld>
            <a:endParaRPr lang="de-DE"/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5966" y="2072285"/>
            <a:ext cx="3060065" cy="3937388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565966" y="6009673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Rechteck 13"/>
          <p:cNvSpPr/>
          <p:nvPr/>
        </p:nvSpPr>
        <p:spPr>
          <a:xfrm>
            <a:off x="2411093" y="1425600"/>
            <a:ext cx="736981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smtClean="0">
                <a:solidFill>
                  <a:srgbClr val="FF0000"/>
                </a:solidFill>
              </a:rPr>
              <a:t>3.3V </a:t>
            </a:r>
            <a:r>
              <a:rPr lang="de-DE" smtClean="0"/>
              <a:t>── </a:t>
            </a:r>
            <a:r>
              <a:rPr lang="de-DE">
                <a:solidFill>
                  <a:schemeClr val="accent6"/>
                </a:solidFill>
              </a:rPr>
              <a:t>[ Rfix </a:t>
            </a:r>
            <a:r>
              <a:rPr lang="de-DE" smtClean="0">
                <a:solidFill>
                  <a:schemeClr val="accent6"/>
                </a:solidFill>
              </a:rPr>
              <a:t>] </a:t>
            </a:r>
            <a:r>
              <a:rPr lang="de-DE" smtClean="0"/>
              <a:t>── </a:t>
            </a:r>
            <a:r>
              <a:rPr lang="de-DE">
                <a:solidFill>
                  <a:srgbClr val="FFC000"/>
                </a:solidFill>
              </a:rPr>
              <a:t>GPIO-Pin</a:t>
            </a:r>
            <a:r>
              <a:rPr lang="de-DE"/>
              <a:t> </a:t>
            </a:r>
            <a:r>
              <a:rPr lang="de-DE" smtClean="0"/>
              <a:t>(ADC, </a:t>
            </a:r>
            <a:r>
              <a:rPr lang="de-DE"/>
              <a:t>z. B. </a:t>
            </a:r>
            <a:r>
              <a:rPr lang="de-DE" smtClean="0"/>
              <a:t>GPIO34) ── </a:t>
            </a:r>
            <a:r>
              <a:rPr lang="de-DE" smtClean="0">
                <a:solidFill>
                  <a:schemeClr val="bg2"/>
                </a:solidFill>
              </a:rPr>
              <a:t>NTC</a:t>
            </a:r>
            <a:r>
              <a:rPr lang="de-DE" smtClean="0"/>
              <a:t> ── GND</a:t>
            </a:r>
          </a:p>
          <a:p>
            <a:r>
              <a:rPr lang="de-DE"/>
              <a:t>           </a:t>
            </a:r>
            <a:r>
              <a:rPr lang="de-DE" smtClean="0"/>
              <a:t>z.B</a:t>
            </a:r>
            <a:r>
              <a:rPr lang="de-DE"/>
              <a:t>. 10 </a:t>
            </a:r>
            <a:r>
              <a:rPr lang="de-DE" smtClean="0"/>
              <a:t>kΩ</a:t>
            </a:r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3670411441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hteck 16"/>
          <p:cNvSpPr/>
          <p:nvPr/>
        </p:nvSpPr>
        <p:spPr>
          <a:xfrm>
            <a:off x="7392687" y="4238625"/>
            <a:ext cx="884537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programmiert? </a:t>
            </a:r>
            <a:endParaRPr lang="de-DE" b="1" dirty="0"/>
          </a:p>
        </p:txBody>
      </p:sp>
      <p:sp>
        <p:nvSpPr>
          <p:cNvPr id="2" name="Foliennummernplatzhalter 1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16</a:t>
            </a:fld>
            <a:endParaRPr lang="de-DE"/>
          </a:p>
        </p:txBody>
      </p:sp>
      <p:sp>
        <p:nvSpPr>
          <p:cNvPr id="11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1151657"/>
            <a:ext cx="4760153" cy="2466000"/>
          </a:xfrm>
          <a:prstGeom prst="rect">
            <a:avLst/>
          </a:prstGeom>
        </p:spPr>
      </p:pic>
      <p:pic>
        <p:nvPicPr>
          <p:cNvPr id="4" name="Grafik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989" y="2154411"/>
            <a:ext cx="5594907" cy="3819600"/>
          </a:xfrm>
          <a:prstGeom prst="rect">
            <a:avLst/>
          </a:prstGeom>
        </p:spPr>
      </p:pic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888989" y="5974011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363148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615848297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/>
          <p:nvPr/>
        </p:nvSpPr>
        <p:spPr>
          <a:xfrm>
            <a:off x="1851660" y="1785828"/>
            <a:ext cx="213360" cy="1641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Rechteck 10"/>
          <p:cNvSpPr/>
          <p:nvPr/>
        </p:nvSpPr>
        <p:spPr>
          <a:xfrm>
            <a:off x="2842260" y="1950024"/>
            <a:ext cx="556260" cy="183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Rechteck 11"/>
          <p:cNvSpPr/>
          <p:nvPr/>
        </p:nvSpPr>
        <p:spPr>
          <a:xfrm>
            <a:off x="3032760" y="2152211"/>
            <a:ext cx="495300" cy="1835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Rechteck 12"/>
          <p:cNvSpPr/>
          <p:nvPr/>
        </p:nvSpPr>
        <p:spPr>
          <a:xfrm>
            <a:off x="3139440" y="2356007"/>
            <a:ext cx="327660" cy="164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/>
          <p:cNvSpPr/>
          <p:nvPr/>
        </p:nvSpPr>
        <p:spPr>
          <a:xfrm>
            <a:off x="2678430" y="2502845"/>
            <a:ext cx="461010" cy="1931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/>
          <p:cNvSpPr/>
          <p:nvPr/>
        </p:nvSpPr>
        <p:spPr>
          <a:xfrm>
            <a:off x="2049163" y="2695999"/>
            <a:ext cx="370187" cy="1710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/>
          <p:cNvSpPr/>
          <p:nvPr/>
        </p:nvSpPr>
        <p:spPr>
          <a:xfrm>
            <a:off x="2039638" y="2895600"/>
            <a:ext cx="217788" cy="1619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Rechteck 16"/>
          <p:cNvSpPr/>
          <p:nvPr/>
        </p:nvSpPr>
        <p:spPr>
          <a:xfrm>
            <a:off x="7392687" y="4238625"/>
            <a:ext cx="884537" cy="20002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Rechteck 17"/>
          <p:cNvSpPr/>
          <p:nvPr/>
        </p:nvSpPr>
        <p:spPr>
          <a:xfrm>
            <a:off x="9469137" y="2976562"/>
            <a:ext cx="468000" cy="144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0" name="Titel 1">
            <a:extLst>
              <a:ext uri="{FF2B5EF4-FFF2-40B4-BE49-F238E27FC236}">
                <a16:creationId xmlns:a16="http://schemas.microsoft.com/office/drawing/2014/main" id="{C1F5BA14-D5FA-4F09-841D-83647C7AD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550" y="396000"/>
            <a:ext cx="10756899" cy="712800"/>
          </a:xfrm>
        </p:spPr>
        <p:txBody>
          <a:bodyPr/>
          <a:lstStyle/>
          <a:p>
            <a:r>
              <a:rPr lang="de-DE" b="1" smtClean="0"/>
              <a:t>Wie wird ein NTC-Sensor programmiert? </a:t>
            </a:r>
            <a:r>
              <a:rPr lang="de-DE" b="1" smtClean="0">
                <a:sym typeface="Wingdings" panose="05000000000000000000" pitchFamily="2" charset="2"/>
              </a:rPr>
              <a:t> Lösung:</a:t>
            </a:r>
            <a:endParaRPr lang="de-DE" b="1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17</a:t>
            </a:fld>
            <a:endParaRPr lang="de-DE"/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17550" y="3631486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23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550" y="1167311"/>
            <a:ext cx="4696279" cy="2464469"/>
          </a:xfrm>
          <a:prstGeom prst="rect">
            <a:avLst/>
          </a:prstGeom>
        </p:spPr>
      </p:pic>
      <p:sp>
        <p:nvSpPr>
          <p:cNvPr id="7" name="Rechteck 6"/>
          <p:cNvSpPr/>
          <p:nvPr/>
        </p:nvSpPr>
        <p:spPr>
          <a:xfrm>
            <a:off x="1074057" y="2438244"/>
            <a:ext cx="1494972" cy="34326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extfeld 1"/>
          <p:cNvSpPr txBox="1"/>
          <p:nvPr/>
        </p:nvSpPr>
        <p:spPr>
          <a:xfrm>
            <a:off x="697663" y="4117046"/>
            <a:ext cx="240034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smtClean="0">
                <a:solidFill>
                  <a:srgbClr val="FF0000"/>
                </a:solidFill>
              </a:rPr>
              <a:t>ACHTUNG: </a:t>
            </a:r>
          </a:p>
          <a:p>
            <a:r>
              <a:rPr lang="de-DE" sz="1400" smtClean="0">
                <a:solidFill>
                  <a:srgbClr val="FF0000"/>
                </a:solidFill>
              </a:rPr>
              <a:t>Werte sind abhängig von vorhandenem Sensor; B-Wert muss (wenn nicht von Hersteller angegeben) bei von Folie 12 abweichenden gegebenen Werten neu berechnet werden</a:t>
            </a:r>
            <a:endParaRPr lang="de-DE" sz="1400">
              <a:solidFill>
                <a:srgbClr val="FF0000"/>
              </a:solidFill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8989" y="2155675"/>
            <a:ext cx="5607941" cy="3818336"/>
          </a:xfrm>
          <a:prstGeom prst="rect">
            <a:avLst/>
          </a:prstGeom>
        </p:spPr>
      </p:pic>
      <p:sp>
        <p:nvSpPr>
          <p:cNvPr id="22" name="Textfeld 2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888989" y="5974011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43233489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B54473F-290F-1C9D-42C9-3317CF9059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4873" y="0"/>
            <a:ext cx="6687126" cy="6858000"/>
          </a:xfrm>
        </p:spPr>
        <p:txBody>
          <a:bodyPr anchor="ctr">
            <a:normAutofit/>
          </a:bodyPr>
          <a:lstStyle/>
          <a:p>
            <a:r>
              <a:rPr lang="de-DE" sz="4800" b="1" smtClean="0"/>
              <a:t>Praxistest                  NTC-Sensor</a:t>
            </a:r>
            <a:endParaRPr lang="de-DE" sz="4800" b="1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82E2EBB-E035-44E5-E10B-431C8375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B454C-C8BB-450C-A446-EA3D813FE484}" type="slidenum">
              <a:rPr lang="de-DE" smtClean="0"/>
              <a:t>18</a:t>
            </a:fld>
            <a:endParaRPr lang="de-DE" dirty="0"/>
          </a:p>
        </p:txBody>
      </p:sp>
      <p:sp>
        <p:nvSpPr>
          <p:cNvPr id="5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  <p:pic>
        <p:nvPicPr>
          <p:cNvPr id="6" name="Grafik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806" y="1443615"/>
            <a:ext cx="3970770" cy="3970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6779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15000">
        <p:fade/>
      </p:transition>
    </mc:Choice>
    <mc:Fallback xmlns="">
      <p:transition spd="med" advTm="1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feld 4"/>
          <p:cNvSpPr txBox="1"/>
          <p:nvPr/>
        </p:nvSpPr>
        <p:spPr>
          <a:xfrm>
            <a:off x="717550" y="1041592"/>
            <a:ext cx="4473575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mtClean="0"/>
              <a:t>Materialliste für Test eines NTC-Sensors:</a:t>
            </a:r>
          </a:p>
          <a:p>
            <a:endParaRPr lang="de-DE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3"/>
              </a:rPr>
              <a:t>NTC-Sensor</a:t>
            </a:r>
            <a:r>
              <a:rPr lang="de-DE" smtClean="0"/>
              <a:t> x 1 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4"/>
              </a:rPr>
              <a:t>Bread-Board</a:t>
            </a:r>
            <a:r>
              <a:rPr lang="de-DE" smtClean="0"/>
              <a:t> x 1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5"/>
              </a:rPr>
              <a:t>Jumper-Kabel</a:t>
            </a:r>
            <a:r>
              <a:rPr lang="de-DE" smtClean="0"/>
              <a:t> (Male-Male)</a:t>
            </a:r>
          </a:p>
          <a:p>
            <a:r>
              <a:rPr lang="de-DE" smtClean="0"/>
              <a:t> 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6"/>
              </a:rPr>
              <a:t>Mikrocontroller</a:t>
            </a:r>
            <a:r>
              <a:rPr lang="de-DE" smtClean="0"/>
              <a:t> (ESP32) x1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>
                <a:hlinkClick r:id="rId7"/>
              </a:rPr>
              <a:t>Widerstand </a:t>
            </a:r>
            <a:r>
              <a:rPr lang="de-DE" smtClean="0"/>
              <a:t>10 Kohm x 1</a:t>
            </a:r>
          </a:p>
          <a:p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Computer mit </a:t>
            </a:r>
            <a:r>
              <a:rPr lang="de-DE" smtClean="0">
                <a:hlinkClick r:id="rId8"/>
              </a:rPr>
              <a:t>Arduino IDE</a:t>
            </a: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  <a:p>
            <a:pPr marL="285750" indent="-285750">
              <a:buFont typeface="Symbol" panose="05050102010706020507" pitchFamily="18" charset="2"/>
              <a:buChar char="-"/>
            </a:pPr>
            <a:r>
              <a:rPr lang="de-DE" smtClean="0"/>
              <a:t>USB-A zu USB-C Kabel</a:t>
            </a:r>
          </a:p>
          <a:p>
            <a:pPr marL="285750" indent="-285750">
              <a:buFont typeface="Symbol" panose="05050102010706020507" pitchFamily="18" charset="2"/>
              <a:buChar char="-"/>
            </a:pPr>
            <a:endParaRPr lang="de-DE" smtClean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75533" y="4492104"/>
            <a:ext cx="2118370" cy="1256176"/>
          </a:xfrm>
          <a:prstGeom prst="rect">
            <a:avLst/>
          </a:prstGeom>
        </p:spPr>
      </p:pic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10"/>
          <a:srcRect l="24859" b="11623"/>
          <a:stretch/>
        </p:blipFill>
        <p:spPr>
          <a:xfrm>
            <a:off x="7438624" y="2851563"/>
            <a:ext cx="1727200" cy="1278137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616991" y="392625"/>
            <a:ext cx="647790" cy="600159"/>
          </a:xfrm>
          <a:prstGeom prst="rect">
            <a:avLst/>
          </a:prstGeom>
        </p:spPr>
      </p:pic>
      <p:pic>
        <p:nvPicPr>
          <p:cNvPr id="7" name="Grafik 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36638" y="3741413"/>
            <a:ext cx="2077336" cy="1749589"/>
          </a:xfrm>
          <a:prstGeom prst="rect">
            <a:avLst/>
          </a:prstGeom>
        </p:spPr>
      </p:pic>
      <p:pic>
        <p:nvPicPr>
          <p:cNvPr id="8" name="Grafik 7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04560" y="52362"/>
            <a:ext cx="2570890" cy="2122753"/>
          </a:xfrm>
          <a:prstGeom prst="rect">
            <a:avLst/>
          </a:prstGeom>
        </p:spPr>
      </p:pic>
      <p:pic>
        <p:nvPicPr>
          <p:cNvPr id="9" name="Grafik 8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250462" y="1877948"/>
            <a:ext cx="3229426" cy="685896"/>
          </a:xfrm>
          <a:prstGeom prst="rect">
            <a:avLst/>
          </a:prstGeom>
        </p:spPr>
      </p:pic>
      <p:sp>
        <p:nvSpPr>
          <p:cNvPr id="4" name="Foliennummernplatzhalt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19</a:t>
            </a:fld>
            <a:endParaRPr lang="de-DE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01960" y="2350356"/>
            <a:ext cx="29652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5"/>
              </a:rPr>
              <a:t>https://cdn-reichelt.de/bilder/web/artikel_ws/B400%2FGAX.jpg?type=Product</a:t>
            </a:r>
            <a:r>
              <a:rPr lang="de-DE" sz="800" smtClean="0">
                <a:hlinkClick r:id="rId15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703212" y="2175115"/>
            <a:ext cx="3442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6"/>
              </a:rPr>
              <a:t>https://asset.conrad.com/media10/isa/160267/c1/-/</a:t>
            </a:r>
            <a:r>
              <a:rPr lang="de-DE" sz="800" smtClean="0">
                <a:hlinkClick r:id="rId16"/>
              </a:rPr>
              <a:t>de/002885952PI00/image.jpg?x=1440&amp;y=1440&amp;format=jpg&amp;ex=1440&amp;ey=1440&amp;align=center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4307045" y="5433353"/>
            <a:ext cx="3762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7"/>
              </a:rPr>
              <a:t>https://</a:t>
            </a:r>
            <a:r>
              <a:rPr lang="de-DE" sz="800" smtClean="0">
                <a:hlinkClick r:id="rId17"/>
              </a:rPr>
              <a:t>www.az-delivery.de/cdn/shop/products/jumper-wire-kabel-40-stk-je-20-cm-m2m-male-to-male-kompatibel-mit-arduino-und-raspberry-pi-breadboard-140806.jpg?v=1679398754&amp;width=1200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438625" y="4094970"/>
            <a:ext cx="25970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8"/>
              </a:rPr>
              <a:t>https://cdn-reichelt.de/bilder/web/artikel_ws/B400%2F%21WID1_4W.jpg?type=Product</a:t>
            </a:r>
            <a:r>
              <a:rPr lang="de-DE" sz="800" smtClean="0">
                <a:hlinkClick r:id="rId18"/>
              </a:rPr>
              <a:t>&amp;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6" name="Textfeld 15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8873840" y="5712098"/>
            <a:ext cx="28680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19"/>
              </a:rPr>
              <a:t>https://</a:t>
            </a:r>
            <a:r>
              <a:rPr lang="de-DE" sz="800" smtClean="0">
                <a:hlinkClick r:id="rId19"/>
              </a:rPr>
              <a:t>www.roboter-bausatz.de/media/image/d8/f3/0e/RBS18335_600x600.jpg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5616991" y="999228"/>
            <a:ext cx="29652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>
                <a:hlinkClick r:id="rId20"/>
              </a:rPr>
              <a:t>https://</a:t>
            </a:r>
            <a:r>
              <a:rPr lang="de-DE" sz="800" smtClean="0">
                <a:hlinkClick r:id="rId20"/>
              </a:rPr>
              <a:t>www.arduino.cc/wiki/static/arduino-app-76bd27c4ce7246825aceb8efe2871f7a.svg</a:t>
            </a:r>
            <a:r>
              <a:rPr lang="de-DE" sz="800" smtClean="0"/>
              <a:t> </a:t>
            </a:r>
            <a:endParaRPr lang="de-DE" sz="800"/>
          </a:p>
        </p:txBody>
      </p:sp>
      <p:sp>
        <p:nvSpPr>
          <p:cNvPr id="18" name="Fußzeilenplatzhalter 2">
            <a:extLst>
              <a:ext uri="{FF2B5EF4-FFF2-40B4-BE49-F238E27FC236}">
                <a16:creationId xmlns:a16="http://schemas.microsoft.com/office/drawing/2014/main" id="{E7494D01-1331-4B0B-96D7-51AFBA2BE7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398" y="6205104"/>
            <a:ext cx="5637237" cy="224160"/>
          </a:xfrm>
        </p:spPr>
        <p:txBody>
          <a:bodyPr/>
          <a:lstStyle/>
          <a:p>
            <a:r>
              <a:rPr lang="de-DE" sz="850" b="0" smtClean="0"/>
              <a:t>Prof. Dr-Ing. Mathias Rudolph, Elena Richter, Ludwig Ostertag, Fakultät ING, Industrielle Messtechnik</a:t>
            </a:r>
            <a:endParaRPr lang="de-DE" sz="850" b="0" dirty="0"/>
          </a:p>
        </p:txBody>
      </p:sp>
    </p:spTree>
    <p:extLst>
      <p:ext uri="{BB962C8B-B14F-4D97-AF65-F5344CB8AC3E}">
        <p14:creationId xmlns:p14="http://schemas.microsoft.com/office/powerpoint/2010/main" val="141853504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ußzeilenplatzhalter 3">
            <a:extLst>
              <a:ext uri="{FF2B5EF4-FFF2-40B4-BE49-F238E27FC236}">
                <a16:creationId xmlns:a16="http://schemas.microsoft.com/office/drawing/2014/main" id="{2F0FFBE0-85A9-954B-8F08-3799972604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82286" y="6052699"/>
            <a:ext cx="7200000" cy="360000"/>
          </a:xfrm>
        </p:spPr>
        <p:txBody>
          <a:bodyPr/>
          <a:lstStyle/>
          <a:p>
            <a:r>
              <a:rPr lang="de-DE" dirty="0" smtClean="0"/>
              <a:t>Prof. Dr-Ing. Mathias Rudolph, Elena Richter, Ludwig Ostertag, Fakultät ING, Industrielle Messtechnik</a:t>
            </a:r>
            <a:endParaRPr lang="de-DE" dirty="0"/>
          </a:p>
        </p:txBody>
      </p:sp>
      <p:pic>
        <p:nvPicPr>
          <p:cNvPr id="3" name="Grafik 2"/>
          <p:cNvPicPr>
            <a:picLocks noChangeAspect="1"/>
          </p:cNvPicPr>
          <p:nvPr/>
        </p:nvPicPr>
        <p:blipFill rotWithShape="1">
          <a:blip r:embed="rId3"/>
          <a:srcRect t="9571"/>
          <a:stretch/>
        </p:blipFill>
        <p:spPr>
          <a:xfrm>
            <a:off x="7876458" y="312996"/>
            <a:ext cx="3083560" cy="2646230"/>
          </a:xfrm>
          <a:prstGeom prst="rect">
            <a:avLst/>
          </a:prstGeom>
        </p:spPr>
      </p:pic>
      <p:pic>
        <p:nvPicPr>
          <p:cNvPr id="6" name="Grafik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8921" y="3252020"/>
            <a:ext cx="3098634" cy="2867885"/>
          </a:xfrm>
          <a:prstGeom prst="rect">
            <a:avLst/>
          </a:prstGeom>
        </p:spPr>
      </p:pic>
      <p:sp>
        <p:nvSpPr>
          <p:cNvPr id="7" name="Foliennummernplatzhalt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869C99-C634-47CD-B208-CB16ACE119EE}" type="slidenum">
              <a:rPr lang="de-DE" smtClean="0"/>
              <a:pPr/>
              <a:t>20</a:t>
            </a:fld>
            <a:endParaRPr lang="de-DE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868921" y="2955901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4B210A7-F815-4E40-A529-0034632E570D}"/>
              </a:ext>
            </a:extLst>
          </p:cNvPr>
          <p:cNvSpPr txBox="1"/>
          <p:nvPr/>
        </p:nvSpPr>
        <p:spPr>
          <a:xfrm>
            <a:off x="7868920" y="6119905"/>
            <a:ext cx="275830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800" dirty="0"/>
              <a:t>Quelle</a:t>
            </a:r>
            <a:r>
              <a:rPr lang="de-DE" sz="800"/>
              <a:t>: </a:t>
            </a:r>
            <a:r>
              <a:rPr lang="de-DE" sz="800" smtClean="0"/>
              <a:t>intern</a:t>
            </a:r>
            <a:endParaRPr lang="de-DE" sz="800" dirty="0"/>
          </a:p>
        </p:txBody>
      </p:sp>
      <p:sp>
        <p:nvSpPr>
          <p:cNvPr id="13" name="Pfeil nach rechts 12"/>
          <p:cNvSpPr/>
          <p:nvPr/>
        </p:nvSpPr>
        <p:spPr>
          <a:xfrm rot="20647912">
            <a:off x="6017046" y="1753425"/>
            <a:ext cx="1845325" cy="3602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Pfeil nach rechts 13"/>
          <p:cNvSpPr/>
          <p:nvPr/>
        </p:nvSpPr>
        <p:spPr>
          <a:xfrm rot="1788130">
            <a:off x="5913279" y="3054772"/>
            <a:ext cx="1845325" cy="360219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feld 14"/>
          <p:cNvSpPr txBox="1"/>
          <p:nvPr/>
        </p:nvSpPr>
        <p:spPr>
          <a:xfrm>
            <a:off x="717551" y="632188"/>
            <a:ext cx="59118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u="sng" smtClean="0"/>
              <a:t>Vorgehen zum Test eines NTC:</a:t>
            </a:r>
          </a:p>
          <a:p>
            <a:endParaRPr lang="de-DE" smtClean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Verschaltung des NTC vornehmen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Programmcode des NTC auf ESP flashen (ARDUINO)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 </a:t>
            </a:r>
            <a:r>
              <a:rPr lang="de-DE"/>
              <a:t>: </a:t>
            </a:r>
            <a:r>
              <a:rPr lang="de-DE" smtClean="0"/>
              <a:t>NTC mit Hand für etwa 10 Sekunden umschließen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NTC loslassen für etwa 10 Sekunden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smtClean="0"/>
              <a:t>Schritt</a:t>
            </a:r>
            <a:r>
              <a:rPr lang="de-DE"/>
              <a:t>: </a:t>
            </a:r>
            <a:r>
              <a:rPr lang="de-DE" smtClean="0"/>
              <a:t>Schritt 3 und 4 insgesamt 3 mal       wiederholen</a:t>
            </a:r>
          </a:p>
          <a:p>
            <a:endParaRPr lang="de-DE" smtClean="0"/>
          </a:p>
          <a:p>
            <a:r>
              <a:rPr lang="de-DE" u="sng" smtClean="0"/>
              <a:t>Auswertung des Tests eines NTC-Sensors:</a:t>
            </a:r>
          </a:p>
          <a:p>
            <a:endParaRPr lang="de-DE"/>
          </a:p>
          <a:p>
            <a:r>
              <a:rPr lang="de-DE" smtClean="0"/>
              <a:t>Steigt und sinkt die Temperatur wie vorgesehen?</a:t>
            </a:r>
          </a:p>
          <a:p>
            <a:r>
              <a:rPr lang="de-DE" smtClean="0"/>
              <a:t>Sind </a:t>
            </a:r>
            <a:r>
              <a:rPr lang="de-DE" smtClean="0"/>
              <a:t>die </a:t>
            </a:r>
            <a:r>
              <a:rPr lang="de-DE" smtClean="0"/>
              <a:t>Temperaturänderungen bei </a:t>
            </a:r>
            <a:r>
              <a:rPr lang="de-DE" smtClean="0"/>
              <a:t>Wiederholung des Schrittes 3 und 4 stabil?</a:t>
            </a:r>
          </a:p>
          <a:p>
            <a:r>
              <a:rPr lang="de-DE" smtClean="0"/>
              <a:t>Was ist die Differenz zwischen der maximal und der minimal gemessenen </a:t>
            </a:r>
            <a:r>
              <a:rPr lang="de-DE" smtClean="0"/>
              <a:t>Temperatur?</a:t>
            </a:r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48111310"/>
      </p:ext>
    </p:extLst>
  </p:cSld>
  <p:clrMapOvr>
    <a:masterClrMapping/>
  </p:clrMapOvr>
  <p:transition spd="med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EC0E8C82-2AF8-4F05-F328-ECE8C526DF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86399" y="6205104"/>
            <a:ext cx="7200000" cy="360000"/>
          </a:xfrm>
        </p:spPr>
        <p:txBody>
          <a:bodyPr anchor="b">
            <a:normAutofit/>
          </a:bodyPr>
          <a:lstStyle/>
          <a:p>
            <a:pPr>
              <a:spcAft>
                <a:spcPts val="600"/>
              </a:spcAft>
            </a:pPr>
            <a:r>
              <a:rPr lang="de-DE" smtClean="0"/>
              <a:t>Prof. Dr-Ing. Mathias Rudolph, Elena Richter, Ludwig Ostertag, Fakultät ING, Industrielle Messtechnik</a:t>
            </a:r>
            <a:endParaRPr lang="de-DE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AEFFC43F-6DA3-1A1D-6175-58D40ACE97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2870" y="3379869"/>
            <a:ext cx="11186808" cy="1783223"/>
          </a:xfrm>
        </p:spPr>
        <p:txBody>
          <a:bodyPr/>
          <a:lstStyle/>
          <a:p>
            <a:pPr algn="ctr"/>
            <a:r>
              <a:rPr lang="en-US" sz="3600" b="1" dirty="0" err="1"/>
              <a:t>Vielen</a:t>
            </a:r>
            <a:r>
              <a:rPr lang="en-US" sz="3600" b="1" dirty="0"/>
              <a:t> Dank für die </a:t>
            </a:r>
            <a:r>
              <a:rPr lang="en-US" sz="3600" b="1" dirty="0" err="1"/>
              <a:t>Aufmerksamkeit</a:t>
            </a:r>
            <a:r>
              <a:rPr lang="en-US" sz="3600" b="1" dirty="0"/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445773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Tm="5000">
        <p:fade/>
      </p:transition>
    </mc:Choice>
    <mc:Fallback xmlns="">
      <p:transition spd="med" advTm="5000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HTWK_Praesentation_16-9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8501C412-F393-B646-9B96-1DF6D2826D91}"/>
    </a:ext>
  </a:extLst>
</a:theme>
</file>

<file path=ppt/theme/theme2.xml><?xml version="1.0" encoding="utf-8"?>
<a:theme xmlns:a="http://schemas.openxmlformats.org/drawingml/2006/main" name="HTWK Magenta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FED7CB0-8CF4-D44F-9260-9E79D17BFAAA}"/>
    </a:ext>
  </a:extLst>
</a:theme>
</file>

<file path=ppt/theme/theme3.xml><?xml version="1.0" encoding="utf-8"?>
<a:theme xmlns:a="http://schemas.openxmlformats.org/drawingml/2006/main" name="HTWK Grü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E391D94D-EE63-D349-B7DE-98ADF560723F}"/>
    </a:ext>
  </a:extLst>
</a:theme>
</file>

<file path=ppt/theme/theme4.xml><?xml version="1.0" encoding="utf-8"?>
<a:theme xmlns:a="http://schemas.openxmlformats.org/drawingml/2006/main" name="HTWK Cyan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A51D0A69-4D8E-524F-9B0E-CEBB36F378F6}"/>
    </a:ext>
  </a:extLst>
</a:theme>
</file>

<file path=ppt/theme/theme5.xml><?xml version="1.0" encoding="utf-8"?>
<a:theme xmlns:a="http://schemas.openxmlformats.org/drawingml/2006/main" name="HTWK Blau">
  <a:themeElements>
    <a:clrScheme name="HTWK_Test">
      <a:dk1>
        <a:sysClr val="windowText" lastClr="000000"/>
      </a:dk1>
      <a:lt1>
        <a:sysClr val="window" lastClr="FFFFFF"/>
      </a:lt1>
      <a:dk2>
        <a:srgbClr val="022541"/>
      </a:dk2>
      <a:lt2>
        <a:srgbClr val="BEC3C6"/>
      </a:lt2>
      <a:accent1>
        <a:srgbClr val="FFED00"/>
      </a:accent1>
      <a:accent2>
        <a:srgbClr val="E5007D"/>
      </a:accent2>
      <a:accent3>
        <a:srgbClr val="00964E"/>
      </a:accent3>
      <a:accent4>
        <a:srgbClr val="E53009"/>
      </a:accent4>
      <a:accent5>
        <a:srgbClr val="009EE3"/>
      </a:accent5>
      <a:accent6>
        <a:srgbClr val="004699"/>
      </a:accent6>
      <a:hlink>
        <a:srgbClr val="022541"/>
      </a:hlink>
      <a:folHlink>
        <a:srgbClr val="2E3639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HTWK_Praesentation_16-9" id="{1FEA0790-483C-694F-BB74-62ABC0BEEE2F}" vid="{9DD5615B-4FDE-C14E-84FA-48ACAD4DD175}"/>
    </a:ext>
  </a:extLst>
</a:theme>
</file>

<file path=ppt/theme/theme6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DA79B272C4D3C4887957B2C2A69604C" ma:contentTypeVersion="2" ma:contentTypeDescription="Ein neues Dokument erstellen." ma:contentTypeScope="" ma:versionID="a8f11939e8f693b5e60eead0cd42f230">
  <xsd:schema xmlns:xsd="http://www.w3.org/2001/XMLSchema" xmlns:xs="http://www.w3.org/2001/XMLSchema" xmlns:p="http://schemas.microsoft.com/office/2006/metadata/properties" xmlns:ns2="99f41258-1f02-46b6-b230-447d6494c4cb" targetNamespace="http://schemas.microsoft.com/office/2006/metadata/properties" ma:root="true" ma:fieldsID="be05fa88f11a9855f776efdf4611a3d7" ns2:_="">
    <xsd:import namespace="99f41258-1f02-46b6-b230-447d6494c4cb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9f41258-1f02-46b6-b230-447d6494c4c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F333B2F-1563-4DC4-B635-64824C2FC33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9f41258-1f02-46b6-b230-447d6494c4c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D9AF071-B304-4F0F-8459-AC4D742E5C60}">
  <ds:schemaRefs>
    <ds:schemaRef ds:uri="http://purl.org/dc/elements/1.1/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purl.org/dc/terms/"/>
    <ds:schemaRef ds:uri="http://schemas.openxmlformats.org/package/2006/metadata/core-properties"/>
    <ds:schemaRef ds:uri="99f41258-1f02-46b6-b230-447d6494c4cb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E15DEB7-8D29-4EC4-857C-8778EFE7092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HTWK_Praesentation_16-9.potx</Template>
  <TotalTime>0</TotalTime>
  <Words>1211</Words>
  <Application>Microsoft Office PowerPoint</Application>
  <PresentationFormat>Breitbild</PresentationFormat>
  <Paragraphs>223</Paragraphs>
  <Slides>21</Slides>
  <Notes>21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5</vt:i4>
      </vt:variant>
      <vt:variant>
        <vt:lpstr>Folientitel</vt:lpstr>
      </vt:variant>
      <vt:variant>
        <vt:i4>21</vt:i4>
      </vt:variant>
    </vt:vector>
  </HeadingPairs>
  <TitlesOfParts>
    <vt:vector size="32" baseType="lpstr">
      <vt:lpstr>Arial</vt:lpstr>
      <vt:lpstr>Calibri</vt:lpstr>
      <vt:lpstr>Cambria Math</vt:lpstr>
      <vt:lpstr>Symbol</vt:lpstr>
      <vt:lpstr>Wingdings</vt:lpstr>
      <vt:lpstr>Work Sans</vt:lpstr>
      <vt:lpstr>HTWK_Praesentation_16-9</vt:lpstr>
      <vt:lpstr>HTWK Magenta</vt:lpstr>
      <vt:lpstr>HTWK Grün</vt:lpstr>
      <vt:lpstr>HTWK Cyan</vt:lpstr>
      <vt:lpstr>HTWK Blau</vt:lpstr>
      <vt:lpstr>Temperatursensoren NTC und PTC</vt:lpstr>
      <vt:lpstr>Funktionsweise</vt:lpstr>
      <vt:lpstr>Wie funktionieren Temperatursensoren (Temperaturfühler)?</vt:lpstr>
      <vt:lpstr>Wie funktionieren Temperatursensoren?  Lösung:</vt:lpstr>
      <vt:lpstr>Wie funktionieren NTC-Sensoren? </vt:lpstr>
      <vt:lpstr>Wie funktionieren NTC-Sensoren?  Lösung:</vt:lpstr>
      <vt:lpstr>Wie funktionieren PTC-Sensoren? </vt:lpstr>
      <vt:lpstr>Wie funktionieren PTC-Sensoren?  Lösung:</vt:lpstr>
      <vt:lpstr>Welche Kurve gehört zu welchem Sensor?</vt:lpstr>
      <vt:lpstr>Welche Kurve gehört zu welchem Sensor?  Lösung:</vt:lpstr>
      <vt:lpstr>Wie berechnet sich die Temperatur bei NTC-Sensoren?</vt:lpstr>
      <vt:lpstr>Wie berechnet sich die Temperatur bei NTC-Sensoren? Lösung:</vt:lpstr>
      <vt:lpstr>Anwendung            NTC-Sensor</vt:lpstr>
      <vt:lpstr>Wie wird ein NTC-Sensor verschaltet? </vt:lpstr>
      <vt:lpstr>Wie wird ein NTC-Sensor verschaltet?  Lösung: </vt:lpstr>
      <vt:lpstr>Wie wird ein NTC-Sensor programmiert? </vt:lpstr>
      <vt:lpstr>Wie wird ein NTC-Sensor programmiert?  Lösung:</vt:lpstr>
      <vt:lpstr>Praxistest                  NTC-Sensor</vt:lpstr>
      <vt:lpstr>PowerPoint-Präsentation</vt:lpstr>
      <vt:lpstr>PowerPoint-Präsentation</vt:lpstr>
      <vt:lpstr>Vielen Dank für die Aufmerksamkeit!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Titel der Präsentation</dc:title>
  <dc:creator>Paulin Alter</dc:creator>
  <cp:lastModifiedBy>Richter, Elena</cp:lastModifiedBy>
  <cp:revision>310</cp:revision>
  <dcterms:created xsi:type="dcterms:W3CDTF">2019-01-10T16:04:56Z</dcterms:created>
  <dcterms:modified xsi:type="dcterms:W3CDTF">2026-04-13T08:26:31Z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0x0101005DA79B272C4D3C4887957B2C2A69604C</vt:lpwstr>
  </property>
</Properties>
</file>