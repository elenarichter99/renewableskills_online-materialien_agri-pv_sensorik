
<file path=[Content_Types].xml><?xml version="1.0" encoding="utf-8"?>
<Types xmlns="http://schemas.openxmlformats.org/package/2006/content-types">
  <Default Extension="png" ContentType="image/png"/>
  <Default Extension="wmf" ContentType="image/x-wmf"/>
  <Default Extension="jpeg" ContentType="image/jpeg"/>
  <Default Extension="rels" ContentType="application/vnd.openxmlformats-package.relationships+xml"/>
  <Default Extension="xml" ContentType="application/xml"/>
  <Default Extension="tiff" ContentType="image/tiff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3.xml" ContentType="application/vnd.openxmlformats-officedocument.theme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4.xml" ContentType="application/vnd.openxmlformats-officedocument.theme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  <p:sldMasterId id="2147483673" r:id="rId5"/>
    <p:sldMasterId id="2147483678" r:id="rId6"/>
    <p:sldMasterId id="2147483688" r:id="rId7"/>
    <p:sldMasterId id="2147483693" r:id="rId8"/>
  </p:sldMasterIdLst>
  <p:notesMasterIdLst>
    <p:notesMasterId r:id="rId32"/>
  </p:notesMasterIdLst>
  <p:sldIdLst>
    <p:sldId id="367" r:id="rId9"/>
    <p:sldId id="368" r:id="rId10"/>
    <p:sldId id="430" r:id="rId11"/>
    <p:sldId id="390" r:id="rId12"/>
    <p:sldId id="393" r:id="rId13"/>
    <p:sldId id="422" r:id="rId14"/>
    <p:sldId id="403" r:id="rId15"/>
    <p:sldId id="423" r:id="rId16"/>
    <p:sldId id="405" r:id="rId17"/>
    <p:sldId id="421" r:id="rId18"/>
    <p:sldId id="406" r:id="rId19"/>
    <p:sldId id="426" r:id="rId20"/>
    <p:sldId id="408" r:id="rId21"/>
    <p:sldId id="409" r:id="rId22"/>
    <p:sldId id="415" r:id="rId23"/>
    <p:sldId id="427" r:id="rId24"/>
    <p:sldId id="412" r:id="rId25"/>
    <p:sldId id="413" r:id="rId26"/>
    <p:sldId id="418" r:id="rId27"/>
    <p:sldId id="428" r:id="rId28"/>
    <p:sldId id="416" r:id="rId29"/>
    <p:sldId id="417" r:id="rId30"/>
    <p:sldId id="366" r:id="rId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3867" userDrawn="1">
          <p15:clr>
            <a:srgbClr val="A4A3A4"/>
          </p15:clr>
        </p15:guide>
        <p15:guide id="4" orient="horz" pos="229" userDrawn="1">
          <p15:clr>
            <a:srgbClr val="A4A3A4"/>
          </p15:clr>
        </p15:guide>
        <p15:guide id="5" orient="horz" pos="680" userDrawn="1">
          <p15:clr>
            <a:srgbClr val="A4A3A4"/>
          </p15:clr>
        </p15:guide>
        <p15:guide id="6" orient="horz" pos="914" userDrawn="1">
          <p15:clr>
            <a:srgbClr val="A4A3A4"/>
          </p15:clr>
        </p15:guide>
        <p15:guide id="7" orient="horz" pos="4121" userDrawn="1">
          <p15:clr>
            <a:srgbClr val="A4A3A4"/>
          </p15:clr>
        </p15:guide>
        <p15:guide id="8" orient="horz" pos="945" userDrawn="1">
          <p15:clr>
            <a:srgbClr val="A4A3A4"/>
          </p15:clr>
        </p15:guide>
        <p15:guide id="9" pos="452" userDrawn="1">
          <p15:clr>
            <a:srgbClr val="A4A3A4"/>
          </p15:clr>
        </p15:guide>
        <p15:guide id="10" pos="7231" userDrawn="1">
          <p15:clr>
            <a:srgbClr val="A4A3A4"/>
          </p15:clr>
        </p15:guide>
        <p15:guide id="11" pos="3932" userDrawn="1">
          <p15:clr>
            <a:srgbClr val="A4A3A4"/>
          </p15:clr>
        </p15:guide>
        <p15:guide id="12" pos="3748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ichter, Elena" initials="RE" lastIdx="1" clrIdx="0">
    <p:extLst>
      <p:ext uri="{19B8F6BF-5375-455C-9EA6-DF929625EA0E}">
        <p15:presenceInfo xmlns:p15="http://schemas.microsoft.com/office/powerpoint/2012/main" userId="S-1-5-21-2252779649-2432209404-4072682936-28481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A99A0"/>
    <a:srgbClr val="EADB61"/>
    <a:srgbClr val="F9F9F9"/>
    <a:srgbClr val="E9796B"/>
    <a:srgbClr val="E97A70"/>
    <a:srgbClr val="E45E7C"/>
    <a:srgbClr val="633330"/>
    <a:srgbClr val="6D89D1"/>
    <a:srgbClr val="2DCD28"/>
    <a:srgbClr val="9999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Designformatvorlage 1 - Akz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35758FB7-9AC5-4552-8A53-C91805E547FA}" styleName="Designformatvorlage 1 - Akz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99" autoAdjust="0"/>
    <p:restoredTop sz="81387" autoAdjust="0"/>
  </p:normalViewPr>
  <p:slideViewPr>
    <p:cSldViewPr snapToGrid="0" showGuides="1">
      <p:cViewPr varScale="1">
        <p:scale>
          <a:sx n="59" d="100"/>
          <a:sy n="59" d="100"/>
        </p:scale>
        <p:origin x="450" y="78"/>
      </p:cViewPr>
      <p:guideLst>
        <p:guide orient="horz" pos="2160"/>
        <p:guide pos="3840"/>
        <p:guide orient="horz" pos="3867"/>
        <p:guide orient="horz" pos="229"/>
        <p:guide orient="horz" pos="680"/>
        <p:guide orient="horz" pos="914"/>
        <p:guide orient="horz" pos="4121"/>
        <p:guide orient="horz" pos="945"/>
        <p:guide pos="452"/>
        <p:guide pos="7231"/>
        <p:guide pos="3932"/>
        <p:guide pos="3748"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</p:sldLst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5.xml"/><Relationship Id="rId18" Type="http://schemas.openxmlformats.org/officeDocument/2006/relationships/slide" Target="slides/slide10.xml"/><Relationship Id="rId26" Type="http://schemas.openxmlformats.org/officeDocument/2006/relationships/slide" Target="slides/slide18.xml"/><Relationship Id="rId21" Type="http://schemas.openxmlformats.org/officeDocument/2006/relationships/slide" Target="slides/slide13.xml"/><Relationship Id="rId34" Type="http://schemas.openxmlformats.org/officeDocument/2006/relationships/presProps" Target="presProps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4.xml"/><Relationship Id="rId17" Type="http://schemas.openxmlformats.org/officeDocument/2006/relationships/slide" Target="slides/slide9.xml"/><Relationship Id="rId25" Type="http://schemas.openxmlformats.org/officeDocument/2006/relationships/slide" Target="slides/slide17.xml"/><Relationship Id="rId33" Type="http://schemas.openxmlformats.org/officeDocument/2006/relationships/commentAuthors" Target="comment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8.xml"/><Relationship Id="rId20" Type="http://schemas.openxmlformats.org/officeDocument/2006/relationships/slide" Target="slides/slide12.xml"/><Relationship Id="rId29" Type="http://schemas.openxmlformats.org/officeDocument/2006/relationships/slide" Target="slides/slide21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3.xml"/><Relationship Id="rId24" Type="http://schemas.openxmlformats.org/officeDocument/2006/relationships/slide" Target="slides/slide16.xml"/><Relationship Id="rId32" Type="http://schemas.openxmlformats.org/officeDocument/2006/relationships/notesMaster" Target="notesMasters/notesMaster1.xml"/><Relationship Id="rId37" Type="http://schemas.openxmlformats.org/officeDocument/2006/relationships/tableStyles" Target="tableStyle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7.xml"/><Relationship Id="rId23" Type="http://schemas.openxmlformats.org/officeDocument/2006/relationships/slide" Target="slides/slide15.xml"/><Relationship Id="rId28" Type="http://schemas.openxmlformats.org/officeDocument/2006/relationships/slide" Target="slides/slide20.xml"/><Relationship Id="rId36" Type="http://schemas.openxmlformats.org/officeDocument/2006/relationships/theme" Target="theme/theme1.xml"/><Relationship Id="rId10" Type="http://schemas.openxmlformats.org/officeDocument/2006/relationships/slide" Target="slides/slide2.xml"/><Relationship Id="rId19" Type="http://schemas.openxmlformats.org/officeDocument/2006/relationships/slide" Target="slides/slide11.xml"/><Relationship Id="rId31" Type="http://schemas.openxmlformats.org/officeDocument/2006/relationships/slide" Target="slides/slide23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4" Type="http://schemas.openxmlformats.org/officeDocument/2006/relationships/slide" Target="slides/slide6.xml"/><Relationship Id="rId22" Type="http://schemas.openxmlformats.org/officeDocument/2006/relationships/slide" Target="slides/slide14.xml"/><Relationship Id="rId27" Type="http://schemas.openxmlformats.org/officeDocument/2006/relationships/slide" Target="slides/slide19.xml"/><Relationship Id="rId30" Type="http://schemas.openxmlformats.org/officeDocument/2006/relationships/slide" Target="slides/slide22.xml"/><Relationship Id="rId35" Type="http://schemas.openxmlformats.org/officeDocument/2006/relationships/viewProps" Target="viewProps.xml"/><Relationship Id="rId8" Type="http://schemas.openxmlformats.org/officeDocument/2006/relationships/slideMaster" Target="slideMasters/slideMaster5.xml"/><Relationship Id="rId3" Type="http://schemas.openxmlformats.org/officeDocument/2006/relationships/customXml" Target="../customXml/item3.xml"/></Relationships>
</file>

<file path=ppt/_rels/viewProps.xml.rels><?xml version="1.0" encoding="UTF-8" standalone="yes"?>
<Relationships xmlns="http://schemas.openxmlformats.org/package/2006/relationships"><Relationship Id="rId1" Type="http://schemas.openxmlformats.org/officeDocument/2006/relationships/slide" Target="slides/slid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8B6593-098D-4382-9647-35487FA190B4}" type="datetimeFigureOut">
              <a:rPr lang="de-DE" smtClean="0"/>
              <a:t>10.03.2026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703A5D1-80BE-4AF1-A18B-8D2CA75BFDA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026543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237486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E0887-BE0C-4C59-B8F7-4CAEF3FAD2DB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828035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694211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3750114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548777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3050793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7660435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883487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E0887-BE0C-4C59-B8F7-4CAEF3FAD2DB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37187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7329435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5487917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108294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mtClean="0"/>
              <a:t>Skript: LED_1_Luecken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3727136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mtClean="0"/>
              <a:t>Skript: LED_1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0200982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9631591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9325428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mtClean="0"/>
              <a:t>Skript: LED_2_Luecken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4694948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mtClean="0"/>
              <a:t>Skript: LED_2_Luecken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7874108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9790044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4134695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mtClean="0"/>
              <a:t>Skript: LED_3_Luecken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21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9706318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mtClean="0"/>
              <a:t>Skript: LED_3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22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8016774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23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35824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4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4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5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5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002" y="4845080"/>
            <a:ext cx="10271997" cy="1290608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3000"/>
            </a:lvl1pPr>
          </a:lstStyle>
          <a:p>
            <a:r>
              <a:rPr lang="de-DE" smtClean="0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ABD0A9EC-9FD7-4222-9E83-3F5E6A446F2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60000" y="1144800"/>
            <a:ext cx="10272000" cy="3510000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 smtClean="0"/>
              <a:t>Bild auf Platzhalter ziehen oder durch Klicken auf Symbol hinzufügen</a:t>
            </a:r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C575106C-3CD7-FE4D-97C8-190DE4ECDEC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  <p:sp>
        <p:nvSpPr>
          <p:cNvPr id="10" name="Textplatzhalter 12">
            <a:extLst>
              <a:ext uri="{FF2B5EF4-FFF2-40B4-BE49-F238E27FC236}">
                <a16:creationId xmlns:a16="http://schemas.microsoft.com/office/drawing/2014/main" id="{470EED4F-3BF2-0241-A831-A9A96AFFE91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15705" y="1498600"/>
            <a:ext cx="864000" cy="2804400"/>
          </a:xfrm>
          <a:solidFill>
            <a:schemeClr val="accent1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  <p:sp>
        <p:nvSpPr>
          <p:cNvPr id="11" name="Textplatzhalter 12">
            <a:extLst>
              <a:ext uri="{FF2B5EF4-FFF2-40B4-BE49-F238E27FC236}">
                <a16:creationId xmlns:a16="http://schemas.microsoft.com/office/drawing/2014/main" id="{EAAA6AD5-C75F-0846-B79B-823B288EFFD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912295" y="1510821"/>
            <a:ext cx="864000" cy="2804400"/>
          </a:xfrm>
          <a:solidFill>
            <a:schemeClr val="accent1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</p:spTree>
    <p:extLst>
      <p:ext uri="{BB962C8B-B14F-4D97-AF65-F5344CB8AC3E}">
        <p14:creationId xmlns:p14="http://schemas.microsoft.com/office/powerpoint/2010/main" val="4040694225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77943244-8079-C343-9249-D13695A8447F}"/>
              </a:ext>
            </a:extLst>
          </p:cNvPr>
          <p:cNvGrpSpPr/>
          <p:nvPr userDrawn="1"/>
        </p:nvGrpSpPr>
        <p:grpSpPr>
          <a:xfrm>
            <a:off x="1974056" y="1069975"/>
            <a:ext cx="8243887" cy="5788025"/>
            <a:chOff x="455613" y="533400"/>
            <a:chExt cx="8243887" cy="5788025"/>
          </a:xfrm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3004A059-65DF-B340-AD61-079AA36765F4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613" y="533400"/>
              <a:ext cx="3340100" cy="5788025"/>
            </a:xfrm>
            <a:custGeom>
              <a:avLst/>
              <a:gdLst>
                <a:gd name="T0" fmla="*/ 0 w 3503"/>
                <a:gd name="T1" fmla="*/ 470 h 6066"/>
                <a:gd name="T2" fmla="*/ 0 w 3503"/>
                <a:gd name="T3" fmla="*/ 470 h 6066"/>
                <a:gd name="T4" fmla="*/ 1189 w 3503"/>
                <a:gd name="T5" fmla="*/ 6066 h 6066"/>
                <a:gd name="T6" fmla="*/ 3503 w 3503"/>
                <a:gd name="T7" fmla="*/ 6066 h 6066"/>
                <a:gd name="T8" fmla="*/ 2214 w 3503"/>
                <a:gd name="T9" fmla="*/ 0 h 6066"/>
                <a:gd name="T10" fmla="*/ 0 w 3503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3" h="6066">
                  <a:moveTo>
                    <a:pt x="0" y="470"/>
                  </a:moveTo>
                  <a:lnTo>
                    <a:pt x="0" y="470"/>
                  </a:lnTo>
                  <a:lnTo>
                    <a:pt x="1189" y="6066"/>
                  </a:lnTo>
                  <a:lnTo>
                    <a:pt x="3503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488F6906-E0DF-3A4F-A375-7B9D3F4EA138}"/>
                </a:ext>
              </a:extLst>
            </p:cNvPr>
            <p:cNvSpPr>
              <a:spLocks/>
            </p:cNvSpPr>
            <p:nvPr/>
          </p:nvSpPr>
          <p:spPr bwMode="auto">
            <a:xfrm>
              <a:off x="5359400" y="533400"/>
              <a:ext cx="3340100" cy="5788025"/>
            </a:xfrm>
            <a:custGeom>
              <a:avLst/>
              <a:gdLst>
                <a:gd name="T0" fmla="*/ 0 w 3504"/>
                <a:gd name="T1" fmla="*/ 470 h 6066"/>
                <a:gd name="T2" fmla="*/ 0 w 3504"/>
                <a:gd name="T3" fmla="*/ 470 h 6066"/>
                <a:gd name="T4" fmla="*/ 1190 w 3504"/>
                <a:gd name="T5" fmla="*/ 6066 h 6066"/>
                <a:gd name="T6" fmla="*/ 3504 w 3504"/>
                <a:gd name="T7" fmla="*/ 6066 h 6066"/>
                <a:gd name="T8" fmla="*/ 2214 w 3504"/>
                <a:gd name="T9" fmla="*/ 0 h 6066"/>
                <a:gd name="T10" fmla="*/ 0 w 3504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4" h="6066">
                  <a:moveTo>
                    <a:pt x="0" y="470"/>
                  </a:moveTo>
                  <a:lnTo>
                    <a:pt x="0" y="470"/>
                  </a:lnTo>
                  <a:lnTo>
                    <a:pt x="1190" y="6066"/>
                  </a:lnTo>
                  <a:lnTo>
                    <a:pt x="3504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96000" y="2250000"/>
            <a:ext cx="9000000" cy="2358000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5400"/>
            </a:lvl1pPr>
          </a:lstStyle>
          <a:p>
            <a:r>
              <a:rPr lang="de-DE" smtClean="0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3479D9D2-52F2-0247-AF3C-3AA30091C9A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40836"/>
            <a:ext cx="2518560" cy="336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2652581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7552" y="1445220"/>
            <a:ext cx="10756899" cy="4690468"/>
          </a:xfrm>
        </p:spPr>
        <p:txBody>
          <a:bodyPr/>
          <a:lstStyle/>
          <a:p>
            <a:pPr lvl="0"/>
            <a:r>
              <a:rPr lang="de-DE" smtClean="0"/>
              <a:t>Mastertextformat bearbeiten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Elena Richter, Ludwig Ostertag, Fakultät ING, Industrielle Messtechnik</a:t>
            </a:r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232525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Mastertitelformat bearbeiten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40003" y="1447200"/>
            <a:ext cx="5234448" cy="4690800"/>
          </a:xfrm>
        </p:spPr>
        <p:txBody>
          <a:bodyPr/>
          <a:lstStyle/>
          <a:p>
            <a:pPr lvl="0"/>
            <a:r>
              <a:rPr lang="de-DE" smtClean="0"/>
              <a:t>Mastertextformat bearbeiten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Elena Richter, Ludwig Ostertag, Fakultät ING, Industrielle Messtechnik</a:t>
            </a:r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D9A6F8F6-0E4C-4AD1-BF40-19A8E1937FC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7550" y="1500189"/>
            <a:ext cx="5236633" cy="4638674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 smtClean="0"/>
              <a:t>Bild auf Platzhalter ziehen oder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19583798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751" userDrawn="1">
          <p15:clr>
            <a:srgbClr val="FBAE40"/>
          </p15:clr>
        </p15:guide>
        <p15:guide id="2" pos="3931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3869C99-C634-47CD-B208-CB16ACE119EE}" type="slidenum">
              <a:rPr lang="de-DE"/>
              <a:pPr/>
              <a:t>‹Nr.›</a:t>
            </a:fld>
            <a:endParaRPr lang="de-DE"/>
          </a:p>
        </p:txBody>
      </p:sp>
      <p:sp>
        <p:nvSpPr>
          <p:cNvPr id="7" name="Textplatzhalter 6"/>
          <p:cNvSpPr>
            <a:spLocks noGrp="1"/>
          </p:cNvSpPr>
          <p:nvPr>
            <p:ph type="body" sz="quarter" idx="12" hasCustomPrompt="1"/>
          </p:nvPr>
        </p:nvSpPr>
        <p:spPr>
          <a:xfrm>
            <a:off x="480000" y="360000"/>
            <a:ext cx="8803200" cy="360000"/>
          </a:xfrm>
        </p:spPr>
        <p:txBody>
          <a:bodyPr tIns="72000"/>
          <a:lstStyle>
            <a:lvl1pPr>
              <a:defRPr sz="1000" b="1"/>
            </a:lvl1pPr>
            <a:lvl2pPr>
              <a:defRPr sz="1000" b="1"/>
            </a:lvl2pPr>
            <a:lvl3pPr>
              <a:defRPr sz="1000" b="1"/>
            </a:lvl3pPr>
            <a:lvl4pPr>
              <a:defRPr sz="1000" b="1"/>
            </a:lvl4pPr>
            <a:lvl5pPr>
              <a:defRPr sz="1000" b="1"/>
            </a:lvl5pPr>
          </a:lstStyle>
          <a:p>
            <a:pPr lvl="0"/>
            <a:r>
              <a:rPr lang="de-DE" dirty="0"/>
              <a:t>Hier steht das Thema oder das Kapitel</a:t>
            </a:r>
          </a:p>
        </p:txBody>
      </p:sp>
    </p:spTree>
    <p:extLst>
      <p:ext uri="{BB962C8B-B14F-4D97-AF65-F5344CB8AC3E}">
        <p14:creationId xmlns:p14="http://schemas.microsoft.com/office/powerpoint/2010/main" val="1449046576"/>
      </p:ext>
    </p:extLst>
  </p:cSld>
  <p:clrMapOvr>
    <a:masterClrMapping/>
  </p:clrMapOvr>
  <p:transition spd="med"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002" y="4845080"/>
            <a:ext cx="10271997" cy="1290608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3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ABD0A9EC-9FD7-4222-9E83-3F5E6A446F2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60000" y="1144800"/>
            <a:ext cx="10272000" cy="3510000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96AC28FB-499D-1849-BB5A-4F591E328D9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  <p:sp>
        <p:nvSpPr>
          <p:cNvPr id="10" name="Textplatzhalter 12">
            <a:extLst>
              <a:ext uri="{FF2B5EF4-FFF2-40B4-BE49-F238E27FC236}">
                <a16:creationId xmlns:a16="http://schemas.microsoft.com/office/drawing/2014/main" id="{F2D1C116-76C7-2248-9B28-093803C439D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00295" y="1497600"/>
            <a:ext cx="864000" cy="2804400"/>
          </a:xfrm>
          <a:solidFill>
            <a:schemeClr val="accent2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  <p:sp>
        <p:nvSpPr>
          <p:cNvPr id="11" name="Textplatzhalter 12">
            <a:extLst>
              <a:ext uri="{FF2B5EF4-FFF2-40B4-BE49-F238E27FC236}">
                <a16:creationId xmlns:a16="http://schemas.microsoft.com/office/drawing/2014/main" id="{357D0EB7-C39F-6D4A-A3C7-303DC7C8CC5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927705" y="1497600"/>
            <a:ext cx="864000" cy="2804400"/>
          </a:xfrm>
          <a:solidFill>
            <a:schemeClr val="accent2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</p:spTree>
    <p:extLst>
      <p:ext uri="{BB962C8B-B14F-4D97-AF65-F5344CB8AC3E}">
        <p14:creationId xmlns:p14="http://schemas.microsoft.com/office/powerpoint/2010/main" val="3266145622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42174EAA-6533-1245-B1A2-E6E16AF28528}"/>
              </a:ext>
            </a:extLst>
          </p:cNvPr>
          <p:cNvGrpSpPr/>
          <p:nvPr userDrawn="1"/>
        </p:nvGrpSpPr>
        <p:grpSpPr>
          <a:xfrm>
            <a:off x="1974056" y="1069975"/>
            <a:ext cx="8243887" cy="5788025"/>
            <a:chOff x="455613" y="533400"/>
            <a:chExt cx="8243887" cy="5788025"/>
          </a:xfrm>
          <a:solidFill>
            <a:schemeClr val="accent2"/>
          </a:solidFill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DA5B3661-9CFB-FB40-B406-C44AAF2F6672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613" y="533400"/>
              <a:ext cx="3340100" cy="5788025"/>
            </a:xfrm>
            <a:custGeom>
              <a:avLst/>
              <a:gdLst>
                <a:gd name="T0" fmla="*/ 0 w 3503"/>
                <a:gd name="T1" fmla="*/ 470 h 6066"/>
                <a:gd name="T2" fmla="*/ 0 w 3503"/>
                <a:gd name="T3" fmla="*/ 470 h 6066"/>
                <a:gd name="T4" fmla="*/ 1189 w 3503"/>
                <a:gd name="T5" fmla="*/ 6066 h 6066"/>
                <a:gd name="T6" fmla="*/ 3503 w 3503"/>
                <a:gd name="T7" fmla="*/ 6066 h 6066"/>
                <a:gd name="T8" fmla="*/ 2214 w 3503"/>
                <a:gd name="T9" fmla="*/ 0 h 6066"/>
                <a:gd name="T10" fmla="*/ 0 w 3503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3" h="6066">
                  <a:moveTo>
                    <a:pt x="0" y="470"/>
                  </a:moveTo>
                  <a:lnTo>
                    <a:pt x="0" y="470"/>
                  </a:lnTo>
                  <a:lnTo>
                    <a:pt x="1189" y="6066"/>
                  </a:lnTo>
                  <a:lnTo>
                    <a:pt x="3503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6CE9E062-1775-864A-90AB-4D742F8105BC}"/>
                </a:ext>
              </a:extLst>
            </p:cNvPr>
            <p:cNvSpPr>
              <a:spLocks/>
            </p:cNvSpPr>
            <p:nvPr/>
          </p:nvSpPr>
          <p:spPr bwMode="auto">
            <a:xfrm>
              <a:off x="5359400" y="533400"/>
              <a:ext cx="3340100" cy="5788025"/>
            </a:xfrm>
            <a:custGeom>
              <a:avLst/>
              <a:gdLst>
                <a:gd name="T0" fmla="*/ 0 w 3504"/>
                <a:gd name="T1" fmla="*/ 470 h 6066"/>
                <a:gd name="T2" fmla="*/ 0 w 3504"/>
                <a:gd name="T3" fmla="*/ 470 h 6066"/>
                <a:gd name="T4" fmla="*/ 1190 w 3504"/>
                <a:gd name="T5" fmla="*/ 6066 h 6066"/>
                <a:gd name="T6" fmla="*/ 3504 w 3504"/>
                <a:gd name="T7" fmla="*/ 6066 h 6066"/>
                <a:gd name="T8" fmla="*/ 2214 w 3504"/>
                <a:gd name="T9" fmla="*/ 0 h 6066"/>
                <a:gd name="T10" fmla="*/ 0 w 3504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4" h="6066">
                  <a:moveTo>
                    <a:pt x="0" y="470"/>
                  </a:moveTo>
                  <a:lnTo>
                    <a:pt x="0" y="470"/>
                  </a:lnTo>
                  <a:lnTo>
                    <a:pt x="1190" y="6066"/>
                  </a:lnTo>
                  <a:lnTo>
                    <a:pt x="3504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54315" y="2067240"/>
            <a:ext cx="9000000" cy="2358000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5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997D15C1-C7AC-7A4D-8A57-9FDCE7B970D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40836"/>
            <a:ext cx="2518560" cy="336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100631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7552" y="1445220"/>
            <a:ext cx="10756899" cy="4690468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Elena Richter, Ludwig Ostertag, Fakultät ING, Industrielle Messtechnik</a:t>
            </a:r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772418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40003" y="1447200"/>
            <a:ext cx="5234448" cy="4690800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Elena Richter, Ludwig Ostertag, Fakultät ING, Industrielle Messtechnik</a:t>
            </a:r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D9A6F8F6-0E4C-4AD1-BF40-19A8E1937FC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7550" y="1500189"/>
            <a:ext cx="5236633" cy="4638674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38869321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751" userDrawn="1">
          <p15:clr>
            <a:srgbClr val="FBAE40"/>
          </p15:clr>
        </p15:guide>
        <p15:guide id="2" pos="3931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002" y="4845080"/>
            <a:ext cx="10271997" cy="1290608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3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ABD0A9EC-9FD7-4222-9E83-3F5E6A446F2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60000" y="1144800"/>
            <a:ext cx="10272000" cy="3510000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CA622DFD-BA6C-284F-9623-ED074C94A27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  <p:sp>
        <p:nvSpPr>
          <p:cNvPr id="10" name="Textplatzhalter 12">
            <a:extLst>
              <a:ext uri="{FF2B5EF4-FFF2-40B4-BE49-F238E27FC236}">
                <a16:creationId xmlns:a16="http://schemas.microsoft.com/office/drawing/2014/main" id="{F3E97099-16DC-FB42-BC6A-1770FEA02C1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15579" y="1497600"/>
            <a:ext cx="864000" cy="2804400"/>
          </a:xfrm>
          <a:solidFill>
            <a:schemeClr val="accent3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  <p:sp>
        <p:nvSpPr>
          <p:cNvPr id="11" name="Textplatzhalter 12">
            <a:extLst>
              <a:ext uri="{FF2B5EF4-FFF2-40B4-BE49-F238E27FC236}">
                <a16:creationId xmlns:a16="http://schemas.microsoft.com/office/drawing/2014/main" id="{A25C51E1-4750-2945-85F5-2DB74E12410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912421" y="1497600"/>
            <a:ext cx="864000" cy="2804400"/>
          </a:xfrm>
          <a:solidFill>
            <a:schemeClr val="accent3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</p:spTree>
    <p:extLst>
      <p:ext uri="{BB962C8B-B14F-4D97-AF65-F5344CB8AC3E}">
        <p14:creationId xmlns:p14="http://schemas.microsoft.com/office/powerpoint/2010/main" val="4130822497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D9301872-D993-6045-BA77-C2A4043FA6B1}"/>
              </a:ext>
            </a:extLst>
          </p:cNvPr>
          <p:cNvGrpSpPr/>
          <p:nvPr userDrawn="1"/>
        </p:nvGrpSpPr>
        <p:grpSpPr>
          <a:xfrm>
            <a:off x="1974056" y="1069975"/>
            <a:ext cx="8243887" cy="5788025"/>
            <a:chOff x="455613" y="533400"/>
            <a:chExt cx="8243887" cy="5788025"/>
          </a:xfrm>
          <a:solidFill>
            <a:schemeClr val="accent3"/>
          </a:solidFill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C774AA1D-ECDF-CB41-A570-3B4444D2BBF9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613" y="533400"/>
              <a:ext cx="3340100" cy="5788025"/>
            </a:xfrm>
            <a:custGeom>
              <a:avLst/>
              <a:gdLst>
                <a:gd name="T0" fmla="*/ 0 w 3503"/>
                <a:gd name="T1" fmla="*/ 470 h 6066"/>
                <a:gd name="T2" fmla="*/ 0 w 3503"/>
                <a:gd name="T3" fmla="*/ 470 h 6066"/>
                <a:gd name="T4" fmla="*/ 1189 w 3503"/>
                <a:gd name="T5" fmla="*/ 6066 h 6066"/>
                <a:gd name="T6" fmla="*/ 3503 w 3503"/>
                <a:gd name="T7" fmla="*/ 6066 h 6066"/>
                <a:gd name="T8" fmla="*/ 2214 w 3503"/>
                <a:gd name="T9" fmla="*/ 0 h 6066"/>
                <a:gd name="T10" fmla="*/ 0 w 3503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3" h="6066">
                  <a:moveTo>
                    <a:pt x="0" y="470"/>
                  </a:moveTo>
                  <a:lnTo>
                    <a:pt x="0" y="470"/>
                  </a:lnTo>
                  <a:lnTo>
                    <a:pt x="1189" y="6066"/>
                  </a:lnTo>
                  <a:lnTo>
                    <a:pt x="3503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F9149E62-8F23-A64A-AB86-461836AFA429}"/>
                </a:ext>
              </a:extLst>
            </p:cNvPr>
            <p:cNvSpPr>
              <a:spLocks/>
            </p:cNvSpPr>
            <p:nvPr/>
          </p:nvSpPr>
          <p:spPr bwMode="auto">
            <a:xfrm>
              <a:off x="5359400" y="533400"/>
              <a:ext cx="3340100" cy="5788025"/>
            </a:xfrm>
            <a:custGeom>
              <a:avLst/>
              <a:gdLst>
                <a:gd name="T0" fmla="*/ 0 w 3504"/>
                <a:gd name="T1" fmla="*/ 470 h 6066"/>
                <a:gd name="T2" fmla="*/ 0 w 3504"/>
                <a:gd name="T3" fmla="*/ 470 h 6066"/>
                <a:gd name="T4" fmla="*/ 1190 w 3504"/>
                <a:gd name="T5" fmla="*/ 6066 h 6066"/>
                <a:gd name="T6" fmla="*/ 3504 w 3504"/>
                <a:gd name="T7" fmla="*/ 6066 h 6066"/>
                <a:gd name="T8" fmla="*/ 2214 w 3504"/>
                <a:gd name="T9" fmla="*/ 0 h 6066"/>
                <a:gd name="T10" fmla="*/ 0 w 3504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4" h="6066">
                  <a:moveTo>
                    <a:pt x="0" y="470"/>
                  </a:moveTo>
                  <a:lnTo>
                    <a:pt x="0" y="470"/>
                  </a:lnTo>
                  <a:lnTo>
                    <a:pt x="1190" y="6066"/>
                  </a:lnTo>
                  <a:lnTo>
                    <a:pt x="3504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54315" y="2067240"/>
            <a:ext cx="9000000" cy="2358000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5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CE926752-3C17-B642-9FCE-11E041587E7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8267067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7552" y="1445220"/>
            <a:ext cx="10756899" cy="4690468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Elena Richter, Ludwig Ostertag, Fakultät ING, Industrielle Messtechnik</a:t>
            </a:r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7042210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40003" y="1447200"/>
            <a:ext cx="5234448" cy="4690800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Elena Richter, Ludwig Ostertag, Fakultät ING, Industrielle Messtechnik</a:t>
            </a:r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D9A6F8F6-0E4C-4AD1-BF40-19A8E1937FC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7550" y="1500189"/>
            <a:ext cx="5236633" cy="4638674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70765640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751" userDrawn="1">
          <p15:clr>
            <a:srgbClr val="FBAE40"/>
          </p15:clr>
        </p15:guide>
        <p15:guide id="2" pos="3931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002" y="4845080"/>
            <a:ext cx="10271997" cy="1290608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3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ABD0A9EC-9FD7-4222-9E83-3F5E6A446F2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60000" y="1144800"/>
            <a:ext cx="10272000" cy="3510000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9942C24D-DF7B-5744-BA14-C2D4B5049F8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  <p:sp>
        <p:nvSpPr>
          <p:cNvPr id="10" name="Textplatzhalter 12">
            <a:extLst>
              <a:ext uri="{FF2B5EF4-FFF2-40B4-BE49-F238E27FC236}">
                <a16:creationId xmlns:a16="http://schemas.microsoft.com/office/drawing/2014/main" id="{E29E83A8-566C-B64B-BC0B-C9D0D2A3F37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04211" y="1497600"/>
            <a:ext cx="864000" cy="2804400"/>
          </a:xfrm>
          <a:solidFill>
            <a:schemeClr val="accent5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  <p:sp>
        <p:nvSpPr>
          <p:cNvPr id="11" name="Textplatzhalter 12">
            <a:extLst>
              <a:ext uri="{FF2B5EF4-FFF2-40B4-BE49-F238E27FC236}">
                <a16:creationId xmlns:a16="http://schemas.microsoft.com/office/drawing/2014/main" id="{5B73649C-D81F-1743-8227-99DDA6EF1F4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923789" y="1497600"/>
            <a:ext cx="864000" cy="2804400"/>
          </a:xfrm>
          <a:solidFill>
            <a:schemeClr val="accent5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</p:spTree>
    <p:extLst>
      <p:ext uri="{BB962C8B-B14F-4D97-AF65-F5344CB8AC3E}">
        <p14:creationId xmlns:p14="http://schemas.microsoft.com/office/powerpoint/2010/main" val="3836023397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B30AFB43-4D8B-DB47-8F90-D120B798617A}"/>
              </a:ext>
            </a:extLst>
          </p:cNvPr>
          <p:cNvGrpSpPr/>
          <p:nvPr userDrawn="1"/>
        </p:nvGrpSpPr>
        <p:grpSpPr>
          <a:xfrm>
            <a:off x="1975200" y="1069975"/>
            <a:ext cx="8243887" cy="5788025"/>
            <a:chOff x="455613" y="533400"/>
            <a:chExt cx="8243887" cy="5788025"/>
          </a:xfrm>
          <a:solidFill>
            <a:schemeClr val="accent5"/>
          </a:solidFill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36734F59-8635-D44A-BA87-6B7074A8EE33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613" y="533400"/>
              <a:ext cx="3340100" cy="5788025"/>
            </a:xfrm>
            <a:custGeom>
              <a:avLst/>
              <a:gdLst>
                <a:gd name="T0" fmla="*/ 0 w 3503"/>
                <a:gd name="T1" fmla="*/ 470 h 6066"/>
                <a:gd name="T2" fmla="*/ 0 w 3503"/>
                <a:gd name="T3" fmla="*/ 470 h 6066"/>
                <a:gd name="T4" fmla="*/ 1189 w 3503"/>
                <a:gd name="T5" fmla="*/ 6066 h 6066"/>
                <a:gd name="T6" fmla="*/ 3503 w 3503"/>
                <a:gd name="T7" fmla="*/ 6066 h 6066"/>
                <a:gd name="T8" fmla="*/ 2214 w 3503"/>
                <a:gd name="T9" fmla="*/ 0 h 6066"/>
                <a:gd name="T10" fmla="*/ 0 w 3503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3" h="6066">
                  <a:moveTo>
                    <a:pt x="0" y="470"/>
                  </a:moveTo>
                  <a:lnTo>
                    <a:pt x="0" y="470"/>
                  </a:lnTo>
                  <a:lnTo>
                    <a:pt x="1189" y="6066"/>
                  </a:lnTo>
                  <a:lnTo>
                    <a:pt x="3503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5E062F0B-6D27-F54A-90C2-2339910483A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59400" y="533400"/>
              <a:ext cx="3340100" cy="5788025"/>
            </a:xfrm>
            <a:custGeom>
              <a:avLst/>
              <a:gdLst>
                <a:gd name="T0" fmla="*/ 0 w 3504"/>
                <a:gd name="T1" fmla="*/ 470 h 6066"/>
                <a:gd name="T2" fmla="*/ 0 w 3504"/>
                <a:gd name="T3" fmla="*/ 470 h 6066"/>
                <a:gd name="T4" fmla="*/ 1190 w 3504"/>
                <a:gd name="T5" fmla="*/ 6066 h 6066"/>
                <a:gd name="T6" fmla="*/ 3504 w 3504"/>
                <a:gd name="T7" fmla="*/ 6066 h 6066"/>
                <a:gd name="T8" fmla="*/ 2214 w 3504"/>
                <a:gd name="T9" fmla="*/ 0 h 6066"/>
                <a:gd name="T10" fmla="*/ 0 w 3504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4" h="6066">
                  <a:moveTo>
                    <a:pt x="0" y="470"/>
                  </a:moveTo>
                  <a:lnTo>
                    <a:pt x="0" y="470"/>
                  </a:lnTo>
                  <a:lnTo>
                    <a:pt x="1190" y="6066"/>
                  </a:lnTo>
                  <a:lnTo>
                    <a:pt x="3504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54315" y="2067240"/>
            <a:ext cx="9000000" cy="2358000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5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30BE5F75-8B1B-6A4C-B19E-CA01BCB6141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8384266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7552" y="1445220"/>
            <a:ext cx="10756899" cy="4690468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Elena Richter, Ludwig Ostertag, Fakultät ING, Industrielle Messtechnik</a:t>
            </a:r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9302723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40003" y="1447200"/>
            <a:ext cx="5234448" cy="4690800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Elena Richter, Ludwig Ostertag, Fakultät ING, Industrielle Messtechnik</a:t>
            </a:r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D9A6F8F6-0E4C-4AD1-BF40-19A8E1937FC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7550" y="1500189"/>
            <a:ext cx="5236633" cy="4638674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81845918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751" userDrawn="1">
          <p15:clr>
            <a:srgbClr val="FBAE40"/>
          </p15:clr>
        </p15:guide>
        <p15:guide id="2" pos="3931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002" y="4845080"/>
            <a:ext cx="10271997" cy="1290608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3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ABD0A9EC-9FD7-4222-9E83-3F5E6A446F2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60000" y="1144800"/>
            <a:ext cx="10272000" cy="3510000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FF187481-CEE0-E244-8D19-C6D3BF17E1D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  <p:sp>
        <p:nvSpPr>
          <p:cNvPr id="10" name="Textplatzhalter 12">
            <a:extLst>
              <a:ext uri="{FF2B5EF4-FFF2-40B4-BE49-F238E27FC236}">
                <a16:creationId xmlns:a16="http://schemas.microsoft.com/office/drawing/2014/main" id="{8F3AA80C-8F3E-4448-BA17-C530AE93C32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08505" y="1497600"/>
            <a:ext cx="864000" cy="2804400"/>
          </a:xfrm>
          <a:solidFill>
            <a:schemeClr val="accent6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  <p:sp>
        <p:nvSpPr>
          <p:cNvPr id="11" name="Textplatzhalter 12">
            <a:extLst>
              <a:ext uri="{FF2B5EF4-FFF2-40B4-BE49-F238E27FC236}">
                <a16:creationId xmlns:a16="http://schemas.microsoft.com/office/drawing/2014/main" id="{A7EA0E5A-7CE1-B542-A43B-F1A4A933F34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0919495" y="1485648"/>
            <a:ext cx="864000" cy="2804400"/>
          </a:xfrm>
          <a:solidFill>
            <a:schemeClr val="accent6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</p:spTree>
    <p:extLst>
      <p:ext uri="{BB962C8B-B14F-4D97-AF65-F5344CB8AC3E}">
        <p14:creationId xmlns:p14="http://schemas.microsoft.com/office/powerpoint/2010/main" val="3916358541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FA1D36DE-01A5-9342-ADB5-21326DEA0306}"/>
              </a:ext>
            </a:extLst>
          </p:cNvPr>
          <p:cNvGrpSpPr/>
          <p:nvPr userDrawn="1"/>
        </p:nvGrpSpPr>
        <p:grpSpPr>
          <a:xfrm>
            <a:off x="1975200" y="1069975"/>
            <a:ext cx="8243887" cy="5788025"/>
            <a:chOff x="455613" y="533400"/>
            <a:chExt cx="8243887" cy="5788025"/>
          </a:xfrm>
          <a:solidFill>
            <a:schemeClr val="accent6"/>
          </a:solidFill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1D258094-06EC-7A4A-A554-EFD3FBB518A4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613" y="533400"/>
              <a:ext cx="3340100" cy="5788025"/>
            </a:xfrm>
            <a:custGeom>
              <a:avLst/>
              <a:gdLst>
                <a:gd name="T0" fmla="*/ 0 w 3503"/>
                <a:gd name="T1" fmla="*/ 470 h 6066"/>
                <a:gd name="T2" fmla="*/ 0 w 3503"/>
                <a:gd name="T3" fmla="*/ 470 h 6066"/>
                <a:gd name="T4" fmla="*/ 1189 w 3503"/>
                <a:gd name="T5" fmla="*/ 6066 h 6066"/>
                <a:gd name="T6" fmla="*/ 3503 w 3503"/>
                <a:gd name="T7" fmla="*/ 6066 h 6066"/>
                <a:gd name="T8" fmla="*/ 2214 w 3503"/>
                <a:gd name="T9" fmla="*/ 0 h 6066"/>
                <a:gd name="T10" fmla="*/ 0 w 3503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3" h="6066">
                  <a:moveTo>
                    <a:pt x="0" y="470"/>
                  </a:moveTo>
                  <a:lnTo>
                    <a:pt x="0" y="470"/>
                  </a:lnTo>
                  <a:lnTo>
                    <a:pt x="1189" y="6066"/>
                  </a:lnTo>
                  <a:lnTo>
                    <a:pt x="3503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432C1932-A302-9D42-981A-17F9E3A17075}"/>
                </a:ext>
              </a:extLst>
            </p:cNvPr>
            <p:cNvSpPr>
              <a:spLocks/>
            </p:cNvSpPr>
            <p:nvPr/>
          </p:nvSpPr>
          <p:spPr bwMode="auto">
            <a:xfrm>
              <a:off x="5359400" y="533400"/>
              <a:ext cx="3340100" cy="5788025"/>
            </a:xfrm>
            <a:custGeom>
              <a:avLst/>
              <a:gdLst>
                <a:gd name="T0" fmla="*/ 0 w 3504"/>
                <a:gd name="T1" fmla="*/ 470 h 6066"/>
                <a:gd name="T2" fmla="*/ 0 w 3504"/>
                <a:gd name="T3" fmla="*/ 470 h 6066"/>
                <a:gd name="T4" fmla="*/ 1190 w 3504"/>
                <a:gd name="T5" fmla="*/ 6066 h 6066"/>
                <a:gd name="T6" fmla="*/ 3504 w 3504"/>
                <a:gd name="T7" fmla="*/ 6066 h 6066"/>
                <a:gd name="T8" fmla="*/ 2214 w 3504"/>
                <a:gd name="T9" fmla="*/ 0 h 6066"/>
                <a:gd name="T10" fmla="*/ 0 w 3504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4" h="6066">
                  <a:moveTo>
                    <a:pt x="0" y="470"/>
                  </a:moveTo>
                  <a:lnTo>
                    <a:pt x="0" y="470"/>
                  </a:lnTo>
                  <a:lnTo>
                    <a:pt x="1190" y="6066"/>
                  </a:lnTo>
                  <a:lnTo>
                    <a:pt x="3504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54315" y="2067240"/>
            <a:ext cx="9000000" cy="2358000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5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7DCCB39A-DB2B-5543-8C44-8F9D49BAEA9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9241052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7552" y="1445220"/>
            <a:ext cx="10756899" cy="4690468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Elena Richter, Ludwig Ostertag, Fakultät ING, Industrielle Messtechnik</a:t>
            </a:r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5823165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40003" y="1447200"/>
            <a:ext cx="5234448" cy="4690800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Elena Richter, Ludwig Ostertag, Fakultät ING, Industrielle Messtechnik</a:t>
            </a:r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D9A6F8F6-0E4C-4AD1-BF40-19A8E1937FC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7550" y="1500189"/>
            <a:ext cx="5236633" cy="4638674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58201275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751" userDrawn="1">
          <p15:clr>
            <a:srgbClr val="FBAE40"/>
          </p15:clr>
        </p15:guide>
        <p15:guide id="2" pos="3931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wmf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.wmf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9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.wmf"/><Relationship Id="rId5" Type="http://schemas.openxmlformats.org/officeDocument/2006/relationships/theme" Target="../theme/theme3.xml"/><Relationship Id="rId4" Type="http://schemas.openxmlformats.org/officeDocument/2006/relationships/slideLayout" Target="../slideLayouts/slideLayout13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.wmf"/><Relationship Id="rId5" Type="http://schemas.openxmlformats.org/officeDocument/2006/relationships/theme" Target="../theme/theme4.xml"/><Relationship Id="rId4" Type="http://schemas.openxmlformats.org/officeDocument/2006/relationships/slideLayout" Target="../slideLayouts/slideLayout17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0.xml"/><Relationship Id="rId2" Type="http://schemas.openxmlformats.org/officeDocument/2006/relationships/slideLayout" Target="../slideLayouts/slideLayout19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.wmf"/><Relationship Id="rId5" Type="http://schemas.openxmlformats.org/officeDocument/2006/relationships/theme" Target="../theme/theme5.xml"/><Relationship Id="rId4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feld 16">
            <a:extLst>
              <a:ext uri="{FF2B5EF4-FFF2-40B4-BE49-F238E27FC236}">
                <a16:creationId xmlns:a16="http://schemas.microsoft.com/office/drawing/2014/main" id="{473E5FEA-8EC8-4167-8CC5-8C678F2BEAB5}"/>
              </a:ext>
            </a:extLst>
          </p:cNvPr>
          <p:cNvSpPr txBox="1"/>
          <p:nvPr/>
        </p:nvSpPr>
        <p:spPr>
          <a:xfrm>
            <a:off x="1382400" y="6454198"/>
            <a:ext cx="4857600" cy="119345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pPr>
              <a:lnSpc>
                <a:spcPts val="1100"/>
              </a:lnSpc>
            </a:pPr>
            <a:r>
              <a:rPr lang="de-DE" sz="850" dirty="0"/>
              <a:t>Hochschule für Technik, Wirtschaft und Kultur Leipzig</a:t>
            </a: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17552" y="1445220"/>
            <a:ext cx="10756899" cy="46904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82399" y="6205104"/>
            <a:ext cx="4857604" cy="22416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lnSpc>
                <a:spcPts val="1100"/>
              </a:lnSpc>
              <a:defRPr sz="850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7551" y="6206400"/>
            <a:ext cx="490255" cy="36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000" b="1">
                <a:solidFill>
                  <a:schemeClr val="tx1"/>
                </a:solidFill>
              </a:defRPr>
            </a:lvl1pPr>
          </a:lstStyle>
          <a:p>
            <a:fld id="{5DDB454C-C8BB-450C-A446-EA3D813FE484}" type="slidenum">
              <a:rPr lang="de-DE" smtClean="0"/>
              <a:pPr/>
              <a:t>‹Nr.›</a:t>
            </a:fld>
            <a:endParaRPr lang="de-DE" dirty="0"/>
          </a:p>
        </p:txBody>
      </p:sp>
      <p:grpSp>
        <p:nvGrpSpPr>
          <p:cNvPr id="4" name="Gruppieren 3"/>
          <p:cNvGrpSpPr/>
          <p:nvPr/>
        </p:nvGrpSpPr>
        <p:grpSpPr>
          <a:xfrm>
            <a:off x="0" y="396000"/>
            <a:ext cx="12192003" cy="712800"/>
            <a:chOff x="0" y="396000"/>
            <a:chExt cx="9144002" cy="712800"/>
          </a:xfrm>
          <a:solidFill>
            <a:schemeClr val="accent1"/>
          </a:solidFill>
        </p:grpSpPr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0D256C55-B59E-439E-82E9-BE1ECB9C3F54}"/>
                </a:ext>
              </a:extLst>
            </p:cNvPr>
            <p:cNvSpPr/>
            <p:nvPr userDrawn="1"/>
          </p:nvSpPr>
          <p:spPr>
            <a:xfrm>
              <a:off x="0" y="396000"/>
              <a:ext cx="190800" cy="7128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/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0A9106C6-A852-4621-A5E1-394E184478EA}"/>
                </a:ext>
              </a:extLst>
            </p:cNvPr>
            <p:cNvSpPr/>
            <p:nvPr userDrawn="1"/>
          </p:nvSpPr>
          <p:spPr>
            <a:xfrm>
              <a:off x="8953202" y="396000"/>
              <a:ext cx="190800" cy="7128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/>
            </a:p>
          </p:txBody>
        </p:sp>
      </p:grpSp>
      <p:pic>
        <p:nvPicPr>
          <p:cNvPr id="11" name="Grafik 10">
            <a:extLst>
              <a:ext uri="{FF2B5EF4-FFF2-40B4-BE49-F238E27FC236}">
                <a16:creationId xmlns:a16="http://schemas.microsoft.com/office/drawing/2014/main" id="{22EEA21B-970F-3640-8788-C21A9CC415C6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6624" y="6284976"/>
            <a:ext cx="1137825" cy="295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08099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2" r:id="rId2"/>
    <p:sldLayoutId id="2147483662" r:id="rId3"/>
    <p:sldLayoutId id="2147483664" r:id="rId4"/>
    <p:sldLayoutId id="2147483698" r:id="rId5"/>
  </p:sldLayoutIdLst>
  <p:hf hdr="0" dt="0"/>
  <p:txStyles>
    <p:titleStyle>
      <a:lvl1pPr algn="l" defTabSz="914400" rtl="0" eaLnBrk="1" latinLnBrk="0" hangingPunct="1">
        <a:lnSpc>
          <a:spcPct val="108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b="1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8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pos="7228" userDrawn="1">
          <p15:clr>
            <a:srgbClr val="F26B43"/>
          </p15:clr>
        </p15:guide>
        <p15:guide id="2" pos="452" userDrawn="1">
          <p15:clr>
            <a:srgbClr val="F26B43"/>
          </p15:clr>
        </p15:guide>
        <p15:guide id="3" orient="horz" pos="273" userDrawn="1">
          <p15:clr>
            <a:srgbClr val="F26B43"/>
          </p15:clr>
        </p15:guide>
        <p15:guide id="4" orient="horz" pos="3865" userDrawn="1">
          <p15:clr>
            <a:srgbClr val="F26B43"/>
          </p15:clr>
        </p15:guide>
        <p15:guide id="5" orient="horz" pos="944" userDrawn="1">
          <p15:clr>
            <a:srgbClr val="F26B43"/>
          </p15:clr>
        </p15:guide>
        <p15:guide id="6" orient="horz" pos="4117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feld 16">
            <a:extLst>
              <a:ext uri="{FF2B5EF4-FFF2-40B4-BE49-F238E27FC236}">
                <a16:creationId xmlns:a16="http://schemas.microsoft.com/office/drawing/2014/main" id="{473E5FEA-8EC8-4167-8CC5-8C678F2BEAB5}"/>
              </a:ext>
            </a:extLst>
          </p:cNvPr>
          <p:cNvSpPr txBox="1"/>
          <p:nvPr/>
        </p:nvSpPr>
        <p:spPr>
          <a:xfrm>
            <a:off x="1382400" y="6454198"/>
            <a:ext cx="4857600" cy="119345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pPr>
              <a:lnSpc>
                <a:spcPts val="1100"/>
              </a:lnSpc>
            </a:pPr>
            <a:r>
              <a:rPr lang="de-DE" sz="850" dirty="0"/>
              <a:t>Hochschule für Technik, Wirtschaft und Kultur Leipzig</a:t>
            </a: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17551" y="396000"/>
            <a:ext cx="10756899" cy="7128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17552" y="1445220"/>
            <a:ext cx="10756899" cy="46904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82399" y="6205104"/>
            <a:ext cx="4857604" cy="22416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lnSpc>
                <a:spcPts val="1100"/>
              </a:lnSpc>
              <a:defRPr sz="850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7551" y="6206400"/>
            <a:ext cx="490255" cy="36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000" b="1">
                <a:solidFill>
                  <a:schemeClr val="tx1"/>
                </a:solidFill>
              </a:defRPr>
            </a:lvl1pPr>
          </a:lstStyle>
          <a:p>
            <a:fld id="{5DDB454C-C8BB-450C-A446-EA3D813FE484}" type="slidenum">
              <a:rPr lang="de-DE" smtClean="0"/>
              <a:pPr/>
              <a:t>‹Nr.›</a:t>
            </a:fld>
            <a:endParaRPr lang="de-DE" dirty="0"/>
          </a:p>
        </p:txBody>
      </p:sp>
      <p:grpSp>
        <p:nvGrpSpPr>
          <p:cNvPr id="4" name="Gruppieren 3"/>
          <p:cNvGrpSpPr/>
          <p:nvPr/>
        </p:nvGrpSpPr>
        <p:grpSpPr>
          <a:xfrm>
            <a:off x="0" y="396000"/>
            <a:ext cx="12192003" cy="712800"/>
            <a:chOff x="0" y="396000"/>
            <a:chExt cx="9144002" cy="712800"/>
          </a:xfrm>
          <a:solidFill>
            <a:schemeClr val="accent1"/>
          </a:solidFill>
        </p:grpSpPr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0D256C55-B59E-439E-82E9-BE1ECB9C3F54}"/>
                </a:ext>
              </a:extLst>
            </p:cNvPr>
            <p:cNvSpPr/>
            <p:nvPr userDrawn="1"/>
          </p:nvSpPr>
          <p:spPr>
            <a:xfrm>
              <a:off x="0" y="396000"/>
              <a:ext cx="190800" cy="712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 dirty="0"/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0A9106C6-A852-4621-A5E1-394E184478EA}"/>
                </a:ext>
              </a:extLst>
            </p:cNvPr>
            <p:cNvSpPr/>
            <p:nvPr userDrawn="1"/>
          </p:nvSpPr>
          <p:spPr>
            <a:xfrm>
              <a:off x="8953202" y="396000"/>
              <a:ext cx="190800" cy="712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/>
            </a:p>
          </p:txBody>
        </p:sp>
      </p:grpSp>
      <p:pic>
        <p:nvPicPr>
          <p:cNvPr id="11" name="Grafik 10">
            <a:extLst>
              <a:ext uri="{FF2B5EF4-FFF2-40B4-BE49-F238E27FC236}">
                <a16:creationId xmlns:a16="http://schemas.microsoft.com/office/drawing/2014/main" id="{31321676-94A1-7044-A81A-D8AF84667CD5}"/>
              </a:ext>
            </a:extLst>
          </p:cNvPr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6624" y="6284976"/>
            <a:ext cx="1137825" cy="295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94203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</p:sldLayoutIdLst>
  <p:hf hdr="0" dt="0"/>
  <p:txStyles>
    <p:titleStyle>
      <a:lvl1pPr algn="l" defTabSz="914400" rtl="0" eaLnBrk="1" latinLnBrk="0" hangingPunct="1">
        <a:lnSpc>
          <a:spcPct val="108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b="1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8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pos="7228" userDrawn="1">
          <p15:clr>
            <a:srgbClr val="F26B43"/>
          </p15:clr>
        </p15:guide>
        <p15:guide id="2" pos="452" userDrawn="1">
          <p15:clr>
            <a:srgbClr val="F26B43"/>
          </p15:clr>
        </p15:guide>
        <p15:guide id="3" orient="horz" pos="273" userDrawn="1">
          <p15:clr>
            <a:srgbClr val="F26B43"/>
          </p15:clr>
        </p15:guide>
        <p15:guide id="4" orient="horz" pos="3865" userDrawn="1">
          <p15:clr>
            <a:srgbClr val="F26B43"/>
          </p15:clr>
        </p15:guide>
        <p15:guide id="5" orient="horz" pos="944" userDrawn="1">
          <p15:clr>
            <a:srgbClr val="F26B43"/>
          </p15:clr>
        </p15:guide>
        <p15:guide id="6" orient="horz" pos="4117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feld 16">
            <a:extLst>
              <a:ext uri="{FF2B5EF4-FFF2-40B4-BE49-F238E27FC236}">
                <a16:creationId xmlns:a16="http://schemas.microsoft.com/office/drawing/2014/main" id="{473E5FEA-8EC8-4167-8CC5-8C678F2BEAB5}"/>
              </a:ext>
            </a:extLst>
          </p:cNvPr>
          <p:cNvSpPr txBox="1"/>
          <p:nvPr/>
        </p:nvSpPr>
        <p:spPr>
          <a:xfrm>
            <a:off x="1382400" y="6454198"/>
            <a:ext cx="4857600" cy="119345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pPr>
              <a:lnSpc>
                <a:spcPts val="1100"/>
              </a:lnSpc>
            </a:pPr>
            <a:r>
              <a:rPr lang="de-DE" sz="850" dirty="0"/>
              <a:t>Hochschule für Technik, Wirtschaft und Kultur Leipzig</a:t>
            </a: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17551" y="396000"/>
            <a:ext cx="10756899" cy="7128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17552" y="1445220"/>
            <a:ext cx="10756899" cy="46904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82399" y="6205104"/>
            <a:ext cx="4857604" cy="22416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lnSpc>
                <a:spcPts val="1100"/>
              </a:lnSpc>
              <a:defRPr sz="850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7551" y="6206400"/>
            <a:ext cx="490255" cy="36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000" b="1">
                <a:solidFill>
                  <a:schemeClr val="tx1"/>
                </a:solidFill>
              </a:defRPr>
            </a:lvl1pPr>
          </a:lstStyle>
          <a:p>
            <a:fld id="{5DDB454C-C8BB-450C-A446-EA3D813FE484}" type="slidenum">
              <a:rPr lang="de-DE" smtClean="0"/>
              <a:pPr/>
              <a:t>‹Nr.›</a:t>
            </a:fld>
            <a:endParaRPr lang="de-DE" dirty="0"/>
          </a:p>
        </p:txBody>
      </p:sp>
      <p:grpSp>
        <p:nvGrpSpPr>
          <p:cNvPr id="4" name="Gruppieren 3"/>
          <p:cNvGrpSpPr/>
          <p:nvPr/>
        </p:nvGrpSpPr>
        <p:grpSpPr>
          <a:xfrm>
            <a:off x="0" y="396000"/>
            <a:ext cx="12192003" cy="712800"/>
            <a:chOff x="0" y="396000"/>
            <a:chExt cx="9144002" cy="712800"/>
          </a:xfrm>
          <a:solidFill>
            <a:schemeClr val="accent1"/>
          </a:solidFill>
        </p:grpSpPr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0D256C55-B59E-439E-82E9-BE1ECB9C3F54}"/>
                </a:ext>
              </a:extLst>
            </p:cNvPr>
            <p:cNvSpPr/>
            <p:nvPr userDrawn="1"/>
          </p:nvSpPr>
          <p:spPr>
            <a:xfrm>
              <a:off x="0" y="396000"/>
              <a:ext cx="190800" cy="7128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 dirty="0"/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0A9106C6-A852-4621-A5E1-394E184478EA}"/>
                </a:ext>
              </a:extLst>
            </p:cNvPr>
            <p:cNvSpPr/>
            <p:nvPr userDrawn="1"/>
          </p:nvSpPr>
          <p:spPr>
            <a:xfrm>
              <a:off x="8953202" y="396000"/>
              <a:ext cx="190800" cy="7128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/>
            </a:p>
          </p:txBody>
        </p:sp>
      </p:grpSp>
      <p:pic>
        <p:nvPicPr>
          <p:cNvPr id="11" name="Grafik 10">
            <a:extLst>
              <a:ext uri="{FF2B5EF4-FFF2-40B4-BE49-F238E27FC236}">
                <a16:creationId xmlns:a16="http://schemas.microsoft.com/office/drawing/2014/main" id="{39AA27C4-5879-AA48-9BFE-A4EA45310329}"/>
              </a:ext>
            </a:extLst>
          </p:cNvPr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6624" y="6284976"/>
            <a:ext cx="1137825" cy="295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23552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</p:sldLayoutIdLst>
  <p:hf hdr="0" dt="0"/>
  <p:txStyles>
    <p:titleStyle>
      <a:lvl1pPr algn="l" defTabSz="914400" rtl="0" eaLnBrk="1" latinLnBrk="0" hangingPunct="1">
        <a:lnSpc>
          <a:spcPct val="108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b="1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8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pos="7228" userDrawn="1">
          <p15:clr>
            <a:srgbClr val="F26B43"/>
          </p15:clr>
        </p15:guide>
        <p15:guide id="2" pos="452" userDrawn="1">
          <p15:clr>
            <a:srgbClr val="F26B43"/>
          </p15:clr>
        </p15:guide>
        <p15:guide id="3" orient="horz" pos="273" userDrawn="1">
          <p15:clr>
            <a:srgbClr val="F26B43"/>
          </p15:clr>
        </p15:guide>
        <p15:guide id="4" orient="horz" pos="3865" userDrawn="1">
          <p15:clr>
            <a:srgbClr val="F26B43"/>
          </p15:clr>
        </p15:guide>
        <p15:guide id="5" orient="horz" pos="944" userDrawn="1">
          <p15:clr>
            <a:srgbClr val="F26B43"/>
          </p15:clr>
        </p15:guide>
        <p15:guide id="6" orient="horz" pos="4117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feld 16">
            <a:extLst>
              <a:ext uri="{FF2B5EF4-FFF2-40B4-BE49-F238E27FC236}">
                <a16:creationId xmlns:a16="http://schemas.microsoft.com/office/drawing/2014/main" id="{473E5FEA-8EC8-4167-8CC5-8C678F2BEAB5}"/>
              </a:ext>
            </a:extLst>
          </p:cNvPr>
          <p:cNvSpPr txBox="1"/>
          <p:nvPr/>
        </p:nvSpPr>
        <p:spPr>
          <a:xfrm>
            <a:off x="1382400" y="6454198"/>
            <a:ext cx="4857600" cy="119345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pPr>
              <a:lnSpc>
                <a:spcPts val="1100"/>
              </a:lnSpc>
            </a:pPr>
            <a:r>
              <a:rPr lang="de-DE" sz="850" dirty="0"/>
              <a:t>Hochschule für Technik, Wirtschaft und Kultur Leipzig</a:t>
            </a: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17552" y="1445220"/>
            <a:ext cx="10756899" cy="46904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82399" y="6205104"/>
            <a:ext cx="4857604" cy="22416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lnSpc>
                <a:spcPts val="1100"/>
              </a:lnSpc>
              <a:defRPr sz="850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7551" y="6206400"/>
            <a:ext cx="490255" cy="36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000" b="1">
                <a:solidFill>
                  <a:schemeClr val="tx1"/>
                </a:solidFill>
              </a:defRPr>
            </a:lvl1pPr>
          </a:lstStyle>
          <a:p>
            <a:fld id="{5DDB454C-C8BB-450C-A446-EA3D813FE484}" type="slidenum">
              <a:rPr lang="de-DE" smtClean="0"/>
              <a:pPr/>
              <a:t>‹Nr.›</a:t>
            </a:fld>
            <a:endParaRPr lang="de-DE" dirty="0"/>
          </a:p>
        </p:txBody>
      </p:sp>
      <p:grpSp>
        <p:nvGrpSpPr>
          <p:cNvPr id="4" name="Gruppieren 3"/>
          <p:cNvGrpSpPr/>
          <p:nvPr/>
        </p:nvGrpSpPr>
        <p:grpSpPr>
          <a:xfrm>
            <a:off x="0" y="396000"/>
            <a:ext cx="12192003" cy="712800"/>
            <a:chOff x="0" y="396000"/>
            <a:chExt cx="9144002" cy="712800"/>
          </a:xfrm>
          <a:solidFill>
            <a:schemeClr val="accent5"/>
          </a:solidFill>
        </p:grpSpPr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0D256C55-B59E-439E-82E9-BE1ECB9C3F54}"/>
                </a:ext>
              </a:extLst>
            </p:cNvPr>
            <p:cNvSpPr/>
            <p:nvPr userDrawn="1"/>
          </p:nvSpPr>
          <p:spPr>
            <a:xfrm>
              <a:off x="0" y="396000"/>
              <a:ext cx="190800" cy="7128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 dirty="0"/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0A9106C6-A852-4621-A5E1-394E184478EA}"/>
                </a:ext>
              </a:extLst>
            </p:cNvPr>
            <p:cNvSpPr/>
            <p:nvPr userDrawn="1"/>
          </p:nvSpPr>
          <p:spPr>
            <a:xfrm>
              <a:off x="8953202" y="396000"/>
              <a:ext cx="190800" cy="7128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/>
            </a:p>
          </p:txBody>
        </p:sp>
      </p:grpSp>
      <p:pic>
        <p:nvPicPr>
          <p:cNvPr id="11" name="Grafik 10">
            <a:extLst>
              <a:ext uri="{FF2B5EF4-FFF2-40B4-BE49-F238E27FC236}">
                <a16:creationId xmlns:a16="http://schemas.microsoft.com/office/drawing/2014/main" id="{7E49E5BC-3D57-D44A-B305-C0E3893B5411}"/>
              </a:ext>
            </a:extLst>
          </p:cNvPr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6624" y="6284976"/>
            <a:ext cx="1137825" cy="295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64255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0" r:id="rId2"/>
    <p:sldLayoutId id="2147483691" r:id="rId3"/>
    <p:sldLayoutId id="2147483692" r:id="rId4"/>
  </p:sldLayoutIdLst>
  <p:hf hdr="0" dt="0"/>
  <p:txStyles>
    <p:titleStyle>
      <a:lvl1pPr algn="l" defTabSz="914400" rtl="0" eaLnBrk="1" latinLnBrk="0" hangingPunct="1">
        <a:lnSpc>
          <a:spcPct val="108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b="1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8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pos="7228" userDrawn="1">
          <p15:clr>
            <a:srgbClr val="F26B43"/>
          </p15:clr>
        </p15:guide>
        <p15:guide id="2" pos="452" userDrawn="1">
          <p15:clr>
            <a:srgbClr val="F26B43"/>
          </p15:clr>
        </p15:guide>
        <p15:guide id="3" orient="horz" pos="273" userDrawn="1">
          <p15:clr>
            <a:srgbClr val="F26B43"/>
          </p15:clr>
        </p15:guide>
        <p15:guide id="4" orient="horz" pos="3865" userDrawn="1">
          <p15:clr>
            <a:srgbClr val="F26B43"/>
          </p15:clr>
        </p15:guide>
        <p15:guide id="5" orient="horz" pos="944" userDrawn="1">
          <p15:clr>
            <a:srgbClr val="F26B43"/>
          </p15:clr>
        </p15:guide>
        <p15:guide id="6" orient="horz" pos="4117" userDrawn="1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feld 16">
            <a:extLst>
              <a:ext uri="{FF2B5EF4-FFF2-40B4-BE49-F238E27FC236}">
                <a16:creationId xmlns:a16="http://schemas.microsoft.com/office/drawing/2014/main" id="{473E5FEA-8EC8-4167-8CC5-8C678F2BEAB5}"/>
              </a:ext>
            </a:extLst>
          </p:cNvPr>
          <p:cNvSpPr txBox="1"/>
          <p:nvPr/>
        </p:nvSpPr>
        <p:spPr>
          <a:xfrm>
            <a:off x="1382400" y="6454198"/>
            <a:ext cx="4857600" cy="119345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pPr>
              <a:lnSpc>
                <a:spcPts val="1100"/>
              </a:lnSpc>
            </a:pPr>
            <a:r>
              <a:rPr lang="de-DE" sz="850" dirty="0"/>
              <a:t>Hochschule für Technik, Wirtschaft und Kultur Leipzig</a:t>
            </a: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17550" y="396946"/>
            <a:ext cx="10756899" cy="7128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17552" y="1445220"/>
            <a:ext cx="10756899" cy="46904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82399" y="6205104"/>
            <a:ext cx="4857604" cy="22416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lnSpc>
                <a:spcPts val="1100"/>
              </a:lnSpc>
              <a:defRPr sz="850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Prof. Dr-Ing. Mathias Rudolph, Elena Richter, Ludwig Ostertag, Fakultät ING, Industrielle Messtechnik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7551" y="6206400"/>
            <a:ext cx="490255" cy="36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000" b="1">
                <a:solidFill>
                  <a:schemeClr val="tx1"/>
                </a:solidFill>
              </a:defRPr>
            </a:lvl1pPr>
          </a:lstStyle>
          <a:p>
            <a:fld id="{5DDB454C-C8BB-450C-A446-EA3D813FE484}" type="slidenum">
              <a:rPr lang="de-DE" smtClean="0"/>
              <a:pPr/>
              <a:t>‹Nr.›</a:t>
            </a:fld>
            <a:endParaRPr lang="de-DE" dirty="0"/>
          </a:p>
        </p:txBody>
      </p:sp>
      <p:grpSp>
        <p:nvGrpSpPr>
          <p:cNvPr id="4" name="Gruppieren 3"/>
          <p:cNvGrpSpPr/>
          <p:nvPr/>
        </p:nvGrpSpPr>
        <p:grpSpPr>
          <a:xfrm>
            <a:off x="0" y="396000"/>
            <a:ext cx="12192003" cy="712800"/>
            <a:chOff x="0" y="396000"/>
            <a:chExt cx="9144002" cy="712800"/>
          </a:xfrm>
          <a:solidFill>
            <a:schemeClr val="accent6"/>
          </a:solidFill>
        </p:grpSpPr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0D256C55-B59E-439E-82E9-BE1ECB9C3F54}"/>
                </a:ext>
              </a:extLst>
            </p:cNvPr>
            <p:cNvSpPr/>
            <p:nvPr userDrawn="1"/>
          </p:nvSpPr>
          <p:spPr>
            <a:xfrm>
              <a:off x="0" y="396000"/>
              <a:ext cx="190800" cy="7128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 dirty="0"/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0A9106C6-A852-4621-A5E1-394E184478EA}"/>
                </a:ext>
              </a:extLst>
            </p:cNvPr>
            <p:cNvSpPr/>
            <p:nvPr userDrawn="1"/>
          </p:nvSpPr>
          <p:spPr>
            <a:xfrm>
              <a:off x="8953202" y="396000"/>
              <a:ext cx="190800" cy="7128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/>
            </a:p>
          </p:txBody>
        </p:sp>
      </p:grpSp>
      <p:pic>
        <p:nvPicPr>
          <p:cNvPr id="11" name="Grafik 10">
            <a:extLst>
              <a:ext uri="{FF2B5EF4-FFF2-40B4-BE49-F238E27FC236}">
                <a16:creationId xmlns:a16="http://schemas.microsoft.com/office/drawing/2014/main" id="{60324984-8636-8D46-ADB9-D5CB3101D43E}"/>
              </a:ext>
            </a:extLst>
          </p:cNvPr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6624" y="6284976"/>
            <a:ext cx="1137825" cy="295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51080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  <p:sldLayoutId id="2147483696" r:id="rId3"/>
    <p:sldLayoutId id="2147483697" r:id="rId4"/>
  </p:sldLayoutIdLst>
  <p:hf hdr="0" dt="0"/>
  <p:txStyles>
    <p:titleStyle>
      <a:lvl1pPr algn="l" defTabSz="914400" rtl="0" eaLnBrk="1" latinLnBrk="0" hangingPunct="1">
        <a:lnSpc>
          <a:spcPct val="108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b="1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8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pos="7228" userDrawn="1">
          <p15:clr>
            <a:srgbClr val="F26B43"/>
          </p15:clr>
        </p15:guide>
        <p15:guide id="2" pos="452" userDrawn="1">
          <p15:clr>
            <a:srgbClr val="F26B43"/>
          </p15:clr>
        </p15:guide>
        <p15:guide id="3" orient="horz" pos="273" userDrawn="1">
          <p15:clr>
            <a:srgbClr val="F26B43"/>
          </p15:clr>
        </p15:guide>
        <p15:guide id="4" orient="horz" pos="3865" userDrawn="1">
          <p15:clr>
            <a:srgbClr val="F26B43"/>
          </p15:clr>
        </p15:guide>
        <p15:guide id="5" orient="horz" pos="944" userDrawn="1">
          <p15:clr>
            <a:srgbClr val="F26B43"/>
          </p15:clr>
        </p15:guide>
        <p15:guide id="6" orient="horz" pos="4117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tif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.jpg"/><Relationship Id="rId5" Type="http://schemas.openxmlformats.org/officeDocument/2006/relationships/hyperlink" Target="https://www.startpage.com/av/proxy-image?piurl=https%3A%2F%2Ftse4.mm.bing.net%2Fth%2Fid%2FOIP.Za0qPOKE3GqZYmdEAczKJQHaHa%3Fpid%3DApi&amp;sp=1768302160T595d207b0b37e35c3e338ae13f2f9e331041a5e3ddf076337ee24041064366fd" TargetMode="External"/><Relationship Id="rId4" Type="http://schemas.openxmlformats.org/officeDocument/2006/relationships/hyperlink" Target="https://www.startpage.com/av/proxy-image?piurl=https%3A%2F%2Ftse4.mm.bing.net%2Fth%2Fid%2FOIP.TpvqpsHupWChjcrJ59ztBwHaHa%3Fpid%3DApi&amp;sp=1768303081T1a404675739948c1624ab15b793801e828586840265f6b6a0e0e3528138ebaca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tartpage.com/av/proxy-image?piurl=https%3A%2F%2Ftse4.mm.bing.net%2Fth%2Fid%2FOIP.Za0qPOKE3GqZYmdEAczKJQHaHa%3Fpid%3DApi&amp;sp=1768302160T595d207b0b37e35c3e338ae13f2f9e331041a5e3ddf076337ee24041064366fd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www.startpage.com/av/proxy-image?piurl=https%3A%2F%2Ftse4.mm.bing.net%2Fth%2Fid%2FOIP.TpvqpsHupWChjcrJ59ztBwHaHa%3Fpid%3DApi&amp;sp=1768303081T1a404675739948c1624ab15b793801e828586840265f6b6a0e0e3528138ebaca" TargetMode="External"/><Relationship Id="rId5" Type="http://schemas.openxmlformats.org/officeDocument/2006/relationships/image" Target="../media/image5.jpeg"/><Relationship Id="rId4" Type="http://schemas.openxmlformats.org/officeDocument/2006/relationships/image" Target="../media/image6.jp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7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hyperlink" Target="https://www.startpage.com/av/proxy-image?piurl=https%3A%2F%2Ftse4.mm.bing.net%2Fth%2Fid%2FOIP.GV4hSS9xJ1fpoy_J89zCvwHaFW%3Fpid%3DApi&amp;sp=1768308471T9a52e8848aad3a741cd4834280859d74f16e8902e7816397e6963256a4f58cd9" TargetMode="External"/><Relationship Id="rId9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7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hyperlink" Target="https://www.startpage.com/av/proxy-image?piurl=https%3A%2F%2Ftse4.mm.bing.net%2Fth%2Fid%2FOIP.GV4hSS9xJ1fpoy_J89zCvwHaFW%3Fpid%3DApi&amp;sp=1768308471T9a52e8848aad3a741cd4834280859d74f16e8902e7816397e6963256a4f58cd9" TargetMode="External"/><Relationship Id="rId9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arduino.cc/en/software/" TargetMode="External"/><Relationship Id="rId13" Type="http://schemas.openxmlformats.org/officeDocument/2006/relationships/hyperlink" Target="https://asset.conrad.com/media10/isa/160267/c1/-/de/002885952PI00/image.jpg?x=1440&amp;y=1440&amp;format=jpg&amp;ex=1440&amp;ey=1440&amp;align=center" TargetMode="External"/><Relationship Id="rId18" Type="http://schemas.openxmlformats.org/officeDocument/2006/relationships/image" Target="../media/image20.jpeg"/><Relationship Id="rId3" Type="http://schemas.openxmlformats.org/officeDocument/2006/relationships/hyperlink" Target="https://www.reichelt.de/de/de/shop/produkt/sortiment_led_30-teilig-119303" TargetMode="External"/><Relationship Id="rId7" Type="http://schemas.openxmlformats.org/officeDocument/2006/relationships/hyperlink" Target="https://www.reichelt.de/de/de/shop/produkt/widerstand_metallschicht_220_ohm_0207_0_6_w_1_-11627" TargetMode="External"/><Relationship Id="rId12" Type="http://schemas.openxmlformats.org/officeDocument/2006/relationships/image" Target="../media/image19.png"/><Relationship Id="rId17" Type="http://schemas.openxmlformats.org/officeDocument/2006/relationships/hyperlink" Target="https://www.arduino.cc/wiki/static/arduino-app-76bd27c4ce7246825aceb8efe2871f7a.svg" TargetMode="External"/><Relationship Id="rId2" Type="http://schemas.openxmlformats.org/officeDocument/2006/relationships/notesSlide" Target="../notesSlides/notesSlide10.xml"/><Relationship Id="rId16" Type="http://schemas.openxmlformats.org/officeDocument/2006/relationships/hyperlink" Target="https://www.roboter-bausatz.de/media/image/d8/f3/0e/RBS18335_600x600.jpg" TargetMode="External"/><Relationship Id="rId20" Type="http://schemas.openxmlformats.org/officeDocument/2006/relationships/hyperlink" Target="https://cdn-reichelt.de/resize/600%2F-/web/xxl_ws/D800%2FS036.png?type=ProductXxl&amp;resize=600%252F-&amp;" TargetMode="External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www.roboter-bausatz.de/p/esp32-dev-board-32d-mit-cp2102-usb-c-wlan-bluetooth-iot-modul" TargetMode="External"/><Relationship Id="rId11" Type="http://schemas.openxmlformats.org/officeDocument/2006/relationships/image" Target="../media/image18.png"/><Relationship Id="rId5" Type="http://schemas.openxmlformats.org/officeDocument/2006/relationships/hyperlink" Target="https://www.az-delivery.de/products/40-stk-jumper-wire-male-to-male-20-zentimeter" TargetMode="External"/><Relationship Id="rId15" Type="http://schemas.openxmlformats.org/officeDocument/2006/relationships/hyperlink" Target="https://cdn-reichelt.de/bilder/web/artikel_ws/B400%2F%21WIDMET.jpg?type=Product&amp;" TargetMode="External"/><Relationship Id="rId10" Type="http://schemas.openxmlformats.org/officeDocument/2006/relationships/image" Target="../media/image17.png"/><Relationship Id="rId19" Type="http://schemas.openxmlformats.org/officeDocument/2006/relationships/image" Target="../media/image21.png"/><Relationship Id="rId4" Type="http://schemas.openxmlformats.org/officeDocument/2006/relationships/hyperlink" Target="https://www.conrad.de/de/p/tru-components-steckplatine-bus-stripe-ausklappbar-polzahl-gesamt-400-l-x-b-82-5-cm-x-54-6-mm-1-st-2885952.html" TargetMode="External"/><Relationship Id="rId9" Type="http://schemas.openxmlformats.org/officeDocument/2006/relationships/image" Target="../media/image16.png"/><Relationship Id="rId14" Type="http://schemas.openxmlformats.org/officeDocument/2006/relationships/hyperlink" Target="https://www.az-delivery.de/cdn/shop/products/jumper-wire-kabel-40-stk-je-20-cm-m2m-male-to-male-kompatibel-mit-arduino-und-raspberry-pi-breadboard-140806.jpg?v=1679398754&amp;width=1200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6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2.png"/><Relationship Id="rId4" Type="http://schemas.openxmlformats.org/officeDocument/2006/relationships/image" Target="../media/image26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3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F0FFBE0-85A9-954B-8F08-3799972604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 smtClean="0"/>
              <a:t>Prof. Dr-Ing. Mathias Rudolph, Elena Richter, Ludwig Ostertag, Fakultät ING, Industrielle Messtechnik</a:t>
            </a:r>
            <a:endParaRPr lang="de-DE" dirty="0"/>
          </a:p>
        </p:txBody>
      </p:sp>
      <p:pic>
        <p:nvPicPr>
          <p:cNvPr id="5" name="Grafik 4"/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94276" y="318185"/>
            <a:ext cx="1961041" cy="554182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AEFFC43F-6DA3-1A1D-6175-58D40ACE97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12192000" cy="6857999"/>
          </a:xfrm>
        </p:spPr>
        <p:txBody>
          <a:bodyPr anchor="ctr"/>
          <a:lstStyle/>
          <a:p>
            <a:pPr algn="ctr"/>
            <a:r>
              <a:rPr lang="en-US" sz="16600" b="1" smtClean="0"/>
              <a:t>Arduino</a:t>
            </a:r>
            <a:endParaRPr lang="en-US" sz="9600" b="1" dirty="0"/>
          </a:p>
        </p:txBody>
      </p:sp>
    </p:spTree>
    <p:extLst>
      <p:ext uri="{BB962C8B-B14F-4D97-AF65-F5344CB8AC3E}">
        <p14:creationId xmlns:p14="http://schemas.microsoft.com/office/powerpoint/2010/main" val="24586427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B54473F-290F-1C9D-42C9-3317CF9059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4596" y="0"/>
            <a:ext cx="5777403" cy="6858000"/>
          </a:xfrm>
        </p:spPr>
        <p:txBody>
          <a:bodyPr anchor="ctr">
            <a:normAutofit/>
          </a:bodyPr>
          <a:lstStyle/>
          <a:p>
            <a:r>
              <a:rPr lang="de-DE" sz="4800" b="1" smtClean="0"/>
              <a:t>Einführung</a:t>
            </a:r>
            <a:endParaRPr lang="de-DE" sz="4800" b="1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82E2EBB-E035-44E5-E10B-431C8375D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2</a:t>
            </a:fld>
            <a:endParaRPr lang="de-DE" dirty="0"/>
          </a:p>
        </p:txBody>
      </p:sp>
      <p:sp>
        <p:nvSpPr>
          <p:cNvPr id="6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  <p:pic>
        <p:nvPicPr>
          <p:cNvPr id="7" name="Grafik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806" y="99060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42611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5000">
        <p:fade/>
      </p:transition>
    </mc:Choice>
    <mc:Fallback xmlns="">
      <p:transition spd="med" advTm="15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Abgerundetes Rechteck 13"/>
          <p:cNvSpPr/>
          <p:nvPr/>
        </p:nvSpPr>
        <p:spPr>
          <a:xfrm>
            <a:off x="1560021" y="988681"/>
            <a:ext cx="9119062" cy="80997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Was ist Arduino? </a:t>
            </a:r>
            <a:endParaRPr lang="de-DE" b="1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3869C99-C634-47CD-B208-CB16ACE119EE}" type="slidenum">
              <a:rPr lang="de-DE" smtClean="0"/>
              <a:pPr/>
              <a:t>3</a:t>
            </a:fld>
            <a:endParaRPr lang="de-DE"/>
          </a:p>
        </p:txBody>
      </p:sp>
      <p:cxnSp>
        <p:nvCxnSpPr>
          <p:cNvPr id="10" name="Gerade Verbindung mit Pfeil 9"/>
          <p:cNvCxnSpPr>
            <a:stCxn id="3" idx="2"/>
          </p:cNvCxnSpPr>
          <p:nvPr/>
        </p:nvCxnSpPr>
        <p:spPr>
          <a:xfrm flipH="1">
            <a:off x="3223893" y="1849739"/>
            <a:ext cx="2872106" cy="57305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mit Pfeil 11"/>
          <p:cNvCxnSpPr>
            <a:stCxn id="3" idx="2"/>
          </p:cNvCxnSpPr>
          <p:nvPr/>
        </p:nvCxnSpPr>
        <p:spPr>
          <a:xfrm>
            <a:off x="6095999" y="1849739"/>
            <a:ext cx="2872105" cy="573058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Abgerundetes Rechteck 2"/>
          <p:cNvSpPr/>
          <p:nvPr/>
        </p:nvSpPr>
        <p:spPr>
          <a:xfrm>
            <a:off x="717549" y="935339"/>
            <a:ext cx="10756899" cy="9144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>
                <a:solidFill>
                  <a:schemeClr val="tx1"/>
                </a:solidFill>
              </a:rPr>
              <a:t>Arduino ist eine </a:t>
            </a:r>
            <a:r>
              <a:rPr lang="de-DE" smtClean="0">
                <a:solidFill>
                  <a:schemeClr val="tx1"/>
                </a:solidFill>
              </a:rPr>
              <a:t>_____________________ </a:t>
            </a:r>
            <a:r>
              <a:rPr lang="de-DE">
                <a:solidFill>
                  <a:schemeClr val="tx1"/>
                </a:solidFill>
              </a:rPr>
              <a:t>für elektronische Prototypenentwickelung, </a:t>
            </a:r>
          </a:p>
          <a:p>
            <a:pPr algn="ctr"/>
            <a:r>
              <a:rPr lang="de-DE">
                <a:solidFill>
                  <a:schemeClr val="tx1"/>
                </a:solidFill>
              </a:rPr>
              <a:t>die aus benutzerfreundlicher </a:t>
            </a:r>
            <a:r>
              <a:rPr lang="de-DE" b="1" smtClean="0">
                <a:solidFill>
                  <a:srgbClr val="FF0000"/>
                </a:solidFill>
              </a:rPr>
              <a:t>____</a:t>
            </a:r>
            <a:r>
              <a:rPr lang="de-DE" smtClean="0">
                <a:solidFill>
                  <a:schemeClr val="tx1"/>
                </a:solidFill>
              </a:rPr>
              <a:t>- </a:t>
            </a:r>
            <a:r>
              <a:rPr lang="de-DE">
                <a:solidFill>
                  <a:schemeClr val="tx1"/>
                </a:solidFill>
              </a:rPr>
              <a:t>und </a:t>
            </a:r>
            <a:r>
              <a:rPr lang="de-DE" b="1" smtClean="0">
                <a:solidFill>
                  <a:srgbClr val="0070C0"/>
                </a:solidFill>
              </a:rPr>
              <a:t>________</a:t>
            </a:r>
            <a:r>
              <a:rPr lang="de-DE" smtClean="0">
                <a:solidFill>
                  <a:schemeClr val="tx1"/>
                </a:solidFill>
              </a:rPr>
              <a:t> </a:t>
            </a:r>
            <a:r>
              <a:rPr lang="de-DE">
                <a:solidFill>
                  <a:schemeClr val="tx1"/>
                </a:solidFill>
              </a:rPr>
              <a:t>besteht</a:t>
            </a:r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37" name="Abgerundetes Rechteck 36"/>
          <p:cNvSpPr/>
          <p:nvPr/>
        </p:nvSpPr>
        <p:spPr>
          <a:xfrm>
            <a:off x="717549" y="2422796"/>
            <a:ext cx="5012688" cy="362990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mtClean="0">
                <a:solidFill>
                  <a:schemeClr val="tx1"/>
                </a:solidFill>
              </a:rPr>
              <a:t>Mikrocontroller </a:t>
            </a:r>
          </a:p>
          <a:p>
            <a:pPr algn="ctr"/>
            <a:r>
              <a:rPr lang="de-DE" sz="1600" smtClean="0">
                <a:solidFill>
                  <a:schemeClr val="tx1"/>
                </a:solidFill>
              </a:rPr>
              <a:t>= _________ zur Steuerung von Sensoren, Aktoren, Modulen (</a:t>
            </a:r>
            <a:r>
              <a:rPr lang="de-DE" sz="1600">
                <a:solidFill>
                  <a:schemeClr val="tx1"/>
                </a:solidFill>
              </a:rPr>
              <a:t>idR. </a:t>
            </a:r>
            <a:r>
              <a:rPr lang="de-DE" sz="1600" smtClean="0">
                <a:solidFill>
                  <a:schemeClr val="tx1"/>
                </a:solidFill>
              </a:rPr>
              <a:t>ESP32)</a:t>
            </a:r>
            <a:endParaRPr lang="de-DE" sz="1600" dirty="0">
              <a:solidFill>
                <a:schemeClr val="tx1"/>
              </a:solidFill>
            </a:endParaRPr>
          </a:p>
        </p:txBody>
      </p:sp>
      <p:pic>
        <p:nvPicPr>
          <p:cNvPr id="41" name="Picture 2" descr="Arduino Logo PNG Transparent (1) – Brands Logo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05529" y="3752955"/>
            <a:ext cx="1525150" cy="1525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2" name="Textfeld 41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6636384" y="5278391"/>
            <a:ext cx="46634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>
                <a:hlinkClick r:id="rId4"/>
              </a:rPr>
              <a:t>https://</a:t>
            </a:r>
            <a:r>
              <a:rPr lang="de-DE" sz="800" smtClean="0">
                <a:hlinkClick r:id="rId4"/>
              </a:rPr>
              <a:t>www.startpage.com/av/proxy-image?piurl=https%3A%2F%2Ftse4.mm.bing.net%2Fth%2Fid%2FOIP.TpvqpsHupWChjcrJ59ztBwHaHa%3Fpid%3DApi&amp;sp=1768303081T1a404675739948c1624ab15b793801e828586840265f6b6a0e0e3528138ebaca</a:t>
            </a:r>
            <a:r>
              <a:rPr lang="de-DE" sz="800" smtClean="0"/>
              <a:t> </a:t>
            </a:r>
            <a:endParaRPr lang="de-DE" sz="800" dirty="0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873760" y="5247911"/>
            <a:ext cx="46634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>
                <a:hlinkClick r:id="rId5"/>
              </a:rPr>
              <a:t>https://</a:t>
            </a:r>
            <a:r>
              <a:rPr lang="de-DE" sz="800" smtClean="0">
                <a:hlinkClick r:id="rId5"/>
              </a:rPr>
              <a:t>www.startpage.com/av/proxy-image?piurl=https%3A%2F%2Ftse4.mm.bing.net%2Fth%2Fid%2FOIP.Za0qPOKE3GqZYmdEAczKJQHaHa%3Fpid%3DApi&amp;sp=1768302160T595d207b0b37e35c3e338ae13f2f9e331041a5e3ddf076337ee24041064366fd</a:t>
            </a:r>
            <a:r>
              <a:rPr lang="de-DE" sz="800" smtClean="0"/>
              <a:t> </a:t>
            </a:r>
            <a:endParaRPr lang="de-DE" sz="800" dirty="0"/>
          </a:p>
        </p:txBody>
      </p:sp>
      <p:pic>
        <p:nvPicPr>
          <p:cNvPr id="18" name="Grafik 17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2303" y="3709412"/>
            <a:ext cx="2083180" cy="1538213"/>
          </a:xfrm>
          <a:prstGeom prst="rect">
            <a:avLst/>
          </a:prstGeom>
        </p:spPr>
      </p:pic>
      <p:sp>
        <p:nvSpPr>
          <p:cNvPr id="15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  <p:sp>
        <p:nvSpPr>
          <p:cNvPr id="16" name="Abgerundetes Rechteck 15"/>
          <p:cNvSpPr/>
          <p:nvPr/>
        </p:nvSpPr>
        <p:spPr>
          <a:xfrm>
            <a:off x="6461760" y="2422797"/>
            <a:ext cx="5012688" cy="3629902"/>
          </a:xfrm>
          <a:prstGeom prst="round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>
                <a:solidFill>
                  <a:schemeClr val="tx1"/>
                </a:solidFill>
              </a:rPr>
              <a:t>Arduino IDE </a:t>
            </a:r>
          </a:p>
          <a:p>
            <a:pPr algn="ctr"/>
            <a:r>
              <a:rPr lang="de-DE" sz="1600" smtClean="0">
                <a:solidFill>
                  <a:schemeClr val="tx1"/>
                </a:solidFill>
              </a:rPr>
              <a:t>= benutzerfreundliche Umgebung zum Programmieren von Arduino-Boards in Sprache C++ </a:t>
            </a:r>
            <a:endParaRPr lang="de-DE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08438921"/>
      </p:ext>
    </p:extLst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Abgerundetes Rechteck 14"/>
          <p:cNvSpPr/>
          <p:nvPr/>
        </p:nvSpPr>
        <p:spPr>
          <a:xfrm>
            <a:off x="1560021" y="988681"/>
            <a:ext cx="9119062" cy="80997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Abgerundetes Rechteck 16"/>
          <p:cNvSpPr/>
          <p:nvPr/>
        </p:nvSpPr>
        <p:spPr>
          <a:xfrm>
            <a:off x="6461760" y="2422797"/>
            <a:ext cx="5012688" cy="3629902"/>
          </a:xfrm>
          <a:prstGeom prst="round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>
                <a:solidFill>
                  <a:schemeClr val="tx1"/>
                </a:solidFill>
              </a:rPr>
              <a:t>Arduino IDE </a:t>
            </a:r>
          </a:p>
          <a:p>
            <a:pPr algn="ctr"/>
            <a:r>
              <a:rPr lang="de-DE" sz="1600" smtClean="0">
                <a:solidFill>
                  <a:schemeClr val="tx1"/>
                </a:solidFill>
              </a:rPr>
              <a:t>= benutzerfreundliche Umgebung zum Programmieren von Arduino-Boards in Sprache C++ </a:t>
            </a:r>
            <a:endParaRPr lang="de-DE" sz="1600" dirty="0">
              <a:solidFill>
                <a:schemeClr val="tx1"/>
              </a:solidFill>
            </a:endParaRPr>
          </a:p>
        </p:txBody>
      </p:sp>
      <p:sp>
        <p:nvSpPr>
          <p:cNvPr id="18" name="Abgerundetes Rechteck 17"/>
          <p:cNvSpPr/>
          <p:nvPr/>
        </p:nvSpPr>
        <p:spPr>
          <a:xfrm>
            <a:off x="717549" y="2422796"/>
            <a:ext cx="5012688" cy="362990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mtClean="0">
                <a:solidFill>
                  <a:schemeClr val="tx1"/>
                </a:solidFill>
              </a:rPr>
              <a:t>Mikrocontroller </a:t>
            </a:r>
          </a:p>
          <a:p>
            <a:pPr algn="ctr"/>
            <a:r>
              <a:rPr lang="de-DE" sz="1600" smtClean="0">
                <a:solidFill>
                  <a:schemeClr val="tx1"/>
                </a:solidFill>
              </a:rPr>
              <a:t>=Mini-PC zur Steuerung von Sensoren, Aktoren, Modulen (</a:t>
            </a:r>
            <a:r>
              <a:rPr lang="de-DE" sz="1600">
                <a:solidFill>
                  <a:schemeClr val="tx1"/>
                </a:solidFill>
              </a:rPr>
              <a:t>idR. </a:t>
            </a:r>
            <a:r>
              <a:rPr lang="de-DE" sz="1600" smtClean="0">
                <a:solidFill>
                  <a:schemeClr val="tx1"/>
                </a:solidFill>
              </a:rPr>
              <a:t>ESP32)</a:t>
            </a:r>
            <a:endParaRPr lang="de-DE" sz="1600" dirty="0">
              <a:solidFill>
                <a:schemeClr val="tx1"/>
              </a:solidFill>
            </a:endParaRPr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Was ist Arduino? </a:t>
            </a:r>
            <a:r>
              <a:rPr lang="de-DE" b="1" smtClean="0">
                <a:sym typeface="Wingdings" panose="05000000000000000000" pitchFamily="2" charset="2"/>
              </a:rPr>
              <a:t> Lösung:</a:t>
            </a:r>
            <a:r>
              <a:rPr lang="de-DE" b="1" smtClean="0"/>
              <a:t> </a:t>
            </a:r>
            <a:endParaRPr lang="de-DE" b="1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3869C99-C634-47CD-B208-CB16ACE119EE}" type="slidenum">
              <a:rPr lang="de-DE" smtClean="0"/>
              <a:pPr/>
              <a:t>4</a:t>
            </a:fld>
            <a:endParaRPr lang="de-DE"/>
          </a:p>
        </p:txBody>
      </p:sp>
      <p:cxnSp>
        <p:nvCxnSpPr>
          <p:cNvPr id="33" name="Gerade Verbindung mit Pfeil 32"/>
          <p:cNvCxnSpPr>
            <a:stCxn id="15" idx="2"/>
          </p:cNvCxnSpPr>
          <p:nvPr/>
        </p:nvCxnSpPr>
        <p:spPr>
          <a:xfrm flipH="1">
            <a:off x="3223893" y="1798653"/>
            <a:ext cx="2895659" cy="62414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Gerade Verbindung mit Pfeil 33"/>
          <p:cNvCxnSpPr>
            <a:stCxn id="15" idx="2"/>
          </p:cNvCxnSpPr>
          <p:nvPr/>
        </p:nvCxnSpPr>
        <p:spPr>
          <a:xfrm>
            <a:off x="6119552" y="1798653"/>
            <a:ext cx="2848552" cy="624144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Abgerundetes Rechteck 34"/>
          <p:cNvSpPr/>
          <p:nvPr/>
        </p:nvSpPr>
        <p:spPr>
          <a:xfrm>
            <a:off x="717549" y="935339"/>
            <a:ext cx="10756899" cy="9144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>
                <a:solidFill>
                  <a:schemeClr val="tx1"/>
                </a:solidFill>
              </a:rPr>
              <a:t>Arduino ist eine Open-Source-Plattform für elektronische Prototypenentwickelung, </a:t>
            </a:r>
          </a:p>
          <a:p>
            <a:pPr algn="ctr"/>
            <a:r>
              <a:rPr lang="de-DE">
                <a:solidFill>
                  <a:schemeClr val="tx1"/>
                </a:solidFill>
              </a:rPr>
              <a:t>die aus benutzerfreundlicher </a:t>
            </a:r>
            <a:r>
              <a:rPr lang="de-DE" b="1">
                <a:solidFill>
                  <a:srgbClr val="FF0000"/>
                </a:solidFill>
              </a:rPr>
              <a:t>Hard</a:t>
            </a:r>
            <a:r>
              <a:rPr lang="de-DE">
                <a:solidFill>
                  <a:schemeClr val="tx1"/>
                </a:solidFill>
              </a:rPr>
              <a:t>- und </a:t>
            </a:r>
            <a:r>
              <a:rPr lang="de-DE" b="1">
                <a:solidFill>
                  <a:srgbClr val="0070C0"/>
                </a:solidFill>
              </a:rPr>
              <a:t>Software</a:t>
            </a:r>
            <a:r>
              <a:rPr lang="de-DE">
                <a:solidFill>
                  <a:schemeClr val="tx1"/>
                </a:solidFill>
              </a:rPr>
              <a:t> besteht</a:t>
            </a:r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39" name="Textfeld 38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873760" y="5247911"/>
            <a:ext cx="46634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>
                <a:hlinkClick r:id="rId3"/>
              </a:rPr>
              <a:t>https://</a:t>
            </a:r>
            <a:r>
              <a:rPr lang="de-DE" sz="800" smtClean="0">
                <a:hlinkClick r:id="rId3"/>
              </a:rPr>
              <a:t>www.startpage.com/av/proxy-image?piurl=https%3A%2F%2Ftse4.mm.bing.net%2Fth%2Fid%2FOIP.Za0qPOKE3GqZYmdEAczKJQHaHa%3Fpid%3DApi&amp;sp=1768302160T595d207b0b37e35c3e338ae13f2f9e331041a5e3ddf076337ee24041064366fd</a:t>
            </a:r>
            <a:r>
              <a:rPr lang="de-DE" sz="800" smtClean="0"/>
              <a:t> </a:t>
            </a:r>
            <a:endParaRPr lang="de-DE" sz="800" dirty="0"/>
          </a:p>
        </p:txBody>
      </p:sp>
      <p:pic>
        <p:nvPicPr>
          <p:cNvPr id="40" name="Grafik 39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2303" y="3709412"/>
            <a:ext cx="2083180" cy="1538213"/>
          </a:xfrm>
          <a:prstGeom prst="rect">
            <a:avLst/>
          </a:prstGeom>
        </p:spPr>
      </p:pic>
      <p:pic>
        <p:nvPicPr>
          <p:cNvPr id="41" name="Picture 2" descr="Arduino Logo PNG Transparent (1) – Brands Logos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05529" y="3722475"/>
            <a:ext cx="1525150" cy="1525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2" name="Textfeld 41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6636384" y="5247911"/>
            <a:ext cx="46634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>
                <a:hlinkClick r:id="rId6"/>
              </a:rPr>
              <a:t>https://</a:t>
            </a:r>
            <a:r>
              <a:rPr lang="de-DE" sz="800" smtClean="0">
                <a:hlinkClick r:id="rId6"/>
              </a:rPr>
              <a:t>www.startpage.com/av/proxy-image?piurl=https%3A%2F%2Ftse4.mm.bing.net%2Fth%2Fid%2FOIP.TpvqpsHupWChjcrJ59ztBwHaHa%3Fpid%3DApi&amp;sp=1768303081T1a404675739948c1624ab15b793801e828586840265f6b6a0e0e3528138ebaca</a:t>
            </a:r>
            <a:r>
              <a:rPr lang="de-DE" sz="800" smtClean="0"/>
              <a:t> </a:t>
            </a:r>
            <a:endParaRPr lang="de-DE" sz="800" dirty="0"/>
          </a:p>
        </p:txBody>
      </p:sp>
      <p:sp>
        <p:nvSpPr>
          <p:cNvPr id="19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</p:spTree>
    <p:extLst>
      <p:ext uri="{BB962C8B-B14F-4D97-AF65-F5344CB8AC3E}">
        <p14:creationId xmlns:p14="http://schemas.microsoft.com/office/powerpoint/2010/main" val="4003230271"/>
      </p:ext>
    </p:extLst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Wie ist ein ESP32 aufgebaut</a:t>
            </a:r>
            <a:r>
              <a:rPr lang="de-DE" b="1" smtClean="0">
                <a:sym typeface="Wingdings" panose="05000000000000000000" pitchFamily="2" charset="2"/>
              </a:rPr>
              <a:t>? </a:t>
            </a:r>
            <a:endParaRPr lang="de-DE" b="1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3869C99-C634-47CD-B208-CB16ACE119EE}" type="slidenum">
              <a:rPr lang="de-DE" smtClean="0"/>
              <a:pPr/>
              <a:t>5</a:t>
            </a:fld>
            <a:endParaRPr lang="de-DE"/>
          </a:p>
        </p:txBody>
      </p:sp>
      <p:pic>
        <p:nvPicPr>
          <p:cNvPr id="3" name="Grafik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7757" y="1204602"/>
            <a:ext cx="8316486" cy="4448796"/>
          </a:xfrm>
          <a:prstGeom prst="rect">
            <a:avLst/>
          </a:prstGeom>
        </p:spPr>
      </p:pic>
      <p:sp>
        <p:nvSpPr>
          <p:cNvPr id="7" name="Abgerundetes Rechteck 6"/>
          <p:cNvSpPr/>
          <p:nvPr/>
        </p:nvSpPr>
        <p:spPr>
          <a:xfrm>
            <a:off x="9692638" y="983447"/>
            <a:ext cx="1925403" cy="510189"/>
          </a:xfrm>
          <a:prstGeom prst="roundRect">
            <a:avLst/>
          </a:prstGeom>
          <a:solidFill>
            <a:srgbClr val="BE1C1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200" smtClean="0">
                <a:solidFill>
                  <a:schemeClr val="tx1"/>
                </a:solidFill>
              </a:rPr>
              <a:t>???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36" name="Abgerundetes Rechteck 35"/>
          <p:cNvSpPr/>
          <p:nvPr/>
        </p:nvSpPr>
        <p:spPr>
          <a:xfrm>
            <a:off x="9692638" y="1589438"/>
            <a:ext cx="1925403" cy="510189"/>
          </a:xfrm>
          <a:prstGeom prst="roundRect">
            <a:avLst/>
          </a:prstGeom>
          <a:solidFill>
            <a:srgbClr val="1A1A1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200" smtClean="0">
                <a:solidFill>
                  <a:schemeClr val="bg1"/>
                </a:solidFill>
              </a:rPr>
              <a:t>???</a:t>
            </a:r>
            <a:endParaRPr lang="de-DE" sz="1200">
              <a:solidFill>
                <a:schemeClr val="bg1"/>
              </a:solidFill>
            </a:endParaRPr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5141325" y="5545156"/>
            <a:ext cx="278564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>
                <a:hlinkClick r:id="rId4"/>
              </a:rPr>
              <a:t>https://</a:t>
            </a:r>
            <a:r>
              <a:rPr lang="de-DE" sz="800" smtClean="0">
                <a:hlinkClick r:id="rId4"/>
              </a:rPr>
              <a:t>www.startpage.com/av/proxy-image?piurl=https%3A%2F%2Ftse4.mm.bing.net%2Fth%2Fid%2FOIP.GV4hSS9xJ1fpoy_J89zCvwHaFW%3Fpid%3DApi&amp;sp=1768308471T9a52e8848aad3a741cd4834280859d74f16e8902e7816397e6963256a4f58cd9</a:t>
            </a:r>
            <a:r>
              <a:rPr lang="de-DE" sz="800" smtClean="0"/>
              <a:t> </a:t>
            </a:r>
            <a:endParaRPr lang="de-DE" sz="800" dirty="0"/>
          </a:p>
        </p:txBody>
      </p:sp>
      <p:pic>
        <p:nvPicPr>
          <p:cNvPr id="56" name="Grafik 5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94190" y="5577863"/>
            <a:ext cx="1368000" cy="610338"/>
          </a:xfrm>
          <a:prstGeom prst="rect">
            <a:avLst/>
          </a:prstGeom>
        </p:spPr>
      </p:pic>
      <p:pic>
        <p:nvPicPr>
          <p:cNvPr id="57" name="Grafik 5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7550" y="5586255"/>
            <a:ext cx="1368000" cy="624634"/>
          </a:xfrm>
          <a:prstGeom prst="rect">
            <a:avLst/>
          </a:prstGeom>
        </p:spPr>
      </p:pic>
      <p:pic>
        <p:nvPicPr>
          <p:cNvPr id="58" name="Grafik 5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95710" y="5892298"/>
            <a:ext cx="1368000" cy="306347"/>
          </a:xfrm>
          <a:prstGeom prst="rect">
            <a:avLst/>
          </a:prstGeom>
        </p:spPr>
      </p:pic>
      <p:pic>
        <p:nvPicPr>
          <p:cNvPr id="59" name="Grafik 58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54243" y="3224153"/>
            <a:ext cx="1363798" cy="2650400"/>
          </a:xfrm>
          <a:prstGeom prst="rect">
            <a:avLst/>
          </a:prstGeom>
        </p:spPr>
      </p:pic>
      <p:pic>
        <p:nvPicPr>
          <p:cNvPr id="60" name="Grafik 5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54243" y="5881854"/>
            <a:ext cx="1368000" cy="306347"/>
          </a:xfrm>
          <a:prstGeom prst="rect">
            <a:avLst/>
          </a:prstGeom>
        </p:spPr>
      </p:pic>
      <p:pic>
        <p:nvPicPr>
          <p:cNvPr id="61" name="Grafik 6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7550" y="983447"/>
            <a:ext cx="1852930" cy="2555766"/>
          </a:xfrm>
          <a:prstGeom prst="rect">
            <a:avLst/>
          </a:prstGeom>
        </p:spPr>
      </p:pic>
      <p:sp>
        <p:nvSpPr>
          <p:cNvPr id="15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</p:spTree>
    <p:extLst>
      <p:ext uri="{BB962C8B-B14F-4D97-AF65-F5344CB8AC3E}">
        <p14:creationId xmlns:p14="http://schemas.microsoft.com/office/powerpoint/2010/main" val="1032756996"/>
      </p:ext>
    </p:extLst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Wie ist ein ESP32 aufgebaut</a:t>
            </a:r>
            <a:r>
              <a:rPr lang="de-DE" b="1" smtClean="0">
                <a:sym typeface="Wingdings" panose="05000000000000000000" pitchFamily="2" charset="2"/>
              </a:rPr>
              <a:t>?  Lösung:</a:t>
            </a:r>
            <a:endParaRPr lang="de-DE" b="1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3869C99-C634-47CD-B208-CB16ACE119EE}" type="slidenum">
              <a:rPr lang="de-DE" smtClean="0"/>
              <a:pPr/>
              <a:t>6</a:t>
            </a:fld>
            <a:endParaRPr lang="de-DE"/>
          </a:p>
        </p:txBody>
      </p:sp>
      <p:pic>
        <p:nvPicPr>
          <p:cNvPr id="3" name="Grafik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7757" y="1204602"/>
            <a:ext cx="8316486" cy="4448796"/>
          </a:xfrm>
          <a:prstGeom prst="rect">
            <a:avLst/>
          </a:prstGeom>
        </p:spPr>
      </p:pic>
      <p:sp>
        <p:nvSpPr>
          <p:cNvPr id="7" name="Abgerundetes Rechteck 6"/>
          <p:cNvSpPr/>
          <p:nvPr/>
        </p:nvSpPr>
        <p:spPr>
          <a:xfrm>
            <a:off x="9692638" y="983447"/>
            <a:ext cx="1925403" cy="510189"/>
          </a:xfrm>
          <a:prstGeom prst="roundRect">
            <a:avLst/>
          </a:prstGeom>
          <a:solidFill>
            <a:srgbClr val="BE1C1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200" smtClean="0">
                <a:solidFill>
                  <a:schemeClr val="tx1"/>
                </a:solidFill>
              </a:rPr>
              <a:t>Stromversorgung (3,3V/5V)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36" name="Abgerundetes Rechteck 35"/>
          <p:cNvSpPr/>
          <p:nvPr/>
        </p:nvSpPr>
        <p:spPr>
          <a:xfrm>
            <a:off x="9692638" y="1589438"/>
            <a:ext cx="1925403" cy="510189"/>
          </a:xfrm>
          <a:prstGeom prst="roundRect">
            <a:avLst/>
          </a:prstGeom>
          <a:solidFill>
            <a:srgbClr val="1A1A1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200" smtClean="0">
                <a:solidFill>
                  <a:schemeClr val="bg1"/>
                </a:solidFill>
              </a:rPr>
              <a:t>Masse (Ground)</a:t>
            </a:r>
            <a:endParaRPr lang="de-DE" sz="1200">
              <a:solidFill>
                <a:schemeClr val="bg1"/>
              </a:solidFill>
            </a:endParaRPr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5141325" y="5545156"/>
            <a:ext cx="278564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>
                <a:hlinkClick r:id="rId4"/>
              </a:rPr>
              <a:t>https://</a:t>
            </a:r>
            <a:r>
              <a:rPr lang="de-DE" sz="800" smtClean="0">
                <a:hlinkClick r:id="rId4"/>
              </a:rPr>
              <a:t>www.startpage.com/av/proxy-image?piurl=https%3A%2F%2Ftse4.mm.bing.net%2Fth%2Fid%2FOIP.GV4hSS9xJ1fpoy_J89zCvwHaFW%3Fpid%3DApi&amp;sp=1768308471T9a52e8848aad3a741cd4834280859d74f16e8902e7816397e6963256a4f58cd9</a:t>
            </a:r>
            <a:r>
              <a:rPr lang="de-DE" sz="800" smtClean="0"/>
              <a:t> </a:t>
            </a:r>
            <a:endParaRPr lang="de-DE" sz="800" dirty="0"/>
          </a:p>
        </p:txBody>
      </p:sp>
      <p:pic>
        <p:nvPicPr>
          <p:cNvPr id="56" name="Grafik 5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94190" y="5577863"/>
            <a:ext cx="1368000" cy="610338"/>
          </a:xfrm>
          <a:prstGeom prst="rect">
            <a:avLst/>
          </a:prstGeom>
        </p:spPr>
      </p:pic>
      <p:pic>
        <p:nvPicPr>
          <p:cNvPr id="57" name="Grafik 5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7550" y="5586255"/>
            <a:ext cx="1368000" cy="624634"/>
          </a:xfrm>
          <a:prstGeom prst="rect">
            <a:avLst/>
          </a:prstGeom>
        </p:spPr>
      </p:pic>
      <p:pic>
        <p:nvPicPr>
          <p:cNvPr id="58" name="Grafik 5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95710" y="5892298"/>
            <a:ext cx="1368000" cy="306347"/>
          </a:xfrm>
          <a:prstGeom prst="rect">
            <a:avLst/>
          </a:prstGeom>
        </p:spPr>
      </p:pic>
      <p:pic>
        <p:nvPicPr>
          <p:cNvPr id="59" name="Grafik 58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54243" y="3224153"/>
            <a:ext cx="1363798" cy="2650400"/>
          </a:xfrm>
          <a:prstGeom prst="rect">
            <a:avLst/>
          </a:prstGeom>
        </p:spPr>
      </p:pic>
      <p:pic>
        <p:nvPicPr>
          <p:cNvPr id="60" name="Grafik 5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54243" y="5881854"/>
            <a:ext cx="1368000" cy="306347"/>
          </a:xfrm>
          <a:prstGeom prst="rect">
            <a:avLst/>
          </a:prstGeom>
        </p:spPr>
      </p:pic>
      <p:pic>
        <p:nvPicPr>
          <p:cNvPr id="18" name="Grafik 1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7550" y="983447"/>
            <a:ext cx="1852930" cy="2555766"/>
          </a:xfrm>
          <a:prstGeom prst="rect">
            <a:avLst/>
          </a:prstGeom>
        </p:spPr>
      </p:pic>
      <p:sp>
        <p:nvSpPr>
          <p:cNvPr id="15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</p:spTree>
    <p:extLst>
      <p:ext uri="{BB962C8B-B14F-4D97-AF65-F5344CB8AC3E}">
        <p14:creationId xmlns:p14="http://schemas.microsoft.com/office/powerpoint/2010/main" val="108443992"/>
      </p:ext>
    </p:extLst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Wie ist Arduino IDE aufgebaut</a:t>
            </a:r>
            <a:r>
              <a:rPr lang="de-DE" b="1" smtClean="0">
                <a:sym typeface="Wingdings" panose="05000000000000000000" pitchFamily="2" charset="2"/>
              </a:rPr>
              <a:t>? </a:t>
            </a:r>
            <a:endParaRPr lang="de-DE" b="1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3869C99-C634-47CD-B208-CB16ACE119EE}" type="slidenum">
              <a:rPr lang="de-DE" smtClean="0"/>
              <a:pPr/>
              <a:t>7</a:t>
            </a:fld>
            <a:endParaRPr lang="de-DE"/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B79AE577-67CB-4F5A-E660-A330CE577B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19525" y="1505247"/>
            <a:ext cx="6092924" cy="4534631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14" name="Textfeld 13"/>
          <p:cNvSpPr txBox="1"/>
          <p:nvPr/>
        </p:nvSpPr>
        <p:spPr>
          <a:xfrm>
            <a:off x="706369" y="1888890"/>
            <a:ext cx="2031307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de-DE" sz="1200" smtClean="0"/>
              <a:t>_________ </a:t>
            </a:r>
            <a:r>
              <a:rPr lang="de-DE" sz="1200" dirty="0" smtClean="0"/>
              <a:t>(Check-Button)</a:t>
            </a:r>
            <a:endParaRPr lang="de-DE" sz="1200" dirty="0"/>
          </a:p>
        </p:txBody>
      </p:sp>
      <p:sp>
        <p:nvSpPr>
          <p:cNvPr id="15" name="Textfeld 14"/>
          <p:cNvSpPr txBox="1"/>
          <p:nvPr/>
        </p:nvSpPr>
        <p:spPr>
          <a:xfrm>
            <a:off x="706368" y="2402012"/>
            <a:ext cx="1996519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de-DE" sz="1200" smtClean="0"/>
              <a:t>_________ </a:t>
            </a:r>
            <a:r>
              <a:rPr lang="de-DE" sz="1200" dirty="0" smtClean="0"/>
              <a:t>(Flash-Button)</a:t>
            </a:r>
            <a:endParaRPr lang="de-DE" sz="1200" dirty="0"/>
          </a:p>
        </p:txBody>
      </p:sp>
      <p:sp>
        <p:nvSpPr>
          <p:cNvPr id="16" name="Textfeld 15"/>
          <p:cNvSpPr txBox="1"/>
          <p:nvPr/>
        </p:nvSpPr>
        <p:spPr>
          <a:xfrm>
            <a:off x="9783116" y="4238963"/>
            <a:ext cx="1277852" cy="46166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de-DE" sz="1200" dirty="0" smtClean="0"/>
              <a:t>Ausgabe </a:t>
            </a:r>
          </a:p>
          <a:p>
            <a:r>
              <a:rPr lang="de-DE" sz="1200" dirty="0" smtClean="0"/>
              <a:t>(Serial-Monitor)</a:t>
            </a:r>
            <a:endParaRPr lang="de-DE" sz="1200" dirty="0"/>
          </a:p>
        </p:txBody>
      </p:sp>
      <p:sp>
        <p:nvSpPr>
          <p:cNvPr id="18" name="Textfeld 17"/>
          <p:cNvSpPr txBox="1"/>
          <p:nvPr/>
        </p:nvSpPr>
        <p:spPr>
          <a:xfrm>
            <a:off x="3215481" y="1052372"/>
            <a:ext cx="4040664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de-DE" sz="1200" smtClean="0">
                <a:sym typeface="Wingdings" panose="05000000000000000000" pitchFamily="2" charset="2"/>
              </a:rPr>
              <a:t> _____- (z.B. ESP32) und ____-Auswahl (z.B. COM5)</a:t>
            </a:r>
            <a:endParaRPr lang="de-DE" sz="1200" dirty="0"/>
          </a:p>
        </p:txBody>
      </p:sp>
      <p:sp>
        <p:nvSpPr>
          <p:cNvPr id="19" name="Textfeld 18"/>
          <p:cNvSpPr txBox="1"/>
          <p:nvPr/>
        </p:nvSpPr>
        <p:spPr>
          <a:xfrm>
            <a:off x="717550" y="3042653"/>
            <a:ext cx="1649730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de-DE" sz="1200" dirty="0" err="1" smtClean="0"/>
              <a:t>Bibliothekenmanager</a:t>
            </a:r>
            <a:endParaRPr lang="de-DE" sz="1200" dirty="0"/>
          </a:p>
        </p:txBody>
      </p:sp>
      <p:sp>
        <p:nvSpPr>
          <p:cNvPr id="20" name="Textfeld 19"/>
          <p:cNvSpPr txBox="1"/>
          <p:nvPr/>
        </p:nvSpPr>
        <p:spPr>
          <a:xfrm>
            <a:off x="717550" y="3857314"/>
            <a:ext cx="691208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de-DE" sz="1200" smtClean="0"/>
              <a:t>_____</a:t>
            </a:r>
            <a:endParaRPr lang="de-DE" sz="1200" dirty="0"/>
          </a:p>
        </p:txBody>
      </p:sp>
      <p:sp>
        <p:nvSpPr>
          <p:cNvPr id="21" name="Textfeld 20"/>
          <p:cNvSpPr txBox="1"/>
          <p:nvPr/>
        </p:nvSpPr>
        <p:spPr>
          <a:xfrm>
            <a:off x="717551" y="994158"/>
            <a:ext cx="2320290" cy="46166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de-DE" sz="1200" smtClean="0"/>
              <a:t>File-Manager (</a:t>
            </a:r>
            <a:r>
              <a:rPr lang="de-DE" sz="1200" dirty="0" smtClean="0"/>
              <a:t>eigene </a:t>
            </a:r>
            <a:r>
              <a:rPr lang="de-DE" sz="1200" dirty="0"/>
              <a:t>S</a:t>
            </a:r>
            <a:r>
              <a:rPr lang="de-DE" sz="1200" dirty="0" smtClean="0"/>
              <a:t>kripte, aber auch </a:t>
            </a:r>
            <a:r>
              <a:rPr lang="de-DE" sz="1200" dirty="0"/>
              <a:t>B</a:t>
            </a:r>
            <a:r>
              <a:rPr lang="de-DE" sz="1200" dirty="0" smtClean="0"/>
              <a:t>eispielskripte)</a:t>
            </a:r>
            <a:endParaRPr lang="de-DE" sz="1200" dirty="0"/>
          </a:p>
        </p:txBody>
      </p:sp>
      <p:sp>
        <p:nvSpPr>
          <p:cNvPr id="22" name="Rechteck 21"/>
          <p:cNvSpPr/>
          <p:nvPr/>
        </p:nvSpPr>
        <p:spPr>
          <a:xfrm>
            <a:off x="3564659" y="2401947"/>
            <a:ext cx="5662882" cy="2025710"/>
          </a:xfrm>
          <a:prstGeom prst="rect">
            <a:avLst/>
          </a:prstGeom>
          <a:noFill/>
          <a:ln w="22225">
            <a:solidFill>
              <a:schemeClr val="accent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3" name="Gerade Verbindung mit Pfeil 22"/>
          <p:cNvCxnSpPr>
            <a:stCxn id="17" idx="1"/>
            <a:endCxn id="13" idx="3"/>
          </p:cNvCxnSpPr>
          <p:nvPr/>
        </p:nvCxnSpPr>
        <p:spPr>
          <a:xfrm flipH="1" flipV="1">
            <a:off x="9312449" y="3772563"/>
            <a:ext cx="511201" cy="2579"/>
          </a:xfrm>
          <a:prstGeom prst="straightConnector1">
            <a:avLst/>
          </a:prstGeom>
          <a:ln w="2222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hteck 23"/>
          <p:cNvSpPr/>
          <p:nvPr/>
        </p:nvSpPr>
        <p:spPr>
          <a:xfrm>
            <a:off x="3275548" y="1907392"/>
            <a:ext cx="251560" cy="261069"/>
          </a:xfrm>
          <a:prstGeom prst="rect">
            <a:avLst/>
          </a:prstGeom>
          <a:noFill/>
          <a:ln w="22225">
            <a:solidFill>
              <a:schemeClr val="accent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Rechteck 24"/>
          <p:cNvSpPr/>
          <p:nvPr/>
        </p:nvSpPr>
        <p:spPr>
          <a:xfrm>
            <a:off x="3564659" y="1908375"/>
            <a:ext cx="251560" cy="261069"/>
          </a:xfrm>
          <a:prstGeom prst="rect">
            <a:avLst/>
          </a:prstGeom>
          <a:noFill/>
          <a:ln w="22225">
            <a:solidFill>
              <a:schemeClr val="accent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Rechteck 25"/>
          <p:cNvSpPr/>
          <p:nvPr/>
        </p:nvSpPr>
        <p:spPr>
          <a:xfrm>
            <a:off x="3266312" y="3052813"/>
            <a:ext cx="251560" cy="261069"/>
          </a:xfrm>
          <a:prstGeom prst="rect">
            <a:avLst/>
          </a:prstGeom>
          <a:noFill/>
          <a:ln w="22225">
            <a:solidFill>
              <a:schemeClr val="accent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Rechteck 26"/>
          <p:cNvSpPr/>
          <p:nvPr/>
        </p:nvSpPr>
        <p:spPr>
          <a:xfrm>
            <a:off x="3275548" y="3859322"/>
            <a:ext cx="251560" cy="261069"/>
          </a:xfrm>
          <a:prstGeom prst="rect">
            <a:avLst/>
          </a:prstGeom>
          <a:noFill/>
          <a:ln w="22225">
            <a:solidFill>
              <a:schemeClr val="accent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Rechteck 27"/>
          <p:cNvSpPr/>
          <p:nvPr/>
        </p:nvSpPr>
        <p:spPr>
          <a:xfrm>
            <a:off x="3238435" y="1737459"/>
            <a:ext cx="252000" cy="108000"/>
          </a:xfrm>
          <a:prstGeom prst="rect">
            <a:avLst/>
          </a:prstGeom>
          <a:noFill/>
          <a:ln w="22225">
            <a:solidFill>
              <a:schemeClr val="accent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 28"/>
          <p:cNvSpPr/>
          <p:nvPr/>
        </p:nvSpPr>
        <p:spPr>
          <a:xfrm>
            <a:off x="4466324" y="1728643"/>
            <a:ext cx="484779" cy="144000"/>
          </a:xfrm>
          <a:prstGeom prst="rect">
            <a:avLst/>
          </a:prstGeom>
          <a:noFill/>
          <a:ln w="22225">
            <a:solidFill>
              <a:schemeClr val="accent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" name="Rechteck 29"/>
          <p:cNvSpPr/>
          <p:nvPr/>
        </p:nvSpPr>
        <p:spPr>
          <a:xfrm>
            <a:off x="8980977" y="1924444"/>
            <a:ext cx="246564" cy="224680"/>
          </a:xfrm>
          <a:prstGeom prst="rect">
            <a:avLst/>
          </a:prstGeom>
          <a:noFill/>
          <a:ln w="22225">
            <a:solidFill>
              <a:schemeClr val="accent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1" name="Gerade Verbindung mit Pfeil 30"/>
          <p:cNvCxnSpPr>
            <a:stCxn id="20" idx="3"/>
            <a:endCxn id="27" idx="1"/>
          </p:cNvCxnSpPr>
          <p:nvPr/>
        </p:nvCxnSpPr>
        <p:spPr>
          <a:xfrm flipV="1">
            <a:off x="1408758" y="3989857"/>
            <a:ext cx="1866790" cy="5957"/>
          </a:xfrm>
          <a:prstGeom prst="straightConnector1">
            <a:avLst/>
          </a:prstGeom>
          <a:ln w="2222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/>
          <p:cNvCxnSpPr>
            <a:stCxn id="19" idx="3"/>
            <a:endCxn id="26" idx="1"/>
          </p:cNvCxnSpPr>
          <p:nvPr/>
        </p:nvCxnSpPr>
        <p:spPr>
          <a:xfrm>
            <a:off x="2367280" y="3181153"/>
            <a:ext cx="899032" cy="2195"/>
          </a:xfrm>
          <a:prstGeom prst="straightConnector1">
            <a:avLst/>
          </a:prstGeom>
          <a:ln w="2222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Gerade Verbindung mit Pfeil 32"/>
          <p:cNvCxnSpPr>
            <a:stCxn id="15" idx="3"/>
            <a:endCxn id="25" idx="2"/>
          </p:cNvCxnSpPr>
          <p:nvPr/>
        </p:nvCxnSpPr>
        <p:spPr>
          <a:xfrm flipV="1">
            <a:off x="2702887" y="2169444"/>
            <a:ext cx="987552" cy="371068"/>
          </a:xfrm>
          <a:prstGeom prst="straightConnector1">
            <a:avLst/>
          </a:prstGeom>
          <a:ln w="2222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Gerade Verbindung mit Pfeil 33"/>
          <p:cNvCxnSpPr>
            <a:stCxn id="14" idx="3"/>
            <a:endCxn id="24" idx="1"/>
          </p:cNvCxnSpPr>
          <p:nvPr/>
        </p:nvCxnSpPr>
        <p:spPr>
          <a:xfrm>
            <a:off x="2737676" y="2027390"/>
            <a:ext cx="537872" cy="10537"/>
          </a:xfrm>
          <a:prstGeom prst="straightConnector1">
            <a:avLst/>
          </a:prstGeom>
          <a:ln w="2222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Gerade Verbindung mit Pfeil 34"/>
          <p:cNvCxnSpPr>
            <a:stCxn id="21" idx="2"/>
            <a:endCxn id="28" idx="0"/>
          </p:cNvCxnSpPr>
          <p:nvPr/>
        </p:nvCxnSpPr>
        <p:spPr>
          <a:xfrm>
            <a:off x="1877696" y="1455823"/>
            <a:ext cx="1486739" cy="281636"/>
          </a:xfrm>
          <a:prstGeom prst="straightConnector1">
            <a:avLst/>
          </a:prstGeom>
          <a:ln w="2222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/>
          <p:cNvCxnSpPr>
            <a:stCxn id="18" idx="2"/>
            <a:endCxn id="29" idx="0"/>
          </p:cNvCxnSpPr>
          <p:nvPr/>
        </p:nvCxnSpPr>
        <p:spPr>
          <a:xfrm flipH="1">
            <a:off x="4708714" y="1329371"/>
            <a:ext cx="527099" cy="399272"/>
          </a:xfrm>
          <a:prstGeom prst="straightConnector1">
            <a:avLst/>
          </a:prstGeom>
          <a:ln w="2222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Gerade Verbindung mit Pfeil 36"/>
          <p:cNvCxnSpPr>
            <a:stCxn id="16" idx="0"/>
            <a:endCxn id="30" idx="3"/>
          </p:cNvCxnSpPr>
          <p:nvPr/>
        </p:nvCxnSpPr>
        <p:spPr>
          <a:xfrm flipH="1" flipV="1">
            <a:off x="9227541" y="2036784"/>
            <a:ext cx="1194501" cy="2202179"/>
          </a:xfrm>
          <a:prstGeom prst="straightConnector1">
            <a:avLst/>
          </a:prstGeom>
          <a:ln w="2222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hteck 37"/>
          <p:cNvSpPr/>
          <p:nvPr/>
        </p:nvSpPr>
        <p:spPr>
          <a:xfrm>
            <a:off x="3564659" y="4695068"/>
            <a:ext cx="5662882" cy="1175412"/>
          </a:xfrm>
          <a:prstGeom prst="rect">
            <a:avLst/>
          </a:prstGeom>
          <a:noFill/>
          <a:ln w="22225">
            <a:solidFill>
              <a:schemeClr val="accent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9" name="Gerade Verbindung mit Pfeil 38"/>
          <p:cNvCxnSpPr>
            <a:stCxn id="16" idx="2"/>
            <a:endCxn id="38" idx="3"/>
          </p:cNvCxnSpPr>
          <p:nvPr/>
        </p:nvCxnSpPr>
        <p:spPr>
          <a:xfrm flipH="1">
            <a:off x="9227541" y="4700628"/>
            <a:ext cx="1194501" cy="582146"/>
          </a:xfrm>
          <a:prstGeom prst="straightConnector1">
            <a:avLst/>
          </a:prstGeom>
          <a:ln w="2222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feld 16"/>
          <p:cNvSpPr txBox="1"/>
          <p:nvPr/>
        </p:nvSpPr>
        <p:spPr>
          <a:xfrm>
            <a:off x="9823650" y="3544309"/>
            <a:ext cx="1623405" cy="46166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de-DE" sz="1200" dirty="0" smtClean="0"/>
              <a:t>Codefenster (Editorbereich)</a:t>
            </a:r>
            <a:endParaRPr lang="de-DE" sz="1200" dirty="0"/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3219525" y="6030169"/>
            <a:ext cx="5425440" cy="21544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 smtClean="0"/>
              <a:t>intern</a:t>
            </a:r>
            <a:endParaRPr lang="de-DE" sz="800" dirty="0"/>
          </a:p>
        </p:txBody>
      </p:sp>
      <p:sp>
        <p:nvSpPr>
          <p:cNvPr id="40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</p:spTree>
    <p:extLst>
      <p:ext uri="{BB962C8B-B14F-4D97-AF65-F5344CB8AC3E}">
        <p14:creationId xmlns:p14="http://schemas.microsoft.com/office/powerpoint/2010/main" val="3645035091"/>
      </p:ext>
    </p:extLst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Wie ist Arduino IDE aufgebaut</a:t>
            </a:r>
            <a:r>
              <a:rPr lang="de-DE" b="1" smtClean="0">
                <a:sym typeface="Wingdings" panose="05000000000000000000" pitchFamily="2" charset="2"/>
              </a:rPr>
              <a:t>?  Lösung </a:t>
            </a:r>
            <a:endParaRPr lang="de-DE" b="1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3869C99-C634-47CD-B208-CB16ACE119EE}" type="slidenum">
              <a:rPr lang="de-DE" smtClean="0"/>
              <a:pPr/>
              <a:t>8</a:t>
            </a:fld>
            <a:endParaRPr lang="de-DE"/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B79AE577-67CB-4F5A-E660-A330CE577B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19525" y="1505247"/>
            <a:ext cx="6092924" cy="4534631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14" name="Textfeld 13"/>
          <p:cNvSpPr txBox="1"/>
          <p:nvPr/>
        </p:nvSpPr>
        <p:spPr>
          <a:xfrm>
            <a:off x="706369" y="1888890"/>
            <a:ext cx="2031307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de-DE" sz="1200" smtClean="0"/>
              <a:t>Überprüfen </a:t>
            </a:r>
            <a:r>
              <a:rPr lang="de-DE" sz="1200" dirty="0" smtClean="0"/>
              <a:t>(Check-Button)</a:t>
            </a:r>
            <a:endParaRPr lang="de-DE" sz="1200" dirty="0"/>
          </a:p>
        </p:txBody>
      </p:sp>
      <p:sp>
        <p:nvSpPr>
          <p:cNvPr id="15" name="Textfeld 14"/>
          <p:cNvSpPr txBox="1"/>
          <p:nvPr/>
        </p:nvSpPr>
        <p:spPr>
          <a:xfrm>
            <a:off x="706368" y="2402012"/>
            <a:ext cx="1996519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de-DE" sz="1200" smtClean="0"/>
              <a:t>Hochladen </a:t>
            </a:r>
            <a:r>
              <a:rPr lang="de-DE" sz="1200" dirty="0" smtClean="0"/>
              <a:t>(Flash-Button)</a:t>
            </a:r>
            <a:endParaRPr lang="de-DE" sz="1200" dirty="0"/>
          </a:p>
        </p:txBody>
      </p:sp>
      <p:sp>
        <p:nvSpPr>
          <p:cNvPr id="16" name="Textfeld 15"/>
          <p:cNvSpPr txBox="1"/>
          <p:nvPr/>
        </p:nvSpPr>
        <p:spPr>
          <a:xfrm>
            <a:off x="9783116" y="4238963"/>
            <a:ext cx="1277852" cy="46166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de-DE" sz="1200" dirty="0" smtClean="0"/>
              <a:t>Ausgabe </a:t>
            </a:r>
          </a:p>
          <a:p>
            <a:r>
              <a:rPr lang="de-DE" sz="1200" dirty="0" smtClean="0"/>
              <a:t>(Serial-Monitor)</a:t>
            </a:r>
            <a:endParaRPr lang="de-DE" sz="1200" dirty="0"/>
          </a:p>
        </p:txBody>
      </p:sp>
      <p:sp>
        <p:nvSpPr>
          <p:cNvPr id="18" name="Textfeld 17"/>
          <p:cNvSpPr txBox="1"/>
          <p:nvPr/>
        </p:nvSpPr>
        <p:spPr>
          <a:xfrm>
            <a:off x="3215481" y="1052372"/>
            <a:ext cx="4040664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de-DE" sz="1200" smtClean="0">
                <a:sym typeface="Wingdings" panose="05000000000000000000" pitchFamily="2" charset="2"/>
              </a:rPr>
              <a:t> Board- (z.B. ESP32) und Port-Auswahl (z.B. COM5)</a:t>
            </a:r>
            <a:endParaRPr lang="de-DE" sz="1200" dirty="0"/>
          </a:p>
        </p:txBody>
      </p:sp>
      <p:sp>
        <p:nvSpPr>
          <p:cNvPr id="19" name="Textfeld 18"/>
          <p:cNvSpPr txBox="1"/>
          <p:nvPr/>
        </p:nvSpPr>
        <p:spPr>
          <a:xfrm>
            <a:off x="717550" y="3042653"/>
            <a:ext cx="1649730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de-DE" sz="1200" dirty="0" err="1" smtClean="0"/>
              <a:t>Bibliothekenmanager</a:t>
            </a:r>
            <a:endParaRPr lang="de-DE" sz="1200" dirty="0"/>
          </a:p>
        </p:txBody>
      </p:sp>
      <p:sp>
        <p:nvSpPr>
          <p:cNvPr id="20" name="Textfeld 19"/>
          <p:cNvSpPr txBox="1"/>
          <p:nvPr/>
        </p:nvSpPr>
        <p:spPr>
          <a:xfrm>
            <a:off x="717550" y="3857314"/>
            <a:ext cx="653657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de-DE" sz="1200" smtClean="0"/>
              <a:t>Suche</a:t>
            </a:r>
            <a:endParaRPr lang="de-DE" sz="1200" dirty="0"/>
          </a:p>
        </p:txBody>
      </p:sp>
      <p:sp>
        <p:nvSpPr>
          <p:cNvPr id="21" name="Textfeld 20"/>
          <p:cNvSpPr txBox="1"/>
          <p:nvPr/>
        </p:nvSpPr>
        <p:spPr>
          <a:xfrm>
            <a:off x="717551" y="994158"/>
            <a:ext cx="2320290" cy="46166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de-DE" sz="1200" smtClean="0"/>
              <a:t>File-Manager (</a:t>
            </a:r>
            <a:r>
              <a:rPr lang="de-DE" sz="1200" dirty="0" smtClean="0"/>
              <a:t>eigene </a:t>
            </a:r>
            <a:r>
              <a:rPr lang="de-DE" sz="1200" dirty="0"/>
              <a:t>S</a:t>
            </a:r>
            <a:r>
              <a:rPr lang="de-DE" sz="1200" dirty="0" smtClean="0"/>
              <a:t>kripte, aber auch </a:t>
            </a:r>
            <a:r>
              <a:rPr lang="de-DE" sz="1200" dirty="0"/>
              <a:t>B</a:t>
            </a:r>
            <a:r>
              <a:rPr lang="de-DE" sz="1200" dirty="0" smtClean="0"/>
              <a:t>eispielskripte)</a:t>
            </a:r>
            <a:endParaRPr lang="de-DE" sz="1200" dirty="0"/>
          </a:p>
        </p:txBody>
      </p:sp>
      <p:sp>
        <p:nvSpPr>
          <p:cNvPr id="22" name="Rechteck 21"/>
          <p:cNvSpPr/>
          <p:nvPr/>
        </p:nvSpPr>
        <p:spPr>
          <a:xfrm>
            <a:off x="3564659" y="2401947"/>
            <a:ext cx="5662882" cy="2025710"/>
          </a:xfrm>
          <a:prstGeom prst="rect">
            <a:avLst/>
          </a:prstGeom>
          <a:noFill/>
          <a:ln w="22225">
            <a:solidFill>
              <a:schemeClr val="accent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3" name="Gerade Verbindung mit Pfeil 22"/>
          <p:cNvCxnSpPr>
            <a:stCxn id="17" idx="1"/>
            <a:endCxn id="13" idx="3"/>
          </p:cNvCxnSpPr>
          <p:nvPr/>
        </p:nvCxnSpPr>
        <p:spPr>
          <a:xfrm flipH="1" flipV="1">
            <a:off x="9312449" y="3772563"/>
            <a:ext cx="511201" cy="2579"/>
          </a:xfrm>
          <a:prstGeom prst="straightConnector1">
            <a:avLst/>
          </a:prstGeom>
          <a:ln w="2222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hteck 23"/>
          <p:cNvSpPr/>
          <p:nvPr/>
        </p:nvSpPr>
        <p:spPr>
          <a:xfrm>
            <a:off x="3275548" y="1907392"/>
            <a:ext cx="251560" cy="261069"/>
          </a:xfrm>
          <a:prstGeom prst="rect">
            <a:avLst/>
          </a:prstGeom>
          <a:noFill/>
          <a:ln w="22225">
            <a:solidFill>
              <a:schemeClr val="accent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Rechteck 24"/>
          <p:cNvSpPr/>
          <p:nvPr/>
        </p:nvSpPr>
        <p:spPr>
          <a:xfrm>
            <a:off x="3564659" y="1908375"/>
            <a:ext cx="251560" cy="261069"/>
          </a:xfrm>
          <a:prstGeom prst="rect">
            <a:avLst/>
          </a:prstGeom>
          <a:noFill/>
          <a:ln w="22225">
            <a:solidFill>
              <a:schemeClr val="accent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Rechteck 25"/>
          <p:cNvSpPr/>
          <p:nvPr/>
        </p:nvSpPr>
        <p:spPr>
          <a:xfrm>
            <a:off x="3266312" y="3052813"/>
            <a:ext cx="251560" cy="261069"/>
          </a:xfrm>
          <a:prstGeom prst="rect">
            <a:avLst/>
          </a:prstGeom>
          <a:noFill/>
          <a:ln w="22225">
            <a:solidFill>
              <a:schemeClr val="accent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Rechteck 26"/>
          <p:cNvSpPr/>
          <p:nvPr/>
        </p:nvSpPr>
        <p:spPr>
          <a:xfrm>
            <a:off x="3275548" y="3859322"/>
            <a:ext cx="251560" cy="261069"/>
          </a:xfrm>
          <a:prstGeom prst="rect">
            <a:avLst/>
          </a:prstGeom>
          <a:noFill/>
          <a:ln w="22225">
            <a:solidFill>
              <a:schemeClr val="accent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Rechteck 27"/>
          <p:cNvSpPr/>
          <p:nvPr/>
        </p:nvSpPr>
        <p:spPr>
          <a:xfrm>
            <a:off x="3238435" y="1737459"/>
            <a:ext cx="252000" cy="108000"/>
          </a:xfrm>
          <a:prstGeom prst="rect">
            <a:avLst/>
          </a:prstGeom>
          <a:noFill/>
          <a:ln w="22225">
            <a:solidFill>
              <a:schemeClr val="accent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 28"/>
          <p:cNvSpPr/>
          <p:nvPr/>
        </p:nvSpPr>
        <p:spPr>
          <a:xfrm>
            <a:off x="4466324" y="1728643"/>
            <a:ext cx="484779" cy="144000"/>
          </a:xfrm>
          <a:prstGeom prst="rect">
            <a:avLst/>
          </a:prstGeom>
          <a:noFill/>
          <a:ln w="22225">
            <a:solidFill>
              <a:schemeClr val="accent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" name="Rechteck 29"/>
          <p:cNvSpPr/>
          <p:nvPr/>
        </p:nvSpPr>
        <p:spPr>
          <a:xfrm>
            <a:off x="8980977" y="1924444"/>
            <a:ext cx="246564" cy="224680"/>
          </a:xfrm>
          <a:prstGeom prst="rect">
            <a:avLst/>
          </a:prstGeom>
          <a:noFill/>
          <a:ln w="22225">
            <a:solidFill>
              <a:schemeClr val="accent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1" name="Gerade Verbindung mit Pfeil 30"/>
          <p:cNvCxnSpPr>
            <a:stCxn id="20" idx="3"/>
            <a:endCxn id="27" idx="1"/>
          </p:cNvCxnSpPr>
          <p:nvPr/>
        </p:nvCxnSpPr>
        <p:spPr>
          <a:xfrm flipV="1">
            <a:off x="1408758" y="3989857"/>
            <a:ext cx="1866790" cy="5957"/>
          </a:xfrm>
          <a:prstGeom prst="straightConnector1">
            <a:avLst/>
          </a:prstGeom>
          <a:ln w="2222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/>
          <p:cNvCxnSpPr>
            <a:stCxn id="19" idx="3"/>
            <a:endCxn id="26" idx="1"/>
          </p:cNvCxnSpPr>
          <p:nvPr/>
        </p:nvCxnSpPr>
        <p:spPr>
          <a:xfrm>
            <a:off x="2367280" y="3181153"/>
            <a:ext cx="899032" cy="2195"/>
          </a:xfrm>
          <a:prstGeom prst="straightConnector1">
            <a:avLst/>
          </a:prstGeom>
          <a:ln w="2222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Gerade Verbindung mit Pfeil 32"/>
          <p:cNvCxnSpPr>
            <a:stCxn id="15" idx="3"/>
            <a:endCxn id="25" idx="2"/>
          </p:cNvCxnSpPr>
          <p:nvPr/>
        </p:nvCxnSpPr>
        <p:spPr>
          <a:xfrm flipV="1">
            <a:off x="2702887" y="2169444"/>
            <a:ext cx="987552" cy="371068"/>
          </a:xfrm>
          <a:prstGeom prst="straightConnector1">
            <a:avLst/>
          </a:prstGeom>
          <a:ln w="2222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Gerade Verbindung mit Pfeil 33"/>
          <p:cNvCxnSpPr>
            <a:stCxn id="14" idx="3"/>
            <a:endCxn id="24" idx="1"/>
          </p:cNvCxnSpPr>
          <p:nvPr/>
        </p:nvCxnSpPr>
        <p:spPr>
          <a:xfrm>
            <a:off x="2737676" y="2027390"/>
            <a:ext cx="537872" cy="10537"/>
          </a:xfrm>
          <a:prstGeom prst="straightConnector1">
            <a:avLst/>
          </a:prstGeom>
          <a:ln w="2222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Gerade Verbindung mit Pfeil 34"/>
          <p:cNvCxnSpPr>
            <a:stCxn id="21" idx="2"/>
            <a:endCxn id="28" idx="0"/>
          </p:cNvCxnSpPr>
          <p:nvPr/>
        </p:nvCxnSpPr>
        <p:spPr>
          <a:xfrm>
            <a:off x="1877696" y="1455823"/>
            <a:ext cx="1486739" cy="281636"/>
          </a:xfrm>
          <a:prstGeom prst="straightConnector1">
            <a:avLst/>
          </a:prstGeom>
          <a:ln w="2222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/>
          <p:cNvCxnSpPr>
            <a:stCxn id="18" idx="2"/>
            <a:endCxn id="29" idx="0"/>
          </p:cNvCxnSpPr>
          <p:nvPr/>
        </p:nvCxnSpPr>
        <p:spPr>
          <a:xfrm flipH="1">
            <a:off x="4708714" y="1329371"/>
            <a:ext cx="527099" cy="399272"/>
          </a:xfrm>
          <a:prstGeom prst="straightConnector1">
            <a:avLst/>
          </a:prstGeom>
          <a:ln w="2222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Gerade Verbindung mit Pfeil 36"/>
          <p:cNvCxnSpPr>
            <a:stCxn id="16" idx="0"/>
            <a:endCxn id="30" idx="3"/>
          </p:cNvCxnSpPr>
          <p:nvPr/>
        </p:nvCxnSpPr>
        <p:spPr>
          <a:xfrm flipH="1" flipV="1">
            <a:off x="9227541" y="2036784"/>
            <a:ext cx="1194501" cy="2202179"/>
          </a:xfrm>
          <a:prstGeom prst="straightConnector1">
            <a:avLst/>
          </a:prstGeom>
          <a:ln w="2222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hteck 37"/>
          <p:cNvSpPr/>
          <p:nvPr/>
        </p:nvSpPr>
        <p:spPr>
          <a:xfrm>
            <a:off x="3564659" y="4695068"/>
            <a:ext cx="5662882" cy="1175412"/>
          </a:xfrm>
          <a:prstGeom prst="rect">
            <a:avLst/>
          </a:prstGeom>
          <a:noFill/>
          <a:ln w="22225">
            <a:solidFill>
              <a:schemeClr val="accent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9" name="Gerade Verbindung mit Pfeil 38"/>
          <p:cNvCxnSpPr>
            <a:stCxn id="16" idx="2"/>
            <a:endCxn id="38" idx="3"/>
          </p:cNvCxnSpPr>
          <p:nvPr/>
        </p:nvCxnSpPr>
        <p:spPr>
          <a:xfrm flipH="1">
            <a:off x="9227541" y="4700628"/>
            <a:ext cx="1194501" cy="582146"/>
          </a:xfrm>
          <a:prstGeom prst="straightConnector1">
            <a:avLst/>
          </a:prstGeom>
          <a:ln w="2222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feld 16"/>
          <p:cNvSpPr txBox="1"/>
          <p:nvPr/>
        </p:nvSpPr>
        <p:spPr>
          <a:xfrm>
            <a:off x="9823650" y="3544309"/>
            <a:ext cx="1623405" cy="46166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de-DE" sz="1200" dirty="0" smtClean="0"/>
              <a:t>Codefenster (Editorbereich)</a:t>
            </a:r>
            <a:endParaRPr lang="de-DE" sz="1200" dirty="0"/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3219525" y="6030169"/>
            <a:ext cx="542544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 smtClean="0"/>
              <a:t>intern</a:t>
            </a:r>
            <a:endParaRPr lang="de-DE" sz="800" dirty="0"/>
          </a:p>
        </p:txBody>
      </p:sp>
      <p:sp>
        <p:nvSpPr>
          <p:cNvPr id="40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</p:spTree>
    <p:extLst>
      <p:ext uri="{BB962C8B-B14F-4D97-AF65-F5344CB8AC3E}">
        <p14:creationId xmlns:p14="http://schemas.microsoft.com/office/powerpoint/2010/main" val="2649436743"/>
      </p:ext>
    </p:extLst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B54473F-290F-1C9D-42C9-3317CF9059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4596" y="0"/>
            <a:ext cx="5777403" cy="6858000"/>
          </a:xfrm>
        </p:spPr>
        <p:txBody>
          <a:bodyPr anchor="ctr">
            <a:normAutofit/>
          </a:bodyPr>
          <a:lstStyle/>
          <a:p>
            <a:r>
              <a:rPr lang="de-DE" sz="4800" b="1" smtClean="0"/>
              <a:t>Erste Schritte – Blinkbeispiel </a:t>
            </a:r>
            <a:endParaRPr lang="de-DE" sz="4800" b="1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82E2EBB-E035-44E5-E10B-431C8375D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9</a:t>
            </a:fld>
            <a:endParaRPr lang="de-DE" dirty="0"/>
          </a:p>
        </p:txBody>
      </p:sp>
      <p:pic>
        <p:nvPicPr>
          <p:cNvPr id="6" name="Grafik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2678" y="990600"/>
            <a:ext cx="4876800" cy="4876800"/>
          </a:xfrm>
          <a:prstGeom prst="rect">
            <a:avLst/>
          </a:prstGeom>
        </p:spPr>
      </p:pic>
      <p:sp>
        <p:nvSpPr>
          <p:cNvPr id="7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</p:spTree>
    <p:extLst>
      <p:ext uri="{BB962C8B-B14F-4D97-AF65-F5344CB8AC3E}">
        <p14:creationId xmlns:p14="http://schemas.microsoft.com/office/powerpoint/2010/main" val="409641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5000">
        <p:fade/>
      </p:transition>
    </mc:Choice>
    <mc:Fallback xmlns="">
      <p:transition spd="med" advTm="15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/>
          <p:cNvSpPr txBox="1"/>
          <p:nvPr/>
        </p:nvSpPr>
        <p:spPr>
          <a:xfrm>
            <a:off x="717551" y="890031"/>
            <a:ext cx="4315613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u="sng" smtClean="0"/>
              <a:t>Materialliste für einmalige Durchführung Blinkbeispiel Aufgabe 1/2/3:</a:t>
            </a:r>
          </a:p>
          <a:p>
            <a:endParaRPr lang="de-DE"/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de-DE" smtClean="0">
                <a:hlinkClick r:id="rId3"/>
              </a:rPr>
              <a:t>LED</a:t>
            </a:r>
            <a:r>
              <a:rPr lang="de-DE" smtClean="0"/>
              <a:t> x 1/2/5 </a:t>
            </a:r>
          </a:p>
          <a:p>
            <a:endParaRPr lang="de-DE" smtClean="0"/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de-DE" smtClean="0">
                <a:hlinkClick r:id="rId4"/>
              </a:rPr>
              <a:t>Bread-Board</a:t>
            </a:r>
            <a:r>
              <a:rPr lang="de-DE" smtClean="0"/>
              <a:t> x 1</a:t>
            </a:r>
          </a:p>
          <a:p>
            <a:pPr marL="285750" indent="-285750">
              <a:buFont typeface="Symbol" panose="05050102010706020507" pitchFamily="18" charset="2"/>
              <a:buChar char="-"/>
            </a:pPr>
            <a:endParaRPr lang="de-DE" smtClean="0"/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de-DE" smtClean="0">
                <a:hlinkClick r:id="rId5"/>
              </a:rPr>
              <a:t>Jumper-Kabel</a:t>
            </a:r>
            <a:r>
              <a:rPr lang="de-DE" smtClean="0"/>
              <a:t> (Male-Male)</a:t>
            </a:r>
          </a:p>
          <a:p>
            <a:r>
              <a:rPr lang="de-DE" smtClean="0"/>
              <a:t> </a:t>
            </a:r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de-DE" smtClean="0">
                <a:hlinkClick r:id="rId6"/>
              </a:rPr>
              <a:t>Mikrocontroller</a:t>
            </a:r>
            <a:r>
              <a:rPr lang="de-DE" smtClean="0"/>
              <a:t> (ESP32) x 1</a:t>
            </a:r>
          </a:p>
          <a:p>
            <a:endParaRPr lang="de-DE" smtClean="0"/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de-DE" smtClean="0">
                <a:hlinkClick r:id="rId7"/>
              </a:rPr>
              <a:t>Widerstand </a:t>
            </a:r>
            <a:r>
              <a:rPr lang="de-DE" smtClean="0"/>
              <a:t>220 Ohm x 1</a:t>
            </a:r>
          </a:p>
          <a:p>
            <a:endParaRPr lang="de-DE" smtClean="0"/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de-DE" smtClean="0"/>
              <a:t>Computer mit </a:t>
            </a:r>
            <a:r>
              <a:rPr lang="de-DE" smtClean="0">
                <a:hlinkClick r:id="rId8"/>
              </a:rPr>
              <a:t>Arduino IDE</a:t>
            </a:r>
            <a:endParaRPr lang="de-DE" smtClean="0"/>
          </a:p>
          <a:p>
            <a:pPr marL="285750" indent="-285750">
              <a:buFont typeface="Symbol" panose="05050102010706020507" pitchFamily="18" charset="2"/>
              <a:buChar char="-"/>
            </a:pPr>
            <a:endParaRPr lang="de-DE" smtClean="0"/>
          </a:p>
          <a:p>
            <a:pPr marL="285750" indent="-285750">
              <a:buFont typeface="Symbol" panose="05050102010706020507" pitchFamily="18" charset="2"/>
              <a:buChar char="-"/>
            </a:pPr>
            <a:r>
              <a:rPr lang="de-DE" smtClean="0"/>
              <a:t>USB-A zu USB-C Kabel</a:t>
            </a:r>
          </a:p>
          <a:p>
            <a:pPr marL="285750" indent="-285750">
              <a:buFont typeface="Symbol" panose="05050102010706020507" pitchFamily="18" charset="2"/>
              <a:buChar char="-"/>
            </a:pPr>
            <a:endParaRPr lang="de-DE" smtClean="0"/>
          </a:p>
        </p:txBody>
      </p:sp>
      <p:pic>
        <p:nvPicPr>
          <p:cNvPr id="2" name="Grafik 1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69680" y="4437602"/>
            <a:ext cx="2118370" cy="1256176"/>
          </a:xfrm>
          <a:prstGeom prst="rect">
            <a:avLst/>
          </a:prstGeom>
        </p:spPr>
      </p:pic>
      <p:pic>
        <p:nvPicPr>
          <p:cNvPr id="6" name="Grafik 5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51887" y="878674"/>
            <a:ext cx="647790" cy="600159"/>
          </a:xfrm>
          <a:prstGeom prst="rect">
            <a:avLst/>
          </a:prstGeom>
        </p:spPr>
      </p:pic>
      <p:pic>
        <p:nvPicPr>
          <p:cNvPr id="7" name="Grafik 6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47920" y="3749577"/>
            <a:ext cx="2077336" cy="1749589"/>
          </a:xfrm>
          <a:prstGeom prst="rect">
            <a:avLst/>
          </a:prstGeom>
        </p:spPr>
      </p:pic>
      <p:pic>
        <p:nvPicPr>
          <p:cNvPr id="8" name="Grafik 7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010187" y="16020"/>
            <a:ext cx="2570890" cy="2122753"/>
          </a:xfrm>
          <a:prstGeom prst="rect">
            <a:avLst/>
          </a:prstGeom>
        </p:spPr>
      </p:pic>
      <p:sp>
        <p:nvSpPr>
          <p:cNvPr id="4" name="Foliennummernplatzhalt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3869C99-C634-47CD-B208-CB16ACE119EE}" type="slidenum">
              <a:rPr lang="de-DE" smtClean="0"/>
              <a:pPr/>
              <a:t>10</a:t>
            </a:fld>
            <a:endParaRPr lang="de-DE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9010187" y="2152968"/>
            <a:ext cx="30201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>
                <a:hlinkClick r:id="rId13"/>
              </a:rPr>
              <a:t>https://asset.conrad.com/media10/isa/160267/c1/-/</a:t>
            </a:r>
            <a:r>
              <a:rPr lang="de-DE" sz="800" smtClean="0">
                <a:hlinkClick r:id="rId13"/>
              </a:rPr>
              <a:t>de/002885952PI00/image.jpg?x=1440&amp;y=1440&amp;format=jpg&amp;ex=1440&amp;ey=1440&amp;align=center</a:t>
            </a:r>
            <a:r>
              <a:rPr lang="de-DE" sz="800" smtClean="0"/>
              <a:t> </a:t>
            </a:r>
            <a:endParaRPr lang="de-DE" sz="800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4718327" y="5441517"/>
            <a:ext cx="37626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>
                <a:hlinkClick r:id="rId14"/>
              </a:rPr>
              <a:t>https://</a:t>
            </a:r>
            <a:r>
              <a:rPr lang="de-DE" sz="800" smtClean="0">
                <a:hlinkClick r:id="rId14"/>
              </a:rPr>
              <a:t>www.az-delivery.de/cdn/shop/products/jumper-wire-kabel-40-stk-je-20-cm-m2m-male-to-male-kompatibel-mit-arduino-und-raspberry-pi-breadboard-140806.jpg?v=1679398754&amp;width=1200</a:t>
            </a:r>
            <a:r>
              <a:rPr lang="de-DE" sz="800" smtClean="0"/>
              <a:t> </a:t>
            </a:r>
            <a:endParaRPr lang="de-DE" sz="800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7873421" y="4068470"/>
            <a:ext cx="25970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>
                <a:hlinkClick r:id="rId15"/>
              </a:rPr>
              <a:t>https://cdn-reichelt.de/bilder/web/artikel_ws/B400%2F%21WIDMET.jpg?type=Product</a:t>
            </a:r>
            <a:r>
              <a:rPr lang="de-DE" sz="800" smtClean="0">
                <a:hlinkClick r:id="rId15"/>
              </a:rPr>
              <a:t>&amp;</a:t>
            </a:r>
            <a:r>
              <a:rPr lang="de-DE" sz="800" smtClean="0"/>
              <a:t> </a:t>
            </a:r>
            <a:endParaRPr lang="de-DE" sz="800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8869680" y="5678443"/>
            <a:ext cx="2868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>
                <a:hlinkClick r:id="rId16"/>
              </a:rPr>
              <a:t>https://</a:t>
            </a:r>
            <a:r>
              <a:rPr lang="de-DE" sz="800" smtClean="0">
                <a:hlinkClick r:id="rId16"/>
              </a:rPr>
              <a:t>www.roboter-bausatz.de/media/image/d8/f3/0e/RBS18335_600x600.jpg</a:t>
            </a:r>
            <a:r>
              <a:rPr lang="de-DE" sz="800" smtClean="0"/>
              <a:t> </a:t>
            </a:r>
            <a:endParaRPr lang="de-DE" sz="800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5951888" y="1478833"/>
            <a:ext cx="24946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>
                <a:hlinkClick r:id="rId17"/>
              </a:rPr>
              <a:t>https://</a:t>
            </a:r>
            <a:r>
              <a:rPr lang="de-DE" sz="800" smtClean="0">
                <a:hlinkClick r:id="rId17"/>
              </a:rPr>
              <a:t>www.arduino.cc/wiki/static/arduino-app-76bd27c4ce7246825aceb8efe2871f7a.svg</a:t>
            </a:r>
            <a:r>
              <a:rPr lang="de-DE" sz="800" smtClean="0"/>
              <a:t> </a:t>
            </a:r>
            <a:endParaRPr lang="de-DE" sz="800"/>
          </a:p>
        </p:txBody>
      </p:sp>
      <p:pic>
        <p:nvPicPr>
          <p:cNvPr id="15362" name="Picture 2" descr="Widerstand, Metallschicht, 220 Ohm, 0207, 0,6 W, 1%"/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808" t="20154" b="19401"/>
          <a:stretch/>
        </p:blipFill>
        <p:spPr bwMode="auto">
          <a:xfrm>
            <a:off x="7876101" y="2853518"/>
            <a:ext cx="1535927" cy="1218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Grafik 10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227736" y="1921345"/>
            <a:ext cx="2022608" cy="1337532"/>
          </a:xfrm>
          <a:prstGeom prst="rect">
            <a:avLst/>
          </a:prstGeom>
        </p:spPr>
      </p:pic>
      <p:sp>
        <p:nvSpPr>
          <p:cNvPr id="19" name="Textfeld 18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4330010" y="3290695"/>
            <a:ext cx="33103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>
                <a:hlinkClick r:id="rId20"/>
              </a:rPr>
              <a:t>https://cdn-reichelt.de/resize/600%2F-/web/xxl_ws/D800%2FS036.png?type=ProductXxl&amp;resize=600%252F-</a:t>
            </a:r>
            <a:r>
              <a:rPr lang="de-DE" sz="800" smtClean="0">
                <a:hlinkClick r:id="rId20"/>
              </a:rPr>
              <a:t>&amp;</a:t>
            </a:r>
            <a:r>
              <a:rPr lang="de-DE" sz="800" smtClean="0"/>
              <a:t> </a:t>
            </a:r>
            <a:endParaRPr lang="de-DE" sz="800"/>
          </a:p>
        </p:txBody>
      </p:sp>
      <p:sp>
        <p:nvSpPr>
          <p:cNvPr id="18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</p:spTree>
    <p:extLst>
      <p:ext uri="{BB962C8B-B14F-4D97-AF65-F5344CB8AC3E}">
        <p14:creationId xmlns:p14="http://schemas.microsoft.com/office/powerpoint/2010/main" val="42309550"/>
      </p:ext>
    </p:extLst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Wie wird eine LED verschaltet (1)?</a:t>
            </a:r>
            <a:endParaRPr lang="de-DE" b="1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3869C99-C634-47CD-B208-CB16ACE119EE}" type="slidenum">
              <a:rPr lang="de-DE" smtClean="0"/>
              <a:pPr/>
              <a:t>11</a:t>
            </a:fld>
            <a:endParaRPr lang="de-DE"/>
          </a:p>
        </p:txBody>
      </p:sp>
      <p:sp>
        <p:nvSpPr>
          <p:cNvPr id="43" name="Textfeld 42"/>
          <p:cNvSpPr txBox="1"/>
          <p:nvPr/>
        </p:nvSpPr>
        <p:spPr>
          <a:xfrm>
            <a:off x="717548" y="4004416"/>
            <a:ext cx="10448292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smtClean="0"/>
              <a:t>Ohne Widerstand würde zu ____ Strom fließen, was die LED und den GPIO-Pin kaputt macht.</a:t>
            </a:r>
          </a:p>
          <a:p>
            <a:endParaRPr lang="de-DE" smtClean="0"/>
          </a:p>
          <a:p>
            <a:r>
              <a:rPr lang="de-DE" smtClean="0"/>
              <a:t>100 </a:t>
            </a:r>
            <a:r>
              <a:rPr lang="el-GR" smtClean="0"/>
              <a:t>Ω</a:t>
            </a:r>
            <a:r>
              <a:rPr lang="de-DE" smtClean="0"/>
              <a:t> 	</a:t>
            </a:r>
            <a:r>
              <a:rPr lang="de-DE" smtClean="0">
                <a:sym typeface="Wingdings" panose="05000000000000000000" pitchFamily="2" charset="2"/>
              </a:rPr>
              <a:t> 	sehr ____</a:t>
            </a:r>
          </a:p>
          <a:p>
            <a:r>
              <a:rPr lang="de-DE" smtClean="0">
                <a:sym typeface="Wingdings" panose="05000000000000000000" pitchFamily="2" charset="2"/>
              </a:rPr>
              <a:t>220 </a:t>
            </a:r>
            <a:r>
              <a:rPr lang="el-GR" smtClean="0"/>
              <a:t>Ω</a:t>
            </a:r>
            <a:r>
              <a:rPr lang="de-DE" smtClean="0"/>
              <a:t> 	</a:t>
            </a:r>
            <a:r>
              <a:rPr lang="de-DE" smtClean="0">
                <a:sym typeface="Wingdings" panose="05000000000000000000" pitchFamily="2" charset="2"/>
              </a:rPr>
              <a:t> 	optimal</a:t>
            </a:r>
          </a:p>
          <a:p>
            <a:r>
              <a:rPr lang="de-DE" smtClean="0">
                <a:sym typeface="Wingdings" panose="05000000000000000000" pitchFamily="2" charset="2"/>
              </a:rPr>
              <a:t>330 </a:t>
            </a:r>
            <a:r>
              <a:rPr lang="el-GR" smtClean="0"/>
              <a:t>Ω</a:t>
            </a:r>
            <a:r>
              <a:rPr lang="de-DE" smtClean="0"/>
              <a:t> 	</a:t>
            </a:r>
            <a:r>
              <a:rPr lang="de-DE" smtClean="0">
                <a:sym typeface="Wingdings" panose="05000000000000000000" pitchFamily="2" charset="2"/>
              </a:rPr>
              <a:t> 	etwas _______</a:t>
            </a:r>
          </a:p>
          <a:p>
            <a:r>
              <a:rPr lang="de-DE" smtClean="0">
                <a:sym typeface="Wingdings" panose="05000000000000000000" pitchFamily="2" charset="2"/>
              </a:rPr>
              <a:t>1 k</a:t>
            </a:r>
            <a:r>
              <a:rPr lang="el-GR"/>
              <a:t> </a:t>
            </a:r>
            <a:r>
              <a:rPr lang="el-GR" smtClean="0"/>
              <a:t>Ω</a:t>
            </a:r>
            <a:r>
              <a:rPr lang="de-DE" smtClean="0"/>
              <a:t> 	</a:t>
            </a:r>
            <a:r>
              <a:rPr lang="de-DE" smtClean="0">
                <a:sym typeface="Wingdings" panose="05000000000000000000" pitchFamily="2" charset="2"/>
              </a:rPr>
              <a:t> 	sehr ______</a:t>
            </a:r>
            <a:endParaRPr lang="de-DE"/>
          </a:p>
        </p:txBody>
      </p:sp>
      <p:sp>
        <p:nvSpPr>
          <p:cNvPr id="45" name="Textfeld 44"/>
          <p:cNvSpPr txBox="1"/>
          <p:nvPr/>
        </p:nvSpPr>
        <p:spPr>
          <a:xfrm>
            <a:off x="717549" y="1134383"/>
            <a:ext cx="107568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mtClean="0"/>
              <a:t>1. </a:t>
            </a:r>
            <a:r>
              <a:rPr lang="de-DE"/>
              <a:t>Ziel ist es, eine LED im Sekundentakt ein- und </a:t>
            </a:r>
            <a:r>
              <a:rPr lang="de-DE" smtClean="0"/>
              <a:t>auszuschalten.</a:t>
            </a:r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hteck 8"/>
              <p:cNvSpPr/>
              <p:nvPr/>
            </p:nvSpPr>
            <p:spPr>
              <a:xfrm>
                <a:off x="717549" y="2319140"/>
                <a:ext cx="6221731" cy="64633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de-DE" smtClean="0">
                    <a:solidFill>
                      <a:srgbClr val="FFC000"/>
                    </a:solidFill>
                  </a:rPr>
                  <a:t>GPIO-Pin</a:t>
                </a:r>
                <a:r>
                  <a:rPr lang="de-DE" smtClean="0"/>
                  <a:t> (z</a:t>
                </a:r>
                <a:r>
                  <a:rPr lang="de-DE"/>
                  <a:t>. B. </a:t>
                </a:r>
                <a:r>
                  <a:rPr lang="de-DE" smtClean="0"/>
                  <a:t>_____)  </a:t>
                </a:r>
                <a:r>
                  <a:rPr lang="de-DE"/>
                  <a:t>── </a:t>
                </a:r>
                <a:r>
                  <a:rPr lang="de-DE" smtClean="0">
                    <a:solidFill>
                      <a:schemeClr val="accent6"/>
                    </a:solidFill>
                  </a:rPr>
                  <a:t>[ Rfix ]</a:t>
                </a:r>
                <a:r>
                  <a:rPr lang="de-DE">
                    <a:solidFill>
                      <a:schemeClr val="accent6"/>
                    </a:solidFill>
                  </a:rPr>
                  <a:t> </a:t>
                </a:r>
                <a:r>
                  <a:rPr lang="de-DE" smtClean="0"/>
                  <a:t>── </a:t>
                </a:r>
                <a:r>
                  <a:rPr lang="de-DE" smtClean="0">
                    <a:solidFill>
                      <a:srgbClr val="00B050"/>
                    </a:solidFill>
                  </a:rPr>
                  <a:t>|&gt;|</a:t>
                </a:r>
                <a:r>
                  <a:rPr lang="de-DE" smtClean="0"/>
                  <a:t> ── GND</a:t>
                </a:r>
              </a:p>
              <a:p>
                <a:r>
                  <a:rPr lang="de-DE"/>
                  <a:t>	</a:t>
                </a:r>
                <a:r>
                  <a:rPr lang="de-DE" smtClean="0"/>
                  <a:t>				        (___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</a:rPr>
                      <m:t>Ω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mtClean="0"/>
                  <a:t>     ___</a:t>
                </a:r>
                <a:endParaRPr lang="de-DE"/>
              </a:p>
            </p:txBody>
          </p:sp>
        </mc:Choice>
        <mc:Fallback xmlns="">
          <p:sp>
            <p:nvSpPr>
              <p:cNvPr id="9" name="Rechteck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549" y="2319140"/>
                <a:ext cx="6221731" cy="646331"/>
              </a:xfrm>
              <a:prstGeom prst="rect">
                <a:avLst/>
              </a:prstGeom>
              <a:blipFill>
                <a:blip r:embed="rId3"/>
                <a:stretch>
                  <a:fillRect l="-882" t="-4717" b="-1415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  <p:pic>
        <p:nvPicPr>
          <p:cNvPr id="14" name="Grafik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48321" y="752400"/>
            <a:ext cx="3017519" cy="3017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6431356"/>
      </p:ext>
    </p:extLst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Wie wird eine LED verschaltet (1)? </a:t>
            </a:r>
            <a:r>
              <a:rPr lang="de-DE" b="1" smtClean="0">
                <a:sym typeface="Wingdings" panose="05000000000000000000" pitchFamily="2" charset="2"/>
              </a:rPr>
              <a:t> Lösung:</a:t>
            </a:r>
            <a:endParaRPr lang="de-DE" b="1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3869C99-C634-47CD-B208-CB16ACE119EE}" type="slidenum">
              <a:rPr lang="de-DE" smtClean="0"/>
              <a:pPr/>
              <a:t>12</a:t>
            </a:fld>
            <a:endParaRPr lang="de-DE"/>
          </a:p>
        </p:txBody>
      </p:sp>
      <p:sp>
        <p:nvSpPr>
          <p:cNvPr id="43" name="Textfeld 42"/>
          <p:cNvSpPr txBox="1"/>
          <p:nvPr/>
        </p:nvSpPr>
        <p:spPr>
          <a:xfrm>
            <a:off x="717549" y="4003200"/>
            <a:ext cx="10756899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smtClean="0"/>
              <a:t>Ohne Widerstand würde zu viel Strom fließen, was die LED und den GPIO-Pin kaputt macht.</a:t>
            </a:r>
          </a:p>
          <a:p>
            <a:endParaRPr lang="de-DE" smtClean="0"/>
          </a:p>
          <a:p>
            <a:r>
              <a:rPr lang="de-DE" smtClean="0"/>
              <a:t>100 </a:t>
            </a:r>
            <a:r>
              <a:rPr lang="el-GR" smtClean="0"/>
              <a:t>Ω</a:t>
            </a:r>
            <a:r>
              <a:rPr lang="de-DE" smtClean="0"/>
              <a:t> 	</a:t>
            </a:r>
            <a:r>
              <a:rPr lang="de-DE" smtClean="0">
                <a:sym typeface="Wingdings" panose="05000000000000000000" pitchFamily="2" charset="2"/>
              </a:rPr>
              <a:t> 	sehr hell</a:t>
            </a:r>
          </a:p>
          <a:p>
            <a:r>
              <a:rPr lang="de-DE" smtClean="0">
                <a:sym typeface="Wingdings" panose="05000000000000000000" pitchFamily="2" charset="2"/>
              </a:rPr>
              <a:t>220 </a:t>
            </a:r>
            <a:r>
              <a:rPr lang="el-GR" smtClean="0"/>
              <a:t>Ω</a:t>
            </a:r>
            <a:r>
              <a:rPr lang="de-DE" smtClean="0"/>
              <a:t> 	</a:t>
            </a:r>
            <a:r>
              <a:rPr lang="de-DE" smtClean="0">
                <a:sym typeface="Wingdings" panose="05000000000000000000" pitchFamily="2" charset="2"/>
              </a:rPr>
              <a:t> 	optimal</a:t>
            </a:r>
          </a:p>
          <a:p>
            <a:r>
              <a:rPr lang="de-DE" smtClean="0">
                <a:sym typeface="Wingdings" panose="05000000000000000000" pitchFamily="2" charset="2"/>
              </a:rPr>
              <a:t>330 </a:t>
            </a:r>
            <a:r>
              <a:rPr lang="el-GR" smtClean="0"/>
              <a:t>Ω</a:t>
            </a:r>
            <a:r>
              <a:rPr lang="de-DE" smtClean="0"/>
              <a:t> 	</a:t>
            </a:r>
            <a:r>
              <a:rPr lang="de-DE" smtClean="0">
                <a:sym typeface="Wingdings" panose="05000000000000000000" pitchFamily="2" charset="2"/>
              </a:rPr>
              <a:t> 	etwas dunkler</a:t>
            </a:r>
          </a:p>
          <a:p>
            <a:r>
              <a:rPr lang="de-DE" smtClean="0">
                <a:sym typeface="Wingdings" panose="05000000000000000000" pitchFamily="2" charset="2"/>
              </a:rPr>
              <a:t>1 k</a:t>
            </a:r>
            <a:r>
              <a:rPr lang="el-GR"/>
              <a:t> </a:t>
            </a:r>
            <a:r>
              <a:rPr lang="el-GR" smtClean="0"/>
              <a:t>Ω</a:t>
            </a:r>
            <a:r>
              <a:rPr lang="de-DE" smtClean="0"/>
              <a:t> 	</a:t>
            </a:r>
            <a:r>
              <a:rPr lang="de-DE" smtClean="0">
                <a:sym typeface="Wingdings" panose="05000000000000000000" pitchFamily="2" charset="2"/>
              </a:rPr>
              <a:t> 	sehr dunkel</a:t>
            </a:r>
            <a:endParaRPr lang="de-DE"/>
          </a:p>
        </p:txBody>
      </p:sp>
      <p:sp>
        <p:nvSpPr>
          <p:cNvPr id="45" name="Textfeld 44"/>
          <p:cNvSpPr txBox="1"/>
          <p:nvPr/>
        </p:nvSpPr>
        <p:spPr>
          <a:xfrm>
            <a:off x="717549" y="1134383"/>
            <a:ext cx="107568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mtClean="0"/>
              <a:t>1. </a:t>
            </a:r>
            <a:r>
              <a:rPr lang="de-DE"/>
              <a:t>Ziel ist es, eine LED im Sekundentakt ein- und </a:t>
            </a:r>
            <a:r>
              <a:rPr lang="de-DE" smtClean="0"/>
              <a:t>auszuschalten.</a:t>
            </a:r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hteck 8"/>
              <p:cNvSpPr/>
              <p:nvPr/>
            </p:nvSpPr>
            <p:spPr>
              <a:xfrm>
                <a:off x="717549" y="2319140"/>
                <a:ext cx="6221731" cy="64633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de-DE" smtClean="0">
                    <a:solidFill>
                      <a:srgbClr val="FFC000"/>
                    </a:solidFill>
                  </a:rPr>
                  <a:t>GPIO-Pin</a:t>
                </a:r>
                <a:r>
                  <a:rPr lang="de-DE" smtClean="0"/>
                  <a:t> (z</a:t>
                </a:r>
                <a:r>
                  <a:rPr lang="de-DE"/>
                  <a:t>. B. </a:t>
                </a:r>
                <a:r>
                  <a:rPr lang="de-DE" smtClean="0"/>
                  <a:t>GPIO23)  </a:t>
                </a:r>
                <a:r>
                  <a:rPr lang="de-DE"/>
                  <a:t>── </a:t>
                </a:r>
                <a:r>
                  <a:rPr lang="de-DE" smtClean="0">
                    <a:solidFill>
                      <a:schemeClr val="accent6"/>
                    </a:solidFill>
                  </a:rPr>
                  <a:t>[ Rfix ]</a:t>
                </a:r>
                <a:r>
                  <a:rPr lang="de-DE">
                    <a:solidFill>
                      <a:schemeClr val="accent6"/>
                    </a:solidFill>
                  </a:rPr>
                  <a:t> </a:t>
                </a:r>
                <a:r>
                  <a:rPr lang="de-DE" smtClean="0"/>
                  <a:t>── </a:t>
                </a:r>
                <a:r>
                  <a:rPr lang="de-DE" smtClean="0">
                    <a:solidFill>
                      <a:srgbClr val="00B050"/>
                    </a:solidFill>
                  </a:rPr>
                  <a:t>|&gt;|</a:t>
                </a:r>
                <a:r>
                  <a:rPr lang="de-DE" smtClean="0"/>
                  <a:t> ── GND</a:t>
                </a:r>
              </a:p>
              <a:p>
                <a:r>
                  <a:rPr lang="de-DE"/>
                  <a:t>	</a:t>
                </a:r>
                <a:r>
                  <a:rPr lang="de-DE" smtClean="0"/>
                  <a:t>					    (220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</a:rPr>
                      <m:t>Ω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mtClean="0"/>
                  <a:t>     LED</a:t>
                </a:r>
                <a:endParaRPr lang="de-DE"/>
              </a:p>
            </p:txBody>
          </p:sp>
        </mc:Choice>
        <mc:Fallback xmlns="">
          <p:sp>
            <p:nvSpPr>
              <p:cNvPr id="9" name="Rechteck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549" y="2319140"/>
                <a:ext cx="6221731" cy="646331"/>
              </a:xfrm>
              <a:prstGeom prst="rect">
                <a:avLst/>
              </a:prstGeom>
              <a:blipFill>
                <a:blip r:embed="rId3"/>
                <a:stretch>
                  <a:fillRect l="-882" t="-4717" b="-1415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7680959" y="3584199"/>
            <a:ext cx="44157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 smtClean="0"/>
              <a:t>intern</a:t>
            </a:r>
            <a:endParaRPr lang="de-DE" sz="800" dirty="0"/>
          </a:p>
        </p:txBody>
      </p:sp>
      <p:pic>
        <p:nvPicPr>
          <p:cNvPr id="3" name="Grafik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8457301" y="578940"/>
            <a:ext cx="2240805" cy="3793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419085"/>
      </p:ext>
    </p:extLst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Wie wird eine LED programmiert (1)? </a:t>
            </a:r>
            <a:endParaRPr lang="de-DE" b="1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3869C99-C634-47CD-B208-CB16ACE119EE}" type="slidenum">
              <a:rPr lang="de-DE" smtClean="0"/>
              <a:pPr/>
              <a:t>13</a:t>
            </a:fld>
            <a:endParaRPr lang="de-DE"/>
          </a:p>
        </p:txBody>
      </p:sp>
      <p:sp>
        <p:nvSpPr>
          <p:cNvPr id="3" name="Textfeld 2"/>
          <p:cNvSpPr txBox="1"/>
          <p:nvPr/>
        </p:nvSpPr>
        <p:spPr>
          <a:xfrm>
            <a:off x="717550" y="1108800"/>
            <a:ext cx="107568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/>
              <a:t>1. Ziel ist es, eine LED im Sekundentakt ein- und auszuschalten.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6048000" y="5975918"/>
            <a:ext cx="542544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 smtClean="0"/>
              <a:t>intern</a:t>
            </a:r>
            <a:endParaRPr lang="de-DE" sz="800" dirty="0"/>
          </a:p>
        </p:txBody>
      </p:sp>
      <p:sp>
        <p:nvSpPr>
          <p:cNvPr id="10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  <p:pic>
        <p:nvPicPr>
          <p:cNvPr id="12" name="Grafik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806" y="1654032"/>
            <a:ext cx="3853873" cy="3853873"/>
          </a:xfrm>
          <a:prstGeom prst="rect">
            <a:avLst/>
          </a:prstGeom>
        </p:spPr>
      </p:pic>
      <p:pic>
        <p:nvPicPr>
          <p:cNvPr id="4" name="Grafik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8000" y="1706400"/>
            <a:ext cx="5194800" cy="4269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0677806"/>
      </p:ext>
    </p:extLst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Wie wird eine LED programmiert (1)? </a:t>
            </a:r>
            <a:r>
              <a:rPr lang="de-DE" b="1" smtClean="0">
                <a:sym typeface="Wingdings" panose="05000000000000000000" pitchFamily="2" charset="2"/>
              </a:rPr>
              <a:t> Lösung:</a:t>
            </a:r>
            <a:endParaRPr lang="de-DE" b="1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3869C99-C634-47CD-B208-CB16ACE119EE}" type="slidenum">
              <a:rPr lang="de-DE" smtClean="0"/>
              <a:pPr/>
              <a:t>14</a:t>
            </a:fld>
            <a:endParaRPr lang="de-DE"/>
          </a:p>
        </p:txBody>
      </p:sp>
      <p:sp>
        <p:nvSpPr>
          <p:cNvPr id="3" name="Textfeld 2"/>
          <p:cNvSpPr txBox="1"/>
          <p:nvPr/>
        </p:nvSpPr>
        <p:spPr>
          <a:xfrm>
            <a:off x="717550" y="1108800"/>
            <a:ext cx="107568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/>
              <a:t>1. Ziel ist es, eine LED im Sekundentakt ein- und auszuschalten.</a:t>
            </a:r>
          </a:p>
        </p:txBody>
      </p:sp>
      <p:sp>
        <p:nvSpPr>
          <p:cNvPr id="12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  <p:pic>
        <p:nvPicPr>
          <p:cNvPr id="13" name="Grafik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806" y="1654032"/>
            <a:ext cx="3853873" cy="3853873"/>
          </a:xfrm>
          <a:prstGeom prst="rect">
            <a:avLst/>
          </a:prstGeom>
        </p:spPr>
      </p:pic>
      <p:pic>
        <p:nvPicPr>
          <p:cNvPr id="5" name="Grafik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8000" y="1721825"/>
            <a:ext cx="5194800" cy="4239585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6048000" y="5975918"/>
            <a:ext cx="542544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 smtClean="0"/>
              <a:t>intern</a:t>
            </a:r>
            <a:endParaRPr lang="de-DE" sz="800" dirty="0"/>
          </a:p>
        </p:txBody>
      </p:sp>
    </p:spTree>
    <p:extLst>
      <p:ext uri="{BB962C8B-B14F-4D97-AF65-F5344CB8AC3E}">
        <p14:creationId xmlns:p14="http://schemas.microsoft.com/office/powerpoint/2010/main" val="3028064151"/>
      </p:ext>
    </p:extLst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Wie wird eine LED verschaltet (2)? </a:t>
            </a:r>
            <a:endParaRPr lang="de-DE" b="1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3869C99-C634-47CD-B208-CB16ACE119EE}" type="slidenum">
              <a:rPr lang="de-DE" smtClean="0"/>
              <a:pPr/>
              <a:t>15</a:t>
            </a:fld>
            <a:endParaRPr lang="de-DE"/>
          </a:p>
        </p:txBody>
      </p:sp>
      <p:sp>
        <p:nvSpPr>
          <p:cNvPr id="8" name="Textfeld 7"/>
          <p:cNvSpPr txBox="1"/>
          <p:nvPr/>
        </p:nvSpPr>
        <p:spPr>
          <a:xfrm>
            <a:off x="717549" y="1134383"/>
            <a:ext cx="107568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/>
              <a:t>2</a:t>
            </a:r>
            <a:r>
              <a:rPr lang="de-DE" smtClean="0"/>
              <a:t>. Ziel ist es zwei LED‘s abwechselnd jeweils 3 Sekunden blinken zu lassen.</a:t>
            </a:r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hteck 13"/>
              <p:cNvSpPr/>
              <p:nvPr/>
            </p:nvSpPr>
            <p:spPr>
              <a:xfrm>
                <a:off x="717549" y="3039541"/>
                <a:ext cx="6221731" cy="1477328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de-DE" smtClean="0">
                    <a:solidFill>
                      <a:srgbClr val="FFC000"/>
                    </a:solidFill>
                  </a:rPr>
                  <a:t>GPIO-Pin</a:t>
                </a:r>
                <a:r>
                  <a:rPr lang="de-DE" smtClean="0"/>
                  <a:t> (z</a:t>
                </a:r>
                <a:r>
                  <a:rPr lang="de-DE"/>
                  <a:t>. B. </a:t>
                </a:r>
                <a:r>
                  <a:rPr lang="de-DE" smtClean="0"/>
                  <a:t>______)  </a:t>
                </a:r>
                <a:r>
                  <a:rPr lang="de-DE"/>
                  <a:t>── </a:t>
                </a:r>
                <a:r>
                  <a:rPr lang="de-DE" smtClean="0">
                    <a:solidFill>
                      <a:schemeClr val="accent6"/>
                    </a:solidFill>
                  </a:rPr>
                  <a:t>[ Rfix ]</a:t>
                </a:r>
                <a:r>
                  <a:rPr lang="de-DE">
                    <a:solidFill>
                      <a:schemeClr val="accent6"/>
                    </a:solidFill>
                  </a:rPr>
                  <a:t> </a:t>
                </a:r>
                <a:r>
                  <a:rPr lang="de-DE" smtClean="0"/>
                  <a:t>── </a:t>
                </a:r>
                <a:r>
                  <a:rPr lang="de-DE" smtClean="0">
                    <a:solidFill>
                      <a:srgbClr val="00B050"/>
                    </a:solidFill>
                  </a:rPr>
                  <a:t>___</a:t>
                </a:r>
                <a:r>
                  <a:rPr lang="de-DE" smtClean="0"/>
                  <a:t> ── ___</a:t>
                </a:r>
              </a:p>
              <a:p>
                <a:r>
                  <a:rPr lang="de-DE"/>
                  <a:t>	</a:t>
                </a:r>
                <a:r>
                  <a:rPr lang="de-DE" smtClean="0"/>
                  <a:t>					    (____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mtClean="0"/>
                  <a:t>      ___</a:t>
                </a:r>
              </a:p>
              <a:p>
                <a:endParaRPr lang="de-DE" smtClean="0"/>
              </a:p>
              <a:p>
                <a:r>
                  <a:rPr lang="de-DE">
                    <a:solidFill>
                      <a:srgbClr val="FFC000"/>
                    </a:solidFill>
                  </a:rPr>
                  <a:t>GPIO-Pin</a:t>
                </a:r>
                <a:r>
                  <a:rPr lang="de-DE"/>
                  <a:t> </a:t>
                </a:r>
                <a:r>
                  <a:rPr lang="de-DE" smtClean="0"/>
                  <a:t>(z</a:t>
                </a:r>
                <a:r>
                  <a:rPr lang="de-DE"/>
                  <a:t>. B. </a:t>
                </a:r>
                <a:r>
                  <a:rPr lang="de-DE" smtClean="0"/>
                  <a:t>______)  </a:t>
                </a:r>
                <a:r>
                  <a:rPr lang="de-DE"/>
                  <a:t>── </a:t>
                </a:r>
                <a:r>
                  <a:rPr lang="de-DE">
                    <a:solidFill>
                      <a:schemeClr val="accent6"/>
                    </a:solidFill>
                  </a:rPr>
                  <a:t>[ Rfix ] </a:t>
                </a:r>
                <a:r>
                  <a:rPr lang="de-DE"/>
                  <a:t>── </a:t>
                </a:r>
                <a:r>
                  <a:rPr lang="de-DE" smtClean="0">
                    <a:solidFill>
                      <a:srgbClr val="00B050"/>
                    </a:solidFill>
                  </a:rPr>
                  <a:t>___</a:t>
                </a:r>
                <a:r>
                  <a:rPr lang="de-DE" smtClean="0"/>
                  <a:t> </a:t>
                </a:r>
                <a:r>
                  <a:rPr lang="de-DE"/>
                  <a:t>── </a:t>
                </a:r>
                <a:r>
                  <a:rPr lang="de-DE" smtClean="0"/>
                  <a:t>___</a:t>
                </a:r>
                <a:endParaRPr lang="de-DE"/>
              </a:p>
              <a:p>
                <a:r>
                  <a:rPr lang="de-DE"/>
                  <a:t>						</a:t>
                </a:r>
                <a:r>
                  <a:rPr lang="de-DE" smtClean="0"/>
                  <a:t>    (____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/>
                  <a:t>     </a:t>
                </a:r>
                <a:r>
                  <a:rPr lang="de-DE" smtClean="0"/>
                  <a:t> ___</a:t>
                </a:r>
                <a:endParaRPr lang="de-DE"/>
              </a:p>
            </p:txBody>
          </p:sp>
        </mc:Choice>
        <mc:Fallback xmlns="">
          <p:sp>
            <p:nvSpPr>
              <p:cNvPr id="14" name="Rechteck 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549" y="3039541"/>
                <a:ext cx="6221731" cy="1477328"/>
              </a:xfrm>
              <a:prstGeom prst="rect">
                <a:avLst/>
              </a:prstGeom>
              <a:blipFill>
                <a:blip r:embed="rId4"/>
                <a:stretch>
                  <a:fillRect l="-882" t="-2479" b="-578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  <p:pic>
        <p:nvPicPr>
          <p:cNvPr id="13" name="Grafik 1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19635" y="1837645"/>
            <a:ext cx="3881120" cy="3881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675951"/>
      </p:ext>
    </p:extLst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Wie wird eine LED verschaltet (2)? </a:t>
            </a:r>
            <a:r>
              <a:rPr lang="de-DE" b="1" smtClean="0">
                <a:sym typeface="Wingdings" panose="05000000000000000000" pitchFamily="2" charset="2"/>
              </a:rPr>
              <a:t> Lösung:</a:t>
            </a:r>
            <a:endParaRPr lang="de-DE" b="1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3869C99-C634-47CD-B208-CB16ACE119EE}" type="slidenum">
              <a:rPr lang="de-DE" smtClean="0"/>
              <a:pPr/>
              <a:t>16</a:t>
            </a:fld>
            <a:endParaRPr lang="de-DE"/>
          </a:p>
        </p:txBody>
      </p:sp>
      <p:sp>
        <p:nvSpPr>
          <p:cNvPr id="8" name="Textfeld 7"/>
          <p:cNvSpPr txBox="1"/>
          <p:nvPr/>
        </p:nvSpPr>
        <p:spPr>
          <a:xfrm>
            <a:off x="717549" y="1134383"/>
            <a:ext cx="107568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/>
              <a:t>2</a:t>
            </a:r>
            <a:r>
              <a:rPr lang="de-DE" smtClean="0"/>
              <a:t>. Ziel ist es zwei LED‘s abwechselnd jeweils 3 Sekunden blinken zu lassen.</a:t>
            </a:r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hteck 8"/>
              <p:cNvSpPr/>
              <p:nvPr/>
            </p:nvSpPr>
            <p:spPr>
              <a:xfrm>
                <a:off x="717549" y="3039541"/>
                <a:ext cx="6221731" cy="1477328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de-DE" smtClean="0">
                    <a:solidFill>
                      <a:srgbClr val="FFC000"/>
                    </a:solidFill>
                  </a:rPr>
                  <a:t>GPIO-Pin</a:t>
                </a:r>
                <a:r>
                  <a:rPr lang="de-DE" smtClean="0"/>
                  <a:t> (z</a:t>
                </a:r>
                <a:r>
                  <a:rPr lang="de-DE"/>
                  <a:t>. B. </a:t>
                </a:r>
                <a:r>
                  <a:rPr lang="de-DE" smtClean="0"/>
                  <a:t>GPIO23)  </a:t>
                </a:r>
                <a:r>
                  <a:rPr lang="de-DE"/>
                  <a:t>── </a:t>
                </a:r>
                <a:r>
                  <a:rPr lang="de-DE" smtClean="0">
                    <a:solidFill>
                      <a:schemeClr val="accent6"/>
                    </a:solidFill>
                  </a:rPr>
                  <a:t>[ Rfix ]</a:t>
                </a:r>
                <a:r>
                  <a:rPr lang="de-DE">
                    <a:solidFill>
                      <a:schemeClr val="accent6"/>
                    </a:solidFill>
                  </a:rPr>
                  <a:t> </a:t>
                </a:r>
                <a:r>
                  <a:rPr lang="de-DE" smtClean="0"/>
                  <a:t>── </a:t>
                </a:r>
                <a:r>
                  <a:rPr lang="de-DE" smtClean="0">
                    <a:solidFill>
                      <a:srgbClr val="00B050"/>
                    </a:solidFill>
                  </a:rPr>
                  <a:t>|&gt;|</a:t>
                </a:r>
                <a:r>
                  <a:rPr lang="de-DE" smtClean="0"/>
                  <a:t> ── GND</a:t>
                </a:r>
              </a:p>
              <a:p>
                <a:r>
                  <a:rPr lang="de-DE"/>
                  <a:t>	</a:t>
                </a:r>
                <a:r>
                  <a:rPr lang="de-DE" smtClean="0"/>
                  <a:t>					    (220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</a:rPr>
                      <m:t>Ω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mtClean="0"/>
                  <a:t>     LED</a:t>
                </a:r>
              </a:p>
              <a:p>
                <a:endParaRPr lang="de-DE" smtClean="0"/>
              </a:p>
              <a:p>
                <a:r>
                  <a:rPr lang="de-DE">
                    <a:solidFill>
                      <a:srgbClr val="FFC000"/>
                    </a:solidFill>
                  </a:rPr>
                  <a:t>GPIO-Pin</a:t>
                </a:r>
                <a:r>
                  <a:rPr lang="de-DE"/>
                  <a:t> </a:t>
                </a:r>
                <a:r>
                  <a:rPr lang="de-DE" smtClean="0"/>
                  <a:t>(z</a:t>
                </a:r>
                <a:r>
                  <a:rPr lang="de-DE"/>
                  <a:t>. B. GPIO25)  ── </a:t>
                </a:r>
                <a:r>
                  <a:rPr lang="de-DE">
                    <a:solidFill>
                      <a:schemeClr val="accent6"/>
                    </a:solidFill>
                  </a:rPr>
                  <a:t>[ Rfix ] </a:t>
                </a:r>
                <a:r>
                  <a:rPr lang="de-DE"/>
                  <a:t>── </a:t>
                </a:r>
                <a:r>
                  <a:rPr lang="de-DE">
                    <a:solidFill>
                      <a:srgbClr val="00B050"/>
                    </a:solidFill>
                  </a:rPr>
                  <a:t>|&gt;|</a:t>
                </a:r>
                <a:r>
                  <a:rPr lang="de-DE"/>
                  <a:t> ── GND</a:t>
                </a:r>
              </a:p>
              <a:p>
                <a:r>
                  <a:rPr lang="de-DE"/>
                  <a:t>						</a:t>
                </a:r>
                <a:r>
                  <a:rPr lang="de-DE" smtClean="0"/>
                  <a:t>    (</a:t>
                </a:r>
                <a:r>
                  <a:rPr lang="de-DE"/>
                  <a:t>220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>
                        <a:latin typeface="Cambria Math" panose="02040503050406030204" pitchFamily="18" charset="0"/>
                      </a:rPr>
                      <m:t>Ω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/>
                  <a:t>     </a:t>
                </a:r>
                <a:r>
                  <a:rPr lang="de-DE" smtClean="0"/>
                  <a:t>LED</a:t>
                </a:r>
                <a:endParaRPr lang="de-DE"/>
              </a:p>
            </p:txBody>
          </p:sp>
        </mc:Choice>
        <mc:Fallback xmlns="">
          <p:sp>
            <p:nvSpPr>
              <p:cNvPr id="9" name="Rechteck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549" y="3039541"/>
                <a:ext cx="6221731" cy="1477328"/>
              </a:xfrm>
              <a:prstGeom prst="rect">
                <a:avLst/>
              </a:prstGeom>
              <a:blipFill>
                <a:blip r:embed="rId3"/>
                <a:stretch>
                  <a:fillRect l="-882" t="-2479" b="-578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6857075" y="5286166"/>
            <a:ext cx="44157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 smtClean="0"/>
              <a:t>intern</a:t>
            </a:r>
            <a:endParaRPr lang="de-DE" sz="800" dirty="0"/>
          </a:p>
        </p:txBody>
      </p:sp>
      <p:pic>
        <p:nvPicPr>
          <p:cNvPr id="4" name="Grafik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7570831" y="1545107"/>
            <a:ext cx="3027304" cy="4454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3207824"/>
      </p:ext>
    </p:extLst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Wie wird eine LED programmiert (2)? </a:t>
            </a:r>
            <a:endParaRPr lang="de-DE" b="1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3869C99-C634-47CD-B208-CB16ACE119EE}" type="slidenum">
              <a:rPr lang="de-DE" smtClean="0"/>
              <a:pPr/>
              <a:t>17</a:t>
            </a:fld>
            <a:endParaRPr lang="de-DE"/>
          </a:p>
        </p:txBody>
      </p:sp>
      <p:sp>
        <p:nvSpPr>
          <p:cNvPr id="8" name="Textfeld 7"/>
          <p:cNvSpPr txBox="1"/>
          <p:nvPr/>
        </p:nvSpPr>
        <p:spPr>
          <a:xfrm>
            <a:off x="717549" y="1134383"/>
            <a:ext cx="107568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/>
              <a:t>2</a:t>
            </a:r>
            <a:r>
              <a:rPr lang="de-DE" smtClean="0"/>
              <a:t>. Ziel ist es zwei LED‘s abwechselnd jeweils 3 Sekunden blinken zu lassen.</a:t>
            </a:r>
            <a:endParaRPr lang="de-DE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6263011" y="5995722"/>
            <a:ext cx="44157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 smtClean="0"/>
              <a:t>intern</a:t>
            </a:r>
            <a:endParaRPr lang="de-DE" sz="800" dirty="0"/>
          </a:p>
        </p:txBody>
      </p:sp>
      <p:sp>
        <p:nvSpPr>
          <p:cNvPr id="13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  <p:pic>
        <p:nvPicPr>
          <p:cNvPr id="3" name="Grafik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011" y="1622457"/>
            <a:ext cx="4669200" cy="4373265"/>
          </a:xfrm>
          <a:prstGeom prst="rect">
            <a:avLst/>
          </a:prstGeom>
        </p:spPr>
      </p:pic>
      <p:pic>
        <p:nvPicPr>
          <p:cNvPr id="10" name="Grafik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7806" y="1926825"/>
            <a:ext cx="3853873" cy="3853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8435267"/>
      </p:ext>
    </p:extLst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Wie wird eine LED programmiert (2)? </a:t>
            </a:r>
            <a:r>
              <a:rPr lang="de-DE" b="1" smtClean="0">
                <a:sym typeface="Wingdings" panose="05000000000000000000" pitchFamily="2" charset="2"/>
              </a:rPr>
              <a:t> Lösung:</a:t>
            </a:r>
            <a:endParaRPr lang="de-DE" b="1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3869C99-C634-47CD-B208-CB16ACE119EE}" type="slidenum">
              <a:rPr lang="de-DE" smtClean="0"/>
              <a:pPr/>
              <a:t>18</a:t>
            </a:fld>
            <a:endParaRPr lang="de-DE"/>
          </a:p>
        </p:txBody>
      </p:sp>
      <p:sp>
        <p:nvSpPr>
          <p:cNvPr id="7" name="Textfeld 6"/>
          <p:cNvSpPr txBox="1"/>
          <p:nvPr/>
        </p:nvSpPr>
        <p:spPr>
          <a:xfrm>
            <a:off x="717549" y="1134383"/>
            <a:ext cx="107568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/>
              <a:t>2</a:t>
            </a:r>
            <a:r>
              <a:rPr lang="de-DE" smtClean="0"/>
              <a:t>. Ziel ist es zwei LED‘s abwechselnd jeweils 3 Sekunden blinken zu lassen.</a:t>
            </a:r>
            <a:endParaRPr lang="de-DE"/>
          </a:p>
        </p:txBody>
      </p:sp>
      <p:pic>
        <p:nvPicPr>
          <p:cNvPr id="5" name="Grafik 4"/>
          <p:cNvPicPr>
            <a:picLocks noChangeAspect="1"/>
          </p:cNvPicPr>
          <p:nvPr/>
        </p:nvPicPr>
        <p:blipFill rotWithShape="1">
          <a:blip r:embed="rId3"/>
          <a:srcRect t="903"/>
          <a:stretch/>
        </p:blipFill>
        <p:spPr>
          <a:xfrm>
            <a:off x="6269246" y="1667063"/>
            <a:ext cx="4668745" cy="4365316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6263011" y="5995722"/>
            <a:ext cx="44157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 smtClean="0"/>
              <a:t>intern</a:t>
            </a:r>
            <a:endParaRPr lang="de-DE" sz="800" dirty="0"/>
          </a:p>
        </p:txBody>
      </p:sp>
      <p:sp>
        <p:nvSpPr>
          <p:cNvPr id="13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  <p:pic>
        <p:nvPicPr>
          <p:cNvPr id="14" name="Grafik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7806" y="1926825"/>
            <a:ext cx="3853873" cy="3853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4254241"/>
      </p:ext>
    </p:extLst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Wie wird eine LED verschaltet (3)? </a:t>
            </a:r>
            <a:endParaRPr lang="de-DE" b="1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3869C99-C634-47CD-B208-CB16ACE119EE}" type="slidenum">
              <a:rPr lang="de-DE" smtClean="0"/>
              <a:pPr/>
              <a:t>19</a:t>
            </a:fld>
            <a:endParaRPr lang="de-DE"/>
          </a:p>
        </p:txBody>
      </p:sp>
      <p:sp>
        <p:nvSpPr>
          <p:cNvPr id="7" name="Textfeld 6"/>
          <p:cNvSpPr txBox="1"/>
          <p:nvPr/>
        </p:nvSpPr>
        <p:spPr>
          <a:xfrm>
            <a:off x="717549" y="1134383"/>
            <a:ext cx="107568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mtClean="0"/>
              <a:t>3. Ziel ist es, dass das Licht von fünf LED‘s vor und zurück läuft.</a:t>
            </a:r>
            <a:endParaRPr lang="de-DE"/>
          </a:p>
        </p:txBody>
      </p:sp>
      <p:sp>
        <p:nvSpPr>
          <p:cNvPr id="9" name="Rechteck 8"/>
          <p:cNvSpPr/>
          <p:nvPr/>
        </p:nvSpPr>
        <p:spPr>
          <a:xfrm>
            <a:off x="717549" y="1869898"/>
            <a:ext cx="6221731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mtClean="0">
                <a:solidFill>
                  <a:srgbClr val="FFC000"/>
                </a:solidFill>
              </a:rPr>
              <a:t>________</a:t>
            </a:r>
            <a:r>
              <a:rPr lang="de-DE" smtClean="0"/>
              <a:t> (___ _____)  </a:t>
            </a:r>
            <a:r>
              <a:rPr lang="de-DE"/>
              <a:t>── </a:t>
            </a:r>
            <a:r>
              <a:rPr lang="de-DE">
                <a:solidFill>
                  <a:schemeClr val="accent6"/>
                </a:solidFill>
              </a:rPr>
              <a:t>_____ </a:t>
            </a:r>
            <a:r>
              <a:rPr lang="de-DE" smtClean="0"/>
              <a:t>── </a:t>
            </a:r>
            <a:r>
              <a:rPr lang="de-DE" smtClean="0">
                <a:solidFill>
                  <a:srgbClr val="00B050"/>
                </a:solidFill>
              </a:rPr>
              <a:t>___</a:t>
            </a:r>
            <a:r>
              <a:rPr lang="de-DE" smtClean="0"/>
              <a:t> ── ___</a:t>
            </a:r>
          </a:p>
          <a:p>
            <a:r>
              <a:rPr lang="de-DE"/>
              <a:t>	</a:t>
            </a:r>
            <a:r>
              <a:rPr lang="de-DE" smtClean="0"/>
              <a:t>					 (____)       ___</a:t>
            </a:r>
          </a:p>
          <a:p>
            <a:endParaRPr lang="de-DE" smtClean="0"/>
          </a:p>
          <a:p>
            <a:r>
              <a:rPr lang="de-DE">
                <a:solidFill>
                  <a:srgbClr val="FFC000"/>
                </a:solidFill>
              </a:rPr>
              <a:t>________</a:t>
            </a:r>
            <a:r>
              <a:rPr lang="de-DE"/>
              <a:t> (___ _____)  ── </a:t>
            </a:r>
            <a:r>
              <a:rPr lang="de-DE">
                <a:solidFill>
                  <a:schemeClr val="accent6"/>
                </a:solidFill>
              </a:rPr>
              <a:t>_____ </a:t>
            </a:r>
            <a:r>
              <a:rPr lang="de-DE"/>
              <a:t>── </a:t>
            </a:r>
            <a:r>
              <a:rPr lang="de-DE">
                <a:solidFill>
                  <a:srgbClr val="00B050"/>
                </a:solidFill>
              </a:rPr>
              <a:t>___</a:t>
            </a:r>
            <a:r>
              <a:rPr lang="de-DE"/>
              <a:t> ── ___</a:t>
            </a:r>
          </a:p>
          <a:p>
            <a:r>
              <a:rPr lang="de-DE"/>
              <a:t>						 (____)       ___</a:t>
            </a:r>
          </a:p>
          <a:p>
            <a:endParaRPr lang="de-DE"/>
          </a:p>
          <a:p>
            <a:r>
              <a:rPr lang="de-DE">
                <a:solidFill>
                  <a:srgbClr val="FFC000"/>
                </a:solidFill>
              </a:rPr>
              <a:t>________</a:t>
            </a:r>
            <a:r>
              <a:rPr lang="de-DE"/>
              <a:t> (___ _____)  ── </a:t>
            </a:r>
            <a:r>
              <a:rPr lang="de-DE">
                <a:solidFill>
                  <a:schemeClr val="accent6"/>
                </a:solidFill>
              </a:rPr>
              <a:t>_____ </a:t>
            </a:r>
            <a:r>
              <a:rPr lang="de-DE"/>
              <a:t>── </a:t>
            </a:r>
            <a:r>
              <a:rPr lang="de-DE">
                <a:solidFill>
                  <a:srgbClr val="00B050"/>
                </a:solidFill>
              </a:rPr>
              <a:t>___</a:t>
            </a:r>
            <a:r>
              <a:rPr lang="de-DE"/>
              <a:t> ── ___</a:t>
            </a:r>
          </a:p>
          <a:p>
            <a:r>
              <a:rPr lang="de-DE"/>
              <a:t>						 (____)       ___</a:t>
            </a:r>
          </a:p>
          <a:p>
            <a:endParaRPr lang="de-DE" smtClean="0"/>
          </a:p>
          <a:p>
            <a:r>
              <a:rPr lang="de-DE">
                <a:solidFill>
                  <a:srgbClr val="FFC000"/>
                </a:solidFill>
              </a:rPr>
              <a:t>________</a:t>
            </a:r>
            <a:r>
              <a:rPr lang="de-DE"/>
              <a:t> (___ _____)  ── </a:t>
            </a:r>
            <a:r>
              <a:rPr lang="de-DE">
                <a:solidFill>
                  <a:schemeClr val="accent6"/>
                </a:solidFill>
              </a:rPr>
              <a:t>_____ </a:t>
            </a:r>
            <a:r>
              <a:rPr lang="de-DE"/>
              <a:t>── </a:t>
            </a:r>
            <a:r>
              <a:rPr lang="de-DE">
                <a:solidFill>
                  <a:srgbClr val="00B050"/>
                </a:solidFill>
              </a:rPr>
              <a:t>___</a:t>
            </a:r>
            <a:r>
              <a:rPr lang="de-DE"/>
              <a:t> ── ___</a:t>
            </a:r>
          </a:p>
          <a:p>
            <a:r>
              <a:rPr lang="de-DE"/>
              <a:t>						 (____)       ___</a:t>
            </a:r>
          </a:p>
          <a:p>
            <a:endParaRPr lang="de-DE"/>
          </a:p>
          <a:p>
            <a:r>
              <a:rPr lang="de-DE">
                <a:solidFill>
                  <a:srgbClr val="FFC000"/>
                </a:solidFill>
              </a:rPr>
              <a:t>________</a:t>
            </a:r>
            <a:r>
              <a:rPr lang="de-DE"/>
              <a:t> (___ _____)  ── </a:t>
            </a:r>
            <a:r>
              <a:rPr lang="de-DE">
                <a:solidFill>
                  <a:schemeClr val="accent6"/>
                </a:solidFill>
              </a:rPr>
              <a:t>_____ </a:t>
            </a:r>
            <a:r>
              <a:rPr lang="de-DE"/>
              <a:t>── </a:t>
            </a:r>
            <a:r>
              <a:rPr lang="de-DE">
                <a:solidFill>
                  <a:srgbClr val="00B050"/>
                </a:solidFill>
              </a:rPr>
              <a:t>___</a:t>
            </a:r>
            <a:r>
              <a:rPr lang="de-DE"/>
              <a:t> ── ___</a:t>
            </a:r>
          </a:p>
          <a:p>
            <a:r>
              <a:rPr lang="de-DE"/>
              <a:t>						 (____)       ___</a:t>
            </a:r>
          </a:p>
        </p:txBody>
      </p:sp>
      <p:sp>
        <p:nvSpPr>
          <p:cNvPr id="10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  <p:pic>
        <p:nvPicPr>
          <p:cNvPr id="14" name="Grafik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9635" y="1837645"/>
            <a:ext cx="3881120" cy="3881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6546216"/>
      </p:ext>
    </p:extLst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Wie wird eine LED verschaltet (3)? </a:t>
            </a:r>
            <a:r>
              <a:rPr lang="de-DE" b="1" smtClean="0">
                <a:sym typeface="Wingdings" panose="05000000000000000000" pitchFamily="2" charset="2"/>
              </a:rPr>
              <a:t> Lösung:</a:t>
            </a:r>
            <a:r>
              <a:rPr lang="de-DE" b="1" smtClean="0"/>
              <a:t> </a:t>
            </a:r>
            <a:endParaRPr lang="de-DE" b="1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3869C99-C634-47CD-B208-CB16ACE119EE}" type="slidenum">
              <a:rPr lang="de-DE" smtClean="0"/>
              <a:pPr/>
              <a:t>20</a:t>
            </a:fld>
            <a:endParaRPr lang="de-DE"/>
          </a:p>
        </p:txBody>
      </p:sp>
      <p:sp>
        <p:nvSpPr>
          <p:cNvPr id="7" name="Textfeld 6"/>
          <p:cNvSpPr txBox="1"/>
          <p:nvPr/>
        </p:nvSpPr>
        <p:spPr>
          <a:xfrm>
            <a:off x="717549" y="1134383"/>
            <a:ext cx="107568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mtClean="0"/>
              <a:t>3. Ziel ist es, dass das Licht von fünf LED‘s vor und zurück läuft.</a:t>
            </a:r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hteck 8"/>
              <p:cNvSpPr/>
              <p:nvPr/>
            </p:nvSpPr>
            <p:spPr>
              <a:xfrm>
                <a:off x="717549" y="1869898"/>
                <a:ext cx="6221731" cy="3970318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de-DE" smtClean="0">
                    <a:solidFill>
                      <a:srgbClr val="FFC000"/>
                    </a:solidFill>
                  </a:rPr>
                  <a:t>GPIO-Pin</a:t>
                </a:r>
                <a:r>
                  <a:rPr lang="de-DE" smtClean="0"/>
                  <a:t> (z</a:t>
                </a:r>
                <a:r>
                  <a:rPr lang="de-DE"/>
                  <a:t>. B. </a:t>
                </a:r>
                <a:r>
                  <a:rPr lang="de-DE" smtClean="0"/>
                  <a:t>GPIO23)  </a:t>
                </a:r>
                <a:r>
                  <a:rPr lang="de-DE"/>
                  <a:t>── </a:t>
                </a:r>
                <a:r>
                  <a:rPr lang="de-DE" smtClean="0">
                    <a:solidFill>
                      <a:schemeClr val="accent6"/>
                    </a:solidFill>
                  </a:rPr>
                  <a:t>[ Rfix ]</a:t>
                </a:r>
                <a:r>
                  <a:rPr lang="de-DE">
                    <a:solidFill>
                      <a:schemeClr val="accent6"/>
                    </a:solidFill>
                  </a:rPr>
                  <a:t> </a:t>
                </a:r>
                <a:r>
                  <a:rPr lang="de-DE" smtClean="0"/>
                  <a:t>── </a:t>
                </a:r>
                <a:r>
                  <a:rPr lang="de-DE" smtClean="0">
                    <a:solidFill>
                      <a:srgbClr val="00B050"/>
                    </a:solidFill>
                  </a:rPr>
                  <a:t>|&gt;|</a:t>
                </a:r>
                <a:r>
                  <a:rPr lang="de-DE" smtClean="0"/>
                  <a:t> ── GND</a:t>
                </a:r>
              </a:p>
              <a:p>
                <a:r>
                  <a:rPr lang="de-DE"/>
                  <a:t>	</a:t>
                </a:r>
                <a:r>
                  <a:rPr lang="de-DE" smtClean="0"/>
                  <a:t>					    (220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</a:rPr>
                      <m:t>Ω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mtClean="0"/>
                  <a:t>     LED</a:t>
                </a:r>
              </a:p>
              <a:p>
                <a:endParaRPr lang="de-DE" smtClean="0"/>
              </a:p>
              <a:p>
                <a:r>
                  <a:rPr lang="de-DE">
                    <a:solidFill>
                      <a:srgbClr val="FFC000"/>
                    </a:solidFill>
                  </a:rPr>
                  <a:t>GPIO-Pin</a:t>
                </a:r>
                <a:r>
                  <a:rPr lang="de-DE"/>
                  <a:t> </a:t>
                </a:r>
                <a:r>
                  <a:rPr lang="de-DE" smtClean="0"/>
                  <a:t>(z</a:t>
                </a:r>
                <a:r>
                  <a:rPr lang="de-DE"/>
                  <a:t>. B. GPIO25)  ── </a:t>
                </a:r>
                <a:r>
                  <a:rPr lang="de-DE">
                    <a:solidFill>
                      <a:schemeClr val="accent6"/>
                    </a:solidFill>
                  </a:rPr>
                  <a:t>[ Rfix ] </a:t>
                </a:r>
                <a:r>
                  <a:rPr lang="de-DE"/>
                  <a:t>── </a:t>
                </a:r>
                <a:r>
                  <a:rPr lang="de-DE">
                    <a:solidFill>
                      <a:srgbClr val="00B050"/>
                    </a:solidFill>
                  </a:rPr>
                  <a:t>|&gt;|</a:t>
                </a:r>
                <a:r>
                  <a:rPr lang="de-DE"/>
                  <a:t> ── GND</a:t>
                </a:r>
              </a:p>
              <a:p>
                <a:r>
                  <a:rPr lang="de-DE"/>
                  <a:t>						</a:t>
                </a:r>
                <a:r>
                  <a:rPr lang="de-DE" smtClean="0"/>
                  <a:t>    (</a:t>
                </a:r>
                <a:r>
                  <a:rPr lang="de-DE"/>
                  <a:t>220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>
                        <a:latin typeface="Cambria Math" panose="02040503050406030204" pitchFamily="18" charset="0"/>
                      </a:rPr>
                      <m:t>Ω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/>
                  <a:t>     </a:t>
                </a:r>
                <a:r>
                  <a:rPr lang="de-DE" smtClean="0"/>
                  <a:t>LED</a:t>
                </a:r>
              </a:p>
              <a:p>
                <a:endParaRPr lang="de-DE"/>
              </a:p>
              <a:p>
                <a:r>
                  <a:rPr lang="de-DE">
                    <a:solidFill>
                      <a:srgbClr val="FFC000"/>
                    </a:solidFill>
                  </a:rPr>
                  <a:t>GPIO-Pin</a:t>
                </a:r>
                <a:r>
                  <a:rPr lang="de-DE"/>
                  <a:t> (z. B. </a:t>
                </a:r>
                <a:r>
                  <a:rPr lang="de-DE" smtClean="0"/>
                  <a:t>GPIO26)  </a:t>
                </a:r>
                <a:r>
                  <a:rPr lang="de-DE"/>
                  <a:t>── </a:t>
                </a:r>
                <a:r>
                  <a:rPr lang="de-DE">
                    <a:solidFill>
                      <a:schemeClr val="accent6"/>
                    </a:solidFill>
                  </a:rPr>
                  <a:t>[ Rfix ] </a:t>
                </a:r>
                <a:r>
                  <a:rPr lang="de-DE"/>
                  <a:t>── </a:t>
                </a:r>
                <a:r>
                  <a:rPr lang="de-DE">
                    <a:solidFill>
                      <a:srgbClr val="00B050"/>
                    </a:solidFill>
                  </a:rPr>
                  <a:t>|&gt;|</a:t>
                </a:r>
                <a:r>
                  <a:rPr lang="de-DE"/>
                  <a:t> ── GND</a:t>
                </a:r>
              </a:p>
              <a:p>
                <a:r>
                  <a:rPr lang="de-DE"/>
                  <a:t>						    (220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>
                        <a:latin typeface="Cambria Math" panose="02040503050406030204" pitchFamily="18" charset="0"/>
                      </a:rPr>
                      <m:t>Ω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/>
                  <a:t>     LED</a:t>
                </a:r>
              </a:p>
              <a:p>
                <a:endParaRPr lang="de-DE" smtClean="0"/>
              </a:p>
              <a:p>
                <a:r>
                  <a:rPr lang="de-DE">
                    <a:solidFill>
                      <a:srgbClr val="FFC000"/>
                    </a:solidFill>
                  </a:rPr>
                  <a:t>GPIO-Pin</a:t>
                </a:r>
                <a:r>
                  <a:rPr lang="de-DE"/>
                  <a:t> (z. B. </a:t>
                </a:r>
                <a:r>
                  <a:rPr lang="de-DE" smtClean="0"/>
                  <a:t>GPIO27)  </a:t>
                </a:r>
                <a:r>
                  <a:rPr lang="de-DE"/>
                  <a:t>── </a:t>
                </a:r>
                <a:r>
                  <a:rPr lang="de-DE">
                    <a:solidFill>
                      <a:schemeClr val="accent6"/>
                    </a:solidFill>
                  </a:rPr>
                  <a:t>[ Rfix ] </a:t>
                </a:r>
                <a:r>
                  <a:rPr lang="de-DE"/>
                  <a:t>── </a:t>
                </a:r>
                <a:r>
                  <a:rPr lang="de-DE">
                    <a:solidFill>
                      <a:srgbClr val="00B050"/>
                    </a:solidFill>
                  </a:rPr>
                  <a:t>|&gt;|</a:t>
                </a:r>
                <a:r>
                  <a:rPr lang="de-DE"/>
                  <a:t> ── GND</a:t>
                </a:r>
              </a:p>
              <a:p>
                <a:r>
                  <a:rPr lang="de-DE"/>
                  <a:t>						    (220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>
                        <a:latin typeface="Cambria Math" panose="02040503050406030204" pitchFamily="18" charset="0"/>
                      </a:rPr>
                      <m:t>Ω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/>
                  <a:t>     </a:t>
                </a:r>
                <a:r>
                  <a:rPr lang="de-DE" smtClean="0"/>
                  <a:t>LED</a:t>
                </a:r>
              </a:p>
              <a:p>
                <a:endParaRPr lang="de-DE"/>
              </a:p>
              <a:p>
                <a:r>
                  <a:rPr lang="de-DE">
                    <a:solidFill>
                      <a:srgbClr val="FFC000"/>
                    </a:solidFill>
                  </a:rPr>
                  <a:t>GPIO-Pin</a:t>
                </a:r>
                <a:r>
                  <a:rPr lang="de-DE"/>
                  <a:t> (z. B. </a:t>
                </a:r>
                <a:r>
                  <a:rPr lang="de-DE" smtClean="0"/>
                  <a:t>GPIO32)  </a:t>
                </a:r>
                <a:r>
                  <a:rPr lang="de-DE"/>
                  <a:t>── </a:t>
                </a:r>
                <a:r>
                  <a:rPr lang="de-DE">
                    <a:solidFill>
                      <a:schemeClr val="accent6"/>
                    </a:solidFill>
                  </a:rPr>
                  <a:t>[ Rfix ] </a:t>
                </a:r>
                <a:r>
                  <a:rPr lang="de-DE"/>
                  <a:t>── </a:t>
                </a:r>
                <a:r>
                  <a:rPr lang="de-DE">
                    <a:solidFill>
                      <a:srgbClr val="00B050"/>
                    </a:solidFill>
                  </a:rPr>
                  <a:t>|&gt;|</a:t>
                </a:r>
                <a:r>
                  <a:rPr lang="de-DE"/>
                  <a:t> ── GND</a:t>
                </a:r>
              </a:p>
              <a:p>
                <a:r>
                  <a:rPr lang="de-DE"/>
                  <a:t>						    (220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>
                        <a:latin typeface="Cambria Math" panose="02040503050406030204" pitchFamily="18" charset="0"/>
                      </a:rPr>
                      <m:t>Ω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/>
                  <a:t>     </a:t>
                </a:r>
                <a:r>
                  <a:rPr lang="de-DE" smtClean="0"/>
                  <a:t>LED</a:t>
                </a:r>
                <a:endParaRPr lang="de-DE"/>
              </a:p>
            </p:txBody>
          </p:sp>
        </mc:Choice>
        <mc:Fallback xmlns="">
          <p:sp>
            <p:nvSpPr>
              <p:cNvPr id="9" name="Rechteck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549" y="1869898"/>
                <a:ext cx="6221731" cy="3970318"/>
              </a:xfrm>
              <a:prstGeom prst="rect">
                <a:avLst/>
              </a:prstGeom>
              <a:blipFill>
                <a:blip r:embed="rId3"/>
                <a:stretch>
                  <a:fillRect l="-882" t="-922" b="-153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7775719" y="5989660"/>
            <a:ext cx="44157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 smtClean="0"/>
              <a:t>intern</a:t>
            </a:r>
            <a:endParaRPr lang="de-DE" sz="800" dirty="0"/>
          </a:p>
        </p:txBody>
      </p:sp>
      <p:pic>
        <p:nvPicPr>
          <p:cNvPr id="3" name="Grafik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5719" y="1678290"/>
            <a:ext cx="2534004" cy="4353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8168870"/>
      </p:ext>
    </p:extLst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Wie wird eine LED programmiert (3)? </a:t>
            </a:r>
            <a:endParaRPr lang="de-DE" b="1" dirty="0"/>
          </a:p>
        </p:txBody>
      </p:sp>
      <p:sp>
        <p:nvSpPr>
          <p:cNvPr id="27" name="Textfeld 26"/>
          <p:cNvSpPr txBox="1"/>
          <p:nvPr/>
        </p:nvSpPr>
        <p:spPr>
          <a:xfrm>
            <a:off x="717549" y="1134383"/>
            <a:ext cx="107568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mtClean="0"/>
              <a:t>3. Ziel ist es, dass das Licht von fünf LED‘s vor und zurück läuft.</a:t>
            </a:r>
            <a:endParaRPr lang="de-DE"/>
          </a:p>
        </p:txBody>
      </p:sp>
      <p:sp>
        <p:nvSpPr>
          <p:cNvPr id="12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4383177" y="6064178"/>
            <a:ext cx="542544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 smtClean="0"/>
              <a:t>intern</a:t>
            </a:r>
            <a:endParaRPr lang="de-DE" sz="800" dirty="0"/>
          </a:p>
        </p:txBody>
      </p:sp>
      <p:pic>
        <p:nvPicPr>
          <p:cNvPr id="10" name="Grafik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733" y="2357821"/>
            <a:ext cx="2866354" cy="2866354"/>
          </a:xfrm>
          <a:prstGeom prst="rect">
            <a:avLst/>
          </a:prstGeom>
        </p:spPr>
      </p:pic>
      <p:pic>
        <p:nvPicPr>
          <p:cNvPr id="6" name="Grafik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2448" y="1686946"/>
            <a:ext cx="7092000" cy="4377232"/>
          </a:xfrm>
          <a:prstGeom prst="rect">
            <a:avLst/>
          </a:prstGeom>
        </p:spPr>
      </p:pic>
      <p:sp>
        <p:nvSpPr>
          <p:cNvPr id="7" name="Foliennummernplatzhalt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3869C99-C634-47CD-B208-CB16ACE119EE}" type="slidenum">
              <a:rPr lang="de-DE" smtClean="0"/>
              <a:pPr/>
              <a:t>21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5887878"/>
      </p:ext>
    </p:extLst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Wie wird eine LED programmiert (3)? </a:t>
            </a:r>
            <a:r>
              <a:rPr lang="de-DE" b="1" smtClean="0">
                <a:sym typeface="Wingdings" panose="05000000000000000000" pitchFamily="2" charset="2"/>
              </a:rPr>
              <a:t> Lösung:</a:t>
            </a:r>
            <a:endParaRPr lang="de-DE" b="1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3869C99-C634-47CD-B208-CB16ACE119EE}" type="slidenum">
              <a:rPr lang="de-DE" smtClean="0"/>
              <a:pPr/>
              <a:t>22</a:t>
            </a:fld>
            <a:endParaRPr lang="de-DE"/>
          </a:p>
        </p:txBody>
      </p:sp>
      <p:sp>
        <p:nvSpPr>
          <p:cNvPr id="8" name="Textfeld 7"/>
          <p:cNvSpPr txBox="1"/>
          <p:nvPr/>
        </p:nvSpPr>
        <p:spPr>
          <a:xfrm>
            <a:off x="717549" y="1134383"/>
            <a:ext cx="107568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mtClean="0"/>
              <a:t>3. Ziel ist es, dass das Licht von fünf LED‘s vor und zurück läuft.</a:t>
            </a:r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4383177" y="6064178"/>
            <a:ext cx="542544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 smtClean="0"/>
              <a:t>intern</a:t>
            </a:r>
            <a:endParaRPr lang="de-DE" sz="800" dirty="0"/>
          </a:p>
        </p:txBody>
      </p:sp>
      <p:sp>
        <p:nvSpPr>
          <p:cNvPr id="12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82398" y="6205104"/>
            <a:ext cx="5637237" cy="224160"/>
          </a:xfrm>
        </p:spPr>
        <p:txBody>
          <a:bodyPr/>
          <a:lstStyle/>
          <a:p>
            <a:r>
              <a:rPr lang="de-DE" sz="850" b="0" smtClean="0"/>
              <a:t>Prof. Dr-Ing. Mathias Rudolph, Elena Richter, Ludwig Ostertag, Fakultät ING, Industrielle Messtechnik</a:t>
            </a:r>
            <a:endParaRPr lang="de-DE" sz="850" b="0" dirty="0"/>
          </a:p>
        </p:txBody>
      </p:sp>
      <p:pic>
        <p:nvPicPr>
          <p:cNvPr id="16" name="Grafik 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733" y="2357821"/>
            <a:ext cx="2866354" cy="2866354"/>
          </a:xfrm>
          <a:prstGeom prst="rect">
            <a:avLst/>
          </a:prstGeom>
        </p:spPr>
      </p:pic>
      <p:pic>
        <p:nvPicPr>
          <p:cNvPr id="4" name="Grafik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3177" y="1705080"/>
            <a:ext cx="7091271" cy="4359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361285"/>
      </p:ext>
    </p:extLst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C0E8C82-2AF8-4F05-F328-ECE8C526DF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 anchor="b">
            <a:normAutofit/>
          </a:bodyPr>
          <a:lstStyle/>
          <a:p>
            <a:pPr>
              <a:spcAft>
                <a:spcPts val="600"/>
              </a:spcAft>
            </a:pPr>
            <a:r>
              <a:rPr lang="de-DE" smtClean="0"/>
              <a:t>Prof. Dr-Ing. Mathias Rudolph, Elena Richter, Ludwig Ostertag, Fakultät ING, Industrielle Messtechnik</a:t>
            </a:r>
            <a:endParaRPr lang="de-DE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EFFC43F-6DA3-1A1D-6175-58D40ACE97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2870" y="3379869"/>
            <a:ext cx="11186808" cy="1783223"/>
          </a:xfrm>
        </p:spPr>
        <p:txBody>
          <a:bodyPr/>
          <a:lstStyle/>
          <a:p>
            <a:pPr algn="ctr"/>
            <a:r>
              <a:rPr lang="en-US" sz="3600" b="1" dirty="0" err="1"/>
              <a:t>Vielen</a:t>
            </a:r>
            <a:r>
              <a:rPr lang="en-US" sz="3600" b="1" dirty="0"/>
              <a:t> Dank für die </a:t>
            </a:r>
            <a:r>
              <a:rPr lang="en-US" sz="3600" b="1" dirty="0" err="1"/>
              <a:t>Aufmerksamkeit</a:t>
            </a:r>
            <a:r>
              <a:rPr lang="en-US" sz="3600" b="1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4457734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5000">
        <p:fade/>
      </p:transition>
    </mc:Choice>
    <mc:Fallback xmlns="">
      <p:transition spd="med" advTm="5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HTWK_Praesentation_16-9">
  <a:themeElements>
    <a:clrScheme name="HTWK_Test">
      <a:dk1>
        <a:sysClr val="windowText" lastClr="000000"/>
      </a:dk1>
      <a:lt1>
        <a:sysClr val="window" lastClr="FFFFFF"/>
      </a:lt1>
      <a:dk2>
        <a:srgbClr val="022541"/>
      </a:dk2>
      <a:lt2>
        <a:srgbClr val="BEC3C6"/>
      </a:lt2>
      <a:accent1>
        <a:srgbClr val="FFED00"/>
      </a:accent1>
      <a:accent2>
        <a:srgbClr val="E5007D"/>
      </a:accent2>
      <a:accent3>
        <a:srgbClr val="00964E"/>
      </a:accent3>
      <a:accent4>
        <a:srgbClr val="E53009"/>
      </a:accent4>
      <a:accent5>
        <a:srgbClr val="009EE3"/>
      </a:accent5>
      <a:accent6>
        <a:srgbClr val="004699"/>
      </a:accent6>
      <a:hlink>
        <a:srgbClr val="022541"/>
      </a:hlink>
      <a:folHlink>
        <a:srgbClr val="2E3639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TWK_Praesentation_16-9" id="{1FEA0790-483C-694F-BB74-62ABC0BEEE2F}" vid="{8501C412-F393-B646-9B96-1DF6D2826D91}"/>
    </a:ext>
  </a:extLst>
</a:theme>
</file>

<file path=ppt/theme/theme2.xml><?xml version="1.0" encoding="utf-8"?>
<a:theme xmlns:a="http://schemas.openxmlformats.org/drawingml/2006/main" name="HTWK Magenta">
  <a:themeElements>
    <a:clrScheme name="HTWK_Test">
      <a:dk1>
        <a:sysClr val="windowText" lastClr="000000"/>
      </a:dk1>
      <a:lt1>
        <a:sysClr val="window" lastClr="FFFFFF"/>
      </a:lt1>
      <a:dk2>
        <a:srgbClr val="022541"/>
      </a:dk2>
      <a:lt2>
        <a:srgbClr val="BEC3C6"/>
      </a:lt2>
      <a:accent1>
        <a:srgbClr val="FFED00"/>
      </a:accent1>
      <a:accent2>
        <a:srgbClr val="E5007D"/>
      </a:accent2>
      <a:accent3>
        <a:srgbClr val="00964E"/>
      </a:accent3>
      <a:accent4>
        <a:srgbClr val="E53009"/>
      </a:accent4>
      <a:accent5>
        <a:srgbClr val="009EE3"/>
      </a:accent5>
      <a:accent6>
        <a:srgbClr val="004699"/>
      </a:accent6>
      <a:hlink>
        <a:srgbClr val="022541"/>
      </a:hlink>
      <a:folHlink>
        <a:srgbClr val="2E3639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TWK_Praesentation_16-9" id="{1FEA0790-483C-694F-BB74-62ABC0BEEE2F}" vid="{EFED7CB0-8CF4-D44F-9260-9E79D17BFAAA}"/>
    </a:ext>
  </a:extLst>
</a:theme>
</file>

<file path=ppt/theme/theme3.xml><?xml version="1.0" encoding="utf-8"?>
<a:theme xmlns:a="http://schemas.openxmlformats.org/drawingml/2006/main" name="HTWK Grün">
  <a:themeElements>
    <a:clrScheme name="HTWK_Test">
      <a:dk1>
        <a:sysClr val="windowText" lastClr="000000"/>
      </a:dk1>
      <a:lt1>
        <a:sysClr val="window" lastClr="FFFFFF"/>
      </a:lt1>
      <a:dk2>
        <a:srgbClr val="022541"/>
      </a:dk2>
      <a:lt2>
        <a:srgbClr val="BEC3C6"/>
      </a:lt2>
      <a:accent1>
        <a:srgbClr val="FFED00"/>
      </a:accent1>
      <a:accent2>
        <a:srgbClr val="E5007D"/>
      </a:accent2>
      <a:accent3>
        <a:srgbClr val="00964E"/>
      </a:accent3>
      <a:accent4>
        <a:srgbClr val="E53009"/>
      </a:accent4>
      <a:accent5>
        <a:srgbClr val="009EE3"/>
      </a:accent5>
      <a:accent6>
        <a:srgbClr val="004699"/>
      </a:accent6>
      <a:hlink>
        <a:srgbClr val="022541"/>
      </a:hlink>
      <a:folHlink>
        <a:srgbClr val="2E3639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TWK_Praesentation_16-9" id="{1FEA0790-483C-694F-BB74-62ABC0BEEE2F}" vid="{E391D94D-EE63-D349-B7DE-98ADF560723F}"/>
    </a:ext>
  </a:extLst>
</a:theme>
</file>

<file path=ppt/theme/theme4.xml><?xml version="1.0" encoding="utf-8"?>
<a:theme xmlns:a="http://schemas.openxmlformats.org/drawingml/2006/main" name="HTWK Cyan">
  <a:themeElements>
    <a:clrScheme name="HTWK_Test">
      <a:dk1>
        <a:sysClr val="windowText" lastClr="000000"/>
      </a:dk1>
      <a:lt1>
        <a:sysClr val="window" lastClr="FFFFFF"/>
      </a:lt1>
      <a:dk2>
        <a:srgbClr val="022541"/>
      </a:dk2>
      <a:lt2>
        <a:srgbClr val="BEC3C6"/>
      </a:lt2>
      <a:accent1>
        <a:srgbClr val="FFED00"/>
      </a:accent1>
      <a:accent2>
        <a:srgbClr val="E5007D"/>
      </a:accent2>
      <a:accent3>
        <a:srgbClr val="00964E"/>
      </a:accent3>
      <a:accent4>
        <a:srgbClr val="E53009"/>
      </a:accent4>
      <a:accent5>
        <a:srgbClr val="009EE3"/>
      </a:accent5>
      <a:accent6>
        <a:srgbClr val="004699"/>
      </a:accent6>
      <a:hlink>
        <a:srgbClr val="022541"/>
      </a:hlink>
      <a:folHlink>
        <a:srgbClr val="2E3639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TWK_Praesentation_16-9" id="{1FEA0790-483C-694F-BB74-62ABC0BEEE2F}" vid="{A51D0A69-4D8E-524F-9B0E-CEBB36F378F6}"/>
    </a:ext>
  </a:extLst>
</a:theme>
</file>

<file path=ppt/theme/theme5.xml><?xml version="1.0" encoding="utf-8"?>
<a:theme xmlns:a="http://schemas.openxmlformats.org/drawingml/2006/main" name="HTWK Blau">
  <a:themeElements>
    <a:clrScheme name="HTWK_Test">
      <a:dk1>
        <a:sysClr val="windowText" lastClr="000000"/>
      </a:dk1>
      <a:lt1>
        <a:sysClr val="window" lastClr="FFFFFF"/>
      </a:lt1>
      <a:dk2>
        <a:srgbClr val="022541"/>
      </a:dk2>
      <a:lt2>
        <a:srgbClr val="BEC3C6"/>
      </a:lt2>
      <a:accent1>
        <a:srgbClr val="FFED00"/>
      </a:accent1>
      <a:accent2>
        <a:srgbClr val="E5007D"/>
      </a:accent2>
      <a:accent3>
        <a:srgbClr val="00964E"/>
      </a:accent3>
      <a:accent4>
        <a:srgbClr val="E53009"/>
      </a:accent4>
      <a:accent5>
        <a:srgbClr val="009EE3"/>
      </a:accent5>
      <a:accent6>
        <a:srgbClr val="004699"/>
      </a:accent6>
      <a:hlink>
        <a:srgbClr val="022541"/>
      </a:hlink>
      <a:folHlink>
        <a:srgbClr val="2E3639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TWK_Praesentation_16-9" id="{1FEA0790-483C-694F-BB74-62ABC0BEEE2F}" vid="{9DD5615B-4FDE-C14E-84FA-48ACAD4DD175}"/>
    </a:ext>
  </a:extLst>
</a:theme>
</file>

<file path=ppt/theme/theme6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5DA79B272C4D3C4887957B2C2A69604C" ma:contentTypeVersion="2" ma:contentTypeDescription="Ein neues Dokument erstellen." ma:contentTypeScope="" ma:versionID="a8f11939e8f693b5e60eead0cd42f230">
  <xsd:schema xmlns:xsd="http://www.w3.org/2001/XMLSchema" xmlns:xs="http://www.w3.org/2001/XMLSchema" xmlns:p="http://schemas.microsoft.com/office/2006/metadata/properties" xmlns:ns2="99f41258-1f02-46b6-b230-447d6494c4cb" targetNamespace="http://schemas.microsoft.com/office/2006/metadata/properties" ma:root="true" ma:fieldsID="be05fa88f11a9855f776efdf4611a3d7" ns2:_="">
    <xsd:import namespace="99f41258-1f02-46b6-b230-447d6494c4cb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f41258-1f02-46b6-b230-447d6494c4cb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D9AF071-B304-4F0F-8459-AC4D742E5C60}">
  <ds:schemaRefs>
    <ds:schemaRef ds:uri="http://purl.org/dc/dcmitype/"/>
    <ds:schemaRef ds:uri="http://purl.org/dc/elements/1.1/"/>
    <ds:schemaRef ds:uri="http://schemas.microsoft.com/office/2006/documentManagement/types"/>
    <ds:schemaRef ds:uri="http://purl.org/dc/terms/"/>
    <ds:schemaRef ds:uri="99f41258-1f02-46b6-b230-447d6494c4cb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AE15DEB7-8D29-4EC4-857C-8778EFE7092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DF333B2F-1563-4DC4-B635-64824C2FC33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9f41258-1f02-46b6-b230-447d6494c4c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HTWK_Praesentation_16-9.potx</Template>
  <TotalTime>0</TotalTime>
  <Words>1621</Words>
  <Application>Microsoft Office PowerPoint</Application>
  <PresentationFormat>Breitbild</PresentationFormat>
  <Paragraphs>233</Paragraphs>
  <Slides>23</Slides>
  <Notes>23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5</vt:i4>
      </vt:variant>
      <vt:variant>
        <vt:lpstr>Folientitel</vt:lpstr>
      </vt:variant>
      <vt:variant>
        <vt:i4>23</vt:i4>
      </vt:variant>
    </vt:vector>
  </HeadingPairs>
  <TitlesOfParts>
    <vt:vector size="34" baseType="lpstr">
      <vt:lpstr>Arial</vt:lpstr>
      <vt:lpstr>Calibri</vt:lpstr>
      <vt:lpstr>Cambria Math</vt:lpstr>
      <vt:lpstr>Symbol</vt:lpstr>
      <vt:lpstr>Wingdings</vt:lpstr>
      <vt:lpstr>Work Sans</vt:lpstr>
      <vt:lpstr>HTWK_Praesentation_16-9</vt:lpstr>
      <vt:lpstr>HTWK Magenta</vt:lpstr>
      <vt:lpstr>HTWK Grün</vt:lpstr>
      <vt:lpstr>HTWK Cyan</vt:lpstr>
      <vt:lpstr>HTWK Blau</vt:lpstr>
      <vt:lpstr>Arduino</vt:lpstr>
      <vt:lpstr>Einführung</vt:lpstr>
      <vt:lpstr>Was ist Arduino? </vt:lpstr>
      <vt:lpstr>Was ist Arduino?  Lösung: </vt:lpstr>
      <vt:lpstr>Wie ist ein ESP32 aufgebaut? </vt:lpstr>
      <vt:lpstr>Wie ist ein ESP32 aufgebaut?  Lösung:</vt:lpstr>
      <vt:lpstr>Wie ist Arduino IDE aufgebaut? </vt:lpstr>
      <vt:lpstr>Wie ist Arduino IDE aufgebaut?  Lösung </vt:lpstr>
      <vt:lpstr>Erste Schritte – Blinkbeispiel </vt:lpstr>
      <vt:lpstr>PowerPoint-Präsentation</vt:lpstr>
      <vt:lpstr>Wie wird eine LED verschaltet (1)?</vt:lpstr>
      <vt:lpstr>Wie wird eine LED verschaltet (1)?  Lösung:</vt:lpstr>
      <vt:lpstr>Wie wird eine LED programmiert (1)? </vt:lpstr>
      <vt:lpstr>Wie wird eine LED programmiert (1)?  Lösung:</vt:lpstr>
      <vt:lpstr>Wie wird eine LED verschaltet (2)? </vt:lpstr>
      <vt:lpstr>Wie wird eine LED verschaltet (2)?  Lösung:</vt:lpstr>
      <vt:lpstr>Wie wird eine LED programmiert (2)? </vt:lpstr>
      <vt:lpstr>Wie wird eine LED programmiert (2)?  Lösung:</vt:lpstr>
      <vt:lpstr>Wie wird eine LED verschaltet (3)? </vt:lpstr>
      <vt:lpstr>Wie wird eine LED verschaltet (3)?  Lösung: </vt:lpstr>
      <vt:lpstr>Wie wird eine LED programmiert (3)? </vt:lpstr>
      <vt:lpstr>Wie wird eine LED programmiert (3)?  Lösung:</vt:lpstr>
      <vt:lpstr>Vielen Dank für die Aufmerksamkeit!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Titel der Präsentation</dc:title>
  <dc:creator>Paulin Alter</dc:creator>
  <cp:lastModifiedBy>Richter, Elena</cp:lastModifiedBy>
  <cp:revision>347</cp:revision>
  <dcterms:created xsi:type="dcterms:W3CDTF">2019-01-10T16:04:56Z</dcterms:created>
  <dcterms:modified xsi:type="dcterms:W3CDTF">2026-03-10T12:22:34Z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0x0101005DA79B272C4D3C4887957B2C2A69604C</vt:lpwstr>
  </property>
</Properties>
</file>