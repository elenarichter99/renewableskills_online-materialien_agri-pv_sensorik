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tiff" ContentType="image/tiff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4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73" r:id="rId5"/>
    <p:sldMasterId id="2147483678" r:id="rId6"/>
    <p:sldMasterId id="2147483688" r:id="rId7"/>
    <p:sldMasterId id="2147483693" r:id="rId8"/>
  </p:sldMasterIdLst>
  <p:notesMasterIdLst>
    <p:notesMasterId r:id="rId19"/>
  </p:notesMasterIdLst>
  <p:sldIdLst>
    <p:sldId id="367" r:id="rId9"/>
    <p:sldId id="397" r:id="rId10"/>
    <p:sldId id="395" r:id="rId11"/>
    <p:sldId id="396" r:id="rId12"/>
    <p:sldId id="398" r:id="rId13"/>
    <p:sldId id="400" r:id="rId14"/>
    <p:sldId id="391" r:id="rId15"/>
    <p:sldId id="393" r:id="rId16"/>
    <p:sldId id="388" r:id="rId17"/>
    <p:sldId id="366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3867" userDrawn="1">
          <p15:clr>
            <a:srgbClr val="A4A3A4"/>
          </p15:clr>
        </p15:guide>
        <p15:guide id="4" orient="horz" pos="229" userDrawn="1">
          <p15:clr>
            <a:srgbClr val="A4A3A4"/>
          </p15:clr>
        </p15:guide>
        <p15:guide id="5" orient="horz" pos="680" userDrawn="1">
          <p15:clr>
            <a:srgbClr val="A4A3A4"/>
          </p15:clr>
        </p15:guide>
        <p15:guide id="6" orient="horz" pos="914" userDrawn="1">
          <p15:clr>
            <a:srgbClr val="A4A3A4"/>
          </p15:clr>
        </p15:guide>
        <p15:guide id="7" orient="horz" pos="4121" userDrawn="1">
          <p15:clr>
            <a:srgbClr val="A4A3A4"/>
          </p15:clr>
        </p15:guide>
        <p15:guide id="8" orient="horz" pos="945" userDrawn="1">
          <p15:clr>
            <a:srgbClr val="A4A3A4"/>
          </p15:clr>
        </p15:guide>
        <p15:guide id="9" pos="452" userDrawn="1">
          <p15:clr>
            <a:srgbClr val="A4A3A4"/>
          </p15:clr>
        </p15:guide>
        <p15:guide id="10" pos="7231" userDrawn="1">
          <p15:clr>
            <a:srgbClr val="A4A3A4"/>
          </p15:clr>
        </p15:guide>
        <p15:guide id="11" pos="3932" userDrawn="1">
          <p15:clr>
            <a:srgbClr val="A4A3A4"/>
          </p15:clr>
        </p15:guide>
        <p15:guide id="12" pos="374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ichter, Elena" initials="RE" lastIdx="1" clrIdx="0">
    <p:extLst>
      <p:ext uri="{19B8F6BF-5375-455C-9EA6-DF929625EA0E}">
        <p15:presenceInfo xmlns:p15="http://schemas.microsoft.com/office/powerpoint/2012/main" userId="S-1-5-21-2252779649-2432209404-4072682936-2848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AF00"/>
    <a:srgbClr val="FF7373"/>
    <a:srgbClr val="AAC9B2"/>
    <a:srgbClr val="00964E"/>
    <a:srgbClr val="F5B5B5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Designformatvorlage 1 - Akz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5758FB7-9AC5-4552-8A53-C91805E547FA}" styleName="Designformatvorlage 1 - Akz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99" autoAdjust="0"/>
    <p:restoredTop sz="94343" autoAdjust="0"/>
  </p:normalViewPr>
  <p:slideViewPr>
    <p:cSldViewPr snapToGrid="0" showGuides="1">
      <p:cViewPr>
        <p:scale>
          <a:sx n="75" d="100"/>
          <a:sy n="75" d="100"/>
        </p:scale>
        <p:origin x="534" y="-6"/>
      </p:cViewPr>
      <p:guideLst>
        <p:guide orient="horz" pos="2160"/>
        <p:guide pos="3840"/>
        <p:guide orient="horz" pos="3867"/>
        <p:guide orient="horz" pos="229"/>
        <p:guide orient="horz" pos="680"/>
        <p:guide orient="horz" pos="914"/>
        <p:guide orient="horz" pos="4121"/>
        <p:guide orient="horz" pos="945"/>
        <p:guide pos="452"/>
        <p:guide pos="7231"/>
        <p:guide pos="3932"/>
        <p:guide pos="3748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0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24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7.xml"/><Relationship Id="rId23" Type="http://schemas.openxmlformats.org/officeDocument/2006/relationships/theme" Target="theme/theme1.xml"/><Relationship Id="rId10" Type="http://schemas.openxmlformats.org/officeDocument/2006/relationships/slide" Target="slides/slide2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viewProps" Target="viewProps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8B6593-098D-4382-9647-35487FA190B4}" type="datetimeFigureOut">
              <a:rPr lang="de-DE" smtClean="0"/>
              <a:t>10.03.2026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03A5D1-80BE-4AF1-A18B-8D2CA75BFDA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026543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237486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2E0887-BE0C-4C59-B8F7-4CAEF3FAD2DB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408616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 smtClean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469993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 smtClean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829783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 smtClean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084050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 smtClean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366698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2E0887-BE0C-4C59-B8F7-4CAEF3FAD2DB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723352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 smtClean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767069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 smtClean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649667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35824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5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5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002" y="4845080"/>
            <a:ext cx="10271997" cy="1290608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3000"/>
            </a:lvl1pPr>
          </a:lstStyle>
          <a:p>
            <a:r>
              <a:rPr lang="de-DE" smtClean="0"/>
              <a:t>Mastertitelformat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0000" y="6206400"/>
            <a:ext cx="2030400" cy="3600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00" b="1" cap="all" spc="90" baseline="0"/>
            </a:lvl1pPr>
          </a:lstStyle>
          <a:p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86399" y="6205104"/>
            <a:ext cx="7200000" cy="360000"/>
          </a:xfrm>
        </p:spPr>
        <p:txBody>
          <a:bodyPr/>
          <a:lstStyle>
            <a:lvl1pPr>
              <a:defRPr sz="1000"/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ABD0A9EC-9FD7-4222-9E83-3F5E6A446F2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60000" y="1144800"/>
            <a:ext cx="10272000" cy="3510000"/>
          </a:xfrm>
        </p:spPr>
        <p:txBody>
          <a:bodyPr anchor="ctr" anchorCtr="0"/>
          <a:lstStyle>
            <a:lvl1pPr algn="ctr">
              <a:defRPr sz="1400" b="0"/>
            </a:lvl1pPr>
          </a:lstStyle>
          <a:p>
            <a:r>
              <a:rPr lang="de-DE" smtClean="0"/>
              <a:t>Bild auf Platzhalter ziehen oder durch Klicken auf Symbol hinzufügen</a:t>
            </a:r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C575106C-3CD7-FE4D-97C8-190DE4ECDEC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00" y="434598"/>
            <a:ext cx="2518560" cy="336243"/>
          </a:xfrm>
          <a:prstGeom prst="rect">
            <a:avLst/>
          </a:prstGeom>
        </p:spPr>
      </p:pic>
      <p:sp>
        <p:nvSpPr>
          <p:cNvPr id="10" name="Textplatzhalter 12">
            <a:extLst>
              <a:ext uri="{FF2B5EF4-FFF2-40B4-BE49-F238E27FC236}">
                <a16:creationId xmlns:a16="http://schemas.microsoft.com/office/drawing/2014/main" id="{470EED4F-3BF2-0241-A831-A9A96AFFE91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5705" y="1498600"/>
            <a:ext cx="864000" cy="2804400"/>
          </a:xfrm>
          <a:solidFill>
            <a:schemeClr val="accent1"/>
          </a:solidFill>
        </p:spPr>
        <p:txBody>
          <a:bodyPr/>
          <a:lstStyle>
            <a:lvl1pPr>
              <a:defRPr sz="100" b="0">
                <a:solidFill>
                  <a:srgbClr val="FFFF00"/>
                </a:solidFill>
              </a:defRPr>
            </a:lvl1pPr>
          </a:lstStyle>
          <a:p>
            <a:pPr lvl="0"/>
            <a:r>
              <a:rPr lang="de-DE" dirty="0"/>
              <a:t>..</a:t>
            </a:r>
          </a:p>
        </p:txBody>
      </p:sp>
      <p:sp>
        <p:nvSpPr>
          <p:cNvPr id="11" name="Textplatzhalter 12">
            <a:extLst>
              <a:ext uri="{FF2B5EF4-FFF2-40B4-BE49-F238E27FC236}">
                <a16:creationId xmlns:a16="http://schemas.microsoft.com/office/drawing/2014/main" id="{EAAA6AD5-C75F-0846-B79B-823B288EFFD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912295" y="1510821"/>
            <a:ext cx="864000" cy="2804400"/>
          </a:xfrm>
          <a:solidFill>
            <a:schemeClr val="accent1"/>
          </a:solidFill>
        </p:spPr>
        <p:txBody>
          <a:bodyPr/>
          <a:lstStyle>
            <a:lvl1pPr>
              <a:defRPr sz="100" b="0">
                <a:solidFill>
                  <a:srgbClr val="FFFF00"/>
                </a:solidFill>
              </a:defRPr>
            </a:lvl1pPr>
          </a:lstStyle>
          <a:p>
            <a:pPr lvl="0"/>
            <a:r>
              <a:rPr lang="de-DE" dirty="0"/>
              <a:t>..</a:t>
            </a:r>
          </a:p>
        </p:txBody>
      </p:sp>
    </p:spTree>
    <p:extLst>
      <p:ext uri="{BB962C8B-B14F-4D97-AF65-F5344CB8AC3E}">
        <p14:creationId xmlns:p14="http://schemas.microsoft.com/office/powerpoint/2010/main" val="4040694225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604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77943244-8079-C343-9249-D13695A8447F}"/>
              </a:ext>
            </a:extLst>
          </p:cNvPr>
          <p:cNvGrpSpPr/>
          <p:nvPr userDrawn="1"/>
        </p:nvGrpSpPr>
        <p:grpSpPr>
          <a:xfrm>
            <a:off x="1974056" y="1069975"/>
            <a:ext cx="8243887" cy="5788025"/>
            <a:chOff x="455613" y="533400"/>
            <a:chExt cx="8243887" cy="5788025"/>
          </a:xfrm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3004A059-65DF-B340-AD61-079AA36765F4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613" y="533400"/>
              <a:ext cx="3340100" cy="5788025"/>
            </a:xfrm>
            <a:custGeom>
              <a:avLst/>
              <a:gdLst>
                <a:gd name="T0" fmla="*/ 0 w 3503"/>
                <a:gd name="T1" fmla="*/ 470 h 6066"/>
                <a:gd name="T2" fmla="*/ 0 w 3503"/>
                <a:gd name="T3" fmla="*/ 470 h 6066"/>
                <a:gd name="T4" fmla="*/ 1189 w 3503"/>
                <a:gd name="T5" fmla="*/ 6066 h 6066"/>
                <a:gd name="T6" fmla="*/ 3503 w 3503"/>
                <a:gd name="T7" fmla="*/ 6066 h 6066"/>
                <a:gd name="T8" fmla="*/ 2214 w 3503"/>
                <a:gd name="T9" fmla="*/ 0 h 6066"/>
                <a:gd name="T10" fmla="*/ 0 w 3503"/>
                <a:gd name="T11" fmla="*/ 470 h 6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3" h="6066">
                  <a:moveTo>
                    <a:pt x="0" y="470"/>
                  </a:moveTo>
                  <a:lnTo>
                    <a:pt x="0" y="470"/>
                  </a:lnTo>
                  <a:lnTo>
                    <a:pt x="1189" y="6066"/>
                  </a:lnTo>
                  <a:lnTo>
                    <a:pt x="3503" y="6066"/>
                  </a:lnTo>
                  <a:lnTo>
                    <a:pt x="2214" y="0"/>
                  </a:lnTo>
                  <a:lnTo>
                    <a:pt x="0" y="47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488F6906-E0DF-3A4F-A375-7B9D3F4EA13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59400" y="533400"/>
              <a:ext cx="3340100" cy="5788025"/>
            </a:xfrm>
            <a:custGeom>
              <a:avLst/>
              <a:gdLst>
                <a:gd name="T0" fmla="*/ 0 w 3504"/>
                <a:gd name="T1" fmla="*/ 470 h 6066"/>
                <a:gd name="T2" fmla="*/ 0 w 3504"/>
                <a:gd name="T3" fmla="*/ 470 h 6066"/>
                <a:gd name="T4" fmla="*/ 1190 w 3504"/>
                <a:gd name="T5" fmla="*/ 6066 h 6066"/>
                <a:gd name="T6" fmla="*/ 3504 w 3504"/>
                <a:gd name="T7" fmla="*/ 6066 h 6066"/>
                <a:gd name="T8" fmla="*/ 2214 w 3504"/>
                <a:gd name="T9" fmla="*/ 0 h 6066"/>
                <a:gd name="T10" fmla="*/ 0 w 3504"/>
                <a:gd name="T11" fmla="*/ 470 h 6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4" h="6066">
                  <a:moveTo>
                    <a:pt x="0" y="470"/>
                  </a:moveTo>
                  <a:lnTo>
                    <a:pt x="0" y="470"/>
                  </a:lnTo>
                  <a:lnTo>
                    <a:pt x="1190" y="6066"/>
                  </a:lnTo>
                  <a:lnTo>
                    <a:pt x="3504" y="6066"/>
                  </a:lnTo>
                  <a:lnTo>
                    <a:pt x="2214" y="0"/>
                  </a:lnTo>
                  <a:lnTo>
                    <a:pt x="0" y="47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6000" y="2250000"/>
            <a:ext cx="9000000" cy="2358000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5400"/>
            </a:lvl1pPr>
          </a:lstStyle>
          <a:p>
            <a:r>
              <a:rPr lang="de-DE" smtClean="0"/>
              <a:t>Mastertitelformat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0000" y="6206400"/>
            <a:ext cx="2030400" cy="3600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00" b="1" cap="all" spc="90" baseline="0"/>
            </a:lvl1pPr>
          </a:lstStyle>
          <a:p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86399" y="6205104"/>
            <a:ext cx="7200000" cy="360000"/>
          </a:xfrm>
        </p:spPr>
        <p:txBody>
          <a:bodyPr/>
          <a:lstStyle>
            <a:lvl1pPr>
              <a:defRPr sz="1000"/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3479D9D2-52F2-0247-AF3C-3AA30091C9A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00" y="440836"/>
            <a:ext cx="2518560" cy="336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652581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604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7552" y="1445220"/>
            <a:ext cx="10756899" cy="4690468"/>
          </a:xfrm>
        </p:spPr>
        <p:txBody>
          <a:bodyPr/>
          <a:lstStyle/>
          <a:p>
            <a:pPr lvl="0"/>
            <a:r>
              <a:rPr lang="de-DE" smtClean="0"/>
              <a:t>Mastertextformat bearbeiten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Prof. Dr-Ing. Mathias Rudolph, Elena Richter, Ludwig Ostertag, Fakultät ING, Industrielle Messtechnik</a:t>
            </a:r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23252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Mastertitelformat bearbeiten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0003" y="1447200"/>
            <a:ext cx="5234448" cy="4690800"/>
          </a:xfrm>
        </p:spPr>
        <p:txBody>
          <a:bodyPr/>
          <a:lstStyle/>
          <a:p>
            <a:pPr lvl="0"/>
            <a:r>
              <a:rPr lang="de-DE" smtClean="0"/>
              <a:t>Mastertextformat bearbeiten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Prof. Dr-Ing. Mathias Rudolph, Elena Richter, Ludwig Ostertag, Fakultät ING, Industrielle Messtechnik</a:t>
            </a: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D9A6F8F6-0E4C-4AD1-BF40-19A8E1937FC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17550" y="1500189"/>
            <a:ext cx="5236633" cy="4638674"/>
          </a:xfrm>
        </p:spPr>
        <p:txBody>
          <a:bodyPr anchor="ctr" anchorCtr="0"/>
          <a:lstStyle>
            <a:lvl1pPr algn="ctr">
              <a:defRPr sz="1400" b="0"/>
            </a:lvl1pPr>
          </a:lstStyle>
          <a:p>
            <a:r>
              <a:rPr lang="de-DE" smtClean="0"/>
              <a:t>Bild auf Platzhalter ziehen oder durch Klicken auf Symbol hinzufügen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19583798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751" userDrawn="1">
          <p15:clr>
            <a:srgbClr val="FBAE40"/>
          </p15:clr>
        </p15:guide>
        <p15:guide id="2" pos="3931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3869C99-C634-47CD-B208-CB16ACE119EE}" type="slidenum">
              <a:rPr lang="de-DE"/>
              <a:pPr/>
              <a:t>‹Nr.›</a:t>
            </a:fld>
            <a:endParaRPr lang="de-DE"/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2" hasCustomPrompt="1"/>
          </p:nvPr>
        </p:nvSpPr>
        <p:spPr>
          <a:xfrm>
            <a:off x="480000" y="360000"/>
            <a:ext cx="8803200" cy="360000"/>
          </a:xfrm>
        </p:spPr>
        <p:txBody>
          <a:bodyPr tIns="72000"/>
          <a:lstStyle>
            <a:lvl1pPr>
              <a:defRPr sz="1000" b="1"/>
            </a:lvl1pPr>
            <a:lvl2pPr>
              <a:defRPr sz="1000" b="1"/>
            </a:lvl2pPr>
            <a:lvl3pPr>
              <a:defRPr sz="1000" b="1"/>
            </a:lvl3pPr>
            <a:lvl4pPr>
              <a:defRPr sz="1000" b="1"/>
            </a:lvl4pPr>
            <a:lvl5pPr>
              <a:defRPr sz="1000" b="1"/>
            </a:lvl5pPr>
          </a:lstStyle>
          <a:p>
            <a:pPr lvl="0"/>
            <a:r>
              <a:rPr lang="de-DE" dirty="0"/>
              <a:t>Hier steht das Thema oder das Kapitel</a:t>
            </a:r>
          </a:p>
        </p:txBody>
      </p:sp>
    </p:spTree>
    <p:extLst>
      <p:ext uri="{BB962C8B-B14F-4D97-AF65-F5344CB8AC3E}">
        <p14:creationId xmlns:p14="http://schemas.microsoft.com/office/powerpoint/2010/main" val="1449046576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002" y="4845080"/>
            <a:ext cx="10271997" cy="1290608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3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0000" y="6206400"/>
            <a:ext cx="2030400" cy="3600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00" b="1" cap="all" spc="90" baseline="0"/>
            </a:lvl1pPr>
          </a:lstStyle>
          <a:p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86399" y="6205104"/>
            <a:ext cx="7200000" cy="360000"/>
          </a:xfrm>
        </p:spPr>
        <p:txBody>
          <a:bodyPr/>
          <a:lstStyle>
            <a:lvl1pPr>
              <a:defRPr sz="1000"/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ABD0A9EC-9FD7-4222-9E83-3F5E6A446F2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60000" y="1144800"/>
            <a:ext cx="10272000" cy="3510000"/>
          </a:xfrm>
        </p:spPr>
        <p:txBody>
          <a:bodyPr anchor="ctr" anchorCtr="0"/>
          <a:lstStyle>
            <a:lvl1pPr algn="ctr">
              <a:defRPr sz="1400" b="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96AC28FB-499D-1849-BB5A-4F591E328D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00" y="434598"/>
            <a:ext cx="2518560" cy="336243"/>
          </a:xfrm>
          <a:prstGeom prst="rect">
            <a:avLst/>
          </a:prstGeom>
        </p:spPr>
      </p:pic>
      <p:sp>
        <p:nvSpPr>
          <p:cNvPr id="10" name="Textplatzhalter 12">
            <a:extLst>
              <a:ext uri="{FF2B5EF4-FFF2-40B4-BE49-F238E27FC236}">
                <a16:creationId xmlns:a16="http://schemas.microsoft.com/office/drawing/2014/main" id="{F2D1C116-76C7-2248-9B28-093803C439D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0295" y="1497600"/>
            <a:ext cx="864000" cy="2804400"/>
          </a:xfrm>
          <a:solidFill>
            <a:schemeClr val="accent2"/>
          </a:solidFill>
        </p:spPr>
        <p:txBody>
          <a:bodyPr/>
          <a:lstStyle>
            <a:lvl1pPr>
              <a:defRPr sz="100" b="0">
                <a:solidFill>
                  <a:srgbClr val="FFFF00"/>
                </a:solidFill>
              </a:defRPr>
            </a:lvl1pPr>
          </a:lstStyle>
          <a:p>
            <a:pPr lvl="0"/>
            <a:r>
              <a:rPr lang="de-DE" dirty="0"/>
              <a:t>..</a:t>
            </a:r>
          </a:p>
        </p:txBody>
      </p:sp>
      <p:sp>
        <p:nvSpPr>
          <p:cNvPr id="11" name="Textplatzhalter 12">
            <a:extLst>
              <a:ext uri="{FF2B5EF4-FFF2-40B4-BE49-F238E27FC236}">
                <a16:creationId xmlns:a16="http://schemas.microsoft.com/office/drawing/2014/main" id="{357D0EB7-C39F-6D4A-A3C7-303DC7C8CC5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927705" y="1497600"/>
            <a:ext cx="864000" cy="2804400"/>
          </a:xfrm>
          <a:solidFill>
            <a:schemeClr val="accent2"/>
          </a:solidFill>
        </p:spPr>
        <p:txBody>
          <a:bodyPr/>
          <a:lstStyle>
            <a:lvl1pPr>
              <a:defRPr sz="100" b="0">
                <a:solidFill>
                  <a:srgbClr val="FFFF00"/>
                </a:solidFill>
              </a:defRPr>
            </a:lvl1pPr>
          </a:lstStyle>
          <a:p>
            <a:pPr lvl="0"/>
            <a:r>
              <a:rPr lang="de-DE" dirty="0"/>
              <a:t>..</a:t>
            </a:r>
          </a:p>
        </p:txBody>
      </p:sp>
    </p:spTree>
    <p:extLst>
      <p:ext uri="{BB962C8B-B14F-4D97-AF65-F5344CB8AC3E}">
        <p14:creationId xmlns:p14="http://schemas.microsoft.com/office/powerpoint/2010/main" val="3266145622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604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42174EAA-6533-1245-B1A2-E6E16AF28528}"/>
              </a:ext>
            </a:extLst>
          </p:cNvPr>
          <p:cNvGrpSpPr/>
          <p:nvPr userDrawn="1"/>
        </p:nvGrpSpPr>
        <p:grpSpPr>
          <a:xfrm>
            <a:off x="1974056" y="1069975"/>
            <a:ext cx="8243887" cy="5788025"/>
            <a:chOff x="455613" y="533400"/>
            <a:chExt cx="8243887" cy="5788025"/>
          </a:xfrm>
          <a:solidFill>
            <a:schemeClr val="accent2"/>
          </a:solidFill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DA5B3661-9CFB-FB40-B406-C44AAF2F6672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613" y="533400"/>
              <a:ext cx="3340100" cy="5788025"/>
            </a:xfrm>
            <a:custGeom>
              <a:avLst/>
              <a:gdLst>
                <a:gd name="T0" fmla="*/ 0 w 3503"/>
                <a:gd name="T1" fmla="*/ 470 h 6066"/>
                <a:gd name="T2" fmla="*/ 0 w 3503"/>
                <a:gd name="T3" fmla="*/ 470 h 6066"/>
                <a:gd name="T4" fmla="*/ 1189 w 3503"/>
                <a:gd name="T5" fmla="*/ 6066 h 6066"/>
                <a:gd name="T6" fmla="*/ 3503 w 3503"/>
                <a:gd name="T7" fmla="*/ 6066 h 6066"/>
                <a:gd name="T8" fmla="*/ 2214 w 3503"/>
                <a:gd name="T9" fmla="*/ 0 h 6066"/>
                <a:gd name="T10" fmla="*/ 0 w 3503"/>
                <a:gd name="T11" fmla="*/ 470 h 6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3" h="6066">
                  <a:moveTo>
                    <a:pt x="0" y="470"/>
                  </a:moveTo>
                  <a:lnTo>
                    <a:pt x="0" y="470"/>
                  </a:lnTo>
                  <a:lnTo>
                    <a:pt x="1189" y="6066"/>
                  </a:lnTo>
                  <a:lnTo>
                    <a:pt x="3503" y="6066"/>
                  </a:lnTo>
                  <a:lnTo>
                    <a:pt x="2214" y="0"/>
                  </a:lnTo>
                  <a:lnTo>
                    <a:pt x="0" y="47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6CE9E062-1775-864A-90AB-4D742F8105B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59400" y="533400"/>
              <a:ext cx="3340100" cy="5788025"/>
            </a:xfrm>
            <a:custGeom>
              <a:avLst/>
              <a:gdLst>
                <a:gd name="T0" fmla="*/ 0 w 3504"/>
                <a:gd name="T1" fmla="*/ 470 h 6066"/>
                <a:gd name="T2" fmla="*/ 0 w 3504"/>
                <a:gd name="T3" fmla="*/ 470 h 6066"/>
                <a:gd name="T4" fmla="*/ 1190 w 3504"/>
                <a:gd name="T5" fmla="*/ 6066 h 6066"/>
                <a:gd name="T6" fmla="*/ 3504 w 3504"/>
                <a:gd name="T7" fmla="*/ 6066 h 6066"/>
                <a:gd name="T8" fmla="*/ 2214 w 3504"/>
                <a:gd name="T9" fmla="*/ 0 h 6066"/>
                <a:gd name="T10" fmla="*/ 0 w 3504"/>
                <a:gd name="T11" fmla="*/ 470 h 6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4" h="6066">
                  <a:moveTo>
                    <a:pt x="0" y="470"/>
                  </a:moveTo>
                  <a:lnTo>
                    <a:pt x="0" y="470"/>
                  </a:lnTo>
                  <a:lnTo>
                    <a:pt x="1190" y="6066"/>
                  </a:lnTo>
                  <a:lnTo>
                    <a:pt x="3504" y="6066"/>
                  </a:lnTo>
                  <a:lnTo>
                    <a:pt x="2214" y="0"/>
                  </a:lnTo>
                  <a:lnTo>
                    <a:pt x="0" y="47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54315" y="2067240"/>
            <a:ext cx="9000000" cy="2358000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5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0000" y="6206400"/>
            <a:ext cx="2030400" cy="3600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00" b="1" cap="all" spc="90" baseline="0"/>
            </a:lvl1pPr>
          </a:lstStyle>
          <a:p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86399" y="6205104"/>
            <a:ext cx="7200000" cy="360000"/>
          </a:xfrm>
        </p:spPr>
        <p:txBody>
          <a:bodyPr/>
          <a:lstStyle>
            <a:lvl1pPr>
              <a:defRPr sz="1000"/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997D15C1-C7AC-7A4D-8A57-9FDCE7B970D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00" y="440836"/>
            <a:ext cx="2518560" cy="336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00631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604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7552" y="1445220"/>
            <a:ext cx="10756899" cy="4690468"/>
          </a:xfrm>
        </p:spPr>
        <p:txBody>
          <a:bodyPr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Prof. Dr-Ing. Mathias Rudolph, Elena Richter, Ludwig Ostertag, Fakultät ING, Industrielle Messtechnik</a:t>
            </a:r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772418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0003" y="1447200"/>
            <a:ext cx="5234448" cy="4690800"/>
          </a:xfrm>
        </p:spPr>
        <p:txBody>
          <a:bodyPr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Prof. Dr-Ing. Mathias Rudolph, Elena Richter, Ludwig Ostertag, Fakultät ING, Industrielle Messtechnik</a:t>
            </a: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D9A6F8F6-0E4C-4AD1-BF40-19A8E1937FC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17550" y="1500189"/>
            <a:ext cx="5236633" cy="4638674"/>
          </a:xfrm>
        </p:spPr>
        <p:txBody>
          <a:bodyPr anchor="ctr" anchorCtr="0"/>
          <a:lstStyle>
            <a:lvl1pPr algn="ctr">
              <a:defRPr sz="1400" b="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38869321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751" userDrawn="1">
          <p15:clr>
            <a:srgbClr val="FBAE40"/>
          </p15:clr>
        </p15:guide>
        <p15:guide id="2" pos="3931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002" y="4845080"/>
            <a:ext cx="10271997" cy="1290608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3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0000" y="6206400"/>
            <a:ext cx="2030400" cy="3600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00" b="1" cap="all" spc="90" baseline="0"/>
            </a:lvl1pPr>
          </a:lstStyle>
          <a:p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86399" y="6205104"/>
            <a:ext cx="7200000" cy="360000"/>
          </a:xfrm>
        </p:spPr>
        <p:txBody>
          <a:bodyPr/>
          <a:lstStyle>
            <a:lvl1pPr>
              <a:defRPr sz="1000"/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ABD0A9EC-9FD7-4222-9E83-3F5E6A446F2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60000" y="1144800"/>
            <a:ext cx="10272000" cy="3510000"/>
          </a:xfrm>
        </p:spPr>
        <p:txBody>
          <a:bodyPr anchor="ctr" anchorCtr="0"/>
          <a:lstStyle>
            <a:lvl1pPr algn="ctr">
              <a:defRPr sz="1400" b="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CA622DFD-BA6C-284F-9623-ED074C94A27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00" y="434598"/>
            <a:ext cx="2518560" cy="336243"/>
          </a:xfrm>
          <a:prstGeom prst="rect">
            <a:avLst/>
          </a:prstGeom>
        </p:spPr>
      </p:pic>
      <p:sp>
        <p:nvSpPr>
          <p:cNvPr id="10" name="Textplatzhalter 12">
            <a:extLst>
              <a:ext uri="{FF2B5EF4-FFF2-40B4-BE49-F238E27FC236}">
                <a16:creationId xmlns:a16="http://schemas.microsoft.com/office/drawing/2014/main" id="{F3E97099-16DC-FB42-BC6A-1770FEA02C1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5579" y="1497600"/>
            <a:ext cx="864000" cy="2804400"/>
          </a:xfrm>
          <a:solidFill>
            <a:schemeClr val="accent3"/>
          </a:solidFill>
        </p:spPr>
        <p:txBody>
          <a:bodyPr/>
          <a:lstStyle>
            <a:lvl1pPr>
              <a:defRPr sz="100" b="0">
                <a:solidFill>
                  <a:srgbClr val="FFFF00"/>
                </a:solidFill>
              </a:defRPr>
            </a:lvl1pPr>
          </a:lstStyle>
          <a:p>
            <a:pPr lvl="0"/>
            <a:r>
              <a:rPr lang="de-DE" dirty="0"/>
              <a:t>..</a:t>
            </a:r>
          </a:p>
        </p:txBody>
      </p:sp>
      <p:sp>
        <p:nvSpPr>
          <p:cNvPr id="11" name="Textplatzhalter 12">
            <a:extLst>
              <a:ext uri="{FF2B5EF4-FFF2-40B4-BE49-F238E27FC236}">
                <a16:creationId xmlns:a16="http://schemas.microsoft.com/office/drawing/2014/main" id="{A25C51E1-4750-2945-85F5-2DB74E12410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912421" y="1497600"/>
            <a:ext cx="864000" cy="2804400"/>
          </a:xfrm>
          <a:solidFill>
            <a:schemeClr val="accent3"/>
          </a:solidFill>
        </p:spPr>
        <p:txBody>
          <a:bodyPr/>
          <a:lstStyle>
            <a:lvl1pPr>
              <a:defRPr sz="100" b="0">
                <a:solidFill>
                  <a:srgbClr val="FFFF00"/>
                </a:solidFill>
              </a:defRPr>
            </a:lvl1pPr>
          </a:lstStyle>
          <a:p>
            <a:pPr lvl="0"/>
            <a:r>
              <a:rPr lang="de-DE" dirty="0"/>
              <a:t>..</a:t>
            </a:r>
          </a:p>
        </p:txBody>
      </p:sp>
    </p:spTree>
    <p:extLst>
      <p:ext uri="{BB962C8B-B14F-4D97-AF65-F5344CB8AC3E}">
        <p14:creationId xmlns:p14="http://schemas.microsoft.com/office/powerpoint/2010/main" val="4130822497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604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D9301872-D993-6045-BA77-C2A4043FA6B1}"/>
              </a:ext>
            </a:extLst>
          </p:cNvPr>
          <p:cNvGrpSpPr/>
          <p:nvPr userDrawn="1"/>
        </p:nvGrpSpPr>
        <p:grpSpPr>
          <a:xfrm>
            <a:off x="1974056" y="1069975"/>
            <a:ext cx="8243887" cy="5788025"/>
            <a:chOff x="455613" y="533400"/>
            <a:chExt cx="8243887" cy="5788025"/>
          </a:xfrm>
          <a:solidFill>
            <a:schemeClr val="accent3"/>
          </a:solidFill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C774AA1D-ECDF-CB41-A570-3B4444D2BBF9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613" y="533400"/>
              <a:ext cx="3340100" cy="5788025"/>
            </a:xfrm>
            <a:custGeom>
              <a:avLst/>
              <a:gdLst>
                <a:gd name="T0" fmla="*/ 0 w 3503"/>
                <a:gd name="T1" fmla="*/ 470 h 6066"/>
                <a:gd name="T2" fmla="*/ 0 w 3503"/>
                <a:gd name="T3" fmla="*/ 470 h 6066"/>
                <a:gd name="T4" fmla="*/ 1189 w 3503"/>
                <a:gd name="T5" fmla="*/ 6066 h 6066"/>
                <a:gd name="T6" fmla="*/ 3503 w 3503"/>
                <a:gd name="T7" fmla="*/ 6066 h 6066"/>
                <a:gd name="T8" fmla="*/ 2214 w 3503"/>
                <a:gd name="T9" fmla="*/ 0 h 6066"/>
                <a:gd name="T10" fmla="*/ 0 w 3503"/>
                <a:gd name="T11" fmla="*/ 470 h 6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3" h="6066">
                  <a:moveTo>
                    <a:pt x="0" y="470"/>
                  </a:moveTo>
                  <a:lnTo>
                    <a:pt x="0" y="470"/>
                  </a:lnTo>
                  <a:lnTo>
                    <a:pt x="1189" y="6066"/>
                  </a:lnTo>
                  <a:lnTo>
                    <a:pt x="3503" y="6066"/>
                  </a:lnTo>
                  <a:lnTo>
                    <a:pt x="2214" y="0"/>
                  </a:lnTo>
                  <a:lnTo>
                    <a:pt x="0" y="47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F9149E62-8F23-A64A-AB86-461836AFA42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59400" y="533400"/>
              <a:ext cx="3340100" cy="5788025"/>
            </a:xfrm>
            <a:custGeom>
              <a:avLst/>
              <a:gdLst>
                <a:gd name="T0" fmla="*/ 0 w 3504"/>
                <a:gd name="T1" fmla="*/ 470 h 6066"/>
                <a:gd name="T2" fmla="*/ 0 w 3504"/>
                <a:gd name="T3" fmla="*/ 470 h 6066"/>
                <a:gd name="T4" fmla="*/ 1190 w 3504"/>
                <a:gd name="T5" fmla="*/ 6066 h 6066"/>
                <a:gd name="T6" fmla="*/ 3504 w 3504"/>
                <a:gd name="T7" fmla="*/ 6066 h 6066"/>
                <a:gd name="T8" fmla="*/ 2214 w 3504"/>
                <a:gd name="T9" fmla="*/ 0 h 6066"/>
                <a:gd name="T10" fmla="*/ 0 w 3504"/>
                <a:gd name="T11" fmla="*/ 470 h 6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4" h="6066">
                  <a:moveTo>
                    <a:pt x="0" y="470"/>
                  </a:moveTo>
                  <a:lnTo>
                    <a:pt x="0" y="470"/>
                  </a:lnTo>
                  <a:lnTo>
                    <a:pt x="1190" y="6066"/>
                  </a:lnTo>
                  <a:lnTo>
                    <a:pt x="3504" y="6066"/>
                  </a:lnTo>
                  <a:lnTo>
                    <a:pt x="2214" y="0"/>
                  </a:lnTo>
                  <a:lnTo>
                    <a:pt x="0" y="47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54315" y="2067240"/>
            <a:ext cx="9000000" cy="2358000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5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0000" y="6206400"/>
            <a:ext cx="2030400" cy="3600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00" b="1" cap="all" spc="90" baseline="0"/>
            </a:lvl1pPr>
          </a:lstStyle>
          <a:p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86399" y="6205104"/>
            <a:ext cx="7200000" cy="360000"/>
          </a:xfrm>
        </p:spPr>
        <p:txBody>
          <a:bodyPr/>
          <a:lstStyle>
            <a:lvl1pPr>
              <a:defRPr sz="1000"/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CE926752-3C17-B642-9FCE-11E041587E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00" y="434598"/>
            <a:ext cx="2518560" cy="336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8267067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604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7552" y="1445220"/>
            <a:ext cx="10756899" cy="4690468"/>
          </a:xfrm>
        </p:spPr>
        <p:txBody>
          <a:bodyPr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Prof. Dr-Ing. Mathias Rudolph, Elena Richter, Ludwig Ostertag, Fakultät ING, Industrielle Messtechnik</a:t>
            </a:r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704221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0003" y="1447200"/>
            <a:ext cx="5234448" cy="4690800"/>
          </a:xfrm>
        </p:spPr>
        <p:txBody>
          <a:bodyPr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Prof. Dr-Ing. Mathias Rudolph, Elena Richter, Ludwig Ostertag, Fakultät ING, Industrielle Messtechnik</a:t>
            </a: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D9A6F8F6-0E4C-4AD1-BF40-19A8E1937FC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17550" y="1500189"/>
            <a:ext cx="5236633" cy="4638674"/>
          </a:xfrm>
        </p:spPr>
        <p:txBody>
          <a:bodyPr anchor="ctr" anchorCtr="0"/>
          <a:lstStyle>
            <a:lvl1pPr algn="ctr">
              <a:defRPr sz="1400" b="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70765640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751" userDrawn="1">
          <p15:clr>
            <a:srgbClr val="FBAE40"/>
          </p15:clr>
        </p15:guide>
        <p15:guide id="2" pos="3931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002" y="4845080"/>
            <a:ext cx="10271997" cy="1290608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3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0000" y="6206400"/>
            <a:ext cx="2030400" cy="3600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00" b="1" cap="all" spc="90" baseline="0"/>
            </a:lvl1pPr>
          </a:lstStyle>
          <a:p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86399" y="6205104"/>
            <a:ext cx="7200000" cy="360000"/>
          </a:xfrm>
        </p:spPr>
        <p:txBody>
          <a:bodyPr/>
          <a:lstStyle>
            <a:lvl1pPr>
              <a:defRPr sz="1000"/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ABD0A9EC-9FD7-4222-9E83-3F5E6A446F2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60000" y="1144800"/>
            <a:ext cx="10272000" cy="3510000"/>
          </a:xfrm>
        </p:spPr>
        <p:txBody>
          <a:bodyPr anchor="ctr" anchorCtr="0"/>
          <a:lstStyle>
            <a:lvl1pPr algn="ctr">
              <a:defRPr sz="1400" b="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9942C24D-DF7B-5744-BA14-C2D4B5049F8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00" y="434598"/>
            <a:ext cx="2518560" cy="336243"/>
          </a:xfrm>
          <a:prstGeom prst="rect">
            <a:avLst/>
          </a:prstGeom>
        </p:spPr>
      </p:pic>
      <p:sp>
        <p:nvSpPr>
          <p:cNvPr id="10" name="Textplatzhalter 12">
            <a:extLst>
              <a:ext uri="{FF2B5EF4-FFF2-40B4-BE49-F238E27FC236}">
                <a16:creationId xmlns:a16="http://schemas.microsoft.com/office/drawing/2014/main" id="{E29E83A8-566C-B64B-BC0B-C9D0D2A3F37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4211" y="1497600"/>
            <a:ext cx="864000" cy="2804400"/>
          </a:xfrm>
          <a:solidFill>
            <a:schemeClr val="accent5"/>
          </a:solidFill>
        </p:spPr>
        <p:txBody>
          <a:bodyPr/>
          <a:lstStyle>
            <a:lvl1pPr>
              <a:defRPr sz="100" b="0">
                <a:solidFill>
                  <a:srgbClr val="FFFF00"/>
                </a:solidFill>
              </a:defRPr>
            </a:lvl1pPr>
          </a:lstStyle>
          <a:p>
            <a:pPr lvl="0"/>
            <a:r>
              <a:rPr lang="de-DE" dirty="0"/>
              <a:t>..</a:t>
            </a:r>
          </a:p>
        </p:txBody>
      </p:sp>
      <p:sp>
        <p:nvSpPr>
          <p:cNvPr id="11" name="Textplatzhalter 12">
            <a:extLst>
              <a:ext uri="{FF2B5EF4-FFF2-40B4-BE49-F238E27FC236}">
                <a16:creationId xmlns:a16="http://schemas.microsoft.com/office/drawing/2014/main" id="{5B73649C-D81F-1743-8227-99DDA6EF1F4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923789" y="1497600"/>
            <a:ext cx="864000" cy="2804400"/>
          </a:xfrm>
          <a:solidFill>
            <a:schemeClr val="accent5"/>
          </a:solidFill>
        </p:spPr>
        <p:txBody>
          <a:bodyPr/>
          <a:lstStyle>
            <a:lvl1pPr>
              <a:defRPr sz="100" b="0">
                <a:solidFill>
                  <a:srgbClr val="FFFF00"/>
                </a:solidFill>
              </a:defRPr>
            </a:lvl1pPr>
          </a:lstStyle>
          <a:p>
            <a:pPr lvl="0"/>
            <a:r>
              <a:rPr lang="de-DE" dirty="0"/>
              <a:t>..</a:t>
            </a:r>
          </a:p>
        </p:txBody>
      </p:sp>
    </p:spTree>
    <p:extLst>
      <p:ext uri="{BB962C8B-B14F-4D97-AF65-F5344CB8AC3E}">
        <p14:creationId xmlns:p14="http://schemas.microsoft.com/office/powerpoint/2010/main" val="3836023397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604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B30AFB43-4D8B-DB47-8F90-D120B798617A}"/>
              </a:ext>
            </a:extLst>
          </p:cNvPr>
          <p:cNvGrpSpPr/>
          <p:nvPr userDrawn="1"/>
        </p:nvGrpSpPr>
        <p:grpSpPr>
          <a:xfrm>
            <a:off x="1975200" y="1069975"/>
            <a:ext cx="8243887" cy="5788025"/>
            <a:chOff x="455613" y="533400"/>
            <a:chExt cx="8243887" cy="5788025"/>
          </a:xfrm>
          <a:solidFill>
            <a:schemeClr val="accent5"/>
          </a:solidFill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36734F59-8635-D44A-BA87-6B7074A8EE33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613" y="533400"/>
              <a:ext cx="3340100" cy="5788025"/>
            </a:xfrm>
            <a:custGeom>
              <a:avLst/>
              <a:gdLst>
                <a:gd name="T0" fmla="*/ 0 w 3503"/>
                <a:gd name="T1" fmla="*/ 470 h 6066"/>
                <a:gd name="T2" fmla="*/ 0 w 3503"/>
                <a:gd name="T3" fmla="*/ 470 h 6066"/>
                <a:gd name="T4" fmla="*/ 1189 w 3503"/>
                <a:gd name="T5" fmla="*/ 6066 h 6066"/>
                <a:gd name="T6" fmla="*/ 3503 w 3503"/>
                <a:gd name="T7" fmla="*/ 6066 h 6066"/>
                <a:gd name="T8" fmla="*/ 2214 w 3503"/>
                <a:gd name="T9" fmla="*/ 0 h 6066"/>
                <a:gd name="T10" fmla="*/ 0 w 3503"/>
                <a:gd name="T11" fmla="*/ 470 h 6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3" h="6066">
                  <a:moveTo>
                    <a:pt x="0" y="470"/>
                  </a:moveTo>
                  <a:lnTo>
                    <a:pt x="0" y="470"/>
                  </a:lnTo>
                  <a:lnTo>
                    <a:pt x="1189" y="6066"/>
                  </a:lnTo>
                  <a:lnTo>
                    <a:pt x="3503" y="6066"/>
                  </a:lnTo>
                  <a:lnTo>
                    <a:pt x="2214" y="0"/>
                  </a:lnTo>
                  <a:lnTo>
                    <a:pt x="0" y="47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5E062F0B-6D27-F54A-90C2-2339910483A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59400" y="533400"/>
              <a:ext cx="3340100" cy="5788025"/>
            </a:xfrm>
            <a:custGeom>
              <a:avLst/>
              <a:gdLst>
                <a:gd name="T0" fmla="*/ 0 w 3504"/>
                <a:gd name="T1" fmla="*/ 470 h 6066"/>
                <a:gd name="T2" fmla="*/ 0 w 3504"/>
                <a:gd name="T3" fmla="*/ 470 h 6066"/>
                <a:gd name="T4" fmla="*/ 1190 w 3504"/>
                <a:gd name="T5" fmla="*/ 6066 h 6066"/>
                <a:gd name="T6" fmla="*/ 3504 w 3504"/>
                <a:gd name="T7" fmla="*/ 6066 h 6066"/>
                <a:gd name="T8" fmla="*/ 2214 w 3504"/>
                <a:gd name="T9" fmla="*/ 0 h 6066"/>
                <a:gd name="T10" fmla="*/ 0 w 3504"/>
                <a:gd name="T11" fmla="*/ 470 h 6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4" h="6066">
                  <a:moveTo>
                    <a:pt x="0" y="470"/>
                  </a:moveTo>
                  <a:lnTo>
                    <a:pt x="0" y="470"/>
                  </a:lnTo>
                  <a:lnTo>
                    <a:pt x="1190" y="6066"/>
                  </a:lnTo>
                  <a:lnTo>
                    <a:pt x="3504" y="6066"/>
                  </a:lnTo>
                  <a:lnTo>
                    <a:pt x="2214" y="0"/>
                  </a:lnTo>
                  <a:lnTo>
                    <a:pt x="0" y="47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54315" y="2067240"/>
            <a:ext cx="9000000" cy="2358000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5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0000" y="6206400"/>
            <a:ext cx="2030400" cy="3600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00" b="1" cap="all" spc="90" baseline="0"/>
            </a:lvl1pPr>
          </a:lstStyle>
          <a:p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86399" y="6205104"/>
            <a:ext cx="7200000" cy="360000"/>
          </a:xfrm>
        </p:spPr>
        <p:txBody>
          <a:bodyPr/>
          <a:lstStyle>
            <a:lvl1pPr>
              <a:defRPr sz="1000"/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30BE5F75-8B1B-6A4C-B19E-CA01BCB614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00" y="434598"/>
            <a:ext cx="2518560" cy="336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384266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604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7552" y="1445220"/>
            <a:ext cx="10756899" cy="4690468"/>
          </a:xfrm>
        </p:spPr>
        <p:txBody>
          <a:bodyPr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Prof. Dr-Ing. Mathias Rudolph, Elena Richter, Ludwig Ostertag, Fakultät ING, Industrielle Messtechnik</a:t>
            </a:r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930272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0003" y="1447200"/>
            <a:ext cx="5234448" cy="4690800"/>
          </a:xfrm>
        </p:spPr>
        <p:txBody>
          <a:bodyPr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Prof. Dr-Ing. Mathias Rudolph, Elena Richter, Ludwig Ostertag, Fakultät ING, Industrielle Messtechnik</a:t>
            </a: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D9A6F8F6-0E4C-4AD1-BF40-19A8E1937FC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17550" y="1500189"/>
            <a:ext cx="5236633" cy="4638674"/>
          </a:xfrm>
        </p:spPr>
        <p:txBody>
          <a:bodyPr anchor="ctr" anchorCtr="0"/>
          <a:lstStyle>
            <a:lvl1pPr algn="ctr">
              <a:defRPr sz="1400" b="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81845918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751" userDrawn="1">
          <p15:clr>
            <a:srgbClr val="FBAE40"/>
          </p15:clr>
        </p15:guide>
        <p15:guide id="2" pos="3931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002" y="4845080"/>
            <a:ext cx="10271997" cy="1290608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3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0000" y="6206400"/>
            <a:ext cx="2030400" cy="3600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00" b="1" cap="all" spc="90" baseline="0"/>
            </a:lvl1pPr>
          </a:lstStyle>
          <a:p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86399" y="6205104"/>
            <a:ext cx="7200000" cy="360000"/>
          </a:xfrm>
        </p:spPr>
        <p:txBody>
          <a:bodyPr/>
          <a:lstStyle>
            <a:lvl1pPr>
              <a:defRPr sz="1000"/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ABD0A9EC-9FD7-4222-9E83-3F5E6A446F2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60000" y="1144800"/>
            <a:ext cx="10272000" cy="3510000"/>
          </a:xfrm>
        </p:spPr>
        <p:txBody>
          <a:bodyPr anchor="ctr" anchorCtr="0"/>
          <a:lstStyle>
            <a:lvl1pPr algn="ctr">
              <a:defRPr sz="1400" b="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FF187481-CEE0-E244-8D19-C6D3BF17E1D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00" y="434598"/>
            <a:ext cx="2518560" cy="336243"/>
          </a:xfrm>
          <a:prstGeom prst="rect">
            <a:avLst/>
          </a:prstGeom>
        </p:spPr>
      </p:pic>
      <p:sp>
        <p:nvSpPr>
          <p:cNvPr id="10" name="Textplatzhalter 12">
            <a:extLst>
              <a:ext uri="{FF2B5EF4-FFF2-40B4-BE49-F238E27FC236}">
                <a16:creationId xmlns:a16="http://schemas.microsoft.com/office/drawing/2014/main" id="{8F3AA80C-8F3E-4448-BA17-C530AE93C32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8505" y="1497600"/>
            <a:ext cx="864000" cy="2804400"/>
          </a:xfrm>
          <a:solidFill>
            <a:schemeClr val="accent6"/>
          </a:solidFill>
        </p:spPr>
        <p:txBody>
          <a:bodyPr/>
          <a:lstStyle>
            <a:lvl1pPr>
              <a:defRPr sz="100" b="0">
                <a:solidFill>
                  <a:srgbClr val="FFFF00"/>
                </a:solidFill>
              </a:defRPr>
            </a:lvl1pPr>
          </a:lstStyle>
          <a:p>
            <a:pPr lvl="0"/>
            <a:r>
              <a:rPr lang="de-DE" dirty="0"/>
              <a:t>..</a:t>
            </a:r>
          </a:p>
        </p:txBody>
      </p:sp>
      <p:sp>
        <p:nvSpPr>
          <p:cNvPr id="11" name="Textplatzhalter 12">
            <a:extLst>
              <a:ext uri="{FF2B5EF4-FFF2-40B4-BE49-F238E27FC236}">
                <a16:creationId xmlns:a16="http://schemas.microsoft.com/office/drawing/2014/main" id="{A7EA0E5A-7CE1-B542-A43B-F1A4A933F34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919495" y="1485648"/>
            <a:ext cx="864000" cy="2804400"/>
          </a:xfrm>
          <a:solidFill>
            <a:schemeClr val="accent6"/>
          </a:solidFill>
        </p:spPr>
        <p:txBody>
          <a:bodyPr/>
          <a:lstStyle>
            <a:lvl1pPr>
              <a:defRPr sz="100" b="0">
                <a:solidFill>
                  <a:srgbClr val="FFFF00"/>
                </a:solidFill>
              </a:defRPr>
            </a:lvl1pPr>
          </a:lstStyle>
          <a:p>
            <a:pPr lvl="0"/>
            <a:r>
              <a:rPr lang="de-DE" dirty="0"/>
              <a:t>..</a:t>
            </a:r>
          </a:p>
        </p:txBody>
      </p:sp>
    </p:spTree>
    <p:extLst>
      <p:ext uri="{BB962C8B-B14F-4D97-AF65-F5344CB8AC3E}">
        <p14:creationId xmlns:p14="http://schemas.microsoft.com/office/powerpoint/2010/main" val="3916358541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604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FA1D36DE-01A5-9342-ADB5-21326DEA0306}"/>
              </a:ext>
            </a:extLst>
          </p:cNvPr>
          <p:cNvGrpSpPr/>
          <p:nvPr userDrawn="1"/>
        </p:nvGrpSpPr>
        <p:grpSpPr>
          <a:xfrm>
            <a:off x="1975200" y="1069975"/>
            <a:ext cx="8243887" cy="5788025"/>
            <a:chOff x="455613" y="533400"/>
            <a:chExt cx="8243887" cy="5788025"/>
          </a:xfrm>
          <a:solidFill>
            <a:schemeClr val="accent6"/>
          </a:solidFill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D258094-06EC-7A4A-A554-EFD3FBB518A4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613" y="533400"/>
              <a:ext cx="3340100" cy="5788025"/>
            </a:xfrm>
            <a:custGeom>
              <a:avLst/>
              <a:gdLst>
                <a:gd name="T0" fmla="*/ 0 w 3503"/>
                <a:gd name="T1" fmla="*/ 470 h 6066"/>
                <a:gd name="T2" fmla="*/ 0 w 3503"/>
                <a:gd name="T3" fmla="*/ 470 h 6066"/>
                <a:gd name="T4" fmla="*/ 1189 w 3503"/>
                <a:gd name="T5" fmla="*/ 6066 h 6066"/>
                <a:gd name="T6" fmla="*/ 3503 w 3503"/>
                <a:gd name="T7" fmla="*/ 6066 h 6066"/>
                <a:gd name="T8" fmla="*/ 2214 w 3503"/>
                <a:gd name="T9" fmla="*/ 0 h 6066"/>
                <a:gd name="T10" fmla="*/ 0 w 3503"/>
                <a:gd name="T11" fmla="*/ 470 h 6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3" h="6066">
                  <a:moveTo>
                    <a:pt x="0" y="470"/>
                  </a:moveTo>
                  <a:lnTo>
                    <a:pt x="0" y="470"/>
                  </a:lnTo>
                  <a:lnTo>
                    <a:pt x="1189" y="6066"/>
                  </a:lnTo>
                  <a:lnTo>
                    <a:pt x="3503" y="6066"/>
                  </a:lnTo>
                  <a:lnTo>
                    <a:pt x="2214" y="0"/>
                  </a:lnTo>
                  <a:lnTo>
                    <a:pt x="0" y="47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432C1932-A302-9D42-981A-17F9E3A1707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59400" y="533400"/>
              <a:ext cx="3340100" cy="5788025"/>
            </a:xfrm>
            <a:custGeom>
              <a:avLst/>
              <a:gdLst>
                <a:gd name="T0" fmla="*/ 0 w 3504"/>
                <a:gd name="T1" fmla="*/ 470 h 6066"/>
                <a:gd name="T2" fmla="*/ 0 w 3504"/>
                <a:gd name="T3" fmla="*/ 470 h 6066"/>
                <a:gd name="T4" fmla="*/ 1190 w 3504"/>
                <a:gd name="T5" fmla="*/ 6066 h 6066"/>
                <a:gd name="T6" fmla="*/ 3504 w 3504"/>
                <a:gd name="T7" fmla="*/ 6066 h 6066"/>
                <a:gd name="T8" fmla="*/ 2214 w 3504"/>
                <a:gd name="T9" fmla="*/ 0 h 6066"/>
                <a:gd name="T10" fmla="*/ 0 w 3504"/>
                <a:gd name="T11" fmla="*/ 470 h 6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4" h="6066">
                  <a:moveTo>
                    <a:pt x="0" y="470"/>
                  </a:moveTo>
                  <a:lnTo>
                    <a:pt x="0" y="470"/>
                  </a:lnTo>
                  <a:lnTo>
                    <a:pt x="1190" y="6066"/>
                  </a:lnTo>
                  <a:lnTo>
                    <a:pt x="3504" y="6066"/>
                  </a:lnTo>
                  <a:lnTo>
                    <a:pt x="2214" y="0"/>
                  </a:lnTo>
                  <a:lnTo>
                    <a:pt x="0" y="47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54315" y="2067240"/>
            <a:ext cx="9000000" cy="2358000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5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0000" y="6206400"/>
            <a:ext cx="2030400" cy="3600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00" b="1" cap="all" spc="90" baseline="0"/>
            </a:lvl1pPr>
          </a:lstStyle>
          <a:p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86399" y="6205104"/>
            <a:ext cx="7200000" cy="360000"/>
          </a:xfrm>
        </p:spPr>
        <p:txBody>
          <a:bodyPr/>
          <a:lstStyle>
            <a:lvl1pPr>
              <a:defRPr sz="1000"/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7DCCB39A-DB2B-5543-8C44-8F9D49BAEA9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00" y="434598"/>
            <a:ext cx="2518560" cy="336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241052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604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7552" y="1445220"/>
            <a:ext cx="10756899" cy="4690468"/>
          </a:xfrm>
        </p:spPr>
        <p:txBody>
          <a:bodyPr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Prof. Dr-Ing. Mathias Rudolph, Elena Richter, Ludwig Ostertag, Fakultät ING, Industrielle Messtechnik</a:t>
            </a:r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5823165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0003" y="1447200"/>
            <a:ext cx="5234448" cy="4690800"/>
          </a:xfrm>
        </p:spPr>
        <p:txBody>
          <a:bodyPr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Prof. Dr-Ing. Mathias Rudolph, Elena Richter, Ludwig Ostertag, Fakultät ING, Industrielle Messtechnik</a:t>
            </a: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D9A6F8F6-0E4C-4AD1-BF40-19A8E1937FC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17550" y="1500189"/>
            <a:ext cx="5236633" cy="4638674"/>
          </a:xfrm>
        </p:spPr>
        <p:txBody>
          <a:bodyPr anchor="ctr" anchorCtr="0"/>
          <a:lstStyle>
            <a:lvl1pPr algn="ctr">
              <a:defRPr sz="1400" b="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58201275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751" userDrawn="1">
          <p15:clr>
            <a:srgbClr val="FBAE40"/>
          </p15:clr>
        </p15:guide>
        <p15:guide id="2" pos="3931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w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.wmf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9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.wmf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1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.wmf"/><Relationship Id="rId5" Type="http://schemas.openxmlformats.org/officeDocument/2006/relationships/theme" Target="../theme/theme4.xml"/><Relationship Id="rId4" Type="http://schemas.openxmlformats.org/officeDocument/2006/relationships/slideLayout" Target="../slideLayouts/slideLayout17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.wmf"/><Relationship Id="rId5" Type="http://schemas.openxmlformats.org/officeDocument/2006/relationships/theme" Target="../theme/theme5.xml"/><Relationship Id="rId4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feld 16">
            <a:extLst>
              <a:ext uri="{FF2B5EF4-FFF2-40B4-BE49-F238E27FC236}">
                <a16:creationId xmlns:a16="http://schemas.microsoft.com/office/drawing/2014/main" id="{473E5FEA-8EC8-4167-8CC5-8C678F2BEAB5}"/>
              </a:ext>
            </a:extLst>
          </p:cNvPr>
          <p:cNvSpPr txBox="1"/>
          <p:nvPr/>
        </p:nvSpPr>
        <p:spPr>
          <a:xfrm>
            <a:off x="1382400" y="6454198"/>
            <a:ext cx="4857600" cy="11934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>
              <a:lnSpc>
                <a:spcPts val="1100"/>
              </a:lnSpc>
            </a:pPr>
            <a:r>
              <a:rPr lang="de-DE" sz="850" dirty="0"/>
              <a:t>Hochschule für Technik, Wirtschaft und Kultur Leipzig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17550" y="396000"/>
            <a:ext cx="10756899" cy="712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7552" y="1445220"/>
            <a:ext cx="10756899" cy="46904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82399" y="6205104"/>
            <a:ext cx="4857604" cy="2241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lnSpc>
                <a:spcPts val="1100"/>
              </a:lnSpc>
              <a:defRPr sz="850">
                <a:solidFill>
                  <a:schemeClr val="tx1"/>
                </a:solidFill>
              </a:defRPr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7551" y="6206400"/>
            <a:ext cx="490255" cy="36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0" b="1">
                <a:solidFill>
                  <a:schemeClr val="tx1"/>
                </a:solidFill>
              </a:defRPr>
            </a:lvl1pPr>
          </a:lstStyle>
          <a:p>
            <a:fld id="{5DDB454C-C8BB-450C-A446-EA3D813FE484}" type="slidenum">
              <a:rPr lang="de-DE" smtClean="0"/>
              <a:pPr/>
              <a:t>‹Nr.›</a:t>
            </a:fld>
            <a:endParaRPr lang="de-DE" dirty="0"/>
          </a:p>
        </p:txBody>
      </p:sp>
      <p:grpSp>
        <p:nvGrpSpPr>
          <p:cNvPr id="4" name="Gruppieren 3"/>
          <p:cNvGrpSpPr/>
          <p:nvPr/>
        </p:nvGrpSpPr>
        <p:grpSpPr>
          <a:xfrm>
            <a:off x="0" y="396000"/>
            <a:ext cx="12192003" cy="712800"/>
            <a:chOff x="0" y="396000"/>
            <a:chExt cx="9144002" cy="712800"/>
          </a:xfrm>
          <a:solidFill>
            <a:schemeClr val="accent1"/>
          </a:solidFill>
        </p:grpSpPr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0D256C55-B59E-439E-82E9-BE1ECB9C3F54}"/>
                </a:ext>
              </a:extLst>
            </p:cNvPr>
            <p:cNvSpPr/>
            <p:nvPr userDrawn="1"/>
          </p:nvSpPr>
          <p:spPr>
            <a:xfrm>
              <a:off x="0" y="396000"/>
              <a:ext cx="190800" cy="7128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/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0A9106C6-A852-4621-A5E1-394E184478EA}"/>
                </a:ext>
              </a:extLst>
            </p:cNvPr>
            <p:cNvSpPr/>
            <p:nvPr userDrawn="1"/>
          </p:nvSpPr>
          <p:spPr>
            <a:xfrm>
              <a:off x="8953202" y="396000"/>
              <a:ext cx="190800" cy="7128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/>
            </a:p>
          </p:txBody>
        </p:sp>
      </p:grpSp>
      <p:pic>
        <p:nvPicPr>
          <p:cNvPr id="11" name="Grafik 10">
            <a:extLst>
              <a:ext uri="{FF2B5EF4-FFF2-40B4-BE49-F238E27FC236}">
                <a16:creationId xmlns:a16="http://schemas.microsoft.com/office/drawing/2014/main" id="{22EEA21B-970F-3640-8788-C21A9CC415C6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6624" y="6284976"/>
            <a:ext cx="1137825" cy="295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809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2" r:id="rId2"/>
    <p:sldLayoutId id="2147483662" r:id="rId3"/>
    <p:sldLayoutId id="2147483664" r:id="rId4"/>
    <p:sldLayoutId id="2147483698" r:id="rId5"/>
  </p:sldLayoutIdLst>
  <p:hf hdr="0" dt="0"/>
  <p:txStyles>
    <p:titleStyle>
      <a:lvl1pPr algn="l" defTabSz="914400" rtl="0" eaLnBrk="1" latinLnBrk="0" hangingPunct="1">
        <a:lnSpc>
          <a:spcPct val="108000"/>
        </a:lnSpc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7000"/>
        </a:lnSpc>
        <a:spcBef>
          <a:spcPts val="0"/>
        </a:spcBef>
        <a:buFontTx/>
        <a:buNone/>
        <a:defRPr sz="1800" b="1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7000"/>
        </a:lnSpc>
        <a:spcBef>
          <a:spcPts val="0"/>
        </a:spcBef>
        <a:buFontTx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8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36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54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7228" userDrawn="1">
          <p15:clr>
            <a:srgbClr val="F26B43"/>
          </p15:clr>
        </p15:guide>
        <p15:guide id="2" pos="452" userDrawn="1">
          <p15:clr>
            <a:srgbClr val="F26B43"/>
          </p15:clr>
        </p15:guide>
        <p15:guide id="3" orient="horz" pos="273" userDrawn="1">
          <p15:clr>
            <a:srgbClr val="F26B43"/>
          </p15:clr>
        </p15:guide>
        <p15:guide id="4" orient="horz" pos="3865" userDrawn="1">
          <p15:clr>
            <a:srgbClr val="F26B43"/>
          </p15:clr>
        </p15:guide>
        <p15:guide id="5" orient="horz" pos="944" userDrawn="1">
          <p15:clr>
            <a:srgbClr val="F26B43"/>
          </p15:clr>
        </p15:guide>
        <p15:guide id="6" orient="horz" pos="4117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feld 16">
            <a:extLst>
              <a:ext uri="{FF2B5EF4-FFF2-40B4-BE49-F238E27FC236}">
                <a16:creationId xmlns:a16="http://schemas.microsoft.com/office/drawing/2014/main" id="{473E5FEA-8EC8-4167-8CC5-8C678F2BEAB5}"/>
              </a:ext>
            </a:extLst>
          </p:cNvPr>
          <p:cNvSpPr txBox="1"/>
          <p:nvPr/>
        </p:nvSpPr>
        <p:spPr>
          <a:xfrm>
            <a:off x="1382400" y="6454198"/>
            <a:ext cx="4857600" cy="11934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>
              <a:lnSpc>
                <a:spcPts val="1100"/>
              </a:lnSpc>
            </a:pPr>
            <a:r>
              <a:rPr lang="de-DE" sz="850" dirty="0"/>
              <a:t>Hochschule für Technik, Wirtschaft und Kultur Leipzig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17551" y="396000"/>
            <a:ext cx="10756899" cy="712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7552" y="1445220"/>
            <a:ext cx="10756899" cy="46904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82399" y="6205104"/>
            <a:ext cx="4857604" cy="2241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lnSpc>
                <a:spcPts val="1100"/>
              </a:lnSpc>
              <a:defRPr sz="850">
                <a:solidFill>
                  <a:schemeClr val="tx1"/>
                </a:solidFill>
              </a:defRPr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7551" y="6206400"/>
            <a:ext cx="490255" cy="36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0" b="1">
                <a:solidFill>
                  <a:schemeClr val="tx1"/>
                </a:solidFill>
              </a:defRPr>
            </a:lvl1pPr>
          </a:lstStyle>
          <a:p>
            <a:fld id="{5DDB454C-C8BB-450C-A446-EA3D813FE484}" type="slidenum">
              <a:rPr lang="de-DE" smtClean="0"/>
              <a:pPr/>
              <a:t>‹Nr.›</a:t>
            </a:fld>
            <a:endParaRPr lang="de-DE" dirty="0"/>
          </a:p>
        </p:txBody>
      </p:sp>
      <p:grpSp>
        <p:nvGrpSpPr>
          <p:cNvPr id="4" name="Gruppieren 3"/>
          <p:cNvGrpSpPr/>
          <p:nvPr/>
        </p:nvGrpSpPr>
        <p:grpSpPr>
          <a:xfrm>
            <a:off x="0" y="396000"/>
            <a:ext cx="12192003" cy="712800"/>
            <a:chOff x="0" y="396000"/>
            <a:chExt cx="9144002" cy="712800"/>
          </a:xfrm>
          <a:solidFill>
            <a:schemeClr val="accent1"/>
          </a:solidFill>
        </p:grpSpPr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0D256C55-B59E-439E-82E9-BE1ECB9C3F54}"/>
                </a:ext>
              </a:extLst>
            </p:cNvPr>
            <p:cNvSpPr/>
            <p:nvPr userDrawn="1"/>
          </p:nvSpPr>
          <p:spPr>
            <a:xfrm>
              <a:off x="0" y="396000"/>
              <a:ext cx="190800" cy="712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 dirty="0"/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0A9106C6-A852-4621-A5E1-394E184478EA}"/>
                </a:ext>
              </a:extLst>
            </p:cNvPr>
            <p:cNvSpPr/>
            <p:nvPr userDrawn="1"/>
          </p:nvSpPr>
          <p:spPr>
            <a:xfrm>
              <a:off x="8953202" y="396000"/>
              <a:ext cx="190800" cy="712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/>
            </a:p>
          </p:txBody>
        </p:sp>
      </p:grpSp>
      <p:pic>
        <p:nvPicPr>
          <p:cNvPr id="11" name="Grafik 10">
            <a:extLst>
              <a:ext uri="{FF2B5EF4-FFF2-40B4-BE49-F238E27FC236}">
                <a16:creationId xmlns:a16="http://schemas.microsoft.com/office/drawing/2014/main" id="{31321676-94A1-7044-A81A-D8AF84667CD5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6624" y="6284976"/>
            <a:ext cx="1137825" cy="295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9420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</p:sldLayoutIdLst>
  <p:hf hdr="0" dt="0"/>
  <p:txStyles>
    <p:titleStyle>
      <a:lvl1pPr algn="l" defTabSz="914400" rtl="0" eaLnBrk="1" latinLnBrk="0" hangingPunct="1">
        <a:lnSpc>
          <a:spcPct val="108000"/>
        </a:lnSpc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7000"/>
        </a:lnSpc>
        <a:spcBef>
          <a:spcPts val="0"/>
        </a:spcBef>
        <a:buFontTx/>
        <a:buNone/>
        <a:defRPr sz="1800" b="1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7000"/>
        </a:lnSpc>
        <a:spcBef>
          <a:spcPts val="0"/>
        </a:spcBef>
        <a:buFontTx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8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36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54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7228" userDrawn="1">
          <p15:clr>
            <a:srgbClr val="F26B43"/>
          </p15:clr>
        </p15:guide>
        <p15:guide id="2" pos="452" userDrawn="1">
          <p15:clr>
            <a:srgbClr val="F26B43"/>
          </p15:clr>
        </p15:guide>
        <p15:guide id="3" orient="horz" pos="273" userDrawn="1">
          <p15:clr>
            <a:srgbClr val="F26B43"/>
          </p15:clr>
        </p15:guide>
        <p15:guide id="4" orient="horz" pos="3865" userDrawn="1">
          <p15:clr>
            <a:srgbClr val="F26B43"/>
          </p15:clr>
        </p15:guide>
        <p15:guide id="5" orient="horz" pos="944" userDrawn="1">
          <p15:clr>
            <a:srgbClr val="F26B43"/>
          </p15:clr>
        </p15:guide>
        <p15:guide id="6" orient="horz" pos="4117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feld 16">
            <a:extLst>
              <a:ext uri="{FF2B5EF4-FFF2-40B4-BE49-F238E27FC236}">
                <a16:creationId xmlns:a16="http://schemas.microsoft.com/office/drawing/2014/main" id="{473E5FEA-8EC8-4167-8CC5-8C678F2BEAB5}"/>
              </a:ext>
            </a:extLst>
          </p:cNvPr>
          <p:cNvSpPr txBox="1"/>
          <p:nvPr/>
        </p:nvSpPr>
        <p:spPr>
          <a:xfrm>
            <a:off x="1382400" y="6454198"/>
            <a:ext cx="4857600" cy="11934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>
              <a:lnSpc>
                <a:spcPts val="1100"/>
              </a:lnSpc>
            </a:pPr>
            <a:r>
              <a:rPr lang="de-DE" sz="850" dirty="0"/>
              <a:t>Hochschule für Technik, Wirtschaft und Kultur Leipzig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17551" y="396000"/>
            <a:ext cx="10756899" cy="712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7552" y="1445220"/>
            <a:ext cx="10756899" cy="46904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82399" y="6205104"/>
            <a:ext cx="4857604" cy="2241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lnSpc>
                <a:spcPts val="1100"/>
              </a:lnSpc>
              <a:defRPr sz="850">
                <a:solidFill>
                  <a:schemeClr val="tx1"/>
                </a:solidFill>
              </a:defRPr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7551" y="6206400"/>
            <a:ext cx="490255" cy="36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0" b="1">
                <a:solidFill>
                  <a:schemeClr val="tx1"/>
                </a:solidFill>
              </a:defRPr>
            </a:lvl1pPr>
          </a:lstStyle>
          <a:p>
            <a:fld id="{5DDB454C-C8BB-450C-A446-EA3D813FE484}" type="slidenum">
              <a:rPr lang="de-DE" smtClean="0"/>
              <a:pPr/>
              <a:t>‹Nr.›</a:t>
            </a:fld>
            <a:endParaRPr lang="de-DE" dirty="0"/>
          </a:p>
        </p:txBody>
      </p:sp>
      <p:grpSp>
        <p:nvGrpSpPr>
          <p:cNvPr id="4" name="Gruppieren 3"/>
          <p:cNvGrpSpPr/>
          <p:nvPr/>
        </p:nvGrpSpPr>
        <p:grpSpPr>
          <a:xfrm>
            <a:off x="0" y="396000"/>
            <a:ext cx="12192003" cy="712800"/>
            <a:chOff x="0" y="396000"/>
            <a:chExt cx="9144002" cy="712800"/>
          </a:xfrm>
          <a:solidFill>
            <a:schemeClr val="accent1"/>
          </a:solidFill>
        </p:grpSpPr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0D256C55-B59E-439E-82E9-BE1ECB9C3F54}"/>
                </a:ext>
              </a:extLst>
            </p:cNvPr>
            <p:cNvSpPr/>
            <p:nvPr userDrawn="1"/>
          </p:nvSpPr>
          <p:spPr>
            <a:xfrm>
              <a:off x="0" y="396000"/>
              <a:ext cx="190800" cy="7128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 dirty="0"/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0A9106C6-A852-4621-A5E1-394E184478EA}"/>
                </a:ext>
              </a:extLst>
            </p:cNvPr>
            <p:cNvSpPr/>
            <p:nvPr userDrawn="1"/>
          </p:nvSpPr>
          <p:spPr>
            <a:xfrm>
              <a:off x="8953202" y="396000"/>
              <a:ext cx="190800" cy="7128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/>
            </a:p>
          </p:txBody>
        </p:sp>
      </p:grpSp>
      <p:pic>
        <p:nvPicPr>
          <p:cNvPr id="11" name="Grafik 10">
            <a:extLst>
              <a:ext uri="{FF2B5EF4-FFF2-40B4-BE49-F238E27FC236}">
                <a16:creationId xmlns:a16="http://schemas.microsoft.com/office/drawing/2014/main" id="{39AA27C4-5879-AA48-9BFE-A4EA45310329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6624" y="6284976"/>
            <a:ext cx="1137825" cy="295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3552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</p:sldLayoutIdLst>
  <p:hf hdr="0" dt="0"/>
  <p:txStyles>
    <p:titleStyle>
      <a:lvl1pPr algn="l" defTabSz="914400" rtl="0" eaLnBrk="1" latinLnBrk="0" hangingPunct="1">
        <a:lnSpc>
          <a:spcPct val="108000"/>
        </a:lnSpc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7000"/>
        </a:lnSpc>
        <a:spcBef>
          <a:spcPts val="0"/>
        </a:spcBef>
        <a:buFontTx/>
        <a:buNone/>
        <a:defRPr sz="1800" b="1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7000"/>
        </a:lnSpc>
        <a:spcBef>
          <a:spcPts val="0"/>
        </a:spcBef>
        <a:buFontTx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8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36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54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7228" userDrawn="1">
          <p15:clr>
            <a:srgbClr val="F26B43"/>
          </p15:clr>
        </p15:guide>
        <p15:guide id="2" pos="452" userDrawn="1">
          <p15:clr>
            <a:srgbClr val="F26B43"/>
          </p15:clr>
        </p15:guide>
        <p15:guide id="3" orient="horz" pos="273" userDrawn="1">
          <p15:clr>
            <a:srgbClr val="F26B43"/>
          </p15:clr>
        </p15:guide>
        <p15:guide id="4" orient="horz" pos="3865" userDrawn="1">
          <p15:clr>
            <a:srgbClr val="F26B43"/>
          </p15:clr>
        </p15:guide>
        <p15:guide id="5" orient="horz" pos="944" userDrawn="1">
          <p15:clr>
            <a:srgbClr val="F26B43"/>
          </p15:clr>
        </p15:guide>
        <p15:guide id="6" orient="horz" pos="4117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feld 16">
            <a:extLst>
              <a:ext uri="{FF2B5EF4-FFF2-40B4-BE49-F238E27FC236}">
                <a16:creationId xmlns:a16="http://schemas.microsoft.com/office/drawing/2014/main" id="{473E5FEA-8EC8-4167-8CC5-8C678F2BEAB5}"/>
              </a:ext>
            </a:extLst>
          </p:cNvPr>
          <p:cNvSpPr txBox="1"/>
          <p:nvPr/>
        </p:nvSpPr>
        <p:spPr>
          <a:xfrm>
            <a:off x="1382400" y="6454198"/>
            <a:ext cx="4857600" cy="11934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>
              <a:lnSpc>
                <a:spcPts val="1100"/>
              </a:lnSpc>
            </a:pPr>
            <a:r>
              <a:rPr lang="de-DE" sz="850" dirty="0"/>
              <a:t>Hochschule für Technik, Wirtschaft und Kultur Leipzig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17550" y="396000"/>
            <a:ext cx="10756899" cy="712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7552" y="1445220"/>
            <a:ext cx="10756899" cy="46904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82399" y="6205104"/>
            <a:ext cx="4857604" cy="2241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lnSpc>
                <a:spcPts val="1100"/>
              </a:lnSpc>
              <a:defRPr sz="850">
                <a:solidFill>
                  <a:schemeClr val="tx1"/>
                </a:solidFill>
              </a:defRPr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7551" y="6206400"/>
            <a:ext cx="490255" cy="36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0" b="1">
                <a:solidFill>
                  <a:schemeClr val="tx1"/>
                </a:solidFill>
              </a:defRPr>
            </a:lvl1pPr>
          </a:lstStyle>
          <a:p>
            <a:fld id="{5DDB454C-C8BB-450C-A446-EA3D813FE484}" type="slidenum">
              <a:rPr lang="de-DE" smtClean="0"/>
              <a:pPr/>
              <a:t>‹Nr.›</a:t>
            </a:fld>
            <a:endParaRPr lang="de-DE" dirty="0"/>
          </a:p>
        </p:txBody>
      </p:sp>
      <p:grpSp>
        <p:nvGrpSpPr>
          <p:cNvPr id="4" name="Gruppieren 3"/>
          <p:cNvGrpSpPr/>
          <p:nvPr/>
        </p:nvGrpSpPr>
        <p:grpSpPr>
          <a:xfrm>
            <a:off x="0" y="396000"/>
            <a:ext cx="12192003" cy="712800"/>
            <a:chOff x="0" y="396000"/>
            <a:chExt cx="9144002" cy="712800"/>
          </a:xfrm>
          <a:solidFill>
            <a:schemeClr val="accent5"/>
          </a:solidFill>
        </p:grpSpPr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0D256C55-B59E-439E-82E9-BE1ECB9C3F54}"/>
                </a:ext>
              </a:extLst>
            </p:cNvPr>
            <p:cNvSpPr/>
            <p:nvPr userDrawn="1"/>
          </p:nvSpPr>
          <p:spPr>
            <a:xfrm>
              <a:off x="0" y="396000"/>
              <a:ext cx="190800" cy="7128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 dirty="0"/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0A9106C6-A852-4621-A5E1-394E184478EA}"/>
                </a:ext>
              </a:extLst>
            </p:cNvPr>
            <p:cNvSpPr/>
            <p:nvPr userDrawn="1"/>
          </p:nvSpPr>
          <p:spPr>
            <a:xfrm>
              <a:off x="8953202" y="396000"/>
              <a:ext cx="190800" cy="7128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/>
            </a:p>
          </p:txBody>
        </p:sp>
      </p:grpSp>
      <p:pic>
        <p:nvPicPr>
          <p:cNvPr id="11" name="Grafik 10">
            <a:extLst>
              <a:ext uri="{FF2B5EF4-FFF2-40B4-BE49-F238E27FC236}">
                <a16:creationId xmlns:a16="http://schemas.microsoft.com/office/drawing/2014/main" id="{7E49E5BC-3D57-D44A-B305-C0E3893B5411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6624" y="6284976"/>
            <a:ext cx="1137825" cy="295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4255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</p:sldLayoutIdLst>
  <p:hf hdr="0" dt="0"/>
  <p:txStyles>
    <p:titleStyle>
      <a:lvl1pPr algn="l" defTabSz="914400" rtl="0" eaLnBrk="1" latinLnBrk="0" hangingPunct="1">
        <a:lnSpc>
          <a:spcPct val="108000"/>
        </a:lnSpc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7000"/>
        </a:lnSpc>
        <a:spcBef>
          <a:spcPts val="0"/>
        </a:spcBef>
        <a:buFontTx/>
        <a:buNone/>
        <a:defRPr sz="1800" b="1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7000"/>
        </a:lnSpc>
        <a:spcBef>
          <a:spcPts val="0"/>
        </a:spcBef>
        <a:buFontTx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8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36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54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7228" userDrawn="1">
          <p15:clr>
            <a:srgbClr val="F26B43"/>
          </p15:clr>
        </p15:guide>
        <p15:guide id="2" pos="452" userDrawn="1">
          <p15:clr>
            <a:srgbClr val="F26B43"/>
          </p15:clr>
        </p15:guide>
        <p15:guide id="3" orient="horz" pos="273" userDrawn="1">
          <p15:clr>
            <a:srgbClr val="F26B43"/>
          </p15:clr>
        </p15:guide>
        <p15:guide id="4" orient="horz" pos="3865" userDrawn="1">
          <p15:clr>
            <a:srgbClr val="F26B43"/>
          </p15:clr>
        </p15:guide>
        <p15:guide id="5" orient="horz" pos="944" userDrawn="1">
          <p15:clr>
            <a:srgbClr val="F26B43"/>
          </p15:clr>
        </p15:guide>
        <p15:guide id="6" orient="horz" pos="4117" userDrawn="1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feld 16">
            <a:extLst>
              <a:ext uri="{FF2B5EF4-FFF2-40B4-BE49-F238E27FC236}">
                <a16:creationId xmlns:a16="http://schemas.microsoft.com/office/drawing/2014/main" id="{473E5FEA-8EC8-4167-8CC5-8C678F2BEAB5}"/>
              </a:ext>
            </a:extLst>
          </p:cNvPr>
          <p:cNvSpPr txBox="1"/>
          <p:nvPr/>
        </p:nvSpPr>
        <p:spPr>
          <a:xfrm>
            <a:off x="1382400" y="6454198"/>
            <a:ext cx="4857600" cy="11934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>
              <a:lnSpc>
                <a:spcPts val="1100"/>
              </a:lnSpc>
            </a:pPr>
            <a:r>
              <a:rPr lang="de-DE" sz="850" dirty="0"/>
              <a:t>Hochschule für Technik, Wirtschaft und Kultur Leipzig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17550" y="396946"/>
            <a:ext cx="10756899" cy="712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7552" y="1445220"/>
            <a:ext cx="10756899" cy="46904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82399" y="6205104"/>
            <a:ext cx="4857604" cy="2241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lnSpc>
                <a:spcPts val="1100"/>
              </a:lnSpc>
              <a:defRPr sz="850">
                <a:solidFill>
                  <a:schemeClr val="tx1"/>
                </a:solidFill>
              </a:defRPr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7551" y="6206400"/>
            <a:ext cx="490255" cy="36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0" b="1">
                <a:solidFill>
                  <a:schemeClr val="tx1"/>
                </a:solidFill>
              </a:defRPr>
            </a:lvl1pPr>
          </a:lstStyle>
          <a:p>
            <a:fld id="{5DDB454C-C8BB-450C-A446-EA3D813FE484}" type="slidenum">
              <a:rPr lang="de-DE" smtClean="0"/>
              <a:pPr/>
              <a:t>‹Nr.›</a:t>
            </a:fld>
            <a:endParaRPr lang="de-DE" dirty="0"/>
          </a:p>
        </p:txBody>
      </p:sp>
      <p:grpSp>
        <p:nvGrpSpPr>
          <p:cNvPr id="4" name="Gruppieren 3"/>
          <p:cNvGrpSpPr/>
          <p:nvPr/>
        </p:nvGrpSpPr>
        <p:grpSpPr>
          <a:xfrm>
            <a:off x="0" y="396000"/>
            <a:ext cx="12192003" cy="712800"/>
            <a:chOff x="0" y="396000"/>
            <a:chExt cx="9144002" cy="712800"/>
          </a:xfrm>
          <a:solidFill>
            <a:schemeClr val="accent6"/>
          </a:solidFill>
        </p:grpSpPr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0D256C55-B59E-439E-82E9-BE1ECB9C3F54}"/>
                </a:ext>
              </a:extLst>
            </p:cNvPr>
            <p:cNvSpPr/>
            <p:nvPr userDrawn="1"/>
          </p:nvSpPr>
          <p:spPr>
            <a:xfrm>
              <a:off x="0" y="396000"/>
              <a:ext cx="190800" cy="7128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 dirty="0"/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0A9106C6-A852-4621-A5E1-394E184478EA}"/>
                </a:ext>
              </a:extLst>
            </p:cNvPr>
            <p:cNvSpPr/>
            <p:nvPr userDrawn="1"/>
          </p:nvSpPr>
          <p:spPr>
            <a:xfrm>
              <a:off x="8953202" y="396000"/>
              <a:ext cx="190800" cy="7128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/>
            </a:p>
          </p:txBody>
        </p:sp>
      </p:grpSp>
      <p:pic>
        <p:nvPicPr>
          <p:cNvPr id="11" name="Grafik 10">
            <a:extLst>
              <a:ext uri="{FF2B5EF4-FFF2-40B4-BE49-F238E27FC236}">
                <a16:creationId xmlns:a16="http://schemas.microsoft.com/office/drawing/2014/main" id="{60324984-8636-8D46-ADB9-D5CB3101D43E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6624" y="6284976"/>
            <a:ext cx="1137825" cy="295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5108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</p:sldLayoutIdLst>
  <p:hf hdr="0" dt="0"/>
  <p:txStyles>
    <p:titleStyle>
      <a:lvl1pPr algn="l" defTabSz="914400" rtl="0" eaLnBrk="1" latinLnBrk="0" hangingPunct="1">
        <a:lnSpc>
          <a:spcPct val="108000"/>
        </a:lnSpc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7000"/>
        </a:lnSpc>
        <a:spcBef>
          <a:spcPts val="0"/>
        </a:spcBef>
        <a:buFontTx/>
        <a:buNone/>
        <a:defRPr sz="1800" b="1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7000"/>
        </a:lnSpc>
        <a:spcBef>
          <a:spcPts val="0"/>
        </a:spcBef>
        <a:buFontTx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8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36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54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7228" userDrawn="1">
          <p15:clr>
            <a:srgbClr val="F26B43"/>
          </p15:clr>
        </p15:guide>
        <p15:guide id="2" pos="452" userDrawn="1">
          <p15:clr>
            <a:srgbClr val="F26B43"/>
          </p15:clr>
        </p15:guide>
        <p15:guide id="3" orient="horz" pos="273" userDrawn="1">
          <p15:clr>
            <a:srgbClr val="F26B43"/>
          </p15:clr>
        </p15:guide>
        <p15:guide id="4" orient="horz" pos="3865" userDrawn="1">
          <p15:clr>
            <a:srgbClr val="F26B43"/>
          </p15:clr>
        </p15:guide>
        <p15:guide id="5" orient="horz" pos="944" userDrawn="1">
          <p15:clr>
            <a:srgbClr val="F26B43"/>
          </p15:clr>
        </p15:guide>
        <p15:guide id="6" orient="horz" pos="4117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reichelt.de/de/de/shop/produkt/widerstand_kohleschicht_4_7_kohm_0207_250_mw_5_-1425#open-modal-image-big-slider" TargetMode="External"/><Relationship Id="rId13" Type="http://schemas.openxmlformats.org/officeDocument/2006/relationships/image" Target="../media/image16.png"/><Relationship Id="rId18" Type="http://schemas.openxmlformats.org/officeDocument/2006/relationships/hyperlink" Target="https://cdn-reichelt.de/resize/600%2F-/web/xxl_ws/B400%2F%21WID1_4W.png?type=ProductXxl&amp;resize=600%252F-&amp;" TargetMode="External"/><Relationship Id="rId26" Type="http://schemas.openxmlformats.org/officeDocument/2006/relationships/hyperlink" Target="https://cdn-reichelt.de/bilder/web/artikel_ws/I200%2FINTENSO_3411450_01.jpg?type=Product&amp;" TargetMode="External"/><Relationship Id="rId3" Type="http://schemas.openxmlformats.org/officeDocument/2006/relationships/image" Target="../media/image14.png"/><Relationship Id="rId21" Type="http://schemas.openxmlformats.org/officeDocument/2006/relationships/image" Target="../media/image18.png"/><Relationship Id="rId7" Type="http://schemas.openxmlformats.org/officeDocument/2006/relationships/hyperlink" Target="https://www.roboter-bausatz.de/p/esp32-dev-board-32d-mit-cp2102-usb-c-wlan-bluetooth-iot-modul" TargetMode="External"/><Relationship Id="rId12" Type="http://schemas.openxmlformats.org/officeDocument/2006/relationships/image" Target="../media/image15.png"/><Relationship Id="rId17" Type="http://schemas.openxmlformats.org/officeDocument/2006/relationships/hyperlink" Target="https://www.az-delivery.de/cdn/shop/products/jumper-wire-kabel-40-stk-je-20-cm-m2m-male-to-male-kompatibel-mit-arduino-und-raspberry-pi-breadboard-140806.jpg?v=1679398754&amp;width=1200" TargetMode="External"/><Relationship Id="rId25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6" Type="http://schemas.openxmlformats.org/officeDocument/2006/relationships/hyperlink" Target="https://asset.conrad.com/media10/isa/160267/c1/-/de/002885952PI00/image.jpg?x=1440&amp;y=1440&amp;format=jpg&amp;ex=1440&amp;ey=1440&amp;align=center" TargetMode="External"/><Relationship Id="rId20" Type="http://schemas.openxmlformats.org/officeDocument/2006/relationships/hyperlink" Target="https://www.arduino.cc/wiki/static/arduino-app-76bd27c4ce7246825aceb8efe2871f7a.svg" TargetMode="Externa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www.az-delivery.de/products/40-stk-jumper-wire-male-to-male-20-zentimeter" TargetMode="External"/><Relationship Id="rId11" Type="http://schemas.openxmlformats.org/officeDocument/2006/relationships/hyperlink" Target="https://www.reichelt.de/de/de/shop/produkt/sdhc-speicherkarte_4gb_intenso_class_10-126581" TargetMode="External"/><Relationship Id="rId24" Type="http://schemas.openxmlformats.org/officeDocument/2006/relationships/hyperlink" Target="https://cdn-reichelt.de/bilder/web/artikel_ws/A300%2FDEBO_MICROSD2_01.jpg?type=Product&amp;" TargetMode="External"/><Relationship Id="rId5" Type="http://schemas.openxmlformats.org/officeDocument/2006/relationships/hyperlink" Target="https://www.conrad.de/de/p/tru-components-steckplatine-bus-stripe-ausklappbar-polzahl-gesamt-400-l-x-b-82-5-cm-x-54-6-mm-1-st-2885952.html" TargetMode="External"/><Relationship Id="rId15" Type="http://schemas.openxmlformats.org/officeDocument/2006/relationships/hyperlink" Target="https://www.az-delivery.de/cdn/shop/products/dht22-am2302-temperatursensor-und-luftfeuchtigkeitssensor-853336.jpg?v=1679398452&amp;width=1200" TargetMode="External"/><Relationship Id="rId23" Type="http://schemas.openxmlformats.org/officeDocument/2006/relationships/image" Target="../media/image20.png"/><Relationship Id="rId10" Type="http://schemas.openxmlformats.org/officeDocument/2006/relationships/hyperlink" Target="https://www.reichelt.de/de/de/shop/produkt/entwicklerboards_-_breakout-board_fuer_microsd-karten-266045?PROVID=2788" TargetMode="External"/><Relationship Id="rId19" Type="http://schemas.openxmlformats.org/officeDocument/2006/relationships/hyperlink" Target="https://www.roboter-bausatz.de/media/image/d8/f3/0e/RBS18335_600x600.jpg" TargetMode="External"/><Relationship Id="rId4" Type="http://schemas.openxmlformats.org/officeDocument/2006/relationships/hyperlink" Target="https://www.az-delivery.de/products/dht22" TargetMode="External"/><Relationship Id="rId9" Type="http://schemas.openxmlformats.org/officeDocument/2006/relationships/hyperlink" Target="https://www.arduino.cc/en/software/" TargetMode="External"/><Relationship Id="rId14" Type="http://schemas.openxmlformats.org/officeDocument/2006/relationships/image" Target="../media/image17.png"/><Relationship Id="rId22" Type="http://schemas.openxmlformats.org/officeDocument/2006/relationships/image" Target="../media/image19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docs.wokwi.com/parts/wokwi-microsd-card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F0FFBE0-85A9-954B-8F08-379997260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Prof. Dr-Ing. Mathias Rudolph, Elena Richter, Ludwig Ostertag, Fakultät ING, Industrielle Messtechnik</a:t>
            </a:r>
            <a:endParaRPr lang="de-DE" dirty="0"/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4276" y="318185"/>
            <a:ext cx="1961041" cy="554182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AEFFC43F-6DA3-1A1D-6175-58D40ACE97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857999"/>
          </a:xfrm>
        </p:spPr>
        <p:txBody>
          <a:bodyPr anchor="ctr"/>
          <a:lstStyle/>
          <a:p>
            <a:pPr algn="ctr"/>
            <a:r>
              <a:rPr lang="en-US" sz="8800" b="1" smtClean="0"/>
              <a:t>Messwerte speichern</a:t>
            </a:r>
            <a:r>
              <a:rPr lang="en-US" sz="16600" b="1" smtClean="0"/>
              <a:t> </a:t>
            </a:r>
            <a:r>
              <a:rPr lang="en-US" sz="6000" b="1" smtClean="0"/>
              <a:t>SD-Karte</a:t>
            </a:r>
            <a:endParaRPr lang="en-US" sz="9600" b="1" dirty="0"/>
          </a:p>
        </p:txBody>
      </p:sp>
    </p:spTree>
    <p:extLst>
      <p:ext uri="{BB962C8B-B14F-4D97-AF65-F5344CB8AC3E}">
        <p14:creationId xmlns:p14="http://schemas.microsoft.com/office/powerpoint/2010/main" val="2458642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54473F-290F-1C9D-42C9-3317CF905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19" y="0"/>
            <a:ext cx="5974079" cy="6858000"/>
          </a:xfrm>
        </p:spPr>
        <p:txBody>
          <a:bodyPr anchor="ctr">
            <a:normAutofit/>
          </a:bodyPr>
          <a:lstStyle/>
          <a:p>
            <a:r>
              <a:rPr lang="de-DE" sz="4800" b="1" smtClean="0"/>
              <a:t>Anwendung              SD-Karte am Beispiel DHT22</a:t>
            </a:r>
            <a:endParaRPr lang="de-DE" sz="4800" b="1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637237" cy="224160"/>
          </a:xfrm>
        </p:spPr>
        <p:txBody>
          <a:bodyPr/>
          <a:lstStyle/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82E2EBB-E035-44E5-E10B-431C8375D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2</a:t>
            </a:fld>
            <a:endParaRPr lang="de-DE" dirty="0"/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806" y="899568"/>
            <a:ext cx="48768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134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15000">
        <p:fade/>
      </p:transition>
    </mc:Choice>
    <mc:Fallback xmlns="">
      <p:transition spd="med" advTm="15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1">
            <a:extLst>
              <a:ext uri="{FF2B5EF4-FFF2-40B4-BE49-F238E27FC236}">
                <a16:creationId xmlns:a16="http://schemas.microsoft.com/office/drawing/2014/main" id="{C1F5BA14-D5FA-4F09-841D-83647C7AD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550" y="396000"/>
            <a:ext cx="10756899" cy="712800"/>
          </a:xfrm>
        </p:spPr>
        <p:txBody>
          <a:bodyPr/>
          <a:lstStyle/>
          <a:p>
            <a:r>
              <a:rPr lang="de-DE" b="1" smtClean="0"/>
              <a:t>Wie wird ein SD-Kartenmodul verschaltet, um DHT22-Messwerte zu speichern? </a:t>
            </a:r>
            <a:endParaRPr lang="de-DE" b="1" dirty="0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3869C99-C634-47CD-B208-CB16ACE119EE}" type="slidenum">
              <a:rPr lang="de-DE" smtClean="0"/>
              <a:pPr/>
              <a:t>3</a:t>
            </a:fld>
            <a:endParaRPr lang="de-DE"/>
          </a:p>
        </p:txBody>
      </p:sp>
      <p:sp>
        <p:nvSpPr>
          <p:cNvPr id="11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637237" cy="224160"/>
          </a:xfrm>
        </p:spPr>
        <p:txBody>
          <a:bodyPr/>
          <a:lstStyle/>
          <a:p>
            <a:r>
              <a:rPr lang="de-DE" sz="850" b="0" smtClean="0"/>
              <a:t>Prof. Dr-Ing. Mathias Rudolph, Elena Richter, Ludwig Ostertag, Fakultät ING, Industrielle Messtechnik</a:t>
            </a:r>
            <a:endParaRPr lang="de-DE" sz="850" b="0" dirty="0"/>
          </a:p>
        </p:txBody>
      </p:sp>
      <p:sp>
        <p:nvSpPr>
          <p:cNvPr id="7" name="Rechteck 6"/>
          <p:cNvSpPr/>
          <p:nvPr/>
        </p:nvSpPr>
        <p:spPr>
          <a:xfrm>
            <a:off x="717550" y="1506666"/>
            <a:ext cx="5866131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>
                <a:solidFill>
                  <a:srgbClr val="FF0000"/>
                </a:solidFill>
              </a:rPr>
              <a:t>3.3 V </a:t>
            </a:r>
            <a:r>
              <a:rPr lang="de-DE"/>
              <a:t>(ESP</a:t>
            </a:r>
            <a:r>
              <a:rPr lang="de-DE" smtClean="0"/>
              <a:t>)					→	</a:t>
            </a:r>
            <a:r>
              <a:rPr lang="de-DE" smtClean="0">
                <a:solidFill>
                  <a:srgbClr val="FF0000"/>
                </a:solidFill>
              </a:rPr>
              <a:t>VCC</a:t>
            </a:r>
            <a:r>
              <a:rPr lang="de-DE" smtClean="0"/>
              <a:t>  </a:t>
            </a:r>
            <a:r>
              <a:rPr lang="de-DE"/>
              <a:t>(DHT22</a:t>
            </a:r>
            <a:r>
              <a:rPr lang="de-DE" smtClean="0"/>
              <a:t>)</a:t>
            </a:r>
          </a:p>
          <a:p>
            <a:r>
              <a:rPr lang="de-DE" smtClean="0">
                <a:solidFill>
                  <a:srgbClr val="FFC000"/>
                </a:solidFill>
              </a:rPr>
              <a:t>GPIO-Pin</a:t>
            </a:r>
            <a:r>
              <a:rPr lang="de-DE" smtClean="0"/>
              <a:t> </a:t>
            </a:r>
            <a:r>
              <a:rPr lang="de-DE"/>
              <a:t>(ESP, z. B. GPIO4</a:t>
            </a:r>
            <a:r>
              <a:rPr lang="de-DE" smtClean="0"/>
              <a:t>)	→	</a:t>
            </a:r>
            <a:r>
              <a:rPr lang="de-DE" smtClean="0">
                <a:solidFill>
                  <a:srgbClr val="FFC000"/>
                </a:solidFill>
              </a:rPr>
              <a:t>DATA</a:t>
            </a:r>
            <a:r>
              <a:rPr lang="de-DE" smtClean="0"/>
              <a:t> </a:t>
            </a:r>
            <a:r>
              <a:rPr lang="de-DE"/>
              <a:t>(DHT22</a:t>
            </a:r>
            <a:r>
              <a:rPr lang="de-DE" smtClean="0"/>
              <a:t>)</a:t>
            </a:r>
          </a:p>
          <a:p>
            <a:r>
              <a:rPr lang="de-DE" smtClean="0"/>
              <a:t>GND </a:t>
            </a:r>
            <a:r>
              <a:rPr lang="de-DE"/>
              <a:t>(ESP)                  </a:t>
            </a:r>
            <a:r>
              <a:rPr lang="de-DE" smtClean="0"/>
              <a:t>		→ 	GND  </a:t>
            </a:r>
            <a:r>
              <a:rPr lang="de-DE"/>
              <a:t>(DHT22</a:t>
            </a:r>
            <a:r>
              <a:rPr lang="de-DE" smtClean="0"/>
              <a:t>)</a:t>
            </a:r>
          </a:p>
          <a:p>
            <a:endParaRPr lang="de-DE"/>
          </a:p>
          <a:p>
            <a:r>
              <a:rPr lang="de-DE" smtClean="0">
                <a:solidFill>
                  <a:srgbClr val="FF0000"/>
                </a:solidFill>
              </a:rPr>
              <a:t>(3.3 </a:t>
            </a:r>
            <a:r>
              <a:rPr lang="de-DE">
                <a:solidFill>
                  <a:srgbClr val="FF0000"/>
                </a:solidFill>
              </a:rPr>
              <a:t>V </a:t>
            </a:r>
            <a:r>
              <a:rPr lang="de-DE"/>
              <a:t>(ESP) ── </a:t>
            </a:r>
            <a:r>
              <a:rPr lang="de-DE">
                <a:solidFill>
                  <a:schemeClr val="accent6"/>
                </a:solidFill>
              </a:rPr>
              <a:t>[ Rfix ]</a:t>
            </a:r>
            <a:r>
              <a:rPr lang="de-DE"/>
              <a:t> ── </a:t>
            </a:r>
            <a:r>
              <a:rPr lang="de-DE" smtClean="0">
                <a:solidFill>
                  <a:srgbClr val="FFC000"/>
                </a:solidFill>
              </a:rPr>
              <a:t>DATA</a:t>
            </a:r>
            <a:r>
              <a:rPr lang="de-DE" smtClean="0"/>
              <a:t> </a:t>
            </a:r>
            <a:r>
              <a:rPr lang="de-DE"/>
              <a:t>(DHT22</a:t>
            </a:r>
            <a:r>
              <a:rPr lang="de-DE" smtClean="0"/>
              <a:t>))</a:t>
            </a:r>
            <a:endParaRPr lang="de-DE"/>
          </a:p>
          <a:p>
            <a:r>
              <a:rPr lang="de-DE">
                <a:solidFill>
                  <a:schemeClr val="accent6"/>
                </a:solidFill>
              </a:rPr>
              <a:t>                 </a:t>
            </a:r>
            <a:r>
              <a:rPr lang="de-DE"/>
              <a:t>4.7 kΩ – 10 </a:t>
            </a:r>
            <a:r>
              <a:rPr lang="de-DE" smtClean="0"/>
              <a:t>kΩ</a:t>
            </a:r>
            <a:endParaRPr lang="de-DE"/>
          </a:p>
        </p:txBody>
      </p:sp>
      <p:sp>
        <p:nvSpPr>
          <p:cNvPr id="9" name="Rechteck 8"/>
          <p:cNvSpPr/>
          <p:nvPr/>
        </p:nvSpPr>
        <p:spPr>
          <a:xfrm>
            <a:off x="717550" y="3658858"/>
            <a:ext cx="586613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>
                <a:solidFill>
                  <a:srgbClr val="FF0000"/>
                </a:solidFill>
              </a:rPr>
              <a:t>3.3 V </a:t>
            </a:r>
            <a:r>
              <a:rPr lang="de-DE"/>
              <a:t>(ESP</a:t>
            </a:r>
            <a:r>
              <a:rPr lang="de-DE" smtClean="0"/>
              <a:t>)					→	</a:t>
            </a:r>
            <a:r>
              <a:rPr lang="de-DE" smtClean="0">
                <a:solidFill>
                  <a:srgbClr val="FF0000"/>
                </a:solidFill>
              </a:rPr>
              <a:t>___</a:t>
            </a:r>
            <a:r>
              <a:rPr lang="de-DE" smtClean="0"/>
              <a:t>  (SD)</a:t>
            </a:r>
          </a:p>
          <a:p>
            <a:r>
              <a:rPr lang="de-DE" smtClean="0">
                <a:solidFill>
                  <a:srgbClr val="FFC000"/>
                </a:solidFill>
              </a:rPr>
              <a:t>GPIO__						</a:t>
            </a:r>
            <a:r>
              <a:rPr lang="de-DE" smtClean="0"/>
              <a:t>→	</a:t>
            </a:r>
            <a:r>
              <a:rPr lang="de-DE" smtClean="0">
                <a:solidFill>
                  <a:srgbClr val="FFC000"/>
                </a:solidFill>
              </a:rPr>
              <a:t>CS</a:t>
            </a:r>
            <a:r>
              <a:rPr lang="de-DE" smtClean="0"/>
              <a:t> (SD)</a:t>
            </a:r>
          </a:p>
          <a:p>
            <a:r>
              <a:rPr lang="de-DE" smtClean="0">
                <a:solidFill>
                  <a:srgbClr val="FFC000"/>
                </a:solidFill>
              </a:rPr>
              <a:t>GPIO__</a:t>
            </a:r>
            <a:r>
              <a:rPr lang="de-DE">
                <a:solidFill>
                  <a:srgbClr val="FFC000"/>
                </a:solidFill>
              </a:rPr>
              <a:t>						</a:t>
            </a:r>
            <a:r>
              <a:rPr lang="de-DE"/>
              <a:t>→	</a:t>
            </a:r>
            <a:r>
              <a:rPr lang="de-DE" smtClean="0">
                <a:solidFill>
                  <a:srgbClr val="FFC000"/>
                </a:solidFill>
              </a:rPr>
              <a:t>SCK</a:t>
            </a:r>
            <a:r>
              <a:rPr lang="de-DE" smtClean="0"/>
              <a:t> </a:t>
            </a:r>
            <a:r>
              <a:rPr lang="de-DE"/>
              <a:t>(SD</a:t>
            </a:r>
            <a:r>
              <a:rPr lang="de-DE" smtClean="0"/>
              <a:t>)</a:t>
            </a:r>
            <a:endParaRPr lang="de-DE" smtClean="0">
              <a:solidFill>
                <a:srgbClr val="FFC000"/>
              </a:solidFill>
            </a:endParaRPr>
          </a:p>
          <a:p>
            <a:r>
              <a:rPr lang="de-DE" smtClean="0">
                <a:solidFill>
                  <a:srgbClr val="FFC000"/>
                </a:solidFill>
              </a:rPr>
              <a:t>GPIO__</a:t>
            </a:r>
            <a:r>
              <a:rPr lang="de-DE">
                <a:solidFill>
                  <a:srgbClr val="FFC000"/>
                </a:solidFill>
              </a:rPr>
              <a:t>						</a:t>
            </a:r>
            <a:r>
              <a:rPr lang="de-DE"/>
              <a:t>→	</a:t>
            </a:r>
            <a:r>
              <a:rPr lang="de-DE" smtClean="0">
                <a:solidFill>
                  <a:srgbClr val="FFC000"/>
                </a:solidFill>
              </a:rPr>
              <a:t>MOSI</a:t>
            </a:r>
            <a:r>
              <a:rPr lang="de-DE" smtClean="0"/>
              <a:t> </a:t>
            </a:r>
            <a:r>
              <a:rPr lang="de-DE"/>
              <a:t>(SD</a:t>
            </a:r>
            <a:r>
              <a:rPr lang="de-DE" smtClean="0"/>
              <a:t>)</a:t>
            </a:r>
            <a:endParaRPr lang="de-DE" smtClean="0">
              <a:solidFill>
                <a:srgbClr val="FFC000"/>
              </a:solidFill>
            </a:endParaRPr>
          </a:p>
          <a:p>
            <a:r>
              <a:rPr lang="de-DE" smtClean="0">
                <a:solidFill>
                  <a:srgbClr val="FFC000"/>
                </a:solidFill>
              </a:rPr>
              <a:t>GPIO__</a:t>
            </a:r>
            <a:r>
              <a:rPr lang="de-DE">
                <a:solidFill>
                  <a:srgbClr val="FFC000"/>
                </a:solidFill>
              </a:rPr>
              <a:t>						</a:t>
            </a:r>
            <a:r>
              <a:rPr lang="de-DE"/>
              <a:t>→	</a:t>
            </a:r>
            <a:r>
              <a:rPr lang="de-DE" smtClean="0">
                <a:solidFill>
                  <a:srgbClr val="FFC000"/>
                </a:solidFill>
              </a:rPr>
              <a:t>MISO</a:t>
            </a:r>
            <a:r>
              <a:rPr lang="de-DE" smtClean="0"/>
              <a:t> </a:t>
            </a:r>
            <a:r>
              <a:rPr lang="de-DE"/>
              <a:t>(SD</a:t>
            </a:r>
            <a:r>
              <a:rPr lang="de-DE" smtClean="0"/>
              <a:t>)</a:t>
            </a:r>
          </a:p>
          <a:p>
            <a:r>
              <a:rPr lang="de-DE" smtClean="0"/>
              <a:t>GND </a:t>
            </a:r>
            <a:r>
              <a:rPr lang="de-DE"/>
              <a:t>(ESP)                  </a:t>
            </a:r>
            <a:r>
              <a:rPr lang="de-DE" smtClean="0"/>
              <a:t>		→ 	___  (SD)</a:t>
            </a:r>
          </a:p>
          <a:p>
            <a:endParaRPr lang="de-DE"/>
          </a:p>
        </p:txBody>
      </p:sp>
      <p:pic>
        <p:nvPicPr>
          <p:cNvPr id="13" name="Grafik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3946" y="1436365"/>
            <a:ext cx="4074622" cy="4074622"/>
          </a:xfrm>
          <a:prstGeom prst="rect">
            <a:avLst/>
          </a:prstGeom>
        </p:spPr>
      </p:pic>
      <p:sp>
        <p:nvSpPr>
          <p:cNvPr id="3" name="Textfeld 2"/>
          <p:cNvSpPr txBox="1"/>
          <p:nvPr/>
        </p:nvSpPr>
        <p:spPr>
          <a:xfrm>
            <a:off x="717550" y="5690183"/>
            <a:ext cx="10790133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de-DE" smtClean="0"/>
              <a:t>Hinweis: Es kann vorkommen, dass das SD-Kartenmodul an 5V statt 3.3V angeschlossen werden muss.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61154783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1">
            <a:extLst>
              <a:ext uri="{FF2B5EF4-FFF2-40B4-BE49-F238E27FC236}">
                <a16:creationId xmlns:a16="http://schemas.microsoft.com/office/drawing/2014/main" id="{C1F5BA14-D5FA-4F09-841D-83647C7AD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550" y="396000"/>
            <a:ext cx="10756899" cy="712800"/>
          </a:xfrm>
        </p:spPr>
        <p:txBody>
          <a:bodyPr/>
          <a:lstStyle/>
          <a:p>
            <a:r>
              <a:rPr lang="de-DE" b="1"/>
              <a:t>Wie wird ein SD-Kartenmodul verschaltet, um DHT22-Messwerte zu speichern? </a:t>
            </a:r>
            <a:r>
              <a:rPr lang="de-DE" b="1" smtClean="0">
                <a:sym typeface="Wingdings" panose="05000000000000000000" pitchFamily="2" charset="2"/>
              </a:rPr>
              <a:t> Lösung:</a:t>
            </a:r>
            <a:r>
              <a:rPr lang="de-DE" b="1" smtClean="0"/>
              <a:t> </a:t>
            </a:r>
            <a:endParaRPr lang="de-DE" b="1" dirty="0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3869C99-C634-47CD-B208-CB16ACE119EE}" type="slidenum">
              <a:rPr lang="de-DE" smtClean="0"/>
              <a:pPr/>
              <a:t>4</a:t>
            </a:fld>
            <a:endParaRPr lang="de-DE"/>
          </a:p>
        </p:txBody>
      </p:sp>
      <p:sp>
        <p:nvSpPr>
          <p:cNvPr id="11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637237" cy="224160"/>
          </a:xfrm>
        </p:spPr>
        <p:txBody>
          <a:bodyPr/>
          <a:lstStyle/>
          <a:p>
            <a:r>
              <a:rPr lang="de-DE" sz="850" b="0" smtClean="0"/>
              <a:t>Prof. Dr-Ing. Mathias Rudolph, Elena Richter, Ludwig Ostertag, Fakultät ING, Industrielle Messtechnik</a:t>
            </a:r>
            <a:endParaRPr lang="de-DE" sz="850" b="0" dirty="0"/>
          </a:p>
        </p:txBody>
      </p:sp>
      <p:sp>
        <p:nvSpPr>
          <p:cNvPr id="7" name="Rechteck 6"/>
          <p:cNvSpPr/>
          <p:nvPr/>
        </p:nvSpPr>
        <p:spPr>
          <a:xfrm>
            <a:off x="717550" y="1506666"/>
            <a:ext cx="5866131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>
                <a:solidFill>
                  <a:srgbClr val="FF0000"/>
                </a:solidFill>
              </a:rPr>
              <a:t>3.3 V </a:t>
            </a:r>
            <a:r>
              <a:rPr lang="de-DE"/>
              <a:t>(ESP</a:t>
            </a:r>
            <a:r>
              <a:rPr lang="de-DE" smtClean="0"/>
              <a:t>)					→	</a:t>
            </a:r>
            <a:r>
              <a:rPr lang="de-DE" smtClean="0">
                <a:solidFill>
                  <a:srgbClr val="FF0000"/>
                </a:solidFill>
              </a:rPr>
              <a:t>VCC</a:t>
            </a:r>
            <a:r>
              <a:rPr lang="de-DE" smtClean="0"/>
              <a:t>  </a:t>
            </a:r>
            <a:r>
              <a:rPr lang="de-DE"/>
              <a:t>(DHT22</a:t>
            </a:r>
            <a:r>
              <a:rPr lang="de-DE" smtClean="0"/>
              <a:t>)</a:t>
            </a:r>
          </a:p>
          <a:p>
            <a:r>
              <a:rPr lang="de-DE" smtClean="0">
                <a:solidFill>
                  <a:srgbClr val="FFC000"/>
                </a:solidFill>
              </a:rPr>
              <a:t>GPIO-Pin</a:t>
            </a:r>
            <a:r>
              <a:rPr lang="de-DE" smtClean="0"/>
              <a:t> </a:t>
            </a:r>
            <a:r>
              <a:rPr lang="de-DE"/>
              <a:t>(ESP, z. B. GPIO4</a:t>
            </a:r>
            <a:r>
              <a:rPr lang="de-DE" smtClean="0"/>
              <a:t>)	→	</a:t>
            </a:r>
            <a:r>
              <a:rPr lang="de-DE" smtClean="0">
                <a:solidFill>
                  <a:srgbClr val="FFC000"/>
                </a:solidFill>
              </a:rPr>
              <a:t>DATA</a:t>
            </a:r>
            <a:r>
              <a:rPr lang="de-DE" smtClean="0"/>
              <a:t> </a:t>
            </a:r>
            <a:r>
              <a:rPr lang="de-DE"/>
              <a:t>(DHT22</a:t>
            </a:r>
            <a:r>
              <a:rPr lang="de-DE" smtClean="0"/>
              <a:t>)</a:t>
            </a:r>
          </a:p>
          <a:p>
            <a:r>
              <a:rPr lang="de-DE" smtClean="0"/>
              <a:t>GND </a:t>
            </a:r>
            <a:r>
              <a:rPr lang="de-DE"/>
              <a:t>(ESP)                  </a:t>
            </a:r>
            <a:r>
              <a:rPr lang="de-DE" smtClean="0"/>
              <a:t>		→ 	GND  </a:t>
            </a:r>
            <a:r>
              <a:rPr lang="de-DE"/>
              <a:t>(DHT22</a:t>
            </a:r>
            <a:r>
              <a:rPr lang="de-DE" smtClean="0"/>
              <a:t>)</a:t>
            </a:r>
          </a:p>
          <a:p>
            <a:endParaRPr lang="de-DE"/>
          </a:p>
          <a:p>
            <a:r>
              <a:rPr lang="de-DE">
                <a:solidFill>
                  <a:srgbClr val="FF0000"/>
                </a:solidFill>
              </a:rPr>
              <a:t>3.3 V </a:t>
            </a:r>
            <a:r>
              <a:rPr lang="de-DE"/>
              <a:t>(ESP) ── </a:t>
            </a:r>
            <a:r>
              <a:rPr lang="de-DE">
                <a:solidFill>
                  <a:schemeClr val="accent6"/>
                </a:solidFill>
              </a:rPr>
              <a:t>[ Rfix ]</a:t>
            </a:r>
            <a:r>
              <a:rPr lang="de-DE"/>
              <a:t> ── </a:t>
            </a:r>
            <a:r>
              <a:rPr lang="de-DE" smtClean="0">
                <a:solidFill>
                  <a:srgbClr val="FFC000"/>
                </a:solidFill>
              </a:rPr>
              <a:t>DATA</a:t>
            </a:r>
            <a:r>
              <a:rPr lang="de-DE" smtClean="0"/>
              <a:t> </a:t>
            </a:r>
            <a:r>
              <a:rPr lang="de-DE"/>
              <a:t>(DHT22)</a:t>
            </a:r>
          </a:p>
          <a:p>
            <a:r>
              <a:rPr lang="de-DE">
                <a:solidFill>
                  <a:schemeClr val="accent6"/>
                </a:solidFill>
              </a:rPr>
              <a:t>                 </a:t>
            </a:r>
            <a:r>
              <a:rPr lang="de-DE"/>
              <a:t>4.7 kΩ – 10 </a:t>
            </a:r>
            <a:r>
              <a:rPr lang="de-DE" smtClean="0"/>
              <a:t>kΩ</a:t>
            </a:r>
            <a:endParaRPr lang="de-DE"/>
          </a:p>
        </p:txBody>
      </p:sp>
      <p:sp>
        <p:nvSpPr>
          <p:cNvPr id="9" name="Rechteck 8"/>
          <p:cNvSpPr/>
          <p:nvPr/>
        </p:nvSpPr>
        <p:spPr>
          <a:xfrm>
            <a:off x="717550" y="3658858"/>
            <a:ext cx="586613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>
                <a:solidFill>
                  <a:srgbClr val="FF0000"/>
                </a:solidFill>
              </a:rPr>
              <a:t>3.3 V </a:t>
            </a:r>
            <a:r>
              <a:rPr lang="de-DE"/>
              <a:t>(ESP</a:t>
            </a:r>
            <a:r>
              <a:rPr lang="de-DE" smtClean="0"/>
              <a:t>)					→	</a:t>
            </a:r>
            <a:r>
              <a:rPr lang="de-DE" smtClean="0">
                <a:solidFill>
                  <a:srgbClr val="FF0000"/>
                </a:solidFill>
              </a:rPr>
              <a:t>VCC</a:t>
            </a:r>
            <a:r>
              <a:rPr lang="de-DE" smtClean="0"/>
              <a:t>  (SD)</a:t>
            </a:r>
          </a:p>
          <a:p>
            <a:r>
              <a:rPr lang="de-DE" smtClean="0">
                <a:solidFill>
                  <a:srgbClr val="FFC000"/>
                </a:solidFill>
              </a:rPr>
              <a:t>GPIO5						</a:t>
            </a:r>
            <a:r>
              <a:rPr lang="de-DE" smtClean="0"/>
              <a:t>→	</a:t>
            </a:r>
            <a:r>
              <a:rPr lang="de-DE" smtClean="0">
                <a:solidFill>
                  <a:srgbClr val="FFC000"/>
                </a:solidFill>
              </a:rPr>
              <a:t>CS</a:t>
            </a:r>
            <a:r>
              <a:rPr lang="de-DE" smtClean="0"/>
              <a:t> (SD)</a:t>
            </a:r>
          </a:p>
          <a:p>
            <a:r>
              <a:rPr lang="de-DE" smtClean="0">
                <a:solidFill>
                  <a:srgbClr val="FFC000"/>
                </a:solidFill>
              </a:rPr>
              <a:t>GPIO18</a:t>
            </a:r>
            <a:r>
              <a:rPr lang="de-DE">
                <a:solidFill>
                  <a:srgbClr val="FFC000"/>
                </a:solidFill>
              </a:rPr>
              <a:t>						</a:t>
            </a:r>
            <a:r>
              <a:rPr lang="de-DE"/>
              <a:t>→	</a:t>
            </a:r>
            <a:r>
              <a:rPr lang="de-DE" smtClean="0">
                <a:solidFill>
                  <a:srgbClr val="FFC000"/>
                </a:solidFill>
              </a:rPr>
              <a:t>SCK</a:t>
            </a:r>
            <a:r>
              <a:rPr lang="de-DE" smtClean="0"/>
              <a:t> </a:t>
            </a:r>
            <a:r>
              <a:rPr lang="de-DE"/>
              <a:t>(SD</a:t>
            </a:r>
            <a:r>
              <a:rPr lang="de-DE" smtClean="0"/>
              <a:t>)</a:t>
            </a:r>
            <a:endParaRPr lang="de-DE" smtClean="0">
              <a:solidFill>
                <a:srgbClr val="FFC000"/>
              </a:solidFill>
            </a:endParaRPr>
          </a:p>
          <a:p>
            <a:r>
              <a:rPr lang="de-DE" smtClean="0">
                <a:solidFill>
                  <a:srgbClr val="FFC000"/>
                </a:solidFill>
              </a:rPr>
              <a:t>GPIO23</a:t>
            </a:r>
            <a:r>
              <a:rPr lang="de-DE">
                <a:solidFill>
                  <a:srgbClr val="FFC000"/>
                </a:solidFill>
              </a:rPr>
              <a:t>						</a:t>
            </a:r>
            <a:r>
              <a:rPr lang="de-DE"/>
              <a:t>→	</a:t>
            </a:r>
            <a:r>
              <a:rPr lang="de-DE" smtClean="0">
                <a:solidFill>
                  <a:srgbClr val="FFC000"/>
                </a:solidFill>
              </a:rPr>
              <a:t>MOSI</a:t>
            </a:r>
            <a:r>
              <a:rPr lang="de-DE" smtClean="0"/>
              <a:t> </a:t>
            </a:r>
            <a:r>
              <a:rPr lang="de-DE"/>
              <a:t>(SD</a:t>
            </a:r>
            <a:r>
              <a:rPr lang="de-DE" smtClean="0"/>
              <a:t>)</a:t>
            </a:r>
            <a:endParaRPr lang="de-DE" smtClean="0">
              <a:solidFill>
                <a:srgbClr val="FFC000"/>
              </a:solidFill>
            </a:endParaRPr>
          </a:p>
          <a:p>
            <a:r>
              <a:rPr lang="de-DE" smtClean="0">
                <a:solidFill>
                  <a:srgbClr val="FFC000"/>
                </a:solidFill>
              </a:rPr>
              <a:t>GPIO19</a:t>
            </a:r>
            <a:r>
              <a:rPr lang="de-DE">
                <a:solidFill>
                  <a:srgbClr val="FFC000"/>
                </a:solidFill>
              </a:rPr>
              <a:t>						</a:t>
            </a:r>
            <a:r>
              <a:rPr lang="de-DE"/>
              <a:t>→	</a:t>
            </a:r>
            <a:r>
              <a:rPr lang="de-DE" smtClean="0">
                <a:solidFill>
                  <a:srgbClr val="FFC000"/>
                </a:solidFill>
              </a:rPr>
              <a:t>MISO</a:t>
            </a:r>
            <a:r>
              <a:rPr lang="de-DE" smtClean="0"/>
              <a:t> </a:t>
            </a:r>
            <a:r>
              <a:rPr lang="de-DE"/>
              <a:t>(SD</a:t>
            </a:r>
            <a:r>
              <a:rPr lang="de-DE" smtClean="0"/>
              <a:t>)</a:t>
            </a:r>
          </a:p>
          <a:p>
            <a:r>
              <a:rPr lang="de-DE" smtClean="0"/>
              <a:t>GND </a:t>
            </a:r>
            <a:r>
              <a:rPr lang="de-DE"/>
              <a:t>(ESP)                  </a:t>
            </a:r>
            <a:r>
              <a:rPr lang="de-DE" smtClean="0"/>
              <a:t>		→ 	</a:t>
            </a:r>
            <a:r>
              <a:rPr lang="de-DE" smtClean="0">
                <a:solidFill>
                  <a:srgbClr val="FFC000"/>
                </a:solidFill>
              </a:rPr>
              <a:t>GND</a:t>
            </a:r>
            <a:r>
              <a:rPr lang="de-DE" smtClean="0"/>
              <a:t>  (SD)</a:t>
            </a:r>
          </a:p>
          <a:p>
            <a:endParaRPr lang="de-DE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24B210A7-F815-4E40-A529-0034632E570D}"/>
              </a:ext>
            </a:extLst>
          </p:cNvPr>
          <p:cNvSpPr txBox="1"/>
          <p:nvPr/>
        </p:nvSpPr>
        <p:spPr>
          <a:xfrm>
            <a:off x="7978732" y="5287423"/>
            <a:ext cx="275830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Quelle</a:t>
            </a:r>
            <a:r>
              <a:rPr lang="de-DE" sz="800"/>
              <a:t>: </a:t>
            </a:r>
            <a:r>
              <a:rPr lang="de-DE" sz="800" smtClean="0"/>
              <a:t>intern</a:t>
            </a:r>
            <a:endParaRPr lang="de-DE" sz="800" dirty="0"/>
          </a:p>
        </p:txBody>
      </p:sp>
      <p:sp>
        <p:nvSpPr>
          <p:cNvPr id="12" name="Textfeld 11"/>
          <p:cNvSpPr txBox="1"/>
          <p:nvPr/>
        </p:nvSpPr>
        <p:spPr>
          <a:xfrm>
            <a:off x="717550" y="5690183"/>
            <a:ext cx="10790133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de-DE" smtClean="0"/>
              <a:t>Hinweis: Es kann vorkommen, dass das SD-Kartenmodul an 5V statt 3.3V angeschlossen werden muss.</a:t>
            </a:r>
            <a:endParaRPr lang="de-DE"/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8732" y="1275563"/>
            <a:ext cx="2133898" cy="4020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8047382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1">
            <a:extLst>
              <a:ext uri="{FF2B5EF4-FFF2-40B4-BE49-F238E27FC236}">
                <a16:creationId xmlns:a16="http://schemas.microsoft.com/office/drawing/2014/main" id="{C1F5BA14-D5FA-4F09-841D-83647C7AD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550" y="396000"/>
            <a:ext cx="10756899" cy="712800"/>
          </a:xfrm>
        </p:spPr>
        <p:txBody>
          <a:bodyPr/>
          <a:lstStyle/>
          <a:p>
            <a:r>
              <a:rPr lang="de-DE" b="1" smtClean="0"/>
              <a:t>Wie wird ein SD-Kartenmodul programmiert, um DHT22-Messwerte zu speichern? </a:t>
            </a:r>
            <a:endParaRPr lang="de-DE" b="1" dirty="0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3869C99-C634-47CD-B208-CB16ACE119EE}" type="slidenum">
              <a:rPr lang="de-DE" smtClean="0"/>
              <a:pPr/>
              <a:t>5</a:t>
            </a:fld>
            <a:endParaRPr lang="de-DE"/>
          </a:p>
        </p:txBody>
      </p:sp>
      <p:sp>
        <p:nvSpPr>
          <p:cNvPr id="11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637237" cy="224160"/>
          </a:xfrm>
        </p:spPr>
        <p:txBody>
          <a:bodyPr/>
          <a:lstStyle/>
          <a:p>
            <a:r>
              <a:rPr lang="de-DE" sz="850" b="0" smtClean="0"/>
              <a:t>Prof. Dr-Ing. Mathias Rudolph, Elena Richter, Ludwig Ostertag, Fakultät ING, Industrielle Messtechnik</a:t>
            </a:r>
            <a:endParaRPr lang="de-DE" sz="850" b="0" dirty="0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24B210A7-F815-4E40-A529-0034632E570D}"/>
              </a:ext>
            </a:extLst>
          </p:cNvPr>
          <p:cNvSpPr txBox="1"/>
          <p:nvPr/>
        </p:nvSpPr>
        <p:spPr>
          <a:xfrm>
            <a:off x="717550" y="4501152"/>
            <a:ext cx="275830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Quelle</a:t>
            </a:r>
            <a:r>
              <a:rPr lang="de-DE" sz="800"/>
              <a:t>: </a:t>
            </a:r>
            <a:r>
              <a:rPr lang="de-DE" sz="800" smtClean="0"/>
              <a:t>intern</a:t>
            </a:r>
            <a:endParaRPr lang="de-DE" sz="800" dirty="0"/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551" y="1333152"/>
            <a:ext cx="4515234" cy="3168000"/>
          </a:xfrm>
          <a:prstGeom prst="rect">
            <a:avLst/>
          </a:prstGeom>
        </p:spPr>
      </p:pic>
      <p:pic>
        <p:nvPicPr>
          <p:cNvPr id="5" name="Grafik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4213" y="2011656"/>
            <a:ext cx="3869357" cy="3168000"/>
          </a:xfrm>
          <a:prstGeom prst="rect">
            <a:avLst/>
          </a:prstGeom>
        </p:spPr>
      </p:pic>
      <p:pic>
        <p:nvPicPr>
          <p:cNvPr id="6" name="Grafik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5683" y="2917152"/>
            <a:ext cx="3388766" cy="3168000"/>
          </a:xfrm>
          <a:prstGeom prst="rect">
            <a:avLst/>
          </a:prstGeom>
        </p:spPr>
      </p:pic>
      <p:sp>
        <p:nvSpPr>
          <p:cNvPr id="13" name="Textfeld 12">
            <a:extLst>
              <a:ext uri="{FF2B5EF4-FFF2-40B4-BE49-F238E27FC236}">
                <a16:creationId xmlns:a16="http://schemas.microsoft.com/office/drawing/2014/main" id="{24B210A7-F815-4E40-A529-0034632E570D}"/>
              </a:ext>
            </a:extLst>
          </p:cNvPr>
          <p:cNvSpPr txBox="1"/>
          <p:nvPr/>
        </p:nvSpPr>
        <p:spPr>
          <a:xfrm>
            <a:off x="4044213" y="5179656"/>
            <a:ext cx="275830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Quelle</a:t>
            </a:r>
            <a:r>
              <a:rPr lang="de-DE" sz="800"/>
              <a:t>: </a:t>
            </a:r>
            <a:r>
              <a:rPr lang="de-DE" sz="800" smtClean="0"/>
              <a:t>intern</a:t>
            </a:r>
            <a:endParaRPr lang="de-DE" sz="800" dirty="0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24B210A7-F815-4E40-A529-0034632E570D}"/>
              </a:ext>
            </a:extLst>
          </p:cNvPr>
          <p:cNvSpPr txBox="1"/>
          <p:nvPr/>
        </p:nvSpPr>
        <p:spPr>
          <a:xfrm>
            <a:off x="8085683" y="6085152"/>
            <a:ext cx="275830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Quelle</a:t>
            </a:r>
            <a:r>
              <a:rPr lang="de-DE" sz="800"/>
              <a:t>: </a:t>
            </a:r>
            <a:r>
              <a:rPr lang="de-DE" sz="800" smtClean="0"/>
              <a:t>intern</a:t>
            </a:r>
            <a:endParaRPr lang="de-DE" sz="800" dirty="0"/>
          </a:p>
        </p:txBody>
      </p:sp>
    </p:spTree>
    <p:extLst>
      <p:ext uri="{BB962C8B-B14F-4D97-AF65-F5344CB8AC3E}">
        <p14:creationId xmlns:p14="http://schemas.microsoft.com/office/powerpoint/2010/main" val="1885072112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1">
            <a:extLst>
              <a:ext uri="{FF2B5EF4-FFF2-40B4-BE49-F238E27FC236}">
                <a16:creationId xmlns:a16="http://schemas.microsoft.com/office/drawing/2014/main" id="{C1F5BA14-D5FA-4F09-841D-83647C7AD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550" y="396000"/>
            <a:ext cx="10756899" cy="712800"/>
          </a:xfrm>
        </p:spPr>
        <p:txBody>
          <a:bodyPr/>
          <a:lstStyle/>
          <a:p>
            <a:r>
              <a:rPr lang="de-DE" b="1" smtClean="0"/>
              <a:t>Wie wird ein SD-Kartenmodul programmiert, um DHT22-Messwerte zu speichern? </a:t>
            </a:r>
            <a:r>
              <a:rPr lang="de-DE" b="1" smtClean="0">
                <a:sym typeface="Wingdings" panose="05000000000000000000" pitchFamily="2" charset="2"/>
              </a:rPr>
              <a:t> Lösung:</a:t>
            </a:r>
            <a:endParaRPr lang="de-DE" b="1" dirty="0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3869C99-C634-47CD-B208-CB16ACE119EE}" type="slidenum">
              <a:rPr lang="de-DE" smtClean="0"/>
              <a:pPr/>
              <a:t>6</a:t>
            </a:fld>
            <a:endParaRPr lang="de-DE"/>
          </a:p>
        </p:txBody>
      </p:sp>
      <p:sp>
        <p:nvSpPr>
          <p:cNvPr id="11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637237" cy="224160"/>
          </a:xfrm>
        </p:spPr>
        <p:txBody>
          <a:bodyPr/>
          <a:lstStyle/>
          <a:p>
            <a:r>
              <a:rPr lang="de-DE" sz="850" b="0" smtClean="0"/>
              <a:t>Prof. Dr-Ing. Mathias Rudolph, Elena Richter, Ludwig Ostertag, Fakultät ING, Industrielle Messtechnik</a:t>
            </a:r>
            <a:endParaRPr lang="de-DE" sz="850" b="0" dirty="0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24B210A7-F815-4E40-A529-0034632E570D}"/>
              </a:ext>
            </a:extLst>
          </p:cNvPr>
          <p:cNvSpPr txBox="1"/>
          <p:nvPr/>
        </p:nvSpPr>
        <p:spPr>
          <a:xfrm>
            <a:off x="717550" y="4559808"/>
            <a:ext cx="275830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Quelle</a:t>
            </a:r>
            <a:r>
              <a:rPr lang="de-DE" sz="800"/>
              <a:t>: </a:t>
            </a:r>
            <a:r>
              <a:rPr lang="de-DE" sz="800" smtClean="0"/>
              <a:t>intern</a:t>
            </a:r>
            <a:endParaRPr lang="de-DE" sz="800" dirty="0"/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550" y="1391808"/>
            <a:ext cx="4443518" cy="3168000"/>
          </a:xfrm>
          <a:prstGeom prst="rect">
            <a:avLst/>
          </a:prstGeom>
        </p:spPr>
      </p:pic>
      <p:pic>
        <p:nvPicPr>
          <p:cNvPr id="7" name="Grafik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5095" y="2214456"/>
            <a:ext cx="3821808" cy="3168000"/>
          </a:xfrm>
          <a:prstGeom prst="rect">
            <a:avLst/>
          </a:prstGeom>
        </p:spPr>
      </p:pic>
      <p:pic>
        <p:nvPicPr>
          <p:cNvPr id="9" name="Grafik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4877" y="3037104"/>
            <a:ext cx="3379571" cy="3168000"/>
          </a:xfrm>
          <a:prstGeom prst="rect">
            <a:avLst/>
          </a:prstGeom>
        </p:spPr>
      </p:pic>
      <p:sp>
        <p:nvSpPr>
          <p:cNvPr id="13" name="Textfeld 12">
            <a:extLst>
              <a:ext uri="{FF2B5EF4-FFF2-40B4-BE49-F238E27FC236}">
                <a16:creationId xmlns:a16="http://schemas.microsoft.com/office/drawing/2014/main" id="{24B210A7-F815-4E40-A529-0034632E570D}"/>
              </a:ext>
            </a:extLst>
          </p:cNvPr>
          <p:cNvSpPr txBox="1"/>
          <p:nvPr/>
        </p:nvSpPr>
        <p:spPr>
          <a:xfrm>
            <a:off x="4185095" y="5382456"/>
            <a:ext cx="275830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Quelle</a:t>
            </a:r>
            <a:r>
              <a:rPr lang="de-DE" sz="800"/>
              <a:t>: </a:t>
            </a:r>
            <a:r>
              <a:rPr lang="de-DE" sz="800" smtClean="0"/>
              <a:t>intern</a:t>
            </a:r>
            <a:endParaRPr lang="de-DE" sz="800" dirty="0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24B210A7-F815-4E40-A529-0034632E570D}"/>
              </a:ext>
            </a:extLst>
          </p:cNvPr>
          <p:cNvSpPr txBox="1"/>
          <p:nvPr/>
        </p:nvSpPr>
        <p:spPr>
          <a:xfrm>
            <a:off x="8006903" y="6209462"/>
            <a:ext cx="275830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Quelle</a:t>
            </a:r>
            <a:r>
              <a:rPr lang="de-DE" sz="800"/>
              <a:t>: </a:t>
            </a:r>
            <a:r>
              <a:rPr lang="de-DE" sz="800" smtClean="0"/>
              <a:t>intern</a:t>
            </a:r>
            <a:endParaRPr lang="de-DE" sz="800" dirty="0"/>
          </a:p>
        </p:txBody>
      </p:sp>
    </p:spTree>
    <p:extLst>
      <p:ext uri="{BB962C8B-B14F-4D97-AF65-F5344CB8AC3E}">
        <p14:creationId xmlns:p14="http://schemas.microsoft.com/office/powerpoint/2010/main" val="1063526244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54473F-290F-1C9D-42C9-3317CF905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4873" y="0"/>
            <a:ext cx="6687126" cy="6858000"/>
          </a:xfrm>
        </p:spPr>
        <p:txBody>
          <a:bodyPr anchor="ctr">
            <a:normAutofit/>
          </a:bodyPr>
          <a:lstStyle/>
          <a:p>
            <a:r>
              <a:rPr lang="de-DE" sz="4800" b="1" smtClean="0"/>
              <a:t>Praxistest                  SD-Karte am     Beispiel DHT22</a:t>
            </a:r>
            <a:endParaRPr lang="de-DE" sz="4800" b="1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82E2EBB-E035-44E5-E10B-431C8375D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7</a:t>
            </a:fld>
            <a:endParaRPr lang="de-DE" dirty="0"/>
          </a:p>
        </p:txBody>
      </p:sp>
      <p:sp>
        <p:nvSpPr>
          <p:cNvPr id="5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637237" cy="224160"/>
          </a:xfrm>
        </p:spPr>
        <p:txBody>
          <a:bodyPr/>
          <a:lstStyle/>
          <a:p>
            <a:r>
              <a:rPr lang="de-DE" sz="850" b="0" smtClean="0"/>
              <a:t>Prof. Dr-Ing. Mathias Rudolph, Elena Richter, Ludwig Ostertag, Fakultät ING, Industrielle Messtechnik</a:t>
            </a:r>
            <a:endParaRPr lang="de-DE" sz="850" b="0" dirty="0"/>
          </a:p>
        </p:txBody>
      </p:sp>
      <p:pic>
        <p:nvPicPr>
          <p:cNvPr id="6" name="Grafik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806" y="1443615"/>
            <a:ext cx="3970770" cy="3970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677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15000">
        <p:fade/>
      </p:transition>
    </mc:Choice>
    <mc:Fallback xmlns="">
      <p:transition spd="med" advTm="15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/>
          <p:cNvPicPr>
            <a:picLocks noChangeAspect="1"/>
          </p:cNvPicPr>
          <p:nvPr/>
        </p:nvPicPr>
        <p:blipFill rotWithShape="1">
          <a:blip r:embed="rId3"/>
          <a:srcRect l="3627"/>
          <a:stretch/>
        </p:blipFill>
        <p:spPr>
          <a:xfrm>
            <a:off x="4015047" y="3557068"/>
            <a:ext cx="2477626" cy="2122753"/>
          </a:xfrm>
          <a:prstGeom prst="rect">
            <a:avLst/>
          </a:prstGeom>
        </p:spPr>
      </p:pic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3869C99-C634-47CD-B208-CB16ACE119EE}" type="slidenum">
              <a:rPr lang="de-DE" smtClean="0"/>
              <a:pPr/>
              <a:t>8</a:t>
            </a:fld>
            <a:endParaRPr lang="de-DE"/>
          </a:p>
        </p:txBody>
      </p:sp>
      <p:sp>
        <p:nvSpPr>
          <p:cNvPr id="5" name="Textfeld 4"/>
          <p:cNvSpPr txBox="1"/>
          <p:nvPr/>
        </p:nvSpPr>
        <p:spPr>
          <a:xfrm>
            <a:off x="719901" y="309135"/>
            <a:ext cx="4150768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u="sng" smtClean="0"/>
              <a:t>Materialliste zum Speichern von Messwerten am Beispiel eines DHT22:</a:t>
            </a:r>
          </a:p>
          <a:p>
            <a:endParaRPr lang="de-DE"/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de-DE" smtClean="0">
                <a:hlinkClick r:id="rId4"/>
              </a:rPr>
              <a:t>DHT22</a:t>
            </a:r>
            <a:r>
              <a:rPr lang="de-DE" smtClean="0"/>
              <a:t> x 1 </a:t>
            </a:r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de-DE" smtClean="0">
                <a:hlinkClick r:id="rId5"/>
              </a:rPr>
              <a:t>Bread-Board</a:t>
            </a:r>
            <a:r>
              <a:rPr lang="de-DE" smtClean="0"/>
              <a:t> x 1</a:t>
            </a:r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de-DE" smtClean="0">
                <a:hlinkClick r:id="rId6"/>
              </a:rPr>
              <a:t>Jumper-Kabel</a:t>
            </a:r>
            <a:r>
              <a:rPr lang="de-DE" smtClean="0"/>
              <a:t> (Male-Male)</a:t>
            </a:r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de-DE" smtClean="0">
                <a:hlinkClick r:id="rId7"/>
              </a:rPr>
              <a:t>Mikrocontroller</a:t>
            </a:r>
            <a:r>
              <a:rPr lang="de-DE" smtClean="0"/>
              <a:t> (ESP32) x 1</a:t>
            </a:r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de-DE" smtClean="0">
                <a:hlinkClick r:id="rId8"/>
              </a:rPr>
              <a:t>Widerstand </a:t>
            </a:r>
            <a:r>
              <a:rPr lang="de-DE" smtClean="0"/>
              <a:t>4.7 Kohm x 1</a:t>
            </a:r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de-DE" smtClean="0"/>
              <a:t>Computer mit </a:t>
            </a:r>
            <a:r>
              <a:rPr lang="de-DE" smtClean="0">
                <a:hlinkClick r:id="rId9"/>
              </a:rPr>
              <a:t>Arduino IDE</a:t>
            </a:r>
            <a:endParaRPr lang="de-DE" smtClean="0"/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de-DE" smtClean="0"/>
              <a:t>USB-A zu USB-C Kabel</a:t>
            </a:r>
          </a:p>
          <a:p>
            <a:endParaRPr lang="de-DE" smtClean="0"/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de-DE" smtClean="0">
                <a:hlinkClick r:id="rId10"/>
              </a:rPr>
              <a:t>SD-Kartenmodul</a:t>
            </a:r>
            <a:r>
              <a:rPr lang="de-DE" smtClean="0"/>
              <a:t> x 1</a:t>
            </a:r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de-DE" smtClean="0">
                <a:hlinkClick r:id="rId11"/>
              </a:rPr>
              <a:t>SD-Karte x1</a:t>
            </a:r>
            <a:endParaRPr lang="de-DE" smtClean="0"/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de-DE" smtClean="0"/>
              <a:t>(ggf. Speicherkartenlesegerät)</a:t>
            </a:r>
          </a:p>
          <a:p>
            <a:pPr marL="285750" indent="-285750">
              <a:buFont typeface="Symbol" panose="05050102010706020507" pitchFamily="18" charset="2"/>
              <a:buChar char="-"/>
            </a:pPr>
            <a:endParaRPr lang="de-DE"/>
          </a:p>
          <a:p>
            <a:r>
              <a:rPr lang="de-DE" u="sng" smtClean="0"/>
              <a:t>Hinweis:</a:t>
            </a:r>
          </a:p>
          <a:p>
            <a:endParaRPr lang="de-DE" u="sng" smtClean="0"/>
          </a:p>
          <a:p>
            <a:r>
              <a:rPr lang="de-DE" b="1" smtClean="0"/>
              <a:t>SD-Karte muss formatiert                werden </a:t>
            </a:r>
            <a:r>
              <a:rPr lang="de-DE" b="1" smtClean="0">
                <a:sym typeface="Wingdings" panose="05000000000000000000" pitchFamily="2" charset="2"/>
              </a:rPr>
              <a:t> </a:t>
            </a:r>
            <a:r>
              <a:rPr lang="de-DE" b="1"/>
              <a:t>FAT16- </a:t>
            </a:r>
            <a:r>
              <a:rPr lang="de-DE" b="1" smtClean="0"/>
              <a:t>oder FAT32</a:t>
            </a:r>
          </a:p>
          <a:p>
            <a:r>
              <a:rPr lang="de-DE" b="1" smtClean="0"/>
              <a:t>(Programmempfehlung:                     SD </a:t>
            </a:r>
            <a:r>
              <a:rPr lang="de-DE" b="1"/>
              <a:t>Card </a:t>
            </a:r>
            <a:r>
              <a:rPr lang="de-DE" b="1" smtClean="0"/>
              <a:t>Formatter)</a:t>
            </a:r>
          </a:p>
        </p:txBody>
      </p:sp>
      <p:pic>
        <p:nvPicPr>
          <p:cNvPr id="2" name="Grafik 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83365" y="201877"/>
            <a:ext cx="2118370" cy="1256176"/>
          </a:xfrm>
          <a:prstGeom prst="rect">
            <a:avLst/>
          </a:prstGeom>
        </p:spPr>
      </p:pic>
      <p:pic>
        <p:nvPicPr>
          <p:cNvPr id="6" name="Grafik 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950728" y="314902"/>
            <a:ext cx="647790" cy="600159"/>
          </a:xfrm>
          <a:prstGeom prst="rect">
            <a:avLst/>
          </a:prstGeom>
        </p:spPr>
      </p:pic>
      <p:pic>
        <p:nvPicPr>
          <p:cNvPr id="7" name="Grafik 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850234" y="764691"/>
            <a:ext cx="2077336" cy="1749589"/>
          </a:xfrm>
          <a:prstGeom prst="rect">
            <a:avLst/>
          </a:prstGeom>
        </p:spPr>
      </p:pic>
      <p:sp>
        <p:nvSpPr>
          <p:cNvPr id="12" name="Textfeld 11">
            <a:extLst>
              <a:ext uri="{FF2B5EF4-FFF2-40B4-BE49-F238E27FC236}">
                <a16:creationId xmlns:a16="http://schemas.microsoft.com/office/drawing/2014/main" id="{24B210A7-F815-4E40-A529-0034632E570D}"/>
              </a:ext>
            </a:extLst>
          </p:cNvPr>
          <p:cNvSpPr txBox="1"/>
          <p:nvPr/>
        </p:nvSpPr>
        <p:spPr>
          <a:xfrm>
            <a:off x="4657927" y="3032958"/>
            <a:ext cx="29652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Quelle</a:t>
            </a:r>
            <a:r>
              <a:rPr lang="de-DE" sz="800"/>
              <a:t>: </a:t>
            </a:r>
            <a:r>
              <a:rPr lang="de-DE" sz="800">
                <a:hlinkClick r:id="rId15"/>
              </a:rPr>
              <a:t>https://</a:t>
            </a:r>
            <a:r>
              <a:rPr lang="de-DE" sz="800" smtClean="0">
                <a:hlinkClick r:id="rId15"/>
              </a:rPr>
              <a:t>www.az-delivery.de/cdn/shop/products/dht22-am2302-temperatursensor-und-luftfeuchtigkeitssensor-853336.jpg?v=1679398452&amp;width=1200</a:t>
            </a:r>
            <a:r>
              <a:rPr lang="de-DE" sz="800" smtClean="0"/>
              <a:t> </a:t>
            </a:r>
            <a:endParaRPr lang="de-DE" sz="800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24B210A7-F815-4E40-A529-0034632E570D}"/>
              </a:ext>
            </a:extLst>
          </p:cNvPr>
          <p:cNvSpPr txBox="1"/>
          <p:nvPr/>
        </p:nvSpPr>
        <p:spPr>
          <a:xfrm>
            <a:off x="3921783" y="5684852"/>
            <a:ext cx="34422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Quelle</a:t>
            </a:r>
            <a:r>
              <a:rPr lang="de-DE" sz="800"/>
              <a:t>: </a:t>
            </a:r>
            <a:r>
              <a:rPr lang="de-DE" sz="800">
                <a:hlinkClick r:id="rId16"/>
              </a:rPr>
              <a:t>https://asset.conrad.com/media10/isa/160267/c1/-/</a:t>
            </a:r>
            <a:r>
              <a:rPr lang="de-DE" sz="800" smtClean="0">
                <a:hlinkClick r:id="rId16"/>
              </a:rPr>
              <a:t>de/002885952PI00/image.jpg?x=1440&amp;y=1440&amp;format=jpg&amp;ex=1440&amp;ey=1440&amp;align=center</a:t>
            </a:r>
            <a:r>
              <a:rPr lang="de-DE" sz="800" smtClean="0"/>
              <a:t> </a:t>
            </a:r>
            <a:endParaRPr lang="de-DE" sz="800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24B210A7-F815-4E40-A529-0034632E570D}"/>
              </a:ext>
            </a:extLst>
          </p:cNvPr>
          <p:cNvSpPr txBox="1"/>
          <p:nvPr/>
        </p:nvSpPr>
        <p:spPr>
          <a:xfrm>
            <a:off x="6820641" y="2456631"/>
            <a:ext cx="37626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Quelle</a:t>
            </a:r>
            <a:r>
              <a:rPr lang="de-DE" sz="800"/>
              <a:t>: </a:t>
            </a:r>
            <a:r>
              <a:rPr lang="de-DE" sz="800">
                <a:hlinkClick r:id="rId17"/>
              </a:rPr>
              <a:t>https://</a:t>
            </a:r>
            <a:r>
              <a:rPr lang="de-DE" sz="800" smtClean="0">
                <a:hlinkClick r:id="rId17"/>
              </a:rPr>
              <a:t>www.az-delivery.de/cdn/shop/products/jumper-wire-kabel-40-stk-je-20-cm-m2m-male-to-male-kompatibel-mit-arduino-und-raspberry-pi-breadboard-140806.jpg?v=1679398754&amp;width=1200</a:t>
            </a:r>
            <a:r>
              <a:rPr lang="de-DE" sz="800" smtClean="0"/>
              <a:t> </a:t>
            </a:r>
            <a:endParaRPr lang="de-DE" sz="800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24B210A7-F815-4E40-A529-0034632E570D}"/>
              </a:ext>
            </a:extLst>
          </p:cNvPr>
          <p:cNvSpPr txBox="1"/>
          <p:nvPr/>
        </p:nvSpPr>
        <p:spPr>
          <a:xfrm>
            <a:off x="9183365" y="3949292"/>
            <a:ext cx="25970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Quelle</a:t>
            </a:r>
            <a:r>
              <a:rPr lang="de-DE" sz="800"/>
              <a:t>: </a:t>
            </a:r>
            <a:r>
              <a:rPr lang="de-DE" sz="800">
                <a:hlinkClick r:id="rId18"/>
              </a:rPr>
              <a:t>https://cdn-reichelt.de/resize/600%2F-/web/xxl_ws/B400%2F%21WID1_4W.png?type=ProductXxl&amp;resize=600%252F-</a:t>
            </a:r>
            <a:r>
              <a:rPr lang="de-DE" sz="800" smtClean="0">
                <a:hlinkClick r:id="rId18"/>
              </a:rPr>
              <a:t>&amp;</a:t>
            </a:r>
            <a:r>
              <a:rPr lang="de-DE" sz="800" smtClean="0"/>
              <a:t> </a:t>
            </a:r>
            <a:endParaRPr lang="de-DE" sz="800"/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24B210A7-F815-4E40-A529-0034632E570D}"/>
              </a:ext>
            </a:extLst>
          </p:cNvPr>
          <p:cNvSpPr txBox="1"/>
          <p:nvPr/>
        </p:nvSpPr>
        <p:spPr>
          <a:xfrm>
            <a:off x="9183365" y="1425635"/>
            <a:ext cx="28680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Quelle</a:t>
            </a:r>
            <a:r>
              <a:rPr lang="de-DE" sz="800"/>
              <a:t>: </a:t>
            </a:r>
            <a:r>
              <a:rPr lang="de-DE" sz="800">
                <a:hlinkClick r:id="rId19"/>
              </a:rPr>
              <a:t>https://</a:t>
            </a:r>
            <a:r>
              <a:rPr lang="de-DE" sz="800" smtClean="0">
                <a:hlinkClick r:id="rId19"/>
              </a:rPr>
              <a:t>www.roboter-bausatz.de/media/image/d8/f3/0e/RBS18335_600x600.jpg</a:t>
            </a:r>
            <a:r>
              <a:rPr lang="de-DE" sz="800" smtClean="0"/>
              <a:t> </a:t>
            </a:r>
            <a:endParaRPr lang="de-DE" sz="800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24B210A7-F815-4E40-A529-0034632E570D}"/>
              </a:ext>
            </a:extLst>
          </p:cNvPr>
          <p:cNvSpPr txBox="1"/>
          <p:nvPr/>
        </p:nvSpPr>
        <p:spPr>
          <a:xfrm>
            <a:off x="4950728" y="921505"/>
            <a:ext cx="29652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Quelle</a:t>
            </a:r>
            <a:r>
              <a:rPr lang="de-DE" sz="800"/>
              <a:t>: </a:t>
            </a:r>
            <a:r>
              <a:rPr lang="de-DE" sz="800">
                <a:hlinkClick r:id="rId20"/>
              </a:rPr>
              <a:t>https://</a:t>
            </a:r>
            <a:r>
              <a:rPr lang="de-DE" sz="800" smtClean="0">
                <a:hlinkClick r:id="rId20"/>
              </a:rPr>
              <a:t>www.arduino.cc/wiki/static/arduino-app-76bd27c4ce7246825aceb8efe2871f7a.svg</a:t>
            </a:r>
            <a:r>
              <a:rPr lang="de-DE" sz="800" smtClean="0"/>
              <a:t> </a:t>
            </a:r>
            <a:endParaRPr lang="de-DE" sz="800"/>
          </a:p>
        </p:txBody>
      </p:sp>
      <p:pic>
        <p:nvPicPr>
          <p:cNvPr id="11" name="Grafik 10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183365" y="2759420"/>
            <a:ext cx="1550734" cy="1188101"/>
          </a:xfrm>
          <a:prstGeom prst="rect">
            <a:avLst/>
          </a:prstGeom>
        </p:spPr>
      </p:pic>
      <p:pic>
        <p:nvPicPr>
          <p:cNvPr id="1026" name="Picture 2" descr="DHT22 AM2302 Temperatursensor und Luftfeuchtigkeitssensor - AZ-Delivery"/>
          <p:cNvPicPr>
            <a:picLocks noChangeAspect="1" noChangeArrowheads="1"/>
          </p:cNvPicPr>
          <p:nvPr/>
        </p:nvPicPr>
        <p:blipFill>
          <a:blip r:embed="rId2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7179" y="2095873"/>
            <a:ext cx="948240" cy="948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637237" cy="224160"/>
          </a:xfrm>
        </p:spPr>
        <p:txBody>
          <a:bodyPr/>
          <a:lstStyle/>
          <a:p>
            <a:r>
              <a:rPr lang="de-DE" sz="850" b="0" smtClean="0"/>
              <a:t>Prof. Dr-Ing. Mathias Rudolph, Elena Richter, Ludwig Ostertag, Fakultät ING, Industrielle Messtechnik</a:t>
            </a:r>
            <a:endParaRPr lang="de-DE" sz="850" b="0" dirty="0"/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652791" y="3553210"/>
            <a:ext cx="1990737" cy="1502603"/>
          </a:xfrm>
          <a:prstGeom prst="rect">
            <a:avLst/>
          </a:prstGeom>
        </p:spPr>
      </p:pic>
      <p:sp>
        <p:nvSpPr>
          <p:cNvPr id="19" name="Textfeld 18">
            <a:extLst>
              <a:ext uri="{FF2B5EF4-FFF2-40B4-BE49-F238E27FC236}">
                <a16:creationId xmlns:a16="http://schemas.microsoft.com/office/drawing/2014/main" id="{24B210A7-F815-4E40-A529-0034632E570D}"/>
              </a:ext>
            </a:extLst>
          </p:cNvPr>
          <p:cNvSpPr txBox="1"/>
          <p:nvPr/>
        </p:nvSpPr>
        <p:spPr>
          <a:xfrm>
            <a:off x="6652791" y="5050792"/>
            <a:ext cx="25970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Quelle</a:t>
            </a:r>
            <a:r>
              <a:rPr lang="de-DE" sz="800"/>
              <a:t>: </a:t>
            </a:r>
            <a:r>
              <a:rPr lang="de-DE" sz="800">
                <a:hlinkClick r:id="rId24"/>
              </a:rPr>
              <a:t>https://cdn-reichelt.de/bilder/web/artikel_ws/A300%2FDEBO_MICROSD2_01.jpg?type=Product</a:t>
            </a:r>
            <a:r>
              <a:rPr lang="de-DE" sz="800" smtClean="0">
                <a:hlinkClick r:id="rId24"/>
              </a:rPr>
              <a:t>&amp;</a:t>
            </a:r>
            <a:r>
              <a:rPr lang="de-DE" sz="800" smtClean="0"/>
              <a:t> </a:t>
            </a:r>
            <a:endParaRPr lang="de-DE" sz="800"/>
          </a:p>
        </p:txBody>
      </p:sp>
      <p:pic>
        <p:nvPicPr>
          <p:cNvPr id="9" name="Grafik 8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406861" y="4679076"/>
            <a:ext cx="804008" cy="1065434"/>
          </a:xfrm>
          <a:prstGeom prst="rect">
            <a:avLst/>
          </a:prstGeom>
        </p:spPr>
      </p:pic>
      <p:sp>
        <p:nvSpPr>
          <p:cNvPr id="20" name="Textfeld 19">
            <a:extLst>
              <a:ext uri="{FF2B5EF4-FFF2-40B4-BE49-F238E27FC236}">
                <a16:creationId xmlns:a16="http://schemas.microsoft.com/office/drawing/2014/main" id="{24B210A7-F815-4E40-A529-0034632E570D}"/>
              </a:ext>
            </a:extLst>
          </p:cNvPr>
          <p:cNvSpPr txBox="1"/>
          <p:nvPr/>
        </p:nvSpPr>
        <p:spPr>
          <a:xfrm>
            <a:off x="9406862" y="5743026"/>
            <a:ext cx="23805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Quelle</a:t>
            </a:r>
            <a:r>
              <a:rPr lang="de-DE" sz="800"/>
              <a:t>: </a:t>
            </a:r>
            <a:r>
              <a:rPr lang="de-DE" sz="800">
                <a:hlinkClick r:id="rId26"/>
              </a:rPr>
              <a:t>https://cdn-reichelt.de/bilder/web/artikel_ws/I200%2FINTENSO_3411450_01.jpg?type=Product</a:t>
            </a:r>
            <a:r>
              <a:rPr lang="de-DE" sz="800" smtClean="0">
                <a:hlinkClick r:id="rId26"/>
              </a:rPr>
              <a:t>&amp;</a:t>
            </a:r>
            <a:r>
              <a:rPr lang="de-DE" sz="800" smtClean="0"/>
              <a:t> </a:t>
            </a:r>
            <a:endParaRPr lang="de-DE" sz="800"/>
          </a:p>
        </p:txBody>
      </p:sp>
    </p:spTree>
    <p:extLst>
      <p:ext uri="{BB962C8B-B14F-4D97-AF65-F5344CB8AC3E}">
        <p14:creationId xmlns:p14="http://schemas.microsoft.com/office/powerpoint/2010/main" val="277121121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9811" y="877931"/>
            <a:ext cx="4876800" cy="4876800"/>
          </a:xfrm>
          <a:prstGeom prst="rect">
            <a:avLst/>
          </a:prstGeom>
        </p:spPr>
      </p:pic>
      <p:sp>
        <p:nvSpPr>
          <p:cNvPr id="10" name="Fußzeilenplatzhalter 3">
            <a:extLst>
              <a:ext uri="{FF2B5EF4-FFF2-40B4-BE49-F238E27FC236}">
                <a16:creationId xmlns:a16="http://schemas.microsoft.com/office/drawing/2014/main" id="{2F0FFBE0-85A9-954B-8F08-379997260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286" y="6052699"/>
            <a:ext cx="7200000" cy="360000"/>
          </a:xfrm>
        </p:spPr>
        <p:txBody>
          <a:bodyPr/>
          <a:lstStyle/>
          <a:p>
            <a:r>
              <a:rPr lang="de-DE" dirty="0" smtClean="0"/>
              <a:t>Prof. Dr-Ing. Mathias Rudolph, Elena Richter, Ludwig Ostertag, Fakultät ING, Industrielle Messtechnik</a:t>
            </a:r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3869C99-C634-47CD-B208-CB16ACE119EE}" type="slidenum">
              <a:rPr lang="de-DE" smtClean="0"/>
              <a:pPr/>
              <a:t>9</a:t>
            </a:fld>
            <a:endParaRPr lang="de-DE"/>
          </a:p>
        </p:txBody>
      </p:sp>
      <p:sp>
        <p:nvSpPr>
          <p:cNvPr id="4" name="Rechteck 3"/>
          <p:cNvSpPr/>
          <p:nvPr/>
        </p:nvSpPr>
        <p:spPr>
          <a:xfrm>
            <a:off x="6614160" y="766449"/>
            <a:ext cx="5062451" cy="5137266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Textfeld 14"/>
          <p:cNvSpPr txBox="1"/>
          <p:nvPr/>
        </p:nvSpPr>
        <p:spPr>
          <a:xfrm>
            <a:off x="717551" y="482420"/>
            <a:ext cx="10645947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u="sng" smtClean="0"/>
              <a:t>Vorgehen zum Test des Speicherns </a:t>
            </a:r>
            <a:r>
              <a:rPr lang="de-DE" u="sng"/>
              <a:t>von </a:t>
            </a:r>
            <a:r>
              <a:rPr lang="de-DE" u="sng" smtClean="0"/>
              <a:t>DHT22-Messwerten:</a:t>
            </a:r>
          </a:p>
          <a:p>
            <a:endParaRPr lang="de-DE" smtClean="0"/>
          </a:p>
          <a:p>
            <a:pPr marL="342900" indent="-342900">
              <a:buFont typeface="+mj-lt"/>
              <a:buAutoNum type="arabicPeriod"/>
            </a:pPr>
            <a:r>
              <a:rPr lang="de-DE" smtClean="0"/>
              <a:t>Schritt</a:t>
            </a:r>
            <a:r>
              <a:rPr lang="de-DE"/>
              <a:t>: </a:t>
            </a:r>
            <a:r>
              <a:rPr lang="de-DE" smtClean="0"/>
              <a:t>Verschaltung des DHT22 vornehmen (Folie 4 oberer Teil)</a:t>
            </a:r>
          </a:p>
          <a:p>
            <a:pPr marL="342900" indent="-342900">
              <a:buFont typeface="+mj-lt"/>
              <a:buAutoNum type="arabicPeriod"/>
            </a:pPr>
            <a:endParaRPr lang="de-DE" smtClean="0"/>
          </a:p>
          <a:p>
            <a:pPr marL="342900" indent="-342900">
              <a:buFont typeface="+mj-lt"/>
              <a:buAutoNum type="arabicPeriod"/>
            </a:pPr>
            <a:r>
              <a:rPr lang="de-DE" smtClean="0"/>
              <a:t>Schritt: verschaltung der SD-Karte vornehmen (Folie 4 unterer Teil)</a:t>
            </a:r>
          </a:p>
          <a:p>
            <a:pPr marL="342900" indent="-342900">
              <a:buFont typeface="+mj-lt"/>
              <a:buAutoNum type="arabicPeriod"/>
            </a:pPr>
            <a:endParaRPr lang="de-DE" dirty="0"/>
          </a:p>
          <a:p>
            <a:pPr marL="342900" indent="-342900">
              <a:buFont typeface="+mj-lt"/>
              <a:buAutoNum type="arabicPeriod"/>
            </a:pPr>
            <a:r>
              <a:rPr lang="de-DE" smtClean="0"/>
              <a:t>Schritt</a:t>
            </a:r>
            <a:r>
              <a:rPr lang="de-DE"/>
              <a:t>: </a:t>
            </a:r>
            <a:r>
              <a:rPr lang="de-DE" smtClean="0"/>
              <a:t>Programmcode zur Speicherung der DHT22-Messwerte auf SD-Karte auf ESP flashen (ARDUINO) (Folie 6)</a:t>
            </a:r>
          </a:p>
          <a:p>
            <a:pPr marL="342900" indent="-342900">
              <a:buFont typeface="+mj-lt"/>
              <a:buAutoNum type="arabicPeriod"/>
            </a:pPr>
            <a:endParaRPr lang="de-DE" dirty="0"/>
          </a:p>
          <a:p>
            <a:pPr marL="342900" indent="-342900">
              <a:buFont typeface="+mj-lt"/>
              <a:buAutoNum type="arabicPeriod"/>
            </a:pPr>
            <a:r>
              <a:rPr lang="de-DE" smtClean="0"/>
              <a:t>Schritt </a:t>
            </a:r>
            <a:r>
              <a:rPr lang="de-DE"/>
              <a:t>: </a:t>
            </a:r>
            <a:r>
              <a:rPr lang="de-DE" smtClean="0"/>
              <a:t>etwa 10 Messwerte in Konsole printen lassen und auf SD-Karte speichern</a:t>
            </a:r>
          </a:p>
          <a:p>
            <a:pPr marL="342900" indent="-342900">
              <a:buFont typeface="+mj-lt"/>
              <a:buAutoNum type="arabicPeriod"/>
            </a:pPr>
            <a:endParaRPr lang="de-DE" smtClean="0"/>
          </a:p>
          <a:p>
            <a:pPr marL="342900" indent="-342900">
              <a:buFont typeface="+mj-lt"/>
              <a:buAutoNum type="arabicPeriod"/>
            </a:pPr>
            <a:r>
              <a:rPr lang="de-DE" smtClean="0"/>
              <a:t>Schritt: in Konsole geprintete Messwerte merken (Foto)</a:t>
            </a:r>
          </a:p>
          <a:p>
            <a:pPr marL="342900" indent="-342900">
              <a:buFont typeface="+mj-lt"/>
              <a:buAutoNum type="arabicPeriod"/>
            </a:pPr>
            <a:endParaRPr lang="de-DE" smtClean="0"/>
          </a:p>
          <a:p>
            <a:pPr marL="342900" indent="-342900">
              <a:buFont typeface="+mj-lt"/>
              <a:buAutoNum type="arabicPeriod"/>
            </a:pPr>
            <a:r>
              <a:rPr lang="de-DE" smtClean="0"/>
              <a:t>Schritt: SD-Karte </a:t>
            </a:r>
            <a:r>
              <a:rPr lang="de-DE"/>
              <a:t>in </a:t>
            </a:r>
            <a:r>
              <a:rPr lang="de-DE" smtClean="0"/>
              <a:t>SD-Kartensteckplatz </a:t>
            </a:r>
            <a:r>
              <a:rPr lang="de-DE"/>
              <a:t>oder -leser des Computers </a:t>
            </a:r>
            <a:r>
              <a:rPr lang="de-DE" smtClean="0"/>
              <a:t>einsetzen</a:t>
            </a:r>
          </a:p>
          <a:p>
            <a:pPr marL="342900" indent="-342900">
              <a:buFont typeface="+mj-lt"/>
              <a:buAutoNum type="arabicPeriod"/>
            </a:pPr>
            <a:endParaRPr lang="de-DE" smtClean="0"/>
          </a:p>
          <a:p>
            <a:pPr marL="342900" indent="-342900">
              <a:buFont typeface="+mj-lt"/>
              <a:buAutoNum type="arabicPeriod"/>
            </a:pPr>
            <a:r>
              <a:rPr lang="de-DE" smtClean="0"/>
              <a:t>Schritt: CSV-Datei auf SD-Karte öffnen </a:t>
            </a:r>
          </a:p>
          <a:p>
            <a:pPr marL="342900" indent="-342900">
              <a:buFont typeface="+mj-lt"/>
              <a:buAutoNum type="arabicPeriod"/>
            </a:pPr>
            <a:endParaRPr lang="de-DE" smtClean="0"/>
          </a:p>
          <a:p>
            <a:pPr marL="342900" indent="-342900">
              <a:buFont typeface="+mj-lt"/>
              <a:buAutoNum type="arabicPeriod"/>
            </a:pPr>
            <a:r>
              <a:rPr lang="de-DE" smtClean="0"/>
              <a:t>Schritt: Prüfen ob geprintete Messwerte mit Messwerten in CSV-Datei übereinstimmen</a:t>
            </a:r>
          </a:p>
          <a:p>
            <a:pPr marL="342900" indent="-342900">
              <a:buFont typeface="+mj-lt"/>
              <a:buAutoNum type="arabicPeriod"/>
            </a:pPr>
            <a:endParaRPr lang="de-DE"/>
          </a:p>
          <a:p>
            <a:r>
              <a:rPr lang="de-DE" smtClean="0"/>
              <a:t>(Wenn gewünscht,  kann das Vorgehen auch erst in </a:t>
            </a:r>
            <a:r>
              <a:rPr lang="de-DE" smtClean="0">
                <a:hlinkClick r:id="rId4"/>
              </a:rPr>
              <a:t>Wokwi</a:t>
            </a:r>
            <a:r>
              <a:rPr lang="de-DE" smtClean="0"/>
              <a:t> getestet werden.)</a:t>
            </a:r>
          </a:p>
        </p:txBody>
      </p:sp>
    </p:spTree>
    <p:extLst>
      <p:ext uri="{BB962C8B-B14F-4D97-AF65-F5344CB8AC3E}">
        <p14:creationId xmlns:p14="http://schemas.microsoft.com/office/powerpoint/2010/main" val="648111310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C0E8C82-2AF8-4F05-F328-ECE8C526D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86399" y="6205104"/>
            <a:ext cx="7200000" cy="360000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r>
              <a:rPr lang="de-DE" smtClean="0"/>
              <a:t>Prof. Dr-Ing. Mathias Rudolph, Elena Richter, Ludwig Ostertag, Fakultät ING, Industrielle Messtechnik</a:t>
            </a:r>
            <a:endParaRPr lang="de-DE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EFFC43F-6DA3-1A1D-6175-58D40ACE97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2870" y="3379869"/>
            <a:ext cx="11186808" cy="1783223"/>
          </a:xfrm>
        </p:spPr>
        <p:txBody>
          <a:bodyPr/>
          <a:lstStyle/>
          <a:p>
            <a:pPr algn="ctr"/>
            <a:r>
              <a:rPr lang="en-US" sz="3600" b="1" dirty="0" err="1"/>
              <a:t>Vielen</a:t>
            </a:r>
            <a:r>
              <a:rPr lang="en-US" sz="3600" b="1" dirty="0"/>
              <a:t> Dank für die </a:t>
            </a:r>
            <a:r>
              <a:rPr lang="en-US" sz="3600" b="1" dirty="0" err="1"/>
              <a:t>Aufmerksamkeit</a:t>
            </a:r>
            <a:r>
              <a:rPr lang="en-US" sz="3600" b="1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445773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000">
        <p:fade/>
      </p:transition>
    </mc:Choice>
    <mc:Fallback xmlns="">
      <p:transition spd="med" advTm="5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HTWK_Praesentation_16-9">
  <a:themeElements>
    <a:clrScheme name="HTWK_Test">
      <a:dk1>
        <a:sysClr val="windowText" lastClr="000000"/>
      </a:dk1>
      <a:lt1>
        <a:sysClr val="window" lastClr="FFFFFF"/>
      </a:lt1>
      <a:dk2>
        <a:srgbClr val="022541"/>
      </a:dk2>
      <a:lt2>
        <a:srgbClr val="BEC3C6"/>
      </a:lt2>
      <a:accent1>
        <a:srgbClr val="FFED00"/>
      </a:accent1>
      <a:accent2>
        <a:srgbClr val="E5007D"/>
      </a:accent2>
      <a:accent3>
        <a:srgbClr val="00964E"/>
      </a:accent3>
      <a:accent4>
        <a:srgbClr val="E53009"/>
      </a:accent4>
      <a:accent5>
        <a:srgbClr val="009EE3"/>
      </a:accent5>
      <a:accent6>
        <a:srgbClr val="004699"/>
      </a:accent6>
      <a:hlink>
        <a:srgbClr val="022541"/>
      </a:hlink>
      <a:folHlink>
        <a:srgbClr val="2E3639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TWK_Praesentation_16-9" id="{1FEA0790-483C-694F-BB74-62ABC0BEEE2F}" vid="{8501C412-F393-B646-9B96-1DF6D2826D91}"/>
    </a:ext>
  </a:extLst>
</a:theme>
</file>

<file path=ppt/theme/theme2.xml><?xml version="1.0" encoding="utf-8"?>
<a:theme xmlns:a="http://schemas.openxmlformats.org/drawingml/2006/main" name="HTWK Magenta">
  <a:themeElements>
    <a:clrScheme name="HTWK_Test">
      <a:dk1>
        <a:sysClr val="windowText" lastClr="000000"/>
      </a:dk1>
      <a:lt1>
        <a:sysClr val="window" lastClr="FFFFFF"/>
      </a:lt1>
      <a:dk2>
        <a:srgbClr val="022541"/>
      </a:dk2>
      <a:lt2>
        <a:srgbClr val="BEC3C6"/>
      </a:lt2>
      <a:accent1>
        <a:srgbClr val="FFED00"/>
      </a:accent1>
      <a:accent2>
        <a:srgbClr val="E5007D"/>
      </a:accent2>
      <a:accent3>
        <a:srgbClr val="00964E"/>
      </a:accent3>
      <a:accent4>
        <a:srgbClr val="E53009"/>
      </a:accent4>
      <a:accent5>
        <a:srgbClr val="009EE3"/>
      </a:accent5>
      <a:accent6>
        <a:srgbClr val="004699"/>
      </a:accent6>
      <a:hlink>
        <a:srgbClr val="022541"/>
      </a:hlink>
      <a:folHlink>
        <a:srgbClr val="2E3639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TWK_Praesentation_16-9" id="{1FEA0790-483C-694F-BB74-62ABC0BEEE2F}" vid="{EFED7CB0-8CF4-D44F-9260-9E79D17BFAAA}"/>
    </a:ext>
  </a:extLst>
</a:theme>
</file>

<file path=ppt/theme/theme3.xml><?xml version="1.0" encoding="utf-8"?>
<a:theme xmlns:a="http://schemas.openxmlformats.org/drawingml/2006/main" name="HTWK Grün">
  <a:themeElements>
    <a:clrScheme name="HTWK_Test">
      <a:dk1>
        <a:sysClr val="windowText" lastClr="000000"/>
      </a:dk1>
      <a:lt1>
        <a:sysClr val="window" lastClr="FFFFFF"/>
      </a:lt1>
      <a:dk2>
        <a:srgbClr val="022541"/>
      </a:dk2>
      <a:lt2>
        <a:srgbClr val="BEC3C6"/>
      </a:lt2>
      <a:accent1>
        <a:srgbClr val="FFED00"/>
      </a:accent1>
      <a:accent2>
        <a:srgbClr val="E5007D"/>
      </a:accent2>
      <a:accent3>
        <a:srgbClr val="00964E"/>
      </a:accent3>
      <a:accent4>
        <a:srgbClr val="E53009"/>
      </a:accent4>
      <a:accent5>
        <a:srgbClr val="009EE3"/>
      </a:accent5>
      <a:accent6>
        <a:srgbClr val="004699"/>
      </a:accent6>
      <a:hlink>
        <a:srgbClr val="022541"/>
      </a:hlink>
      <a:folHlink>
        <a:srgbClr val="2E3639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TWK_Praesentation_16-9" id="{1FEA0790-483C-694F-BB74-62ABC0BEEE2F}" vid="{E391D94D-EE63-D349-B7DE-98ADF560723F}"/>
    </a:ext>
  </a:extLst>
</a:theme>
</file>

<file path=ppt/theme/theme4.xml><?xml version="1.0" encoding="utf-8"?>
<a:theme xmlns:a="http://schemas.openxmlformats.org/drawingml/2006/main" name="HTWK Cyan">
  <a:themeElements>
    <a:clrScheme name="HTWK_Test">
      <a:dk1>
        <a:sysClr val="windowText" lastClr="000000"/>
      </a:dk1>
      <a:lt1>
        <a:sysClr val="window" lastClr="FFFFFF"/>
      </a:lt1>
      <a:dk2>
        <a:srgbClr val="022541"/>
      </a:dk2>
      <a:lt2>
        <a:srgbClr val="BEC3C6"/>
      </a:lt2>
      <a:accent1>
        <a:srgbClr val="FFED00"/>
      </a:accent1>
      <a:accent2>
        <a:srgbClr val="E5007D"/>
      </a:accent2>
      <a:accent3>
        <a:srgbClr val="00964E"/>
      </a:accent3>
      <a:accent4>
        <a:srgbClr val="E53009"/>
      </a:accent4>
      <a:accent5>
        <a:srgbClr val="009EE3"/>
      </a:accent5>
      <a:accent6>
        <a:srgbClr val="004699"/>
      </a:accent6>
      <a:hlink>
        <a:srgbClr val="022541"/>
      </a:hlink>
      <a:folHlink>
        <a:srgbClr val="2E3639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TWK_Praesentation_16-9" id="{1FEA0790-483C-694F-BB74-62ABC0BEEE2F}" vid="{A51D0A69-4D8E-524F-9B0E-CEBB36F378F6}"/>
    </a:ext>
  </a:extLst>
</a:theme>
</file>

<file path=ppt/theme/theme5.xml><?xml version="1.0" encoding="utf-8"?>
<a:theme xmlns:a="http://schemas.openxmlformats.org/drawingml/2006/main" name="HTWK Blau">
  <a:themeElements>
    <a:clrScheme name="HTWK_Test">
      <a:dk1>
        <a:sysClr val="windowText" lastClr="000000"/>
      </a:dk1>
      <a:lt1>
        <a:sysClr val="window" lastClr="FFFFFF"/>
      </a:lt1>
      <a:dk2>
        <a:srgbClr val="022541"/>
      </a:dk2>
      <a:lt2>
        <a:srgbClr val="BEC3C6"/>
      </a:lt2>
      <a:accent1>
        <a:srgbClr val="FFED00"/>
      </a:accent1>
      <a:accent2>
        <a:srgbClr val="E5007D"/>
      </a:accent2>
      <a:accent3>
        <a:srgbClr val="00964E"/>
      </a:accent3>
      <a:accent4>
        <a:srgbClr val="E53009"/>
      </a:accent4>
      <a:accent5>
        <a:srgbClr val="009EE3"/>
      </a:accent5>
      <a:accent6>
        <a:srgbClr val="004699"/>
      </a:accent6>
      <a:hlink>
        <a:srgbClr val="022541"/>
      </a:hlink>
      <a:folHlink>
        <a:srgbClr val="2E3639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TWK_Praesentation_16-9" id="{1FEA0790-483C-694F-BB74-62ABC0BEEE2F}" vid="{9DD5615B-4FDE-C14E-84FA-48ACAD4DD175}"/>
    </a:ext>
  </a:extLst>
</a:theme>
</file>

<file path=ppt/theme/theme6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5DA79B272C4D3C4887957B2C2A69604C" ma:contentTypeVersion="2" ma:contentTypeDescription="Ein neues Dokument erstellen." ma:contentTypeScope="" ma:versionID="a8f11939e8f693b5e60eead0cd42f230">
  <xsd:schema xmlns:xsd="http://www.w3.org/2001/XMLSchema" xmlns:xs="http://www.w3.org/2001/XMLSchema" xmlns:p="http://schemas.microsoft.com/office/2006/metadata/properties" xmlns:ns2="99f41258-1f02-46b6-b230-447d6494c4cb" targetNamespace="http://schemas.microsoft.com/office/2006/metadata/properties" ma:root="true" ma:fieldsID="be05fa88f11a9855f776efdf4611a3d7" ns2:_="">
    <xsd:import namespace="99f41258-1f02-46b6-b230-447d6494c4cb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9f41258-1f02-46b6-b230-447d6494c4cb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E15DEB7-8D29-4EC4-857C-8778EFE7092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D9AF071-B304-4F0F-8459-AC4D742E5C60}">
  <ds:schemaRefs>
    <ds:schemaRef ds:uri="http://schemas.microsoft.com/office/2006/documentManagement/types"/>
    <ds:schemaRef ds:uri="99f41258-1f02-46b6-b230-447d6494c4cb"/>
    <ds:schemaRef ds:uri="http://purl.org/dc/dcmitype/"/>
    <ds:schemaRef ds:uri="http://purl.org/dc/terms/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schemas.openxmlformats.org/package/2006/metadata/core-properties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DF333B2F-1563-4DC4-B635-64824C2FC33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9f41258-1f02-46b6-b230-447d6494c4c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HTWK_Praesentation_16-9.potx</Template>
  <TotalTime>0</TotalTime>
  <Words>846</Words>
  <Application>Microsoft Office PowerPoint</Application>
  <PresentationFormat>Breitbild</PresentationFormat>
  <Paragraphs>114</Paragraphs>
  <Slides>10</Slides>
  <Notes>10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5</vt:i4>
      </vt:variant>
      <vt:variant>
        <vt:lpstr>Folientitel</vt:lpstr>
      </vt:variant>
      <vt:variant>
        <vt:i4>10</vt:i4>
      </vt:variant>
    </vt:vector>
  </HeadingPairs>
  <TitlesOfParts>
    <vt:vector size="20" baseType="lpstr">
      <vt:lpstr>Arial</vt:lpstr>
      <vt:lpstr>Calibri</vt:lpstr>
      <vt:lpstr>Symbol</vt:lpstr>
      <vt:lpstr>Wingdings</vt:lpstr>
      <vt:lpstr>Work Sans</vt:lpstr>
      <vt:lpstr>HTWK_Praesentation_16-9</vt:lpstr>
      <vt:lpstr>HTWK Magenta</vt:lpstr>
      <vt:lpstr>HTWK Grün</vt:lpstr>
      <vt:lpstr>HTWK Cyan</vt:lpstr>
      <vt:lpstr>HTWK Blau</vt:lpstr>
      <vt:lpstr>Messwerte speichern SD-Karte</vt:lpstr>
      <vt:lpstr>Anwendung              SD-Karte am Beispiel DHT22</vt:lpstr>
      <vt:lpstr>Wie wird ein SD-Kartenmodul verschaltet, um DHT22-Messwerte zu speichern? </vt:lpstr>
      <vt:lpstr>Wie wird ein SD-Kartenmodul verschaltet, um DHT22-Messwerte zu speichern?  Lösung: </vt:lpstr>
      <vt:lpstr>Wie wird ein SD-Kartenmodul programmiert, um DHT22-Messwerte zu speichern? </vt:lpstr>
      <vt:lpstr>Wie wird ein SD-Kartenmodul programmiert, um DHT22-Messwerte zu speichern?  Lösung:</vt:lpstr>
      <vt:lpstr>Praxistest                  SD-Karte am     Beispiel DHT22</vt:lpstr>
      <vt:lpstr>PowerPoint-Präsentation</vt:lpstr>
      <vt:lpstr>PowerPoint-Präsentation</vt:lpstr>
      <vt:lpstr>Vielen Dank für die Aufmerksamkeit!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Titel der Präsentation</dc:title>
  <dc:creator>Paulin Alter</dc:creator>
  <cp:lastModifiedBy>Richter, Elena</cp:lastModifiedBy>
  <cp:revision>328</cp:revision>
  <dcterms:created xsi:type="dcterms:W3CDTF">2019-01-10T16:04:56Z</dcterms:created>
  <dcterms:modified xsi:type="dcterms:W3CDTF">2026-03-10T10:25:23Z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0x0101005DA79B272C4D3C4887957B2C2A69604C</vt:lpwstr>
  </property>
</Properties>
</file>